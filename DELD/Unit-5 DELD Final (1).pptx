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2"/>
  </p:notesMasterIdLst>
  <p:sldIdLst>
    <p:sldId id="364" r:id="rId2"/>
    <p:sldId id="455" r:id="rId3"/>
    <p:sldId id="456" r:id="rId4"/>
    <p:sldId id="457" r:id="rId5"/>
    <p:sldId id="458" r:id="rId6"/>
    <p:sldId id="459" r:id="rId7"/>
    <p:sldId id="460" r:id="rId8"/>
    <p:sldId id="470" r:id="rId9"/>
    <p:sldId id="471" r:id="rId10"/>
    <p:sldId id="472" r:id="rId11"/>
  </p:sldIdLst>
  <p:sldSz cx="9144000" cy="6858000" type="screen4x3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117" roundtripDataSignature="AMtx7mjfevKjbShbZBvqOj26j1q+wsVWc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731D40B5-6E1B-4167-A163-00961D55834B}">
  <a:tblStyle styleId="{731D40B5-6E1B-4167-A163-00961D55834B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191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1824" y="11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17" Type="http://customschemas.google.com/relationships/presentationmetadata" Target="metadata"/><Relationship Id="rId121" Type="http://schemas.openxmlformats.org/officeDocument/2006/relationships/tableStyles" Target="tableStyles.xml"/><Relationship Id="rId3" Type="http://schemas.openxmlformats.org/officeDocument/2006/relationships/slide" Target="slides/slide2.xml"/><Relationship Id="rId120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19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18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512929468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9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98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9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9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9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9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9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9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100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100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4" name="Google Shape;34;p10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0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10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0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10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40" name="Google Shape;40;p101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41" name="Google Shape;41;p10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0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10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2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102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7" name="Google Shape;47;p102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8" name="Google Shape;48;p102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9" name="Google Shape;49;p102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50" name="Google Shape;50;p10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10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0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03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10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0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0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04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04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104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2" name="Google Shape;62;p10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0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05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5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05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9" name="Google Shape;69;p10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0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0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0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06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10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0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0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07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07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10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0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0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9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9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9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9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9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E378AF0-6AE5-F774-3547-C6FBCB88B7E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390" y="0"/>
            <a:ext cx="1343005" cy="575049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F8960510-E710-2924-90F5-0B0686BFFCDB}"/>
              </a:ext>
            </a:extLst>
          </p:cNvPr>
          <p:cNvSpPr txBox="1">
            <a:spLocks/>
          </p:cNvSpPr>
          <p:nvPr/>
        </p:nvSpPr>
        <p:spPr>
          <a:xfrm>
            <a:off x="0" y="685800"/>
            <a:ext cx="9144000" cy="533400"/>
          </a:xfrm>
          <a:prstGeom prst="rect">
            <a:avLst/>
          </a:prstGeom>
          <a:solidFill>
            <a:srgbClr val="C00000"/>
          </a:solidFill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 sz="3600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Unit-5 </a:t>
            </a:r>
            <a:r>
              <a:rPr lang="en-US" altLang="en-US" sz="3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Syllabus</a:t>
            </a:r>
          </a:p>
        </p:txBody>
      </p:sp>
      <p:sp>
        <p:nvSpPr>
          <p:cNvPr id="5" name="Rectangle 4"/>
          <p:cNvSpPr/>
          <p:nvPr/>
        </p:nvSpPr>
        <p:spPr>
          <a:xfrm>
            <a:off x="415637" y="1588655"/>
            <a:ext cx="8377382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3200" b="1" dirty="0"/>
              <a:t>Memory System 2 2</a:t>
            </a:r>
          </a:p>
          <a:p>
            <a:r>
              <a:rPr lang="en-US" sz="3200" dirty="0"/>
              <a:t>RAM, ROM, EPROM, EEPROM, concepts of DRAM, SRAM, </a:t>
            </a:r>
            <a:r>
              <a:rPr lang="en-US" sz="3200" dirty="0" smtClean="0"/>
              <a:t>and </a:t>
            </a:r>
            <a:r>
              <a:rPr lang="en-IN" sz="3200" dirty="0" smtClean="0"/>
              <a:t>Cache </a:t>
            </a:r>
            <a:r>
              <a:rPr lang="en-IN" sz="3200" dirty="0"/>
              <a:t>memory.</a:t>
            </a:r>
            <a:endParaRPr lang="en-IN" sz="3200" dirty="0"/>
          </a:p>
        </p:txBody>
      </p:sp>
    </p:spTree>
    <p:extLst>
      <p:ext uri="{BB962C8B-B14F-4D97-AF65-F5344CB8AC3E}">
        <p14:creationId xmlns:p14="http://schemas.microsoft.com/office/powerpoint/2010/main" val="25945375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Grp="1" noChangeArrowheads="1"/>
          </p:cNvSpPr>
          <p:nvPr>
            <p:ph type="title"/>
          </p:nvPr>
        </p:nvSpPr>
        <p:spPr>
          <a:xfrm>
            <a:off x="369888" y="328613"/>
            <a:ext cx="8523287" cy="379412"/>
          </a:xfrm>
        </p:spPr>
        <p:txBody>
          <a:bodyPr>
            <a:normAutofit fontScale="90000"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altLang="ko-KR" dirty="0">
                <a:solidFill>
                  <a:srgbClr val="FF0000"/>
                </a:solidFill>
                <a:cs typeface="+mj-cs"/>
              </a:rPr>
              <a:t>MEMORY  COMPONENTS</a:t>
            </a:r>
          </a:p>
        </p:txBody>
      </p:sp>
      <p:sp>
        <p:nvSpPr>
          <p:cNvPr id="48131" name="Rectangle 3"/>
          <p:cNvSpPr>
            <a:spLocks noChangeArrowheads="1"/>
          </p:cNvSpPr>
          <p:nvPr/>
        </p:nvSpPr>
        <p:spPr bwMode="auto">
          <a:xfrm>
            <a:off x="796925" y="1258888"/>
            <a:ext cx="4159250" cy="25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굴림" pitchFamily="50" charset="-128"/>
              </a:defRPr>
            </a:lvl1pPr>
            <a:lvl2pPr marL="742950" indent="-285750" defTabSz="7620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굴림" pitchFamily="50" charset="-128"/>
              </a:defRPr>
            </a:lvl2pPr>
            <a:lvl3pPr marL="1143000" indent="-228600" defTabSz="7620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굴림" pitchFamily="50" charset="-128"/>
              </a:defRPr>
            </a:lvl3pPr>
            <a:lvl4pPr marL="1600200" indent="-228600" defTabSz="7620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굴림" pitchFamily="50" charset="-128"/>
              </a:defRPr>
            </a:lvl4pPr>
            <a:lvl5pPr marL="2057400" indent="-228600" defTabSz="7620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굴림" pitchFamily="50" charset="-128"/>
              </a:defRPr>
            </a:lvl5pPr>
            <a:lvl6pPr marL="25146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굴림" pitchFamily="50" charset="-128"/>
              </a:defRPr>
            </a:lvl6pPr>
            <a:lvl7pPr marL="29718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굴림" pitchFamily="50" charset="-128"/>
              </a:defRPr>
            </a:lvl7pPr>
            <a:lvl8pPr marL="34290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굴림" pitchFamily="50" charset="-128"/>
              </a:defRPr>
            </a:lvl8pPr>
            <a:lvl9pPr marL="38862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굴림" pitchFamily="50" charset="-128"/>
              </a:defRPr>
            </a:lvl9pPr>
          </a:lstStyle>
          <a:p>
            <a:r>
              <a:rPr lang="en-US" altLang="ko-KR" b="1"/>
              <a:t>Logical Organization</a:t>
            </a:r>
          </a:p>
        </p:txBody>
      </p:sp>
      <p:sp>
        <p:nvSpPr>
          <p:cNvPr id="48132" name="Rectangle 17"/>
          <p:cNvSpPr>
            <a:spLocks noChangeArrowheads="1"/>
          </p:cNvSpPr>
          <p:nvPr/>
        </p:nvSpPr>
        <p:spPr bwMode="auto">
          <a:xfrm>
            <a:off x="865188" y="3046413"/>
            <a:ext cx="5387975" cy="157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굴림" pitchFamily="50" charset="-128"/>
              </a:defRPr>
            </a:lvl1pPr>
            <a:lvl2pPr marL="742950" indent="-285750" defTabSz="7620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굴림" pitchFamily="50" charset="-128"/>
              </a:defRPr>
            </a:lvl2pPr>
            <a:lvl3pPr marL="1143000" indent="-228600" defTabSz="7620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굴림" pitchFamily="50" charset="-128"/>
              </a:defRPr>
            </a:lvl3pPr>
            <a:lvl4pPr marL="1600200" indent="-228600" defTabSz="7620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굴림" pitchFamily="50" charset="-128"/>
              </a:defRPr>
            </a:lvl4pPr>
            <a:lvl5pPr marL="2057400" indent="-228600" defTabSz="7620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굴림" pitchFamily="50" charset="-128"/>
              </a:defRPr>
            </a:lvl5pPr>
            <a:lvl6pPr marL="25146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굴림" pitchFamily="50" charset="-128"/>
              </a:defRPr>
            </a:lvl6pPr>
            <a:lvl7pPr marL="29718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굴림" pitchFamily="50" charset="-128"/>
              </a:defRPr>
            </a:lvl7pPr>
            <a:lvl8pPr marL="34290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굴림" pitchFamily="50" charset="-128"/>
              </a:defRPr>
            </a:lvl8pPr>
            <a:lvl9pPr marL="38862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굴림" pitchFamily="50" charset="-128"/>
              </a:defRPr>
            </a:lvl9pPr>
          </a:lstStyle>
          <a:p>
            <a:r>
              <a:rPr lang="en-US" altLang="ko-KR" b="1" dirty="0"/>
              <a:t>Random Access Memory</a:t>
            </a:r>
          </a:p>
          <a:p>
            <a:endParaRPr lang="en-US" altLang="ko-KR" b="1" dirty="0"/>
          </a:p>
          <a:p>
            <a:r>
              <a:rPr lang="en-US" altLang="ko-KR" b="1" dirty="0"/>
              <a:t>         - Each word has a unique address</a:t>
            </a:r>
          </a:p>
          <a:p>
            <a:r>
              <a:rPr lang="en-US" altLang="ko-KR" b="1" dirty="0"/>
              <a:t>         - Access to a word requires the same time </a:t>
            </a:r>
          </a:p>
          <a:p>
            <a:r>
              <a:rPr lang="en-US" altLang="ko-KR" b="1" dirty="0"/>
              <a:t>           independent of the location of the word</a:t>
            </a:r>
          </a:p>
          <a:p>
            <a:r>
              <a:rPr lang="en-US" altLang="ko-KR" b="1" dirty="0"/>
              <a:t>         - Organization</a:t>
            </a:r>
          </a:p>
        </p:txBody>
      </p:sp>
      <p:sp>
        <p:nvSpPr>
          <p:cNvPr id="48133" name="Rectangle 29"/>
          <p:cNvSpPr>
            <a:spLocks noChangeArrowheads="1"/>
          </p:cNvSpPr>
          <p:nvPr/>
        </p:nvSpPr>
        <p:spPr bwMode="auto">
          <a:xfrm>
            <a:off x="7150100" y="0"/>
            <a:ext cx="1993900" cy="280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굴림" pitchFamily="50" charset="-128"/>
              </a:defRPr>
            </a:lvl1pPr>
            <a:lvl2pPr marL="742950" indent="-285750" defTabSz="7620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굴림" pitchFamily="50" charset="-128"/>
              </a:defRPr>
            </a:lvl2pPr>
            <a:lvl3pPr marL="1143000" indent="-228600" defTabSz="7620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굴림" pitchFamily="50" charset="-128"/>
              </a:defRPr>
            </a:lvl3pPr>
            <a:lvl4pPr marL="1600200" indent="-228600" defTabSz="7620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굴림" pitchFamily="50" charset="-128"/>
              </a:defRPr>
            </a:lvl4pPr>
            <a:lvl5pPr marL="2057400" indent="-228600" defTabSz="7620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굴림" pitchFamily="50" charset="-128"/>
              </a:defRPr>
            </a:lvl5pPr>
            <a:lvl6pPr marL="25146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굴림" pitchFamily="50" charset="-128"/>
              </a:defRPr>
            </a:lvl6pPr>
            <a:lvl7pPr marL="29718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굴림" pitchFamily="50" charset="-128"/>
              </a:defRPr>
            </a:lvl7pPr>
            <a:lvl8pPr marL="34290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굴림" pitchFamily="50" charset="-128"/>
              </a:defRPr>
            </a:lvl8pPr>
            <a:lvl9pPr marL="38862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굴림" pitchFamily="50" charset="-128"/>
              </a:defRPr>
            </a:lvl9pPr>
          </a:lstStyle>
          <a:p>
            <a:pPr algn="r"/>
            <a:r>
              <a:rPr lang="en-US" altLang="ko-KR" sz="1400" b="1" i="1"/>
              <a:t>Memory Components</a:t>
            </a:r>
          </a:p>
        </p:txBody>
      </p:sp>
      <p:sp>
        <p:nvSpPr>
          <p:cNvPr id="48134" name="Rectangle 11"/>
          <p:cNvSpPr>
            <a:spLocks noChangeArrowheads="1"/>
          </p:cNvSpPr>
          <p:nvPr/>
        </p:nvSpPr>
        <p:spPr bwMode="auto">
          <a:xfrm>
            <a:off x="3525838" y="1941513"/>
            <a:ext cx="79057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굴림" pitchFamily="50" charset="-128"/>
              </a:defRPr>
            </a:lvl1pPr>
            <a:lvl2pPr marL="742950" indent="-285750" defTabSz="7620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굴림" pitchFamily="50" charset="-128"/>
              </a:defRPr>
            </a:lvl2pPr>
            <a:lvl3pPr marL="1143000" indent="-228600" defTabSz="7620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굴림" pitchFamily="50" charset="-128"/>
              </a:defRPr>
            </a:lvl3pPr>
            <a:lvl4pPr marL="1600200" indent="-228600" defTabSz="7620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굴림" pitchFamily="50" charset="-128"/>
              </a:defRPr>
            </a:lvl4pPr>
            <a:lvl5pPr marL="2057400" indent="-228600" defTabSz="7620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굴림" pitchFamily="50" charset="-128"/>
              </a:defRPr>
            </a:lvl5pPr>
            <a:lvl6pPr marL="25146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굴림" pitchFamily="50" charset="-128"/>
              </a:defRPr>
            </a:lvl6pPr>
            <a:lvl7pPr marL="29718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굴림" pitchFamily="50" charset="-128"/>
              </a:defRPr>
            </a:lvl7pPr>
            <a:lvl8pPr marL="34290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굴림" pitchFamily="50" charset="-128"/>
              </a:defRPr>
            </a:lvl8pPr>
            <a:lvl9pPr marL="38862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굴림" pitchFamily="50" charset="-128"/>
              </a:defRPr>
            </a:lvl9pPr>
          </a:lstStyle>
          <a:p>
            <a:r>
              <a:rPr lang="en-US" altLang="ko-KR"/>
              <a:t>words</a:t>
            </a:r>
          </a:p>
        </p:txBody>
      </p:sp>
      <p:sp>
        <p:nvSpPr>
          <p:cNvPr id="48135" name="Rectangle 16"/>
          <p:cNvSpPr>
            <a:spLocks noChangeArrowheads="1"/>
          </p:cNvSpPr>
          <p:nvPr/>
        </p:nvSpPr>
        <p:spPr bwMode="auto">
          <a:xfrm>
            <a:off x="3025775" y="2127250"/>
            <a:ext cx="189547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굴림" pitchFamily="50" charset="-128"/>
              </a:defRPr>
            </a:lvl1pPr>
            <a:lvl2pPr marL="742950" indent="-285750" defTabSz="7620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굴림" pitchFamily="50" charset="-128"/>
              </a:defRPr>
            </a:lvl2pPr>
            <a:lvl3pPr marL="1143000" indent="-228600" defTabSz="7620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굴림" pitchFamily="50" charset="-128"/>
              </a:defRPr>
            </a:lvl3pPr>
            <a:lvl4pPr marL="1600200" indent="-228600" defTabSz="7620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굴림" pitchFamily="50" charset="-128"/>
              </a:defRPr>
            </a:lvl4pPr>
            <a:lvl5pPr marL="2057400" indent="-228600" defTabSz="7620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굴림" pitchFamily="50" charset="-128"/>
              </a:defRPr>
            </a:lvl5pPr>
            <a:lvl6pPr marL="25146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굴림" pitchFamily="50" charset="-128"/>
              </a:defRPr>
            </a:lvl6pPr>
            <a:lvl7pPr marL="29718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굴림" pitchFamily="50" charset="-128"/>
              </a:defRPr>
            </a:lvl7pPr>
            <a:lvl8pPr marL="34290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굴림" pitchFamily="50" charset="-128"/>
              </a:defRPr>
            </a:lvl8pPr>
            <a:lvl9pPr marL="38862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굴림" pitchFamily="50" charset="-128"/>
              </a:defRPr>
            </a:lvl9pPr>
          </a:lstStyle>
          <a:p>
            <a:pPr algn="ctr"/>
            <a:r>
              <a:rPr lang="en-US" altLang="ko-KR"/>
              <a:t>(byte, or n bytes)</a:t>
            </a:r>
          </a:p>
        </p:txBody>
      </p:sp>
      <p:sp>
        <p:nvSpPr>
          <p:cNvPr id="48136" name="Rectangle 4"/>
          <p:cNvSpPr>
            <a:spLocks noChangeArrowheads="1"/>
          </p:cNvSpPr>
          <p:nvPr/>
        </p:nvSpPr>
        <p:spPr bwMode="auto">
          <a:xfrm rot="-5400000">
            <a:off x="4299744" y="1632744"/>
            <a:ext cx="2168525" cy="804863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굴림" pitchFamily="50" charset="-128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굴림" pitchFamily="50" charset="-128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굴림" pitchFamily="50" charset="-128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굴림" pitchFamily="50" charset="-128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굴림" pitchFamily="50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굴림" pitchFamily="50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굴림" pitchFamily="50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굴림" pitchFamily="50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굴림" pitchFamily="50" charset="-128"/>
              </a:defRPr>
            </a:lvl9pPr>
          </a:lstStyle>
          <a:p>
            <a:endParaRPr lang="en-US" altLang="en-US"/>
          </a:p>
        </p:txBody>
      </p:sp>
      <p:sp>
        <p:nvSpPr>
          <p:cNvPr id="48137" name="Line 5"/>
          <p:cNvSpPr>
            <a:spLocks noChangeShapeType="1"/>
          </p:cNvSpPr>
          <p:nvPr/>
        </p:nvSpPr>
        <p:spPr bwMode="auto">
          <a:xfrm rot="-5400000">
            <a:off x="5384007" y="2551906"/>
            <a:ext cx="0" cy="804863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48138" name="Line 6"/>
          <p:cNvSpPr>
            <a:spLocks noChangeShapeType="1"/>
          </p:cNvSpPr>
          <p:nvPr/>
        </p:nvSpPr>
        <p:spPr bwMode="auto">
          <a:xfrm rot="-5400000">
            <a:off x="5384007" y="2386806"/>
            <a:ext cx="0" cy="804863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48139" name="Line 7"/>
          <p:cNvSpPr>
            <a:spLocks noChangeShapeType="1"/>
          </p:cNvSpPr>
          <p:nvPr/>
        </p:nvSpPr>
        <p:spPr bwMode="auto">
          <a:xfrm rot="-5400000">
            <a:off x="5376863" y="2236787"/>
            <a:ext cx="0" cy="79057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48140" name="Line 8"/>
          <p:cNvSpPr>
            <a:spLocks noChangeShapeType="1"/>
          </p:cNvSpPr>
          <p:nvPr/>
        </p:nvSpPr>
        <p:spPr bwMode="auto">
          <a:xfrm rot="-5400000">
            <a:off x="5384007" y="2080418"/>
            <a:ext cx="0" cy="804863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48141" name="Line 9"/>
          <p:cNvSpPr>
            <a:spLocks noChangeShapeType="1"/>
          </p:cNvSpPr>
          <p:nvPr/>
        </p:nvSpPr>
        <p:spPr bwMode="auto">
          <a:xfrm rot="-5400000">
            <a:off x="5390357" y="696118"/>
            <a:ext cx="0" cy="792163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48142" name="Line 10"/>
          <p:cNvSpPr>
            <a:spLocks noChangeShapeType="1"/>
          </p:cNvSpPr>
          <p:nvPr/>
        </p:nvSpPr>
        <p:spPr bwMode="auto">
          <a:xfrm rot="-5400000">
            <a:off x="5390357" y="861218"/>
            <a:ext cx="0" cy="792163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grpSp>
        <p:nvGrpSpPr>
          <p:cNvPr id="48143" name="Group 33"/>
          <p:cNvGrpSpPr>
            <a:grpSpLocks/>
          </p:cNvGrpSpPr>
          <p:nvPr/>
        </p:nvGrpSpPr>
        <p:grpSpPr bwMode="auto">
          <a:xfrm>
            <a:off x="3884613" y="4441825"/>
            <a:ext cx="3587750" cy="2066925"/>
            <a:chOff x="927" y="2816"/>
            <a:chExt cx="2983" cy="1017"/>
          </a:xfrm>
        </p:grpSpPr>
        <p:sp>
          <p:nvSpPr>
            <p:cNvPr id="48146" name="Rectangle 18"/>
            <p:cNvSpPr>
              <a:spLocks noChangeArrowheads="1"/>
            </p:cNvSpPr>
            <p:nvPr/>
          </p:nvSpPr>
          <p:spPr bwMode="auto">
            <a:xfrm>
              <a:off x="2633" y="3067"/>
              <a:ext cx="1121" cy="487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굴림" pitchFamily="50" charset="-128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굴림" pitchFamily="50" charset="-128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굴림" pitchFamily="50" charset="-128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굴림" pitchFamily="50" charset="-128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굴림" pitchFamily="50" charset="-128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굴림" pitchFamily="50" charset="-128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굴림" pitchFamily="50" charset="-128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굴림" pitchFamily="50" charset="-128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굴림" pitchFamily="50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48147" name="Line 19"/>
            <p:cNvSpPr>
              <a:spLocks noChangeShapeType="1"/>
            </p:cNvSpPr>
            <p:nvPr/>
          </p:nvSpPr>
          <p:spPr bwMode="auto">
            <a:xfrm>
              <a:off x="3175" y="2934"/>
              <a:ext cx="2" cy="13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48148" name="Line 20"/>
            <p:cNvSpPr>
              <a:spLocks noChangeShapeType="1"/>
            </p:cNvSpPr>
            <p:nvPr/>
          </p:nvSpPr>
          <p:spPr bwMode="auto">
            <a:xfrm>
              <a:off x="3182" y="3565"/>
              <a:ext cx="0" cy="12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48149" name="Line 21"/>
            <p:cNvSpPr>
              <a:spLocks noChangeShapeType="1"/>
            </p:cNvSpPr>
            <p:nvPr/>
          </p:nvSpPr>
          <p:spPr bwMode="auto">
            <a:xfrm>
              <a:off x="2140" y="3162"/>
              <a:ext cx="471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48150" name="Rectangle 24"/>
            <p:cNvSpPr>
              <a:spLocks noChangeArrowheads="1"/>
            </p:cNvSpPr>
            <p:nvPr/>
          </p:nvSpPr>
          <p:spPr bwMode="auto">
            <a:xfrm>
              <a:off x="2857" y="3174"/>
              <a:ext cx="771" cy="1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굴림" pitchFamily="50" charset="-128"/>
                </a:defRPr>
              </a:lvl1pPr>
              <a:lvl2pPr marL="742950" indent="-285750" defTabSz="7620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굴림" pitchFamily="50" charset="-128"/>
                </a:defRPr>
              </a:lvl2pPr>
              <a:lvl3pPr marL="1143000" indent="-228600" defTabSz="7620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굴림" pitchFamily="50" charset="-128"/>
                </a:defRPr>
              </a:lvl3pPr>
              <a:lvl4pPr marL="1600200" indent="-228600" defTabSz="7620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굴림" pitchFamily="50" charset="-128"/>
                </a:defRPr>
              </a:lvl4pPr>
              <a:lvl5pPr marL="2057400" indent="-228600" defTabSz="7620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굴림" pitchFamily="50" charset="-128"/>
                </a:defRPr>
              </a:lvl5pPr>
              <a:lvl6pPr marL="25146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굴림" pitchFamily="50" charset="-128"/>
                </a:defRPr>
              </a:lvl6pPr>
              <a:lvl7pPr marL="29718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굴림" pitchFamily="50" charset="-128"/>
                </a:defRPr>
              </a:lvl7pPr>
              <a:lvl8pPr marL="34290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굴림" pitchFamily="50" charset="-128"/>
                </a:defRPr>
              </a:lvl8pPr>
              <a:lvl9pPr marL="38862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굴림" pitchFamily="50" charset="-128"/>
                </a:defRPr>
              </a:lvl9pPr>
            </a:lstStyle>
            <a:p>
              <a:pPr algn="ctr"/>
              <a:r>
                <a:rPr lang="en-US" altLang="ko-KR" sz="1400" b="1"/>
                <a:t>2</a:t>
              </a:r>
              <a:r>
                <a:rPr lang="en-US" altLang="ko-KR" sz="1400" b="1" baseline="30000"/>
                <a:t>k </a:t>
              </a:r>
              <a:r>
                <a:rPr lang="en-US" altLang="ko-KR" sz="1400" b="1"/>
                <a:t>Words</a:t>
              </a:r>
            </a:p>
          </p:txBody>
        </p:sp>
        <p:sp>
          <p:nvSpPr>
            <p:cNvPr id="48151" name="Rectangle 25"/>
            <p:cNvSpPr>
              <a:spLocks noChangeArrowheads="1"/>
            </p:cNvSpPr>
            <p:nvPr/>
          </p:nvSpPr>
          <p:spPr bwMode="auto">
            <a:xfrm>
              <a:off x="2665" y="3253"/>
              <a:ext cx="1034" cy="1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굴림" pitchFamily="50" charset="-128"/>
                </a:defRPr>
              </a:lvl1pPr>
              <a:lvl2pPr marL="742950" indent="-285750" defTabSz="7620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굴림" pitchFamily="50" charset="-128"/>
                </a:defRPr>
              </a:lvl2pPr>
              <a:lvl3pPr marL="1143000" indent="-228600" defTabSz="7620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굴림" pitchFamily="50" charset="-128"/>
                </a:defRPr>
              </a:lvl3pPr>
              <a:lvl4pPr marL="1600200" indent="-228600" defTabSz="7620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굴림" pitchFamily="50" charset="-128"/>
                </a:defRPr>
              </a:lvl4pPr>
              <a:lvl5pPr marL="2057400" indent="-228600" defTabSz="7620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굴림" pitchFamily="50" charset="-128"/>
                </a:defRPr>
              </a:lvl5pPr>
              <a:lvl6pPr marL="25146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굴림" pitchFamily="50" charset="-128"/>
                </a:defRPr>
              </a:lvl6pPr>
              <a:lvl7pPr marL="29718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굴림" pitchFamily="50" charset="-128"/>
                </a:defRPr>
              </a:lvl7pPr>
              <a:lvl8pPr marL="34290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굴림" pitchFamily="50" charset="-128"/>
                </a:defRPr>
              </a:lvl8pPr>
              <a:lvl9pPr marL="38862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굴림" pitchFamily="50" charset="-128"/>
                </a:defRPr>
              </a:lvl9pPr>
            </a:lstStyle>
            <a:p>
              <a:r>
                <a:rPr lang="en-US" altLang="ko-KR" sz="1400" b="1"/>
                <a:t>(n bits/word)</a:t>
              </a:r>
            </a:p>
          </p:txBody>
        </p:sp>
        <p:sp>
          <p:nvSpPr>
            <p:cNvPr id="48152" name="Rectangle 26"/>
            <p:cNvSpPr>
              <a:spLocks noChangeArrowheads="1"/>
            </p:cNvSpPr>
            <p:nvPr/>
          </p:nvSpPr>
          <p:spPr bwMode="auto">
            <a:xfrm>
              <a:off x="2482" y="2816"/>
              <a:ext cx="1359" cy="1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굴림" pitchFamily="50" charset="-128"/>
                </a:defRPr>
              </a:lvl1pPr>
              <a:lvl2pPr marL="742950" indent="-285750" defTabSz="7620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굴림" pitchFamily="50" charset="-128"/>
                </a:defRPr>
              </a:lvl2pPr>
              <a:lvl3pPr marL="1143000" indent="-228600" defTabSz="7620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굴림" pitchFamily="50" charset="-128"/>
                </a:defRPr>
              </a:lvl3pPr>
              <a:lvl4pPr marL="1600200" indent="-228600" defTabSz="7620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굴림" pitchFamily="50" charset="-128"/>
                </a:defRPr>
              </a:lvl4pPr>
              <a:lvl5pPr marL="2057400" indent="-228600" defTabSz="7620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굴림" pitchFamily="50" charset="-128"/>
                </a:defRPr>
              </a:lvl5pPr>
              <a:lvl6pPr marL="25146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굴림" pitchFamily="50" charset="-128"/>
                </a:defRPr>
              </a:lvl6pPr>
              <a:lvl7pPr marL="29718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굴림" pitchFamily="50" charset="-128"/>
                </a:defRPr>
              </a:lvl7pPr>
              <a:lvl8pPr marL="34290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굴림" pitchFamily="50" charset="-128"/>
                </a:defRPr>
              </a:lvl8pPr>
              <a:lvl9pPr marL="38862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굴림" pitchFamily="50" charset="-128"/>
                </a:defRPr>
              </a:lvl9pPr>
            </a:lstStyle>
            <a:p>
              <a:pPr algn="ctr"/>
              <a:r>
                <a:rPr lang="en-US" altLang="ko-KR" sz="1400" b="1"/>
                <a:t>n data input lines</a:t>
              </a:r>
            </a:p>
          </p:txBody>
        </p:sp>
        <p:sp>
          <p:nvSpPr>
            <p:cNvPr id="48153" name="Rectangle 27"/>
            <p:cNvSpPr>
              <a:spLocks noChangeArrowheads="1"/>
            </p:cNvSpPr>
            <p:nvPr/>
          </p:nvSpPr>
          <p:spPr bwMode="auto">
            <a:xfrm>
              <a:off x="2453" y="3695"/>
              <a:ext cx="1457" cy="1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굴림" pitchFamily="50" charset="-128"/>
                </a:defRPr>
              </a:lvl1pPr>
              <a:lvl2pPr marL="742950" indent="-285750" defTabSz="7620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굴림" pitchFamily="50" charset="-128"/>
                </a:defRPr>
              </a:lvl2pPr>
              <a:lvl3pPr marL="1143000" indent="-228600" defTabSz="7620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굴림" pitchFamily="50" charset="-128"/>
                </a:defRPr>
              </a:lvl3pPr>
              <a:lvl4pPr marL="1600200" indent="-228600" defTabSz="7620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굴림" pitchFamily="50" charset="-128"/>
                </a:defRPr>
              </a:lvl4pPr>
              <a:lvl5pPr marL="2057400" indent="-228600" defTabSz="7620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굴림" pitchFamily="50" charset="-128"/>
                </a:defRPr>
              </a:lvl5pPr>
              <a:lvl6pPr marL="25146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굴림" pitchFamily="50" charset="-128"/>
                </a:defRPr>
              </a:lvl6pPr>
              <a:lvl7pPr marL="29718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굴림" pitchFamily="50" charset="-128"/>
                </a:defRPr>
              </a:lvl7pPr>
              <a:lvl8pPr marL="34290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굴림" pitchFamily="50" charset="-128"/>
                </a:defRPr>
              </a:lvl8pPr>
              <a:lvl9pPr marL="38862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굴림" pitchFamily="50" charset="-128"/>
                </a:defRPr>
              </a:lvl9pPr>
            </a:lstStyle>
            <a:p>
              <a:pPr algn="ctr"/>
              <a:r>
                <a:rPr lang="en-US" altLang="ko-KR" sz="1400" b="1"/>
                <a:t>n data output lines</a:t>
              </a:r>
            </a:p>
          </p:txBody>
        </p:sp>
        <p:sp>
          <p:nvSpPr>
            <p:cNvPr id="48154" name="Rectangle 28"/>
            <p:cNvSpPr>
              <a:spLocks noChangeArrowheads="1"/>
            </p:cNvSpPr>
            <p:nvPr/>
          </p:nvSpPr>
          <p:spPr bwMode="auto">
            <a:xfrm>
              <a:off x="927" y="3096"/>
              <a:ext cx="1214" cy="5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굴림" pitchFamily="50" charset="-128"/>
                </a:defRPr>
              </a:lvl1pPr>
              <a:lvl2pPr marL="742950" indent="-285750" defTabSz="7620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굴림" pitchFamily="50" charset="-128"/>
                </a:defRPr>
              </a:lvl2pPr>
              <a:lvl3pPr marL="1143000" indent="-228600" defTabSz="7620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굴림" pitchFamily="50" charset="-128"/>
                </a:defRPr>
              </a:lvl3pPr>
              <a:lvl4pPr marL="1600200" indent="-228600" defTabSz="7620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굴림" pitchFamily="50" charset="-128"/>
                </a:defRPr>
              </a:lvl4pPr>
              <a:lvl5pPr marL="2057400" indent="-228600" defTabSz="7620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굴림" pitchFamily="50" charset="-128"/>
                </a:defRPr>
              </a:lvl5pPr>
              <a:lvl6pPr marL="25146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굴림" pitchFamily="50" charset="-128"/>
                </a:defRPr>
              </a:lvl6pPr>
              <a:lvl7pPr marL="29718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굴림" pitchFamily="50" charset="-128"/>
                </a:defRPr>
              </a:lvl7pPr>
              <a:lvl8pPr marL="34290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굴림" pitchFamily="50" charset="-128"/>
                </a:defRPr>
              </a:lvl8pPr>
              <a:lvl9pPr marL="38862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굴림" pitchFamily="50" charset="-128"/>
                </a:defRPr>
              </a:lvl9pPr>
            </a:lstStyle>
            <a:p>
              <a:pPr algn="r"/>
              <a:r>
                <a:rPr lang="en-US" altLang="ko-KR" sz="1400" b="1"/>
                <a:t>k address lines</a:t>
              </a:r>
            </a:p>
            <a:p>
              <a:pPr algn="r"/>
              <a:endParaRPr lang="en-US" altLang="ko-KR" sz="1400" b="1"/>
            </a:p>
            <a:p>
              <a:pPr algn="r"/>
              <a:r>
                <a:rPr lang="en-US" altLang="ko-KR" sz="1400" b="1"/>
                <a:t>Read</a:t>
              </a:r>
            </a:p>
            <a:p>
              <a:pPr algn="r"/>
              <a:endParaRPr lang="en-US" altLang="ko-KR" sz="1400" b="1"/>
            </a:p>
            <a:p>
              <a:pPr algn="r"/>
              <a:r>
                <a:rPr lang="en-US" altLang="ko-KR" sz="1400" b="1"/>
                <a:t>Write</a:t>
              </a:r>
            </a:p>
          </p:txBody>
        </p:sp>
        <p:sp>
          <p:nvSpPr>
            <p:cNvPr id="48155" name="Line 31"/>
            <p:cNvSpPr>
              <a:spLocks noChangeShapeType="1"/>
            </p:cNvSpPr>
            <p:nvPr/>
          </p:nvSpPr>
          <p:spPr bwMode="auto">
            <a:xfrm>
              <a:off x="2174" y="3343"/>
              <a:ext cx="47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48156" name="Line 32"/>
            <p:cNvSpPr>
              <a:spLocks noChangeShapeType="1"/>
            </p:cNvSpPr>
            <p:nvPr/>
          </p:nvSpPr>
          <p:spPr bwMode="auto">
            <a:xfrm>
              <a:off x="2165" y="3498"/>
              <a:ext cx="471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</p:grpSp>
      <p:sp>
        <p:nvSpPr>
          <p:cNvPr id="48144" name="Rectangle 36"/>
          <p:cNvSpPr>
            <a:spLocks noChangeArrowheads="1"/>
          </p:cNvSpPr>
          <p:nvPr/>
        </p:nvSpPr>
        <p:spPr bwMode="auto">
          <a:xfrm>
            <a:off x="4611688" y="865188"/>
            <a:ext cx="30797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굴림" pitchFamily="50" charset="-128"/>
              </a:defRPr>
            </a:lvl1pPr>
            <a:lvl2pPr marL="742950" indent="-285750" defTabSz="7620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굴림" pitchFamily="50" charset="-128"/>
              </a:defRPr>
            </a:lvl2pPr>
            <a:lvl3pPr marL="1143000" indent="-228600" defTabSz="7620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굴림" pitchFamily="50" charset="-128"/>
              </a:defRPr>
            </a:lvl3pPr>
            <a:lvl4pPr marL="1600200" indent="-228600" defTabSz="7620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굴림" pitchFamily="50" charset="-128"/>
              </a:defRPr>
            </a:lvl4pPr>
            <a:lvl5pPr marL="2057400" indent="-228600" defTabSz="7620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굴림" pitchFamily="50" charset="-128"/>
              </a:defRPr>
            </a:lvl5pPr>
            <a:lvl6pPr marL="25146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굴림" pitchFamily="50" charset="-128"/>
              </a:defRPr>
            </a:lvl6pPr>
            <a:lvl7pPr marL="29718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굴림" pitchFamily="50" charset="-128"/>
              </a:defRPr>
            </a:lvl7pPr>
            <a:lvl8pPr marL="34290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굴림" pitchFamily="50" charset="-128"/>
              </a:defRPr>
            </a:lvl8pPr>
            <a:lvl9pPr marL="38862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굴림" pitchFamily="50" charset="-128"/>
              </a:defRPr>
            </a:lvl9pPr>
          </a:lstStyle>
          <a:p>
            <a:r>
              <a:rPr lang="en-US" altLang="ko-KR"/>
              <a:t>0</a:t>
            </a:r>
          </a:p>
        </p:txBody>
      </p:sp>
      <p:sp>
        <p:nvSpPr>
          <p:cNvPr id="48145" name="Rectangle 37"/>
          <p:cNvSpPr>
            <a:spLocks noChangeArrowheads="1"/>
          </p:cNvSpPr>
          <p:nvPr/>
        </p:nvSpPr>
        <p:spPr bwMode="auto">
          <a:xfrm>
            <a:off x="4306888" y="2846388"/>
            <a:ext cx="67627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굴림" pitchFamily="50" charset="-128"/>
              </a:defRPr>
            </a:lvl1pPr>
            <a:lvl2pPr marL="742950" indent="-285750" defTabSz="7620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굴림" pitchFamily="50" charset="-128"/>
              </a:defRPr>
            </a:lvl2pPr>
            <a:lvl3pPr marL="1143000" indent="-228600" defTabSz="7620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굴림" pitchFamily="50" charset="-128"/>
              </a:defRPr>
            </a:lvl3pPr>
            <a:lvl4pPr marL="1600200" indent="-228600" defTabSz="7620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굴림" pitchFamily="50" charset="-128"/>
              </a:defRPr>
            </a:lvl4pPr>
            <a:lvl5pPr marL="2057400" indent="-228600" defTabSz="7620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굴림" pitchFamily="50" charset="-128"/>
              </a:defRPr>
            </a:lvl5pPr>
            <a:lvl6pPr marL="25146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굴림" pitchFamily="50" charset="-128"/>
              </a:defRPr>
            </a:lvl6pPr>
            <a:lvl7pPr marL="29718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굴림" pitchFamily="50" charset="-128"/>
              </a:defRPr>
            </a:lvl7pPr>
            <a:lvl8pPr marL="34290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굴림" pitchFamily="50" charset="-128"/>
              </a:defRPr>
            </a:lvl8pPr>
            <a:lvl9pPr marL="38862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굴림" pitchFamily="50" charset="-128"/>
              </a:defRPr>
            </a:lvl9pPr>
          </a:lstStyle>
          <a:p>
            <a:r>
              <a:rPr lang="en-US" altLang="ko-KR"/>
              <a:t>N - 1</a:t>
            </a:r>
          </a:p>
        </p:txBody>
      </p:sp>
    </p:spTree>
    <p:extLst>
      <p:ext uri="{BB962C8B-B14F-4D97-AF65-F5344CB8AC3E}">
        <p14:creationId xmlns:p14="http://schemas.microsoft.com/office/powerpoint/2010/main" val="1018946636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/>
          <p:cNvSpPr>
            <a:spLocks noGrp="1" noChangeArrowheads="1"/>
          </p:cNvSpPr>
          <p:nvPr>
            <p:ph type="title"/>
          </p:nvPr>
        </p:nvSpPr>
        <p:spPr>
          <a:xfrm>
            <a:off x="358775" y="309563"/>
            <a:ext cx="8523288" cy="379412"/>
          </a:xfrm>
        </p:spPr>
        <p:txBody>
          <a:bodyPr>
            <a:normAutofit fontScale="90000"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altLang="ko-KR" dirty="0">
                <a:solidFill>
                  <a:srgbClr val="FF0000"/>
                </a:solidFill>
                <a:cs typeface="+mj-cs"/>
              </a:rPr>
              <a:t>READ  ONLY  MEMORY(ROM)</a:t>
            </a:r>
          </a:p>
        </p:txBody>
      </p:sp>
      <p:sp>
        <p:nvSpPr>
          <p:cNvPr id="49155" name="Rectangle 3"/>
          <p:cNvSpPr>
            <a:spLocks noChangeArrowheads="1"/>
          </p:cNvSpPr>
          <p:nvPr/>
        </p:nvSpPr>
        <p:spPr bwMode="auto">
          <a:xfrm>
            <a:off x="374650" y="831850"/>
            <a:ext cx="7254875" cy="1327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굴림" pitchFamily="50" charset="-128"/>
              </a:defRPr>
            </a:lvl1pPr>
            <a:lvl2pPr marL="742950" indent="-285750" defTabSz="7620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굴림" pitchFamily="50" charset="-128"/>
              </a:defRPr>
            </a:lvl2pPr>
            <a:lvl3pPr marL="1143000" indent="-228600" defTabSz="7620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굴림" pitchFamily="50" charset="-128"/>
              </a:defRPr>
            </a:lvl3pPr>
            <a:lvl4pPr marL="1600200" indent="-228600" defTabSz="7620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굴림" pitchFamily="50" charset="-128"/>
              </a:defRPr>
            </a:lvl4pPr>
            <a:lvl5pPr marL="2057400" indent="-228600" defTabSz="7620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굴림" pitchFamily="50" charset="-128"/>
              </a:defRPr>
            </a:lvl5pPr>
            <a:lvl6pPr marL="25146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굴림" pitchFamily="50" charset="-128"/>
              </a:defRPr>
            </a:lvl6pPr>
            <a:lvl7pPr marL="29718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굴림" pitchFamily="50" charset="-128"/>
              </a:defRPr>
            </a:lvl7pPr>
            <a:lvl8pPr marL="34290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굴림" pitchFamily="50" charset="-128"/>
              </a:defRPr>
            </a:lvl8pPr>
            <a:lvl9pPr marL="38862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굴림" pitchFamily="50" charset="-128"/>
              </a:defRPr>
            </a:lvl9pPr>
          </a:lstStyle>
          <a:p>
            <a:r>
              <a:rPr lang="en-US" altLang="ko-KR" b="1"/>
              <a:t>Characteristics</a:t>
            </a:r>
          </a:p>
          <a:p>
            <a:r>
              <a:rPr lang="en-US" altLang="ko-KR" b="1"/>
              <a:t>       - Perform read operation only, write operation is not possible</a:t>
            </a:r>
          </a:p>
          <a:p>
            <a:r>
              <a:rPr lang="en-US" altLang="ko-KR" b="1"/>
              <a:t>       - Information stored in a ROM is made permanent</a:t>
            </a:r>
          </a:p>
          <a:p>
            <a:r>
              <a:rPr lang="en-US" altLang="ko-KR" b="1"/>
              <a:t>         during production, and cannot be changed</a:t>
            </a:r>
          </a:p>
          <a:p>
            <a:r>
              <a:rPr lang="en-US" altLang="ko-KR" b="1"/>
              <a:t>       - Organization </a:t>
            </a:r>
          </a:p>
        </p:txBody>
      </p:sp>
      <p:sp>
        <p:nvSpPr>
          <p:cNvPr id="49156" name="Rectangle 10"/>
          <p:cNvSpPr>
            <a:spLocks noChangeArrowheads="1"/>
          </p:cNvSpPr>
          <p:nvPr/>
        </p:nvSpPr>
        <p:spPr bwMode="auto">
          <a:xfrm>
            <a:off x="1025525" y="3546475"/>
            <a:ext cx="5553075" cy="831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굴림" pitchFamily="50" charset="-128"/>
              </a:defRPr>
            </a:lvl1pPr>
            <a:lvl2pPr marL="742950" indent="-285750" defTabSz="7620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굴림" pitchFamily="50" charset="-128"/>
              </a:defRPr>
            </a:lvl2pPr>
            <a:lvl3pPr marL="1143000" indent="-228600" defTabSz="7620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굴림" pitchFamily="50" charset="-128"/>
              </a:defRPr>
            </a:lvl3pPr>
            <a:lvl4pPr marL="1600200" indent="-228600" defTabSz="7620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굴림" pitchFamily="50" charset="-128"/>
              </a:defRPr>
            </a:lvl4pPr>
            <a:lvl5pPr marL="2057400" indent="-228600" defTabSz="7620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굴림" pitchFamily="50" charset="-128"/>
              </a:defRPr>
            </a:lvl5pPr>
            <a:lvl6pPr marL="25146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굴림" pitchFamily="50" charset="-128"/>
              </a:defRPr>
            </a:lvl6pPr>
            <a:lvl7pPr marL="29718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굴림" pitchFamily="50" charset="-128"/>
              </a:defRPr>
            </a:lvl7pPr>
            <a:lvl8pPr marL="34290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굴림" pitchFamily="50" charset="-128"/>
              </a:defRPr>
            </a:lvl8pPr>
            <a:lvl9pPr marL="38862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굴림" pitchFamily="50" charset="-128"/>
              </a:defRPr>
            </a:lvl9pPr>
          </a:lstStyle>
          <a:p>
            <a:r>
              <a:rPr lang="en-US" altLang="ko-KR" b="1"/>
              <a:t>Information on the data output line depends only </a:t>
            </a:r>
          </a:p>
          <a:p>
            <a:r>
              <a:rPr lang="en-US" altLang="ko-KR" b="1"/>
              <a:t>on the information on the address input lines.</a:t>
            </a:r>
          </a:p>
          <a:p>
            <a:r>
              <a:rPr lang="en-US" altLang="ko-KR" b="1"/>
              <a:t>	--&gt; Combinational Logic Circuit </a:t>
            </a:r>
          </a:p>
        </p:txBody>
      </p:sp>
      <p:sp>
        <p:nvSpPr>
          <p:cNvPr id="49157" name="Rectangle 11"/>
          <p:cNvSpPr>
            <a:spLocks noChangeArrowheads="1"/>
          </p:cNvSpPr>
          <p:nvPr/>
        </p:nvSpPr>
        <p:spPr bwMode="auto">
          <a:xfrm>
            <a:off x="3325813" y="4371975"/>
            <a:ext cx="2322512" cy="2201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굴림" pitchFamily="50" charset="-128"/>
              </a:defRPr>
            </a:lvl1pPr>
            <a:lvl2pPr marL="742950" indent="-285750" defTabSz="7620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굴림" pitchFamily="50" charset="-128"/>
              </a:defRPr>
            </a:lvl2pPr>
            <a:lvl3pPr marL="1143000" indent="-228600" defTabSz="7620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굴림" pitchFamily="50" charset="-128"/>
              </a:defRPr>
            </a:lvl3pPr>
            <a:lvl4pPr marL="1600200" indent="-228600" defTabSz="7620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굴림" pitchFamily="50" charset="-128"/>
              </a:defRPr>
            </a:lvl4pPr>
            <a:lvl5pPr marL="2057400" indent="-228600" defTabSz="7620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굴림" pitchFamily="50" charset="-128"/>
              </a:defRPr>
            </a:lvl5pPr>
            <a:lvl6pPr marL="25146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굴림" pitchFamily="50" charset="-128"/>
              </a:defRPr>
            </a:lvl6pPr>
            <a:lvl7pPr marL="29718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굴림" pitchFamily="50" charset="-128"/>
              </a:defRPr>
            </a:lvl7pPr>
            <a:lvl8pPr marL="34290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굴림" pitchFamily="50" charset="-128"/>
              </a:defRPr>
            </a:lvl8pPr>
            <a:lvl9pPr marL="38862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굴림" pitchFamily="50" charset="-128"/>
              </a:defRPr>
            </a:lvl9pPr>
          </a:lstStyle>
          <a:p>
            <a:r>
              <a:rPr lang="en-US" altLang="ko-KR" sz="1400" b="1"/>
              <a:t>X</a:t>
            </a:r>
            <a:r>
              <a:rPr lang="en-US" altLang="ko-KR" sz="1400" b="1" baseline="-25000"/>
              <a:t>0</a:t>
            </a:r>
            <a:r>
              <a:rPr lang="en-US" altLang="ko-KR" sz="1400" b="1"/>
              <a:t>=A’B’ + B’C</a:t>
            </a:r>
          </a:p>
          <a:p>
            <a:r>
              <a:rPr lang="en-US" altLang="ko-KR" sz="1400" b="1"/>
              <a:t>X</a:t>
            </a:r>
            <a:r>
              <a:rPr lang="en-US" altLang="ko-KR" sz="1400" b="1" baseline="-25000"/>
              <a:t>1</a:t>
            </a:r>
            <a:r>
              <a:rPr lang="en-US" altLang="ko-KR" sz="1400" b="1"/>
              <a:t>=A’B’C + A’BC’</a:t>
            </a:r>
          </a:p>
          <a:p>
            <a:r>
              <a:rPr lang="en-US" altLang="ko-KR" sz="1400" b="1"/>
              <a:t>X</a:t>
            </a:r>
            <a:r>
              <a:rPr lang="en-US" altLang="ko-KR" sz="1400" b="1" baseline="-25000"/>
              <a:t>2</a:t>
            </a:r>
            <a:r>
              <a:rPr lang="en-US" altLang="ko-KR" sz="1400" b="1"/>
              <a:t>=BC + AB’C’</a:t>
            </a:r>
          </a:p>
          <a:p>
            <a:r>
              <a:rPr lang="en-US" altLang="ko-KR" sz="1400" b="1"/>
              <a:t>X</a:t>
            </a:r>
            <a:r>
              <a:rPr lang="en-US" altLang="ko-KR" sz="1400" b="1" baseline="-25000"/>
              <a:t>3</a:t>
            </a:r>
            <a:r>
              <a:rPr lang="en-US" altLang="ko-KR" sz="1400" b="1"/>
              <a:t>=A’BC’ + AB’</a:t>
            </a:r>
          </a:p>
          <a:p>
            <a:r>
              <a:rPr lang="en-US" altLang="ko-KR" sz="1400" b="1"/>
              <a:t>X</a:t>
            </a:r>
            <a:r>
              <a:rPr lang="en-US" altLang="ko-KR" sz="1400" b="1" baseline="-25000"/>
              <a:t>4</a:t>
            </a:r>
            <a:r>
              <a:rPr lang="en-US" altLang="ko-KR" sz="1400" b="1"/>
              <a:t>=AB</a:t>
            </a:r>
          </a:p>
          <a:p>
            <a:endParaRPr lang="en-US" altLang="ko-KR" sz="1400" b="1"/>
          </a:p>
          <a:p>
            <a:r>
              <a:rPr lang="en-US" altLang="ko-KR" sz="1400" b="1"/>
              <a:t>X</a:t>
            </a:r>
            <a:r>
              <a:rPr lang="en-US" altLang="ko-KR" sz="1400" b="1" baseline="-25000"/>
              <a:t>0</a:t>
            </a:r>
            <a:r>
              <a:rPr lang="en-US" altLang="ko-KR" sz="1400" b="1"/>
              <a:t>=A’B’C’ + A’B’C + AB’C</a:t>
            </a:r>
          </a:p>
          <a:p>
            <a:r>
              <a:rPr lang="en-US" altLang="ko-KR" sz="1400" b="1"/>
              <a:t>X</a:t>
            </a:r>
            <a:r>
              <a:rPr lang="en-US" altLang="ko-KR" sz="1400" b="1" baseline="-25000"/>
              <a:t>1</a:t>
            </a:r>
            <a:r>
              <a:rPr lang="en-US" altLang="ko-KR" sz="1400" b="1"/>
              <a:t>=A’B’C + A’BC’</a:t>
            </a:r>
          </a:p>
          <a:p>
            <a:r>
              <a:rPr lang="en-US" altLang="ko-KR" sz="1400" b="1"/>
              <a:t>X</a:t>
            </a:r>
            <a:r>
              <a:rPr lang="en-US" altLang="ko-KR" sz="1400" b="1" baseline="-25000"/>
              <a:t>2</a:t>
            </a:r>
            <a:r>
              <a:rPr lang="en-US" altLang="ko-KR" sz="1400" b="1"/>
              <a:t>=A’BC + AB’C’ + ABC</a:t>
            </a:r>
          </a:p>
          <a:p>
            <a:r>
              <a:rPr lang="en-US" altLang="ko-KR" sz="1400" b="1"/>
              <a:t>X</a:t>
            </a:r>
            <a:r>
              <a:rPr lang="en-US" altLang="ko-KR" sz="1400" b="1" baseline="-25000"/>
              <a:t>3</a:t>
            </a:r>
            <a:r>
              <a:rPr lang="en-US" altLang="ko-KR" sz="1400" b="1"/>
              <a:t>=A’BC’ + AB’C’ + AB’C</a:t>
            </a:r>
          </a:p>
          <a:p>
            <a:r>
              <a:rPr lang="en-US" altLang="ko-KR" sz="1400" b="1"/>
              <a:t>X</a:t>
            </a:r>
            <a:r>
              <a:rPr lang="en-US" altLang="ko-KR" sz="1400" b="1" baseline="-25000"/>
              <a:t>4</a:t>
            </a:r>
            <a:r>
              <a:rPr lang="en-US" altLang="ko-KR" sz="1400" b="1"/>
              <a:t>=ABC’ + ABC</a:t>
            </a:r>
          </a:p>
        </p:txBody>
      </p:sp>
      <p:sp>
        <p:nvSpPr>
          <p:cNvPr id="49158" name="Rectangle 12"/>
          <p:cNvSpPr>
            <a:spLocks noChangeArrowheads="1"/>
          </p:cNvSpPr>
          <p:nvPr/>
        </p:nvSpPr>
        <p:spPr bwMode="auto">
          <a:xfrm>
            <a:off x="3314700" y="4387850"/>
            <a:ext cx="1611313" cy="1027113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굴림" pitchFamily="50" charset="-128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굴림" pitchFamily="50" charset="-128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굴림" pitchFamily="50" charset="-128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굴림" pitchFamily="50" charset="-128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굴림" pitchFamily="50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굴림" pitchFamily="50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굴림" pitchFamily="50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굴림" pitchFamily="50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굴림" pitchFamily="50" charset="-128"/>
              </a:defRPr>
            </a:lvl9pPr>
          </a:lstStyle>
          <a:p>
            <a:endParaRPr lang="en-US" altLang="en-US"/>
          </a:p>
        </p:txBody>
      </p:sp>
      <p:sp>
        <p:nvSpPr>
          <p:cNvPr id="49159" name="Rectangle 13"/>
          <p:cNvSpPr>
            <a:spLocks noChangeArrowheads="1"/>
          </p:cNvSpPr>
          <p:nvPr/>
        </p:nvSpPr>
        <p:spPr bwMode="auto">
          <a:xfrm>
            <a:off x="3314700" y="5549900"/>
            <a:ext cx="2314575" cy="987425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굴림" pitchFamily="50" charset="-128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굴림" pitchFamily="50" charset="-128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굴림" pitchFamily="50" charset="-128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굴림" pitchFamily="50" charset="-128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굴림" pitchFamily="50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굴림" pitchFamily="50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굴림" pitchFamily="50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굴림" pitchFamily="50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굴림" pitchFamily="50" charset="-128"/>
              </a:defRPr>
            </a:lvl9pPr>
          </a:lstStyle>
          <a:p>
            <a:endParaRPr lang="en-US" altLang="en-US"/>
          </a:p>
        </p:txBody>
      </p:sp>
      <p:sp>
        <p:nvSpPr>
          <p:cNvPr id="49160" name="Arc 14"/>
          <p:cNvSpPr>
            <a:spLocks/>
          </p:cNvSpPr>
          <p:nvPr/>
        </p:nvSpPr>
        <p:spPr bwMode="auto">
          <a:xfrm>
            <a:off x="2668588" y="5384800"/>
            <a:ext cx="587375" cy="336550"/>
          </a:xfrm>
          <a:custGeom>
            <a:avLst/>
            <a:gdLst>
              <a:gd name="T0" fmla="*/ 587375 w 21600"/>
              <a:gd name="T1" fmla="*/ 336550 h 21600"/>
              <a:gd name="T2" fmla="*/ 0 w 21600"/>
              <a:gd name="T3" fmla="*/ 0 h 21600"/>
              <a:gd name="T4" fmla="*/ 587375 w 21600"/>
              <a:gd name="T5" fmla="*/ 0 h 21600"/>
              <a:gd name="T6" fmla="*/ 0 60000 65536"/>
              <a:gd name="T7" fmla="*/ 0 60000 65536"/>
              <a:gd name="T8" fmla="*/ 0 60000 65536"/>
              <a:gd name="T9" fmla="*/ 0 w 21600"/>
              <a:gd name="T10" fmla="*/ 0 h 21600"/>
              <a:gd name="T11" fmla="*/ 21600 w 21600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00" h="21600" fill="none" extrusionOk="0">
                <a:moveTo>
                  <a:pt x="21600" y="21600"/>
                </a:moveTo>
                <a:cubicBezTo>
                  <a:pt x="9670" y="21600"/>
                  <a:pt x="0" y="11929"/>
                  <a:pt x="0" y="0"/>
                </a:cubicBezTo>
              </a:path>
              <a:path w="21600" h="21600" stroke="0" extrusionOk="0">
                <a:moveTo>
                  <a:pt x="21600" y="21600"/>
                </a:moveTo>
                <a:cubicBezTo>
                  <a:pt x="9670" y="21600"/>
                  <a:pt x="0" y="11929"/>
                  <a:pt x="0" y="0"/>
                </a:cubicBezTo>
                <a:lnTo>
                  <a:pt x="21600" y="0"/>
                </a:lnTo>
                <a:close/>
              </a:path>
            </a:pathLst>
          </a:custGeom>
          <a:noFill/>
          <a:ln w="25400" cap="rnd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굴림" pitchFamily="50" charset="-128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굴림" pitchFamily="50" charset="-128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굴림" pitchFamily="50" charset="-128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굴림" pitchFamily="50" charset="-128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굴림" pitchFamily="50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굴림" pitchFamily="50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굴림" pitchFamily="50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굴림" pitchFamily="50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굴림" pitchFamily="50" charset="-128"/>
              </a:defRPr>
            </a:lvl9pPr>
          </a:lstStyle>
          <a:p>
            <a:endParaRPr lang="en-US" altLang="en-US"/>
          </a:p>
        </p:txBody>
      </p:sp>
      <p:sp>
        <p:nvSpPr>
          <p:cNvPr id="49161" name="Arc 15"/>
          <p:cNvSpPr>
            <a:spLocks/>
          </p:cNvSpPr>
          <p:nvPr/>
        </p:nvSpPr>
        <p:spPr bwMode="auto">
          <a:xfrm>
            <a:off x="2668588" y="5011738"/>
            <a:ext cx="569912" cy="382587"/>
          </a:xfrm>
          <a:custGeom>
            <a:avLst/>
            <a:gdLst>
              <a:gd name="T0" fmla="*/ 0 w 21600"/>
              <a:gd name="T1" fmla="*/ 382587 h 21600"/>
              <a:gd name="T2" fmla="*/ 567696 w 21600"/>
              <a:gd name="T3" fmla="*/ 0 h 21600"/>
              <a:gd name="T4" fmla="*/ 569912 w 21600"/>
              <a:gd name="T5" fmla="*/ 382587 h 21600"/>
              <a:gd name="T6" fmla="*/ 0 60000 65536"/>
              <a:gd name="T7" fmla="*/ 0 60000 65536"/>
              <a:gd name="T8" fmla="*/ 0 60000 65536"/>
              <a:gd name="T9" fmla="*/ 0 w 21600"/>
              <a:gd name="T10" fmla="*/ 0 h 21600"/>
              <a:gd name="T11" fmla="*/ 21600 w 21600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00" h="21600" fill="none" extrusionOk="0">
                <a:moveTo>
                  <a:pt x="0" y="21600"/>
                </a:moveTo>
                <a:cubicBezTo>
                  <a:pt x="0" y="9703"/>
                  <a:pt x="9619" y="46"/>
                  <a:pt x="21516" y="0"/>
                </a:cubicBezTo>
              </a:path>
              <a:path w="21600" h="21600" stroke="0" extrusionOk="0">
                <a:moveTo>
                  <a:pt x="0" y="21600"/>
                </a:moveTo>
                <a:cubicBezTo>
                  <a:pt x="0" y="9703"/>
                  <a:pt x="9619" y="46"/>
                  <a:pt x="21516" y="0"/>
                </a:cubicBezTo>
                <a:lnTo>
                  <a:pt x="21600" y="21600"/>
                </a:lnTo>
                <a:close/>
              </a:path>
            </a:pathLst>
          </a:custGeom>
          <a:noFill/>
          <a:ln w="25400" cap="rnd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굴림" pitchFamily="50" charset="-128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굴림" pitchFamily="50" charset="-128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굴림" pitchFamily="50" charset="-128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굴림" pitchFamily="50" charset="-128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굴림" pitchFamily="50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굴림" pitchFamily="50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굴림" pitchFamily="50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굴림" pitchFamily="50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굴림" pitchFamily="50" charset="-128"/>
              </a:defRPr>
            </a:lvl9pPr>
          </a:lstStyle>
          <a:p>
            <a:endParaRPr lang="en-US" altLang="en-US"/>
          </a:p>
        </p:txBody>
      </p:sp>
      <p:sp>
        <p:nvSpPr>
          <p:cNvPr id="49162" name="Rectangle 16"/>
          <p:cNvSpPr>
            <a:spLocks noChangeArrowheads="1"/>
          </p:cNvSpPr>
          <p:nvPr/>
        </p:nvSpPr>
        <p:spPr bwMode="auto">
          <a:xfrm>
            <a:off x="1401763" y="6184900"/>
            <a:ext cx="1876425" cy="280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굴림" pitchFamily="50" charset="-128"/>
              </a:defRPr>
            </a:lvl1pPr>
            <a:lvl2pPr marL="742950" indent="-285750" defTabSz="7620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굴림" pitchFamily="50" charset="-128"/>
              </a:defRPr>
            </a:lvl2pPr>
            <a:lvl3pPr marL="1143000" indent="-228600" defTabSz="7620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굴림" pitchFamily="50" charset="-128"/>
              </a:defRPr>
            </a:lvl3pPr>
            <a:lvl4pPr marL="1600200" indent="-228600" defTabSz="7620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굴림" pitchFamily="50" charset="-128"/>
              </a:defRPr>
            </a:lvl4pPr>
            <a:lvl5pPr marL="2057400" indent="-228600" defTabSz="7620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굴림" pitchFamily="50" charset="-128"/>
              </a:defRPr>
            </a:lvl5pPr>
            <a:lvl6pPr marL="25146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굴림" pitchFamily="50" charset="-128"/>
              </a:defRPr>
            </a:lvl6pPr>
            <a:lvl7pPr marL="29718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굴림" pitchFamily="50" charset="-128"/>
              </a:defRPr>
            </a:lvl7pPr>
            <a:lvl8pPr marL="34290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굴림" pitchFamily="50" charset="-128"/>
              </a:defRPr>
            </a:lvl8pPr>
            <a:lvl9pPr marL="38862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굴림" pitchFamily="50" charset="-128"/>
              </a:defRPr>
            </a:lvl9pPr>
          </a:lstStyle>
          <a:p>
            <a:r>
              <a:rPr lang="en-US" altLang="ko-KR" sz="1400" b="1"/>
              <a:t>Canonical minterms</a:t>
            </a:r>
          </a:p>
        </p:txBody>
      </p:sp>
      <p:sp>
        <p:nvSpPr>
          <p:cNvPr id="49163" name="Rectangle 21"/>
          <p:cNvSpPr>
            <a:spLocks noChangeArrowheads="1"/>
          </p:cNvSpPr>
          <p:nvPr/>
        </p:nvSpPr>
        <p:spPr bwMode="auto">
          <a:xfrm>
            <a:off x="7045325" y="4616450"/>
            <a:ext cx="1577975" cy="1841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굴림" pitchFamily="50" charset="-128"/>
              </a:defRPr>
            </a:lvl1pPr>
            <a:lvl2pPr marL="742950" indent="-285750" defTabSz="7620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굴림" pitchFamily="50" charset="-128"/>
              </a:defRPr>
            </a:lvl2pPr>
            <a:lvl3pPr marL="1143000" indent="-228600" defTabSz="7620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굴림" pitchFamily="50" charset="-128"/>
              </a:defRPr>
            </a:lvl3pPr>
            <a:lvl4pPr marL="1600200" indent="-228600" defTabSz="7620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굴림" pitchFamily="50" charset="-128"/>
              </a:defRPr>
            </a:lvl4pPr>
            <a:lvl5pPr marL="2057400" indent="-228600" defTabSz="7620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굴림" pitchFamily="50" charset="-128"/>
              </a:defRPr>
            </a:lvl5pPr>
            <a:lvl6pPr marL="25146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굴림" pitchFamily="50" charset="-128"/>
              </a:defRPr>
            </a:lvl6pPr>
            <a:lvl7pPr marL="29718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굴림" pitchFamily="50" charset="-128"/>
              </a:defRPr>
            </a:lvl7pPr>
            <a:lvl8pPr marL="34290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굴림" pitchFamily="50" charset="-128"/>
              </a:defRPr>
            </a:lvl8pPr>
            <a:lvl9pPr marL="38862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굴림" pitchFamily="50" charset="-128"/>
              </a:defRPr>
            </a:lvl9pPr>
          </a:lstStyle>
          <a:p>
            <a:pPr>
              <a:lnSpc>
                <a:spcPct val="80000"/>
              </a:lnSpc>
            </a:pPr>
            <a:r>
              <a:rPr lang="en-US" altLang="ko-KR"/>
              <a:t>1   0   0   0   0</a:t>
            </a:r>
          </a:p>
          <a:p>
            <a:pPr>
              <a:lnSpc>
                <a:spcPct val="80000"/>
              </a:lnSpc>
            </a:pPr>
            <a:r>
              <a:rPr lang="en-US" altLang="ko-KR"/>
              <a:t>1   1   0   0   0</a:t>
            </a:r>
          </a:p>
          <a:p>
            <a:pPr>
              <a:lnSpc>
                <a:spcPct val="80000"/>
              </a:lnSpc>
            </a:pPr>
            <a:r>
              <a:rPr lang="en-US" altLang="ko-KR"/>
              <a:t>0   1   0   1   0</a:t>
            </a:r>
          </a:p>
          <a:p>
            <a:pPr>
              <a:lnSpc>
                <a:spcPct val="80000"/>
              </a:lnSpc>
            </a:pPr>
            <a:r>
              <a:rPr lang="en-US" altLang="ko-KR"/>
              <a:t>0   0   1   0   0</a:t>
            </a:r>
          </a:p>
          <a:p>
            <a:pPr>
              <a:lnSpc>
                <a:spcPct val="80000"/>
              </a:lnSpc>
            </a:pPr>
            <a:r>
              <a:rPr lang="en-US" altLang="ko-KR"/>
              <a:t>0   0   1   1   0</a:t>
            </a:r>
          </a:p>
          <a:p>
            <a:pPr>
              <a:lnSpc>
                <a:spcPct val="80000"/>
              </a:lnSpc>
            </a:pPr>
            <a:r>
              <a:rPr lang="en-US" altLang="ko-KR"/>
              <a:t>1   0   0   1   0</a:t>
            </a:r>
          </a:p>
          <a:p>
            <a:pPr>
              <a:lnSpc>
                <a:spcPct val="80000"/>
              </a:lnSpc>
            </a:pPr>
            <a:r>
              <a:rPr lang="en-US" altLang="ko-KR"/>
              <a:t>0   0   0   0   1</a:t>
            </a:r>
          </a:p>
          <a:p>
            <a:pPr>
              <a:lnSpc>
                <a:spcPct val="80000"/>
              </a:lnSpc>
            </a:pPr>
            <a:r>
              <a:rPr lang="en-US" altLang="ko-KR"/>
              <a:t>0   0   1   0   1</a:t>
            </a:r>
          </a:p>
        </p:txBody>
      </p:sp>
      <p:sp>
        <p:nvSpPr>
          <p:cNvPr id="49164" name="Rectangle 30"/>
          <p:cNvSpPr>
            <a:spLocks noChangeArrowheads="1"/>
          </p:cNvSpPr>
          <p:nvPr/>
        </p:nvSpPr>
        <p:spPr bwMode="auto">
          <a:xfrm>
            <a:off x="5516563" y="4106863"/>
            <a:ext cx="3135312" cy="528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굴림" pitchFamily="50" charset="-128"/>
              </a:defRPr>
            </a:lvl1pPr>
            <a:lvl2pPr marL="742950" indent="-285750" defTabSz="7620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굴림" pitchFamily="50" charset="-128"/>
              </a:defRPr>
            </a:lvl2pPr>
            <a:lvl3pPr marL="1143000" indent="-228600" defTabSz="7620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굴림" pitchFamily="50" charset="-128"/>
              </a:defRPr>
            </a:lvl3pPr>
            <a:lvl4pPr marL="1600200" indent="-228600" defTabSz="7620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굴림" pitchFamily="50" charset="-128"/>
              </a:defRPr>
            </a:lvl4pPr>
            <a:lvl5pPr marL="2057400" indent="-228600" defTabSz="7620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굴림" pitchFamily="50" charset="-128"/>
              </a:defRPr>
            </a:lvl5pPr>
            <a:lvl6pPr marL="25146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굴림" pitchFamily="50" charset="-128"/>
              </a:defRPr>
            </a:lvl6pPr>
            <a:lvl7pPr marL="29718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굴림" pitchFamily="50" charset="-128"/>
              </a:defRPr>
            </a:lvl7pPr>
            <a:lvl8pPr marL="34290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굴림" pitchFamily="50" charset="-128"/>
              </a:defRPr>
            </a:lvl8pPr>
            <a:lvl9pPr marL="38862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굴림" pitchFamily="50" charset="-128"/>
              </a:defRPr>
            </a:lvl9pPr>
          </a:lstStyle>
          <a:p>
            <a:r>
              <a:rPr lang="en-US" altLang="ko-KR" i="1"/>
              <a:t>        address</a:t>
            </a:r>
            <a:r>
              <a:rPr lang="en-US" altLang="ko-KR"/>
              <a:t> </a:t>
            </a:r>
            <a:r>
              <a:rPr lang="en-US" altLang="ko-KR" b="1" i="1"/>
              <a:t>       </a:t>
            </a:r>
            <a:r>
              <a:rPr lang="en-US" altLang="ko-KR" sz="1400" b="1" i="1"/>
              <a:t>Output</a:t>
            </a:r>
            <a:r>
              <a:rPr lang="en-US" altLang="ko-KR" sz="1400"/>
              <a:t>       </a:t>
            </a:r>
            <a:r>
              <a:rPr lang="en-US" altLang="ko-KR"/>
              <a:t> </a:t>
            </a:r>
          </a:p>
          <a:p>
            <a:r>
              <a:rPr lang="en-US" altLang="ko-KR" sz="1400" b="1"/>
              <a:t>                  ABC     X</a:t>
            </a:r>
            <a:r>
              <a:rPr lang="en-US" altLang="ko-KR" sz="1400" b="1" baseline="-25000"/>
              <a:t>0 </a:t>
            </a:r>
            <a:r>
              <a:rPr lang="en-US" altLang="ko-KR" sz="1400" b="1"/>
              <a:t> X</a:t>
            </a:r>
            <a:r>
              <a:rPr lang="en-US" altLang="ko-KR" sz="1400" b="1" baseline="-25000"/>
              <a:t>1</a:t>
            </a:r>
            <a:r>
              <a:rPr lang="en-US" altLang="ko-KR" sz="1400" b="1"/>
              <a:t>   X</a:t>
            </a:r>
            <a:r>
              <a:rPr lang="en-US" altLang="ko-KR" sz="1400" b="1" baseline="-25000"/>
              <a:t>2</a:t>
            </a:r>
            <a:r>
              <a:rPr lang="en-US" altLang="ko-KR" sz="1400" b="1"/>
              <a:t>   X</a:t>
            </a:r>
            <a:r>
              <a:rPr lang="en-US" altLang="ko-KR" sz="1400" b="1" baseline="-25000"/>
              <a:t>3</a:t>
            </a:r>
            <a:r>
              <a:rPr lang="en-US" altLang="ko-KR" sz="1400" b="1"/>
              <a:t>   X</a:t>
            </a:r>
            <a:r>
              <a:rPr lang="en-US" altLang="ko-KR" sz="1400" b="1" baseline="-25000"/>
              <a:t>4</a:t>
            </a:r>
          </a:p>
        </p:txBody>
      </p:sp>
      <p:sp>
        <p:nvSpPr>
          <p:cNvPr id="49165" name="Rectangle 31"/>
          <p:cNvSpPr>
            <a:spLocks noChangeArrowheads="1"/>
          </p:cNvSpPr>
          <p:nvPr/>
        </p:nvSpPr>
        <p:spPr bwMode="auto">
          <a:xfrm>
            <a:off x="6407150" y="4616450"/>
            <a:ext cx="561975" cy="1841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굴림" pitchFamily="50" charset="-128"/>
              </a:defRPr>
            </a:lvl1pPr>
            <a:lvl2pPr marL="742950" indent="-285750" defTabSz="7620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굴림" pitchFamily="50" charset="-128"/>
              </a:defRPr>
            </a:lvl2pPr>
            <a:lvl3pPr marL="1143000" indent="-228600" defTabSz="7620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굴림" pitchFamily="50" charset="-128"/>
              </a:defRPr>
            </a:lvl3pPr>
            <a:lvl4pPr marL="1600200" indent="-228600" defTabSz="7620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굴림" pitchFamily="50" charset="-128"/>
              </a:defRPr>
            </a:lvl4pPr>
            <a:lvl5pPr marL="2057400" indent="-228600" defTabSz="7620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굴림" pitchFamily="50" charset="-128"/>
              </a:defRPr>
            </a:lvl5pPr>
            <a:lvl6pPr marL="25146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굴림" pitchFamily="50" charset="-128"/>
              </a:defRPr>
            </a:lvl6pPr>
            <a:lvl7pPr marL="29718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굴림" pitchFamily="50" charset="-128"/>
              </a:defRPr>
            </a:lvl7pPr>
            <a:lvl8pPr marL="34290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굴림" pitchFamily="50" charset="-128"/>
              </a:defRPr>
            </a:lvl8pPr>
            <a:lvl9pPr marL="38862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굴림" pitchFamily="50" charset="-128"/>
              </a:defRPr>
            </a:lvl9pPr>
          </a:lstStyle>
          <a:p>
            <a:pPr>
              <a:lnSpc>
                <a:spcPct val="80000"/>
              </a:lnSpc>
            </a:pPr>
            <a:r>
              <a:rPr lang="en-US" altLang="ko-KR"/>
              <a:t>000</a:t>
            </a:r>
          </a:p>
          <a:p>
            <a:pPr>
              <a:lnSpc>
                <a:spcPct val="80000"/>
              </a:lnSpc>
            </a:pPr>
            <a:r>
              <a:rPr lang="en-US" altLang="ko-KR"/>
              <a:t>001</a:t>
            </a:r>
          </a:p>
          <a:p>
            <a:pPr>
              <a:lnSpc>
                <a:spcPct val="80000"/>
              </a:lnSpc>
            </a:pPr>
            <a:r>
              <a:rPr lang="en-US" altLang="ko-KR"/>
              <a:t>010</a:t>
            </a:r>
          </a:p>
          <a:p>
            <a:pPr>
              <a:lnSpc>
                <a:spcPct val="80000"/>
              </a:lnSpc>
            </a:pPr>
            <a:r>
              <a:rPr lang="en-US" altLang="ko-KR"/>
              <a:t>011</a:t>
            </a:r>
          </a:p>
          <a:p>
            <a:pPr>
              <a:lnSpc>
                <a:spcPct val="80000"/>
              </a:lnSpc>
            </a:pPr>
            <a:r>
              <a:rPr lang="en-US" altLang="ko-KR"/>
              <a:t>100</a:t>
            </a:r>
          </a:p>
          <a:p>
            <a:pPr>
              <a:lnSpc>
                <a:spcPct val="80000"/>
              </a:lnSpc>
            </a:pPr>
            <a:r>
              <a:rPr lang="en-US" altLang="ko-KR"/>
              <a:t>101</a:t>
            </a:r>
          </a:p>
          <a:p>
            <a:pPr>
              <a:lnSpc>
                <a:spcPct val="80000"/>
              </a:lnSpc>
            </a:pPr>
            <a:r>
              <a:rPr lang="en-US" altLang="ko-KR"/>
              <a:t>110</a:t>
            </a:r>
          </a:p>
          <a:p>
            <a:pPr>
              <a:lnSpc>
                <a:spcPct val="80000"/>
              </a:lnSpc>
            </a:pPr>
            <a:r>
              <a:rPr lang="en-US" altLang="ko-KR"/>
              <a:t>111</a:t>
            </a:r>
          </a:p>
        </p:txBody>
      </p:sp>
      <p:sp>
        <p:nvSpPr>
          <p:cNvPr id="49166" name="Line 32"/>
          <p:cNvSpPr>
            <a:spLocks noChangeShapeType="1"/>
          </p:cNvSpPr>
          <p:nvPr/>
        </p:nvSpPr>
        <p:spPr bwMode="auto">
          <a:xfrm flipV="1">
            <a:off x="5621338" y="5622925"/>
            <a:ext cx="747712" cy="338138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49167" name="Rectangle 33"/>
          <p:cNvSpPr>
            <a:spLocks noChangeArrowheads="1"/>
          </p:cNvSpPr>
          <p:nvPr/>
        </p:nvSpPr>
        <p:spPr bwMode="auto">
          <a:xfrm>
            <a:off x="7150100" y="0"/>
            <a:ext cx="1993900" cy="280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굴림" pitchFamily="50" charset="-128"/>
              </a:defRPr>
            </a:lvl1pPr>
            <a:lvl2pPr marL="742950" indent="-285750" defTabSz="7620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굴림" pitchFamily="50" charset="-128"/>
              </a:defRPr>
            </a:lvl2pPr>
            <a:lvl3pPr marL="1143000" indent="-228600" defTabSz="7620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굴림" pitchFamily="50" charset="-128"/>
              </a:defRPr>
            </a:lvl3pPr>
            <a:lvl4pPr marL="1600200" indent="-228600" defTabSz="7620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굴림" pitchFamily="50" charset="-128"/>
              </a:defRPr>
            </a:lvl4pPr>
            <a:lvl5pPr marL="2057400" indent="-228600" defTabSz="7620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굴림" pitchFamily="50" charset="-128"/>
              </a:defRPr>
            </a:lvl5pPr>
            <a:lvl6pPr marL="25146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굴림" pitchFamily="50" charset="-128"/>
              </a:defRPr>
            </a:lvl6pPr>
            <a:lvl7pPr marL="29718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굴림" pitchFamily="50" charset="-128"/>
              </a:defRPr>
            </a:lvl7pPr>
            <a:lvl8pPr marL="34290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굴림" pitchFamily="50" charset="-128"/>
              </a:defRPr>
            </a:lvl8pPr>
            <a:lvl9pPr marL="38862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굴림" pitchFamily="50" charset="-128"/>
              </a:defRPr>
            </a:lvl9pPr>
          </a:lstStyle>
          <a:p>
            <a:pPr algn="r"/>
            <a:r>
              <a:rPr lang="en-US" altLang="ko-KR" sz="1400" b="1" i="1"/>
              <a:t>Memory Components</a:t>
            </a:r>
          </a:p>
        </p:txBody>
      </p:sp>
      <p:grpSp>
        <p:nvGrpSpPr>
          <p:cNvPr id="49168" name="Group 35"/>
          <p:cNvGrpSpPr>
            <a:grpSpLocks/>
          </p:cNvGrpSpPr>
          <p:nvPr/>
        </p:nvGrpSpPr>
        <p:grpSpPr bwMode="auto">
          <a:xfrm>
            <a:off x="3338513" y="1917700"/>
            <a:ext cx="1941512" cy="1651000"/>
            <a:chOff x="1936" y="1394"/>
            <a:chExt cx="1641" cy="1133"/>
          </a:xfrm>
        </p:grpSpPr>
        <p:sp>
          <p:nvSpPr>
            <p:cNvPr id="49170" name="Rectangle 4"/>
            <p:cNvSpPr>
              <a:spLocks noChangeArrowheads="1"/>
            </p:cNvSpPr>
            <p:nvPr/>
          </p:nvSpPr>
          <p:spPr bwMode="auto">
            <a:xfrm>
              <a:off x="2240" y="1678"/>
              <a:ext cx="1088" cy="493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굴림" pitchFamily="50" charset="-128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굴림" pitchFamily="50" charset="-128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굴림" pitchFamily="50" charset="-128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굴림" pitchFamily="50" charset="-128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굴림" pitchFamily="50" charset="-128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굴림" pitchFamily="50" charset="-128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굴림" pitchFamily="50" charset="-128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굴림" pitchFamily="50" charset="-128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굴림" pitchFamily="50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49171" name="Line 5"/>
            <p:cNvSpPr>
              <a:spLocks noChangeShapeType="1"/>
            </p:cNvSpPr>
            <p:nvPr/>
          </p:nvSpPr>
          <p:spPr bwMode="auto">
            <a:xfrm>
              <a:off x="2756" y="1527"/>
              <a:ext cx="0" cy="14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49172" name="Rectangle 7"/>
            <p:cNvSpPr>
              <a:spLocks noChangeArrowheads="1"/>
            </p:cNvSpPr>
            <p:nvPr/>
          </p:nvSpPr>
          <p:spPr bwMode="auto">
            <a:xfrm>
              <a:off x="2321" y="1803"/>
              <a:ext cx="937" cy="3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굴림" pitchFamily="50" charset="-128"/>
                </a:defRPr>
              </a:lvl1pPr>
              <a:lvl2pPr marL="742950" indent="-285750" defTabSz="7620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굴림" pitchFamily="50" charset="-128"/>
                </a:defRPr>
              </a:lvl2pPr>
              <a:lvl3pPr marL="1143000" indent="-228600" defTabSz="7620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굴림" pitchFamily="50" charset="-128"/>
                </a:defRPr>
              </a:lvl3pPr>
              <a:lvl4pPr marL="1600200" indent="-228600" defTabSz="7620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굴림" pitchFamily="50" charset="-128"/>
                </a:defRPr>
              </a:lvl4pPr>
              <a:lvl5pPr marL="2057400" indent="-228600" defTabSz="7620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굴림" pitchFamily="50" charset="-128"/>
                </a:defRPr>
              </a:lvl5pPr>
              <a:lvl6pPr marL="25146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굴림" pitchFamily="50" charset="-128"/>
                </a:defRPr>
              </a:lvl6pPr>
              <a:lvl7pPr marL="29718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굴림" pitchFamily="50" charset="-128"/>
                </a:defRPr>
              </a:lvl7pPr>
              <a:lvl8pPr marL="34290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굴림" pitchFamily="50" charset="-128"/>
                </a:defRPr>
              </a:lvl8pPr>
              <a:lvl9pPr marL="38862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굴림" pitchFamily="50" charset="-128"/>
                </a:defRPr>
              </a:lvl9pPr>
            </a:lstStyle>
            <a:p>
              <a:pPr algn="ctr"/>
              <a:r>
                <a:rPr lang="en-US" altLang="ko-KR" sz="1400" b="1"/>
                <a:t>m x n ROM</a:t>
              </a:r>
            </a:p>
            <a:p>
              <a:pPr algn="ctr"/>
              <a:r>
                <a:rPr lang="en-US" altLang="ko-KR" sz="1400" b="1"/>
                <a:t>(m=2</a:t>
              </a:r>
              <a:r>
                <a:rPr lang="en-US" altLang="ko-KR" sz="1400" b="1" baseline="30000"/>
                <a:t>k</a:t>
              </a:r>
              <a:r>
                <a:rPr lang="en-US" altLang="ko-KR" sz="1400" b="1"/>
                <a:t>)</a:t>
              </a:r>
            </a:p>
          </p:txBody>
        </p:sp>
        <p:sp>
          <p:nvSpPr>
            <p:cNvPr id="49173" name="Rectangle 8"/>
            <p:cNvSpPr>
              <a:spLocks noChangeArrowheads="1"/>
            </p:cNvSpPr>
            <p:nvPr/>
          </p:nvSpPr>
          <p:spPr bwMode="auto">
            <a:xfrm>
              <a:off x="1936" y="1394"/>
              <a:ext cx="1641" cy="19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굴림" pitchFamily="50" charset="-128"/>
                </a:defRPr>
              </a:lvl1pPr>
              <a:lvl2pPr marL="742950" indent="-285750" defTabSz="7620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굴림" pitchFamily="50" charset="-128"/>
                </a:defRPr>
              </a:lvl2pPr>
              <a:lvl3pPr marL="1143000" indent="-228600" defTabSz="7620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굴림" pitchFamily="50" charset="-128"/>
                </a:defRPr>
              </a:lvl3pPr>
              <a:lvl4pPr marL="1600200" indent="-228600" defTabSz="7620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굴림" pitchFamily="50" charset="-128"/>
                </a:defRPr>
              </a:lvl4pPr>
              <a:lvl5pPr marL="2057400" indent="-228600" defTabSz="7620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굴림" pitchFamily="50" charset="-128"/>
                </a:defRPr>
              </a:lvl5pPr>
              <a:lvl6pPr marL="25146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굴림" pitchFamily="50" charset="-128"/>
                </a:defRPr>
              </a:lvl6pPr>
              <a:lvl7pPr marL="29718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굴림" pitchFamily="50" charset="-128"/>
                </a:defRPr>
              </a:lvl7pPr>
              <a:lvl8pPr marL="34290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굴림" pitchFamily="50" charset="-128"/>
                </a:defRPr>
              </a:lvl8pPr>
              <a:lvl9pPr marL="38862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굴림" pitchFamily="50" charset="-128"/>
                </a:defRPr>
              </a:lvl9pPr>
            </a:lstStyle>
            <a:p>
              <a:pPr algn="ctr"/>
              <a:r>
                <a:rPr lang="en-US" altLang="ko-KR" sz="1400" b="1"/>
                <a:t>k address input lines</a:t>
              </a:r>
            </a:p>
          </p:txBody>
        </p:sp>
        <p:sp>
          <p:nvSpPr>
            <p:cNvPr id="49174" name="Rectangle 9"/>
            <p:cNvSpPr>
              <a:spLocks noChangeArrowheads="1"/>
            </p:cNvSpPr>
            <p:nvPr/>
          </p:nvSpPr>
          <p:spPr bwMode="auto">
            <a:xfrm>
              <a:off x="2039" y="2334"/>
              <a:ext cx="1482" cy="19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굴림" pitchFamily="50" charset="-128"/>
                </a:defRPr>
              </a:lvl1pPr>
              <a:lvl2pPr marL="742950" indent="-285750" defTabSz="7620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굴림" pitchFamily="50" charset="-128"/>
                </a:defRPr>
              </a:lvl2pPr>
              <a:lvl3pPr marL="1143000" indent="-228600" defTabSz="7620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굴림" pitchFamily="50" charset="-128"/>
                </a:defRPr>
              </a:lvl3pPr>
              <a:lvl4pPr marL="1600200" indent="-228600" defTabSz="7620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굴림" pitchFamily="50" charset="-128"/>
                </a:defRPr>
              </a:lvl4pPr>
              <a:lvl5pPr marL="2057400" indent="-228600" defTabSz="7620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굴림" pitchFamily="50" charset="-128"/>
                </a:defRPr>
              </a:lvl5pPr>
              <a:lvl6pPr marL="25146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굴림" pitchFamily="50" charset="-128"/>
                </a:defRPr>
              </a:lvl6pPr>
              <a:lvl7pPr marL="29718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굴림" pitchFamily="50" charset="-128"/>
                </a:defRPr>
              </a:lvl7pPr>
              <a:lvl8pPr marL="34290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굴림" pitchFamily="50" charset="-128"/>
                </a:defRPr>
              </a:lvl8pPr>
              <a:lvl9pPr marL="3886200" indent="-228600" defTabSz="762000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굴림" pitchFamily="50" charset="-128"/>
                </a:defRPr>
              </a:lvl9pPr>
            </a:lstStyle>
            <a:p>
              <a:pPr algn="ctr"/>
              <a:r>
                <a:rPr lang="en-US" altLang="ko-KR" sz="1400" b="1"/>
                <a:t>n data output lines</a:t>
              </a:r>
            </a:p>
          </p:txBody>
        </p:sp>
        <p:sp>
          <p:nvSpPr>
            <p:cNvPr id="49175" name="Line 34"/>
            <p:cNvSpPr>
              <a:spLocks noChangeShapeType="1"/>
            </p:cNvSpPr>
            <p:nvPr/>
          </p:nvSpPr>
          <p:spPr bwMode="auto">
            <a:xfrm>
              <a:off x="2756" y="2174"/>
              <a:ext cx="0" cy="145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</p:grpSp>
      <p:sp>
        <p:nvSpPr>
          <p:cNvPr id="49169" name="Rectangle 36"/>
          <p:cNvSpPr>
            <a:spLocks noChangeArrowheads="1"/>
          </p:cNvSpPr>
          <p:nvPr/>
        </p:nvSpPr>
        <p:spPr bwMode="auto">
          <a:xfrm>
            <a:off x="6429375" y="4616450"/>
            <a:ext cx="2219325" cy="1825625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굴림" pitchFamily="50" charset="-128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굴림" pitchFamily="50" charset="-128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굴림" pitchFamily="50" charset="-128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굴림" pitchFamily="50" charset="-128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굴림" pitchFamily="50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굴림" pitchFamily="50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굴림" pitchFamily="50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굴림" pitchFamily="50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굴림" pitchFamily="50" charset="-128"/>
              </a:defRPr>
            </a:lvl9pPr>
          </a:lstStyle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39496216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/>
          <p:cNvSpPr>
            <a:spLocks noGrp="1" noChangeArrowheads="1"/>
          </p:cNvSpPr>
          <p:nvPr>
            <p:ph type="title"/>
          </p:nvPr>
        </p:nvSpPr>
        <p:spPr>
          <a:xfrm>
            <a:off x="358775" y="309563"/>
            <a:ext cx="8523288" cy="379412"/>
          </a:xfrm>
        </p:spPr>
        <p:txBody>
          <a:bodyPr>
            <a:normAutofit fontScale="90000"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altLang="ko-KR" dirty="0">
                <a:solidFill>
                  <a:srgbClr val="FF0000"/>
                </a:solidFill>
                <a:cs typeface="+mj-cs"/>
              </a:rPr>
              <a:t>TYPES OF ROM</a:t>
            </a:r>
          </a:p>
        </p:txBody>
      </p:sp>
      <p:sp>
        <p:nvSpPr>
          <p:cNvPr id="50179" name="Rectangle 3"/>
          <p:cNvSpPr>
            <a:spLocks noChangeArrowheads="1"/>
          </p:cNvSpPr>
          <p:nvPr/>
        </p:nvSpPr>
        <p:spPr bwMode="auto">
          <a:xfrm>
            <a:off x="336550" y="1060450"/>
            <a:ext cx="8518525" cy="4794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굴림" pitchFamily="50" charset="-128"/>
              </a:defRPr>
            </a:lvl1pPr>
            <a:lvl2pPr marL="742950" indent="-285750" defTabSz="7620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굴림" pitchFamily="50" charset="-128"/>
              </a:defRPr>
            </a:lvl2pPr>
            <a:lvl3pPr marL="1143000" indent="-228600" defTabSz="7620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굴림" pitchFamily="50" charset="-128"/>
              </a:defRPr>
            </a:lvl3pPr>
            <a:lvl4pPr marL="1600200" indent="-228600" defTabSz="7620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굴림" pitchFamily="50" charset="-128"/>
              </a:defRPr>
            </a:lvl4pPr>
            <a:lvl5pPr marL="2057400" indent="-228600" defTabSz="7620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굴림" pitchFamily="50" charset="-128"/>
              </a:defRPr>
            </a:lvl5pPr>
            <a:lvl6pPr marL="25146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굴림" pitchFamily="50" charset="-128"/>
              </a:defRPr>
            </a:lvl6pPr>
            <a:lvl7pPr marL="29718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굴림" pitchFamily="50" charset="-128"/>
              </a:defRPr>
            </a:lvl7pPr>
            <a:lvl8pPr marL="34290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굴림" pitchFamily="50" charset="-128"/>
              </a:defRPr>
            </a:lvl8pPr>
            <a:lvl9pPr marL="38862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굴림" pitchFamily="50" charset="-128"/>
              </a:defRPr>
            </a:lvl9pPr>
          </a:lstStyle>
          <a:p>
            <a:r>
              <a:rPr lang="en-US" altLang="ko-KR" b="1" dirty="0"/>
              <a:t>ROM</a:t>
            </a:r>
          </a:p>
          <a:p>
            <a:r>
              <a:rPr lang="en-US" altLang="ko-KR" b="1" dirty="0"/>
              <a:t>	- Store information (function) during production</a:t>
            </a:r>
          </a:p>
          <a:p>
            <a:r>
              <a:rPr lang="en-US" altLang="ko-KR" b="1" dirty="0"/>
              <a:t>	- Mask is used in the production process</a:t>
            </a:r>
          </a:p>
          <a:p>
            <a:r>
              <a:rPr lang="en-US" altLang="ko-KR" b="1" dirty="0"/>
              <a:t>	- Unalterable</a:t>
            </a:r>
          </a:p>
          <a:p>
            <a:r>
              <a:rPr lang="en-US" altLang="ko-KR" b="1" dirty="0"/>
              <a:t>	- Low cost for large quantity production  --&gt; used in the final products</a:t>
            </a:r>
          </a:p>
          <a:p>
            <a:endParaRPr lang="en-US" altLang="ko-KR" b="1" dirty="0"/>
          </a:p>
          <a:p>
            <a:r>
              <a:rPr lang="en-US" altLang="ko-KR" b="1" dirty="0"/>
              <a:t>PROM (Programmable ROM)</a:t>
            </a:r>
          </a:p>
          <a:p>
            <a:r>
              <a:rPr lang="en-US" altLang="ko-KR" b="1" dirty="0"/>
              <a:t>	- Store info electrically using PROM programmer at the user’s site</a:t>
            </a:r>
          </a:p>
          <a:p>
            <a:r>
              <a:rPr lang="en-US" altLang="ko-KR" b="1" dirty="0"/>
              <a:t>	- Unalterable</a:t>
            </a:r>
          </a:p>
          <a:p>
            <a:r>
              <a:rPr lang="en-US" altLang="ko-KR" b="1" dirty="0"/>
              <a:t>	- Higher cost than ROM -&gt; used in the system development phase</a:t>
            </a:r>
          </a:p>
          <a:p>
            <a:r>
              <a:rPr lang="en-US" altLang="ko-KR" b="1" dirty="0"/>
              <a:t>		-&gt; Can be used in small quantity system</a:t>
            </a:r>
          </a:p>
          <a:p>
            <a:endParaRPr lang="en-US" altLang="ko-KR" b="1" dirty="0"/>
          </a:p>
          <a:p>
            <a:r>
              <a:rPr lang="en-US" altLang="ko-KR" b="1" dirty="0"/>
              <a:t>EPROM (Erasable PROM)</a:t>
            </a:r>
          </a:p>
          <a:p>
            <a:r>
              <a:rPr lang="en-US" altLang="ko-KR" b="1" dirty="0"/>
              <a:t>	- Store info electrically using PROM programmer at the user’s site</a:t>
            </a:r>
          </a:p>
          <a:p>
            <a:r>
              <a:rPr lang="en-US" altLang="ko-KR" b="1" dirty="0"/>
              <a:t>	- Stored info is erasable (alterable) using UV light (electrically in </a:t>
            </a:r>
          </a:p>
          <a:p>
            <a:r>
              <a:rPr lang="en-US" altLang="ko-KR" b="1" dirty="0"/>
              <a:t>		some devices) and rewriteable</a:t>
            </a:r>
          </a:p>
          <a:p>
            <a:r>
              <a:rPr lang="en-US" altLang="ko-KR" b="1" dirty="0"/>
              <a:t>	- Higher cost than PROM but reusable --&gt; used in the system </a:t>
            </a:r>
          </a:p>
          <a:p>
            <a:r>
              <a:rPr lang="en-US" altLang="ko-KR" b="1" dirty="0"/>
              <a:t>		development phase. Not used in the system production </a:t>
            </a:r>
          </a:p>
          <a:p>
            <a:r>
              <a:rPr lang="en-US" altLang="ko-KR" b="1" dirty="0"/>
              <a:t>		due to eras ability</a:t>
            </a:r>
          </a:p>
        </p:txBody>
      </p:sp>
      <p:sp>
        <p:nvSpPr>
          <p:cNvPr id="50180" name="Rectangle 15"/>
          <p:cNvSpPr>
            <a:spLocks noChangeArrowheads="1"/>
          </p:cNvSpPr>
          <p:nvPr/>
        </p:nvSpPr>
        <p:spPr bwMode="auto">
          <a:xfrm>
            <a:off x="7150100" y="0"/>
            <a:ext cx="1993900" cy="280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굴림" pitchFamily="50" charset="-128"/>
              </a:defRPr>
            </a:lvl1pPr>
            <a:lvl2pPr marL="742950" indent="-285750" defTabSz="7620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굴림" pitchFamily="50" charset="-128"/>
              </a:defRPr>
            </a:lvl2pPr>
            <a:lvl3pPr marL="1143000" indent="-228600" defTabSz="7620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굴림" pitchFamily="50" charset="-128"/>
              </a:defRPr>
            </a:lvl3pPr>
            <a:lvl4pPr marL="1600200" indent="-228600" defTabSz="7620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굴림" pitchFamily="50" charset="-128"/>
              </a:defRPr>
            </a:lvl4pPr>
            <a:lvl5pPr marL="2057400" indent="-228600" defTabSz="7620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굴림" pitchFamily="50" charset="-128"/>
              </a:defRPr>
            </a:lvl5pPr>
            <a:lvl6pPr marL="25146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굴림" pitchFamily="50" charset="-128"/>
              </a:defRPr>
            </a:lvl6pPr>
            <a:lvl7pPr marL="29718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굴림" pitchFamily="50" charset="-128"/>
              </a:defRPr>
            </a:lvl7pPr>
            <a:lvl8pPr marL="34290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굴림" pitchFamily="50" charset="-128"/>
              </a:defRPr>
            </a:lvl8pPr>
            <a:lvl9pPr marL="38862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굴림" pitchFamily="50" charset="-128"/>
              </a:defRPr>
            </a:lvl9pPr>
          </a:lstStyle>
          <a:p>
            <a:pPr algn="r"/>
            <a:r>
              <a:rPr lang="en-US" altLang="ko-KR" sz="1400" b="1" i="1"/>
              <a:t>Memory Components</a:t>
            </a:r>
          </a:p>
        </p:txBody>
      </p:sp>
    </p:spTree>
    <p:extLst>
      <p:ext uri="{BB962C8B-B14F-4D97-AF65-F5344CB8AC3E}">
        <p14:creationId xmlns:p14="http://schemas.microsoft.com/office/powerpoint/2010/main" val="2374076335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937538AA-14B4-4027-B638-714160F5648F}" type="slidenum">
              <a:rPr lang="en-US" altLang="en-US" sz="1600">
                <a:solidFill>
                  <a:schemeClr val="folHlink"/>
                </a:solidFill>
                <a:latin typeface="Trebuchet MS" panose="020B0603020202020204" pitchFamily="34" charset="0"/>
              </a:rPr>
              <a:pPr/>
              <a:t>5</a:t>
            </a:fld>
            <a:endParaRPr lang="en-US" altLang="en-US" sz="1600">
              <a:solidFill>
                <a:schemeClr val="folHlink"/>
              </a:solidFill>
              <a:latin typeface="Trebuchet MS" panose="020B0603020202020204" pitchFamily="34" charset="0"/>
            </a:endParaRPr>
          </a:p>
        </p:txBody>
      </p:sp>
      <p:sp>
        <p:nvSpPr>
          <p:cNvPr id="1945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Mask ROM</a:t>
            </a:r>
          </a:p>
        </p:txBody>
      </p:sp>
      <p:sp>
        <p:nvSpPr>
          <p:cNvPr id="4" name="Rectangle 3"/>
          <p:cNvSpPr txBox="1">
            <a:spLocks noChangeArrowheads="1"/>
          </p:cNvSpPr>
          <p:nvPr/>
        </p:nvSpPr>
        <p:spPr bwMode="auto">
          <a:xfrm>
            <a:off x="266700" y="990600"/>
            <a:ext cx="8001000" cy="5410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ct val="20000"/>
              </a:spcBef>
              <a:buFontTx/>
              <a:buChar char="•"/>
              <a:defRPr/>
            </a:pPr>
            <a:r>
              <a:rPr lang="en-US" sz="2000" kern="0" dirty="0">
                <a:latin typeface="+mn-lt"/>
              </a:rPr>
              <a:t>The “simplest” memory technology</a:t>
            </a:r>
          </a:p>
          <a:p>
            <a:pPr marL="342900" indent="-342900">
              <a:spcBef>
                <a:spcPct val="20000"/>
              </a:spcBef>
              <a:buFontTx/>
              <a:buChar char="•"/>
              <a:defRPr/>
            </a:pPr>
            <a:r>
              <a:rPr lang="en-US" sz="2000" kern="0" dirty="0">
                <a:latin typeface="+mn-lt"/>
              </a:rPr>
              <a:t>Presence/absence of diode at each cell denote value</a:t>
            </a:r>
          </a:p>
          <a:p>
            <a:pPr marL="342900" indent="-342900">
              <a:spcBef>
                <a:spcPct val="20000"/>
              </a:spcBef>
              <a:buFontTx/>
              <a:buChar char="•"/>
              <a:defRPr/>
            </a:pPr>
            <a:r>
              <a:rPr lang="en-US" sz="2000" kern="0" dirty="0">
                <a:latin typeface="+mn-lt"/>
              </a:rPr>
              <a:t>Pattern of diodes defined by mask used in </a:t>
            </a:r>
            <a:r>
              <a:rPr lang="en-US" sz="2000" kern="0" dirty="0" err="1">
                <a:latin typeface="+mn-lt"/>
              </a:rPr>
              <a:t>fab</a:t>
            </a:r>
            <a:r>
              <a:rPr lang="en-US" sz="2000" kern="0" dirty="0">
                <a:latin typeface="+mn-lt"/>
              </a:rPr>
              <a:t> process</a:t>
            </a:r>
          </a:p>
          <a:p>
            <a:pPr marL="342900" indent="-342900">
              <a:spcBef>
                <a:spcPct val="20000"/>
              </a:spcBef>
              <a:buFontTx/>
              <a:buChar char="•"/>
              <a:defRPr/>
            </a:pPr>
            <a:r>
              <a:rPr lang="en-US" sz="2000" kern="0" dirty="0">
                <a:latin typeface="+mn-lt"/>
              </a:rPr>
              <a:t>Contents are fixed when chip is made; cannot be changed</a:t>
            </a:r>
          </a:p>
          <a:p>
            <a:pPr marL="342900" indent="-342900">
              <a:spcBef>
                <a:spcPct val="20000"/>
              </a:spcBef>
              <a:buFontTx/>
              <a:buChar char="•"/>
              <a:defRPr/>
            </a:pPr>
            <a:r>
              <a:rPr lang="en-US" sz="2000" kern="0" dirty="0">
                <a:latin typeface="+mn-lt"/>
              </a:rPr>
              <a:t>High upfront setup costs (mask costs)</a:t>
            </a:r>
          </a:p>
          <a:p>
            <a:pPr marL="342900" indent="-342900">
              <a:spcBef>
                <a:spcPct val="20000"/>
              </a:spcBef>
              <a:buFontTx/>
              <a:buChar char="•"/>
              <a:defRPr/>
            </a:pPr>
            <a:r>
              <a:rPr lang="en-US" sz="2000" kern="0" dirty="0">
                <a:latin typeface="+mn-lt"/>
              </a:rPr>
              <a:t>Small recurring marginal costs</a:t>
            </a:r>
          </a:p>
          <a:p>
            <a:pPr marL="342900" indent="-342900">
              <a:spcBef>
                <a:spcPct val="20000"/>
              </a:spcBef>
              <a:buFontTx/>
              <a:buChar char="•"/>
              <a:defRPr/>
            </a:pPr>
            <a:r>
              <a:rPr lang="en-US" sz="2000" kern="0" dirty="0">
                <a:latin typeface="+mn-lt"/>
              </a:rPr>
              <a:t>Good for applications where</a:t>
            </a:r>
          </a:p>
          <a:p>
            <a:pPr marL="800100" lvl="1" indent="-342900">
              <a:spcBef>
                <a:spcPct val="20000"/>
              </a:spcBef>
              <a:buFontTx/>
              <a:buChar char="•"/>
              <a:defRPr/>
            </a:pPr>
            <a:r>
              <a:rPr lang="en-US" sz="1800" kern="0" dirty="0">
                <a:latin typeface="+mn-lt"/>
              </a:rPr>
              <a:t>Cost sensitivity drives design</a:t>
            </a:r>
          </a:p>
          <a:p>
            <a:pPr marL="800100" lvl="1" indent="-342900">
              <a:spcBef>
                <a:spcPct val="20000"/>
              </a:spcBef>
              <a:buFontTx/>
              <a:buChar char="•"/>
              <a:defRPr/>
            </a:pPr>
            <a:r>
              <a:rPr lang="en-US" sz="1800" kern="0" dirty="0">
                <a:latin typeface="+mn-lt"/>
              </a:rPr>
              <a:t>Upgrading contents not an issue</a:t>
            </a:r>
          </a:p>
          <a:p>
            <a:pPr marL="800100" lvl="1" indent="-342900">
              <a:spcBef>
                <a:spcPct val="20000"/>
              </a:spcBef>
              <a:buFontTx/>
              <a:buChar char="•"/>
              <a:defRPr/>
            </a:pPr>
            <a:r>
              <a:rPr lang="en-US" sz="1800" kern="0" dirty="0">
                <a:latin typeface="+mn-lt"/>
              </a:rPr>
              <a:t>e.g. boot ROM, CPU microcode</a:t>
            </a:r>
          </a:p>
          <a:p>
            <a:pPr marL="342900" indent="-342900">
              <a:spcBef>
                <a:spcPct val="20000"/>
              </a:spcBef>
              <a:buFontTx/>
              <a:buChar char="•"/>
              <a:defRPr/>
            </a:pPr>
            <a:r>
              <a:rPr lang="en-US" sz="1800" kern="0" dirty="0">
                <a:latin typeface="+mn-lt"/>
              </a:rPr>
              <a:t>Exercise:</a:t>
            </a:r>
          </a:p>
          <a:p>
            <a:pPr marL="800100" lvl="1" indent="-342900">
              <a:spcBef>
                <a:spcPct val="20000"/>
              </a:spcBef>
              <a:buFontTx/>
              <a:buChar char="•"/>
              <a:defRPr/>
            </a:pPr>
            <a:r>
              <a:rPr lang="en-US" sz="1800" kern="0" dirty="0">
                <a:latin typeface="+mn-lt"/>
              </a:rPr>
              <a:t>What “value” does a diode encode?</a:t>
            </a:r>
          </a:p>
          <a:p>
            <a:pPr marL="800100" lvl="1" indent="-342900">
              <a:spcBef>
                <a:spcPct val="20000"/>
              </a:spcBef>
              <a:buFontTx/>
              <a:buChar char="•"/>
              <a:defRPr/>
            </a:pPr>
            <a:r>
              <a:rPr lang="en-US" sz="1800" kern="0" dirty="0">
                <a:latin typeface="+mn-lt"/>
              </a:rPr>
              <a:t>What are the contents:</a:t>
            </a:r>
          </a:p>
          <a:p>
            <a:pPr marL="1257300" lvl="2" indent="-342900">
              <a:spcBef>
                <a:spcPct val="20000"/>
              </a:spcBef>
              <a:buFontTx/>
              <a:buChar char="•"/>
              <a:defRPr/>
            </a:pPr>
            <a:r>
              <a:rPr lang="en-US" sz="1800" kern="0" dirty="0">
                <a:latin typeface="+mn-lt"/>
              </a:rPr>
              <a:t>Where A&lt;2:0&gt; = 101?</a:t>
            </a:r>
          </a:p>
          <a:p>
            <a:pPr marL="1257300" lvl="2" indent="-342900">
              <a:spcBef>
                <a:spcPct val="20000"/>
              </a:spcBef>
              <a:buFontTx/>
              <a:buChar char="•"/>
              <a:defRPr/>
            </a:pPr>
            <a:r>
              <a:rPr lang="en-US" sz="1800" kern="0" dirty="0">
                <a:latin typeface="+mn-lt"/>
              </a:rPr>
              <a:t>Where A&lt;2:0&gt; = 110?</a:t>
            </a:r>
            <a:endParaRPr lang="en-US" sz="1800" kern="0" dirty="0">
              <a:latin typeface="+mn-lt"/>
            </a:endParaRPr>
          </a:p>
        </p:txBody>
      </p:sp>
      <p:grpSp>
        <p:nvGrpSpPr>
          <p:cNvPr id="19461" name="Group 8"/>
          <p:cNvGrpSpPr>
            <a:grpSpLocks/>
          </p:cNvGrpSpPr>
          <p:nvPr/>
        </p:nvGrpSpPr>
        <p:grpSpPr bwMode="auto">
          <a:xfrm>
            <a:off x="5089525" y="2590800"/>
            <a:ext cx="3597275" cy="3733800"/>
            <a:chOff x="5143500" y="909935"/>
            <a:chExt cx="3596764" cy="3733503"/>
          </a:xfrm>
        </p:grpSpPr>
        <p:pic>
          <p:nvPicPr>
            <p:cNvPr id="19462" name="Picture 5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4451" r="15904"/>
            <a:stretch>
              <a:fillRect/>
            </a:stretch>
          </p:blipFill>
          <p:spPr bwMode="auto">
            <a:xfrm>
              <a:off x="5143500" y="1371600"/>
              <a:ext cx="3075467" cy="32718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" name="TextBox 6"/>
            <p:cNvSpPr txBox="1"/>
            <p:nvPr/>
          </p:nvSpPr>
          <p:spPr>
            <a:xfrm>
              <a:off x="7505364" y="909935"/>
              <a:ext cx="547610" cy="461926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>
                <a:defRPr/>
              </a:pPr>
              <a:r>
                <a:rPr lang="en-US" sz="1200" b="1" dirty="0">
                  <a:latin typeface="+mn-lt"/>
                </a:rPr>
                <a:t>word</a:t>
              </a:r>
            </a:p>
            <a:p>
              <a:pPr algn="ctr">
                <a:defRPr/>
              </a:pPr>
              <a:r>
                <a:rPr lang="en-US" sz="1200" b="1" dirty="0">
                  <a:latin typeface="+mn-lt"/>
                </a:rPr>
                <a:t>lines</a:t>
              </a: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8219638" y="1409958"/>
              <a:ext cx="520626" cy="461925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>
                <a:defRPr/>
              </a:pPr>
              <a:r>
                <a:rPr lang="en-US" sz="1200" b="1" dirty="0">
                  <a:latin typeface="+mn-lt"/>
                </a:rPr>
                <a:t>Bit</a:t>
              </a:r>
            </a:p>
            <a:p>
              <a:pPr algn="ctr">
                <a:defRPr/>
              </a:pPr>
              <a:r>
                <a:rPr lang="en-US" sz="1200" b="1" dirty="0">
                  <a:latin typeface="+mn-lt"/>
                </a:rPr>
                <a:t>lines</a:t>
              </a:r>
              <a:endParaRPr lang="en-US" sz="1200" b="1" dirty="0">
                <a:latin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8945973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833726"/>
          </a:xfrm>
        </p:spPr>
        <p:txBody>
          <a:bodyPr/>
          <a:lstStyle/>
          <a:p>
            <a:r>
              <a:rPr lang="en-US" altLang="en-US" dirty="0" smtClean="0"/>
              <a:t>EPROM</a:t>
            </a:r>
          </a:p>
        </p:txBody>
      </p:sp>
      <p:sp>
        <p:nvSpPr>
          <p:cNvPr id="21507" name="Content Placeholder 9"/>
          <p:cNvSpPr>
            <a:spLocks noGrp="1"/>
          </p:cNvSpPr>
          <p:nvPr>
            <p:ph idx="1"/>
          </p:nvPr>
        </p:nvSpPr>
        <p:spPr>
          <a:xfrm>
            <a:off x="304799" y="1108364"/>
            <a:ext cx="6428509" cy="5559136"/>
          </a:xfrm>
        </p:spPr>
        <p:txBody>
          <a:bodyPr>
            <a:normAutofit lnSpcReduction="10000"/>
          </a:bodyPr>
          <a:lstStyle/>
          <a:p>
            <a:r>
              <a:rPr lang="en-US" altLang="en-US" sz="2000" u="sng" dirty="0" smtClean="0"/>
              <a:t>E</a:t>
            </a:r>
            <a:r>
              <a:rPr lang="en-US" altLang="en-US" sz="2000" dirty="0" smtClean="0"/>
              <a:t>rasable </a:t>
            </a:r>
            <a:r>
              <a:rPr lang="en-US" altLang="en-US" sz="2000" u="sng" dirty="0" smtClean="0"/>
              <a:t>P</a:t>
            </a:r>
            <a:r>
              <a:rPr lang="en-US" altLang="en-US" sz="2000" dirty="0" smtClean="0"/>
              <a:t>rogrammable </a:t>
            </a:r>
            <a:r>
              <a:rPr lang="en-US" altLang="en-US" sz="2000" u="sng" dirty="0" smtClean="0"/>
              <a:t>R</a:t>
            </a:r>
            <a:r>
              <a:rPr lang="en-US" altLang="en-US" sz="2000" dirty="0" smtClean="0"/>
              <a:t>ead-</a:t>
            </a:r>
            <a:r>
              <a:rPr lang="en-US" altLang="en-US" sz="2000" u="sng" dirty="0" smtClean="0"/>
              <a:t>O</a:t>
            </a:r>
            <a:r>
              <a:rPr lang="en-US" altLang="en-US" sz="2000" dirty="0" smtClean="0"/>
              <a:t>nly </a:t>
            </a:r>
            <a:r>
              <a:rPr lang="en-US" altLang="en-US" sz="2000" u="sng" dirty="0" smtClean="0"/>
              <a:t>M</a:t>
            </a:r>
            <a:r>
              <a:rPr lang="en-US" altLang="en-US" sz="2000" dirty="0" smtClean="0"/>
              <a:t>emory</a:t>
            </a:r>
          </a:p>
          <a:p>
            <a:r>
              <a:rPr lang="en-US" altLang="en-US" sz="2000" dirty="0" smtClean="0"/>
              <a:t>Constructed from floating gate FETs</a:t>
            </a:r>
          </a:p>
          <a:p>
            <a:pPr lvl="1"/>
            <a:r>
              <a:rPr lang="en-US" altLang="en-US" sz="1800" dirty="0" smtClean="0"/>
              <a:t>Charge trapped on the FG erases cell</a:t>
            </a:r>
          </a:p>
          <a:p>
            <a:pPr lvl="1"/>
            <a:r>
              <a:rPr lang="en-US" altLang="en-US" sz="1800" dirty="0" smtClean="0"/>
              <a:t>High voltage (13V +) applied to the control gate</a:t>
            </a:r>
          </a:p>
          <a:p>
            <a:pPr lvl="2"/>
            <a:r>
              <a:rPr lang="en-US" altLang="en-US" sz="1800" dirty="0" smtClean="0"/>
              <a:t>“Writes” the cell with a 0</a:t>
            </a:r>
          </a:p>
          <a:p>
            <a:pPr lvl="2"/>
            <a:r>
              <a:rPr lang="en-US" altLang="en-US" sz="1800" dirty="0" smtClean="0"/>
              <a:t>Allows FG charge to be dissipated</a:t>
            </a:r>
          </a:p>
          <a:p>
            <a:r>
              <a:rPr lang="en-US" altLang="en-US" sz="2000" dirty="0" smtClean="0"/>
              <a:t>Erasing means changing form 0 </a:t>
            </a:r>
            <a:r>
              <a:rPr lang="en-US" altLang="en-US" sz="2000" dirty="0" smtClean="0">
                <a:sym typeface="Wingdings" panose="05000000000000000000" pitchFamily="2" charset="2"/>
              </a:rPr>
              <a:t></a:t>
            </a:r>
            <a:r>
              <a:rPr lang="en-US" altLang="en-US" sz="2000" dirty="0" smtClean="0"/>
              <a:t> 1</a:t>
            </a:r>
          </a:p>
          <a:p>
            <a:pPr lvl="1"/>
            <a:r>
              <a:rPr lang="en-US" altLang="en-US" sz="1800" dirty="0" smtClean="0"/>
              <a:t>Uses UV light (not electrically!)</a:t>
            </a:r>
          </a:p>
          <a:p>
            <a:pPr lvl="1"/>
            <a:r>
              <a:rPr lang="en-US" altLang="en-US" sz="1800" dirty="0" smtClean="0"/>
              <a:t>Electrons are trapped on a floating gate</a:t>
            </a:r>
          </a:p>
          <a:p>
            <a:r>
              <a:rPr lang="en-US" altLang="en-US" sz="2000" dirty="0" smtClean="0"/>
              <a:t>Writing means changing from 1 </a:t>
            </a:r>
            <a:r>
              <a:rPr lang="en-US" altLang="en-US" sz="2000" dirty="0" smtClean="0">
                <a:sym typeface="Wingdings" panose="05000000000000000000" pitchFamily="2" charset="2"/>
              </a:rPr>
              <a:t></a:t>
            </a:r>
            <a:r>
              <a:rPr lang="en-US" altLang="en-US" sz="2000" dirty="0" smtClean="0"/>
              <a:t> 0</a:t>
            </a:r>
          </a:p>
          <a:p>
            <a:r>
              <a:rPr lang="en-US" altLang="en-US" sz="2000" dirty="0" smtClean="0"/>
              <a:t>Erase unit is the whole device</a:t>
            </a:r>
          </a:p>
          <a:p>
            <a:r>
              <a:rPr lang="en-US" altLang="en-US" sz="2000" dirty="0" smtClean="0"/>
              <a:t>Retains data for 10-20 years</a:t>
            </a:r>
          </a:p>
          <a:p>
            <a:r>
              <a:rPr lang="en-US" altLang="en-US" sz="2000" dirty="0" smtClean="0"/>
              <a:t>Not used much these days</a:t>
            </a:r>
          </a:p>
          <a:p>
            <a:r>
              <a:rPr lang="en-US" altLang="en-US" sz="2000" dirty="0" smtClean="0"/>
              <a:t>Costly because</a:t>
            </a:r>
          </a:p>
          <a:p>
            <a:pPr lvl="1"/>
            <a:r>
              <a:rPr lang="en-US" altLang="en-US" sz="1800" dirty="0" smtClean="0"/>
              <a:t>Use of quartz window (UV transparent)</a:t>
            </a:r>
          </a:p>
          <a:p>
            <a:pPr lvl="1"/>
            <a:r>
              <a:rPr lang="en-US" altLang="en-US" sz="1800" dirty="0" smtClean="0"/>
              <a:t>Use of ceramic package</a:t>
            </a:r>
          </a:p>
          <a:p>
            <a:r>
              <a:rPr lang="en-US" altLang="en-US" sz="2000" dirty="0" smtClean="0"/>
              <a:t>PROM (or OTP) is same, just w/o window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9005967B-D9FE-4781-8FB3-337055455A0C}" type="slidenum">
              <a:rPr lang="en-US" altLang="en-US" sz="1600">
                <a:solidFill>
                  <a:schemeClr val="folHlink"/>
                </a:solidFill>
                <a:latin typeface="Trebuchet MS" panose="020B0603020202020204" pitchFamily="34" charset="0"/>
              </a:rPr>
              <a:pPr/>
              <a:t>6</a:t>
            </a:fld>
            <a:endParaRPr lang="en-US" altLang="en-US" sz="1600">
              <a:solidFill>
                <a:schemeClr val="folHlink"/>
              </a:solidFill>
              <a:latin typeface="Trebuchet MS" panose="020B0603020202020204" pitchFamily="34" charset="0"/>
            </a:endParaRPr>
          </a:p>
        </p:txBody>
      </p:sp>
      <p:pic>
        <p:nvPicPr>
          <p:cNvPr id="2048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-5559445">
            <a:off x="7819231" y="526257"/>
            <a:ext cx="966787" cy="1333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486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458" t="38835" r="37865" b="40373"/>
          <a:stretch>
            <a:fillRect/>
          </a:stretch>
        </p:blipFill>
        <p:spPr bwMode="auto">
          <a:xfrm>
            <a:off x="6896100" y="3079750"/>
            <a:ext cx="2063750" cy="2063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487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00800" y="5186363"/>
            <a:ext cx="2628900" cy="1252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488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96100" y="1825625"/>
            <a:ext cx="2063750" cy="1054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9499185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7FC3EFE3-2DB2-49B1-B5B9-3D59D2C2C603}" type="slidenum">
              <a:rPr lang="en-US" altLang="en-US" sz="1600">
                <a:solidFill>
                  <a:schemeClr val="folHlink"/>
                </a:solidFill>
                <a:latin typeface="Trebuchet MS" panose="020B0603020202020204" pitchFamily="34" charset="0"/>
              </a:rPr>
              <a:pPr/>
              <a:t>7</a:t>
            </a:fld>
            <a:endParaRPr lang="en-US" altLang="en-US" sz="1600">
              <a:solidFill>
                <a:schemeClr val="folHlink"/>
              </a:solidFill>
              <a:latin typeface="Trebuchet MS" panose="020B0603020202020204" pitchFamily="34" charset="0"/>
            </a:endParaRPr>
          </a:p>
        </p:txBody>
      </p:sp>
      <p:sp>
        <p:nvSpPr>
          <p:cNvPr id="21507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 fontScale="90000"/>
          </a:bodyPr>
          <a:lstStyle/>
          <a:p>
            <a:r>
              <a:rPr lang="en-US" altLang="en-US" dirty="0" smtClean="0"/>
              <a:t>Flash Memory</a:t>
            </a:r>
          </a:p>
        </p:txBody>
      </p:sp>
      <p:sp>
        <p:nvSpPr>
          <p:cNvPr id="4" name="Rectangle 3"/>
          <p:cNvSpPr txBox="1">
            <a:spLocks noChangeArrowheads="1"/>
          </p:cNvSpPr>
          <p:nvPr/>
        </p:nvSpPr>
        <p:spPr bwMode="auto">
          <a:xfrm>
            <a:off x="266700" y="990600"/>
            <a:ext cx="8001000" cy="5410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ct val="20000"/>
              </a:spcBef>
              <a:buFontTx/>
              <a:buChar char="•"/>
              <a:defRPr/>
            </a:pPr>
            <a:r>
              <a:rPr lang="en-US" sz="2000" kern="0" dirty="0">
                <a:latin typeface="+mn-lt"/>
              </a:rPr>
              <a:t>Electrically erasable (like EEPROM, unlike EPROM)</a:t>
            </a:r>
          </a:p>
          <a:p>
            <a:pPr marL="342900" indent="-342900">
              <a:spcBef>
                <a:spcPct val="20000"/>
              </a:spcBef>
              <a:buFontTx/>
              <a:buChar char="•"/>
              <a:defRPr/>
            </a:pPr>
            <a:r>
              <a:rPr lang="en-US" sz="2000" kern="0" dirty="0">
                <a:latin typeface="+mn-lt"/>
              </a:rPr>
              <a:t>Used in many reprogrammable systems these days</a:t>
            </a:r>
          </a:p>
          <a:p>
            <a:pPr marL="342900" indent="-342900">
              <a:spcBef>
                <a:spcPct val="20000"/>
              </a:spcBef>
              <a:buFontTx/>
              <a:buChar char="•"/>
              <a:defRPr/>
            </a:pPr>
            <a:r>
              <a:rPr lang="en-US" sz="2000" kern="0" dirty="0">
                <a:latin typeface="+mn-lt"/>
              </a:rPr>
              <a:t>Erase size is block (</a:t>
            </a:r>
            <a:r>
              <a:rPr lang="en-US" sz="2000" u="sng" kern="0" dirty="0">
                <a:latin typeface="+mn-lt"/>
              </a:rPr>
              <a:t>not</a:t>
            </a:r>
            <a:r>
              <a:rPr lang="en-US" sz="2000" kern="0" dirty="0">
                <a:latin typeface="+mn-lt"/>
              </a:rPr>
              <a:t> word); can’t do byte modifications</a:t>
            </a:r>
          </a:p>
          <a:p>
            <a:pPr marL="342900" indent="-342900">
              <a:spcBef>
                <a:spcPct val="20000"/>
              </a:spcBef>
              <a:buFontTx/>
              <a:buChar char="•"/>
              <a:defRPr/>
            </a:pPr>
            <a:r>
              <a:rPr lang="en-US" sz="2000" kern="0" dirty="0">
                <a:latin typeface="+mn-lt"/>
              </a:rPr>
              <a:t>Erase circuitry moved out of cells to periphery</a:t>
            </a:r>
          </a:p>
          <a:p>
            <a:pPr marL="800100" lvl="1" indent="-342900">
              <a:spcBef>
                <a:spcPct val="20000"/>
              </a:spcBef>
              <a:buFontTx/>
              <a:buChar char="•"/>
              <a:defRPr/>
            </a:pPr>
            <a:r>
              <a:rPr lang="en-US" sz="2000" kern="0" dirty="0">
                <a:latin typeface="+mn-lt"/>
              </a:rPr>
              <a:t>Smaller size</a:t>
            </a:r>
          </a:p>
          <a:p>
            <a:pPr marL="800100" lvl="1" indent="-342900">
              <a:spcBef>
                <a:spcPct val="20000"/>
              </a:spcBef>
              <a:buFontTx/>
              <a:buChar char="•"/>
              <a:defRPr/>
            </a:pPr>
            <a:r>
              <a:rPr lang="en-US" sz="2000" kern="0" dirty="0">
                <a:latin typeface="+mn-lt"/>
              </a:rPr>
              <a:t>Better density</a:t>
            </a:r>
          </a:p>
          <a:p>
            <a:pPr marL="800100" lvl="1" indent="-342900">
              <a:spcBef>
                <a:spcPct val="20000"/>
              </a:spcBef>
              <a:buFontTx/>
              <a:buChar char="•"/>
              <a:defRPr/>
            </a:pPr>
            <a:r>
              <a:rPr lang="en-US" sz="2000" kern="0" dirty="0">
                <a:latin typeface="+mn-lt"/>
              </a:rPr>
              <a:t>Lower cost</a:t>
            </a:r>
          </a:p>
          <a:p>
            <a:pPr marL="342900" indent="-342900">
              <a:spcBef>
                <a:spcPct val="20000"/>
              </a:spcBef>
              <a:buFontTx/>
              <a:buChar char="•"/>
              <a:defRPr/>
            </a:pPr>
            <a:r>
              <a:rPr lang="en-US" sz="2000" kern="0" dirty="0">
                <a:latin typeface="+mn-lt"/>
              </a:rPr>
              <a:t>Reads are like standard RAM</a:t>
            </a:r>
          </a:p>
          <a:p>
            <a:pPr marL="342900" indent="-342900">
              <a:spcBef>
                <a:spcPct val="20000"/>
              </a:spcBef>
              <a:buFontTx/>
              <a:buChar char="•"/>
              <a:defRPr/>
            </a:pPr>
            <a:r>
              <a:rPr lang="en-US" sz="2000" kern="0" dirty="0">
                <a:latin typeface="+mn-lt"/>
              </a:rPr>
              <a:t>Can “write” bits/words (actually, change from 1 </a:t>
            </a:r>
            <a:r>
              <a:rPr lang="en-US" sz="2000" kern="0" dirty="0">
                <a:latin typeface="+mn-lt"/>
                <a:sym typeface="Wingdings" pitchFamily="2" charset="2"/>
              </a:rPr>
              <a:t> 0)</a:t>
            </a:r>
            <a:endParaRPr lang="en-US" sz="2000" kern="0" dirty="0">
              <a:latin typeface="+mn-lt"/>
            </a:endParaRPr>
          </a:p>
          <a:p>
            <a:pPr marL="800100" lvl="1" indent="-342900">
              <a:spcBef>
                <a:spcPct val="20000"/>
              </a:spcBef>
              <a:buFontTx/>
              <a:buChar char="•"/>
              <a:defRPr/>
            </a:pPr>
            <a:r>
              <a:rPr lang="en-US" sz="2000" kern="0" dirty="0">
                <a:latin typeface="+mn-lt"/>
              </a:rPr>
              <a:t>Write cycle is O(microseconds)</a:t>
            </a:r>
          </a:p>
          <a:p>
            <a:pPr marL="800100" lvl="1" indent="-342900">
              <a:spcBef>
                <a:spcPct val="20000"/>
              </a:spcBef>
              <a:buFontTx/>
              <a:buChar char="•"/>
              <a:defRPr/>
            </a:pPr>
            <a:r>
              <a:rPr lang="en-US" sz="2000" kern="0" dirty="0">
                <a:latin typeface="+mn-lt"/>
              </a:rPr>
              <a:t>Slower then RAM but faster than EEPROM</a:t>
            </a:r>
          </a:p>
          <a:p>
            <a:pPr marL="800100" lvl="1" indent="-342900">
              <a:spcBef>
                <a:spcPct val="20000"/>
              </a:spcBef>
              <a:buFontTx/>
              <a:buChar char="•"/>
              <a:defRPr/>
            </a:pPr>
            <a:r>
              <a:rPr lang="en-US" sz="2000" kern="0" dirty="0">
                <a:latin typeface="+mn-lt"/>
              </a:rPr>
              <a:t>To (re)write from 0 </a:t>
            </a:r>
            <a:r>
              <a:rPr lang="en-US" sz="2000" kern="0" dirty="0">
                <a:latin typeface="+mn-lt"/>
                <a:sym typeface="Wingdings" pitchFamily="2" charset="2"/>
              </a:rPr>
              <a:t> 1, must explicitly erase entire block</a:t>
            </a:r>
          </a:p>
          <a:p>
            <a:pPr marL="1257300" lvl="2" indent="-342900">
              <a:spcBef>
                <a:spcPct val="20000"/>
              </a:spcBef>
              <a:buFontTx/>
              <a:buChar char="•"/>
              <a:defRPr/>
            </a:pPr>
            <a:r>
              <a:rPr lang="en-US" sz="2000" kern="0" dirty="0">
                <a:latin typeface="+mn-lt"/>
                <a:sym typeface="Wingdings" pitchFamily="2" charset="2"/>
              </a:rPr>
              <a:t>Erase is time consuming O(milliseconds to seconds)</a:t>
            </a:r>
          </a:p>
          <a:p>
            <a:pPr marL="342900" indent="-342900">
              <a:spcBef>
                <a:spcPct val="20000"/>
              </a:spcBef>
              <a:buFontTx/>
              <a:buChar char="•"/>
              <a:defRPr/>
            </a:pPr>
            <a:r>
              <a:rPr lang="en-US" sz="2000" kern="0" dirty="0">
                <a:latin typeface="+mn-lt"/>
                <a:sym typeface="Wingdings" pitchFamily="2" charset="2"/>
              </a:rPr>
              <a:t>Floating gate technology</a:t>
            </a:r>
          </a:p>
          <a:p>
            <a:pPr marL="800100" lvl="1" indent="-342900">
              <a:spcBef>
                <a:spcPct val="20000"/>
              </a:spcBef>
              <a:buFontTx/>
              <a:buChar char="•"/>
              <a:defRPr/>
            </a:pPr>
            <a:r>
              <a:rPr lang="en-US" sz="2000" kern="0" dirty="0">
                <a:latin typeface="+mn-lt"/>
                <a:sym typeface="Wingdings" pitchFamily="2" charset="2"/>
              </a:rPr>
              <a:t>Erase/write cycles are limited (10K to 100K, typically)</a:t>
            </a:r>
            <a:endParaRPr lang="en-US" sz="2000" kern="0" dirty="0">
              <a:latin typeface="+mn-lt"/>
            </a:endParaRPr>
          </a:p>
          <a:p>
            <a:pPr marL="342900" indent="-342900">
              <a:spcBef>
                <a:spcPct val="20000"/>
              </a:spcBef>
              <a:buFontTx/>
              <a:buChar char="•"/>
              <a:defRPr/>
            </a:pPr>
            <a:endParaRPr lang="en-US" sz="2000" kern="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1006487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>
          <a:xfrm>
            <a:off x="895930" y="489530"/>
            <a:ext cx="736138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/>
              <a:t>Static </a:t>
            </a:r>
            <a:r>
              <a:rPr lang="en-US" sz="2400" b="1" dirty="0"/>
              <a:t>RAM (SRAM)</a:t>
            </a:r>
            <a:r>
              <a:rPr lang="en-US" sz="2400" dirty="0"/>
              <a:t> and </a:t>
            </a:r>
            <a:r>
              <a:rPr lang="en-US" sz="2400" b="1" dirty="0"/>
              <a:t>Dynamic RAM (DRAM</a:t>
            </a:r>
            <a:r>
              <a:rPr lang="en-US" sz="2400" b="1" dirty="0" smtClean="0"/>
              <a:t>)</a:t>
            </a:r>
            <a:endParaRPr lang="en-IN" sz="2400" dirty="0"/>
          </a:p>
        </p:txBody>
      </p:sp>
      <p:graphicFrame>
        <p:nvGraphicFramePr>
          <p:cNvPr id="11" name="Table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49539080"/>
              </p:ext>
            </p:extLst>
          </p:nvPr>
        </p:nvGraphicFramePr>
        <p:xfrm>
          <a:off x="630033" y="1117604"/>
          <a:ext cx="7883934" cy="5008561"/>
        </p:xfrm>
        <a:graphic>
          <a:graphicData uri="http://schemas.openxmlformats.org/drawingml/2006/table">
            <a:tbl>
              <a:tblPr/>
              <a:tblGrid>
                <a:gridCol w="2627978">
                  <a:extLst>
                    <a:ext uri="{9D8B030D-6E8A-4147-A177-3AD203B41FA5}">
                      <a16:colId xmlns:a16="http://schemas.microsoft.com/office/drawing/2014/main" val="1115263327"/>
                    </a:ext>
                  </a:extLst>
                </a:gridCol>
                <a:gridCol w="2627978">
                  <a:extLst>
                    <a:ext uri="{9D8B030D-6E8A-4147-A177-3AD203B41FA5}">
                      <a16:colId xmlns:a16="http://schemas.microsoft.com/office/drawing/2014/main" val="3704559665"/>
                    </a:ext>
                  </a:extLst>
                </a:gridCol>
                <a:gridCol w="2627978">
                  <a:extLst>
                    <a:ext uri="{9D8B030D-6E8A-4147-A177-3AD203B41FA5}">
                      <a16:colId xmlns:a16="http://schemas.microsoft.com/office/drawing/2014/main" val="3962708877"/>
                    </a:ext>
                  </a:extLst>
                </a:gridCol>
              </a:tblGrid>
              <a:tr h="323133">
                <a:tc>
                  <a:txBody>
                    <a:bodyPr/>
                    <a:lstStyle/>
                    <a:p>
                      <a:r>
                        <a:rPr lang="en-IN" sz="1300"/>
                        <a:t>Feature</a:t>
                      </a:r>
                    </a:p>
                  </a:txBody>
                  <a:tcPr marL="87599" marR="87599" marT="43800" marB="438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300"/>
                        <a:t>Static RAM (SRAM)</a:t>
                      </a:r>
                    </a:p>
                  </a:txBody>
                  <a:tcPr marL="87599" marR="87599" marT="43800" marB="438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300"/>
                        <a:t>Dynamic RAM (DRAM)</a:t>
                      </a:r>
                    </a:p>
                  </a:txBody>
                  <a:tcPr marL="87599" marR="87599" marT="43800" marB="438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21492117"/>
                  </a:ext>
                </a:extLst>
              </a:tr>
              <a:tr h="549326">
                <a:tc>
                  <a:txBody>
                    <a:bodyPr/>
                    <a:lstStyle/>
                    <a:p>
                      <a:r>
                        <a:rPr lang="en-IN" sz="1300" b="1"/>
                        <a:t>Full form</a:t>
                      </a:r>
                      <a:endParaRPr lang="en-IN" sz="1300"/>
                    </a:p>
                  </a:txBody>
                  <a:tcPr marL="87599" marR="87599" marT="43800" marB="438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300"/>
                        <a:t>Static Random Access Memory</a:t>
                      </a:r>
                    </a:p>
                  </a:txBody>
                  <a:tcPr marL="87599" marR="87599" marT="43800" marB="438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300"/>
                        <a:t>Dynamic Random Access Memory</a:t>
                      </a:r>
                    </a:p>
                  </a:txBody>
                  <a:tcPr marL="87599" marR="87599" marT="43800" marB="438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52415240"/>
                  </a:ext>
                </a:extLst>
              </a:tr>
              <a:tr h="323133">
                <a:tc>
                  <a:txBody>
                    <a:bodyPr/>
                    <a:lstStyle/>
                    <a:p>
                      <a:r>
                        <a:rPr lang="en-IN" sz="1300" b="1"/>
                        <a:t>Storage principle</a:t>
                      </a:r>
                      <a:endParaRPr lang="en-IN" sz="1300"/>
                    </a:p>
                  </a:txBody>
                  <a:tcPr marL="87599" marR="87599" marT="43800" marB="438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300"/>
                        <a:t>Uses flip-flops (latches)</a:t>
                      </a:r>
                    </a:p>
                  </a:txBody>
                  <a:tcPr marL="87599" marR="87599" marT="43800" marB="438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300"/>
                        <a:t>Uses capacitors</a:t>
                      </a:r>
                    </a:p>
                  </a:txBody>
                  <a:tcPr marL="87599" marR="87599" marT="43800" marB="438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94004679"/>
                  </a:ext>
                </a:extLst>
              </a:tr>
              <a:tr h="549326">
                <a:tc>
                  <a:txBody>
                    <a:bodyPr/>
                    <a:lstStyle/>
                    <a:p>
                      <a:r>
                        <a:rPr lang="en-IN" sz="1300" b="1"/>
                        <a:t>Data refresh</a:t>
                      </a:r>
                      <a:endParaRPr lang="en-IN" sz="1300"/>
                    </a:p>
                  </a:txBody>
                  <a:tcPr marL="87599" marR="87599" marT="43800" marB="438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300"/>
                        <a:t>Not required</a:t>
                      </a:r>
                    </a:p>
                  </a:txBody>
                  <a:tcPr marL="87599" marR="87599" marT="43800" marB="438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300"/>
                        <a:t>Required periodically (refresh needed)</a:t>
                      </a:r>
                    </a:p>
                  </a:txBody>
                  <a:tcPr marL="87599" marR="87599" marT="43800" marB="438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89202378"/>
                  </a:ext>
                </a:extLst>
              </a:tr>
              <a:tr h="323133">
                <a:tc>
                  <a:txBody>
                    <a:bodyPr/>
                    <a:lstStyle/>
                    <a:p>
                      <a:r>
                        <a:rPr lang="en-IN" sz="1300" b="1"/>
                        <a:t>Speed</a:t>
                      </a:r>
                      <a:endParaRPr lang="en-IN" sz="1300"/>
                    </a:p>
                  </a:txBody>
                  <a:tcPr marL="87599" marR="87599" marT="43800" marB="438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300"/>
                        <a:t>Very fast</a:t>
                      </a:r>
                    </a:p>
                  </a:txBody>
                  <a:tcPr marL="87599" marR="87599" marT="43800" marB="438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300" dirty="0"/>
                        <a:t>Slower compared to SRAM</a:t>
                      </a:r>
                    </a:p>
                  </a:txBody>
                  <a:tcPr marL="87599" marR="87599" marT="43800" marB="438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45950752"/>
                  </a:ext>
                </a:extLst>
              </a:tr>
              <a:tr h="323133">
                <a:tc>
                  <a:txBody>
                    <a:bodyPr/>
                    <a:lstStyle/>
                    <a:p>
                      <a:r>
                        <a:rPr lang="en-IN" sz="1300" b="1"/>
                        <a:t>Complexity</a:t>
                      </a:r>
                      <a:endParaRPr lang="en-IN" sz="1300"/>
                    </a:p>
                  </a:txBody>
                  <a:tcPr marL="87599" marR="87599" marT="43800" marB="438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300"/>
                        <a:t>More complex circuitry</a:t>
                      </a:r>
                    </a:p>
                  </a:txBody>
                  <a:tcPr marL="87599" marR="87599" marT="43800" marB="438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300"/>
                        <a:t>Simpler circuitry</a:t>
                      </a:r>
                    </a:p>
                  </a:txBody>
                  <a:tcPr marL="87599" marR="87599" marT="43800" marB="438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40074230"/>
                  </a:ext>
                </a:extLst>
              </a:tr>
              <a:tr h="323133">
                <a:tc>
                  <a:txBody>
                    <a:bodyPr/>
                    <a:lstStyle/>
                    <a:p>
                      <a:r>
                        <a:rPr lang="en-IN" sz="1300" b="1"/>
                        <a:t>Cost</a:t>
                      </a:r>
                      <a:endParaRPr lang="en-IN" sz="1300"/>
                    </a:p>
                  </a:txBody>
                  <a:tcPr marL="87599" marR="87599" marT="43800" marB="438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300"/>
                        <a:t>Expensive</a:t>
                      </a:r>
                    </a:p>
                  </a:txBody>
                  <a:tcPr marL="87599" marR="87599" marT="43800" marB="438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300"/>
                        <a:t>Cheaper</a:t>
                      </a:r>
                    </a:p>
                  </a:txBody>
                  <a:tcPr marL="87599" marR="87599" marT="43800" marB="438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29165931"/>
                  </a:ext>
                </a:extLst>
              </a:tr>
              <a:tr h="549326">
                <a:tc>
                  <a:txBody>
                    <a:bodyPr/>
                    <a:lstStyle/>
                    <a:p>
                      <a:r>
                        <a:rPr lang="en-IN" sz="1300" b="1"/>
                        <a:t>Power consumption</a:t>
                      </a:r>
                      <a:endParaRPr lang="en-IN" sz="1300"/>
                    </a:p>
                  </a:txBody>
                  <a:tcPr marL="87599" marR="87599" marT="43800" marB="438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300"/>
                        <a:t>Higher (per bit) but no refresh power</a:t>
                      </a:r>
                    </a:p>
                  </a:txBody>
                  <a:tcPr marL="87599" marR="87599" marT="43800" marB="438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300"/>
                        <a:t>Lower per bit but needs refresh power</a:t>
                      </a:r>
                    </a:p>
                  </a:txBody>
                  <a:tcPr marL="87599" marR="87599" marT="43800" marB="438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63468021"/>
                  </a:ext>
                </a:extLst>
              </a:tr>
              <a:tr h="323133">
                <a:tc>
                  <a:txBody>
                    <a:bodyPr/>
                    <a:lstStyle/>
                    <a:p>
                      <a:r>
                        <a:rPr lang="en-IN" sz="1300" b="1"/>
                        <a:t>Density (storage capacity)</a:t>
                      </a:r>
                      <a:endParaRPr lang="en-IN" sz="1300"/>
                    </a:p>
                  </a:txBody>
                  <a:tcPr marL="87599" marR="87599" marT="43800" marB="438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300"/>
                        <a:t>Low density</a:t>
                      </a:r>
                    </a:p>
                  </a:txBody>
                  <a:tcPr marL="87599" marR="87599" marT="43800" marB="438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300"/>
                        <a:t>High density</a:t>
                      </a:r>
                    </a:p>
                  </a:txBody>
                  <a:tcPr marL="87599" marR="87599" marT="43800" marB="438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89878304"/>
                  </a:ext>
                </a:extLst>
              </a:tr>
              <a:tr h="323133">
                <a:tc>
                  <a:txBody>
                    <a:bodyPr/>
                    <a:lstStyle/>
                    <a:p>
                      <a:r>
                        <a:rPr lang="en-IN" sz="1300" b="1"/>
                        <a:t>Chip size</a:t>
                      </a:r>
                      <a:endParaRPr lang="en-IN" sz="1300"/>
                    </a:p>
                  </a:txBody>
                  <a:tcPr marL="87599" marR="87599" marT="43800" marB="438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300"/>
                        <a:t>Larger</a:t>
                      </a:r>
                    </a:p>
                  </a:txBody>
                  <a:tcPr marL="87599" marR="87599" marT="43800" marB="438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300"/>
                        <a:t>Smaller</a:t>
                      </a:r>
                    </a:p>
                  </a:txBody>
                  <a:tcPr marL="87599" marR="87599" marT="43800" marB="438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32150365"/>
                  </a:ext>
                </a:extLst>
              </a:tr>
              <a:tr h="549326">
                <a:tc>
                  <a:txBody>
                    <a:bodyPr/>
                    <a:lstStyle/>
                    <a:p>
                      <a:r>
                        <a:rPr lang="en-IN" sz="1300" b="1"/>
                        <a:t>Typical use</a:t>
                      </a:r>
                      <a:endParaRPr lang="en-IN" sz="1300"/>
                    </a:p>
                  </a:txBody>
                  <a:tcPr marL="87599" marR="87599" marT="43800" marB="438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300"/>
                        <a:t>Cache memory (L1, L2, L3)</a:t>
                      </a:r>
                    </a:p>
                  </a:txBody>
                  <a:tcPr marL="87599" marR="87599" marT="43800" marB="438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300"/>
                        <a:t>Main memory (RAM in computers)</a:t>
                      </a:r>
                    </a:p>
                  </a:txBody>
                  <a:tcPr marL="87599" marR="87599" marT="43800" marB="438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47972615"/>
                  </a:ext>
                </a:extLst>
              </a:tr>
              <a:tr h="549326">
                <a:tc>
                  <a:txBody>
                    <a:bodyPr/>
                    <a:lstStyle/>
                    <a:p>
                      <a:r>
                        <a:rPr lang="en-IN" sz="1300" b="1"/>
                        <a:t>Data retention</a:t>
                      </a:r>
                      <a:endParaRPr lang="en-IN" sz="1300"/>
                    </a:p>
                  </a:txBody>
                  <a:tcPr marL="87599" marR="87599" marT="43800" marB="438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300"/>
                        <a:t>Holds data as long as power is ON</a:t>
                      </a:r>
                    </a:p>
                  </a:txBody>
                  <a:tcPr marL="87599" marR="87599" marT="43800" marB="438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dirty="0"/>
                        <a:t>Loses data quickly without refresh</a:t>
                      </a:r>
                    </a:p>
                  </a:txBody>
                  <a:tcPr marL="87599" marR="87599" marT="43800" marB="438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1628422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306433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/>
        </p:nvSpPr>
        <p:spPr>
          <a:xfrm>
            <a:off x="683491" y="1003934"/>
            <a:ext cx="7860145" cy="56323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Cache Memory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Cache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memory is a </a:t>
            </a: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small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very high-speed </a:t>
            </a: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memory located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near the </a:t>
            </a: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CPU.</a:t>
            </a:r>
          </a:p>
          <a:p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It stores frequently used data and instructions to reduce access time to RAM.</a:t>
            </a:r>
          </a:p>
          <a:p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It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improves </a:t>
            </a: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CPU performance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 reducing waiting time.</a:t>
            </a:r>
          </a:p>
          <a:p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Working: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CPU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first checks cache memory</a:t>
            </a:r>
          </a:p>
          <a:p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Cache Hit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 Data found (fast access)</a:t>
            </a:r>
          </a:p>
          <a:p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Cache Miss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 Data fetched from RAM</a:t>
            </a:r>
          </a:p>
          <a:p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Levels: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L1 Cache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 Fastest, smallest (inside CPU core)</a:t>
            </a:r>
          </a:p>
          <a:p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L2 Cache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 Medium speed and size</a:t>
            </a:r>
          </a:p>
          <a:p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L3 Cache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 Largest, shared cache</a:t>
            </a:r>
          </a:p>
          <a:p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Memory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Hierarchy</a:t>
            </a: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CPU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 Cache → RAM → </a:t>
            </a: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Storage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3463639" y="267856"/>
            <a:ext cx="239221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Cache Memory</a:t>
            </a: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312466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6765" y="314036"/>
            <a:ext cx="7130472" cy="61883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87814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9426</TotalTime>
  <Words>832</Words>
  <Application>Microsoft Office PowerPoint</Application>
  <PresentationFormat>On-screen Show (4:3)</PresentationFormat>
  <Paragraphs>205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굴림</vt:lpstr>
      <vt:lpstr>Arial</vt:lpstr>
      <vt:lpstr>Calibri</vt:lpstr>
      <vt:lpstr>Times New Roman</vt:lpstr>
      <vt:lpstr>Trebuchet MS</vt:lpstr>
      <vt:lpstr>Wingdings</vt:lpstr>
      <vt:lpstr>Office Theme</vt:lpstr>
      <vt:lpstr>PowerPoint Presentation</vt:lpstr>
      <vt:lpstr>MEMORY  COMPONENTS</vt:lpstr>
      <vt:lpstr>READ  ONLY  MEMORY(ROM)</vt:lpstr>
      <vt:lpstr>TYPES OF ROM</vt:lpstr>
      <vt:lpstr>Mask ROM</vt:lpstr>
      <vt:lpstr>EPROM</vt:lpstr>
      <vt:lpstr>Flash Memory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Unit 2: Combinational Logic Circuits</dc:title>
  <dc:creator>pcp</dc:creator>
  <cp:lastModifiedBy>SIT FACULTY</cp:lastModifiedBy>
  <cp:revision>63</cp:revision>
  <dcterms:created xsi:type="dcterms:W3CDTF">2021-10-08T05:21:13Z</dcterms:created>
  <dcterms:modified xsi:type="dcterms:W3CDTF">2026-04-16T07:02:04Z</dcterms:modified>
</cp:coreProperties>
</file>