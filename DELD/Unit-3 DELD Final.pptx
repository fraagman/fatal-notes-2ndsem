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79"/>
  </p:notesMasterIdLst>
  <p:sldIdLst>
    <p:sldId id="364" r:id="rId2"/>
    <p:sldId id="382" r:id="rId3"/>
    <p:sldId id="383" r:id="rId4"/>
    <p:sldId id="384" r:id="rId5"/>
    <p:sldId id="293" r:id="rId6"/>
    <p:sldId id="294" r:id="rId7"/>
    <p:sldId id="295" r:id="rId8"/>
    <p:sldId id="296" r:id="rId9"/>
    <p:sldId id="297" r:id="rId10"/>
    <p:sldId id="298" r:id="rId11"/>
    <p:sldId id="299" r:id="rId12"/>
    <p:sldId id="300" r:id="rId13"/>
    <p:sldId id="301" r:id="rId14"/>
    <p:sldId id="303" r:id="rId15"/>
    <p:sldId id="370" r:id="rId16"/>
    <p:sldId id="304" r:id="rId17"/>
    <p:sldId id="305" r:id="rId18"/>
    <p:sldId id="306" r:id="rId19"/>
    <p:sldId id="307" r:id="rId20"/>
    <p:sldId id="308" r:id="rId21"/>
    <p:sldId id="309" r:id="rId22"/>
    <p:sldId id="310" r:id="rId23"/>
    <p:sldId id="311" r:id="rId24"/>
    <p:sldId id="312" r:id="rId25"/>
    <p:sldId id="386" r:id="rId26"/>
    <p:sldId id="387" r:id="rId27"/>
    <p:sldId id="316" r:id="rId28"/>
    <p:sldId id="317" r:id="rId29"/>
    <p:sldId id="318" r:id="rId30"/>
    <p:sldId id="322" r:id="rId31"/>
    <p:sldId id="388" r:id="rId32"/>
    <p:sldId id="323" r:id="rId33"/>
    <p:sldId id="389" r:id="rId34"/>
    <p:sldId id="325" r:id="rId35"/>
    <p:sldId id="326" r:id="rId36"/>
    <p:sldId id="327" r:id="rId37"/>
    <p:sldId id="398" r:id="rId38"/>
    <p:sldId id="397" r:id="rId39"/>
    <p:sldId id="395" r:id="rId40"/>
    <p:sldId id="396" r:id="rId41"/>
    <p:sldId id="401" r:id="rId42"/>
    <p:sldId id="329" r:id="rId43"/>
    <p:sldId id="330" r:id="rId44"/>
    <p:sldId id="331" r:id="rId45"/>
    <p:sldId id="332" r:id="rId46"/>
    <p:sldId id="334" r:id="rId47"/>
    <p:sldId id="402" r:id="rId48"/>
    <p:sldId id="403" r:id="rId49"/>
    <p:sldId id="404" r:id="rId50"/>
    <p:sldId id="405" r:id="rId51"/>
    <p:sldId id="406" r:id="rId52"/>
    <p:sldId id="407" r:id="rId53"/>
    <p:sldId id="336" r:id="rId54"/>
    <p:sldId id="337" r:id="rId55"/>
    <p:sldId id="349" r:id="rId56"/>
    <p:sldId id="408" r:id="rId57"/>
    <p:sldId id="409" r:id="rId58"/>
    <p:sldId id="410" r:id="rId59"/>
    <p:sldId id="411" r:id="rId60"/>
    <p:sldId id="412" r:id="rId61"/>
    <p:sldId id="413" r:id="rId62"/>
    <p:sldId id="414" r:id="rId63"/>
    <p:sldId id="415" r:id="rId64"/>
    <p:sldId id="416" r:id="rId65"/>
    <p:sldId id="417" r:id="rId66"/>
    <p:sldId id="421" r:id="rId67"/>
    <p:sldId id="425" r:id="rId68"/>
    <p:sldId id="426" r:id="rId69"/>
    <p:sldId id="427" r:id="rId70"/>
    <p:sldId id="428" r:id="rId71"/>
    <p:sldId id="429" r:id="rId72"/>
    <p:sldId id="430" r:id="rId73"/>
    <p:sldId id="431" r:id="rId74"/>
    <p:sldId id="432" r:id="rId75"/>
    <p:sldId id="361" r:id="rId76"/>
    <p:sldId id="362" r:id="rId77"/>
    <p:sldId id="350" r:id="rId7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7" roundtripDataSignature="AMtx7mjfevKjbShbZBvqOj26j1q+wsVW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31D40B5-6E1B-4167-A163-00961D55834B}">
  <a:tblStyle styleId="{731D40B5-6E1B-4167-A163-00961D55834B}"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91" autoAdjust="0"/>
    <p:restoredTop sz="94660"/>
  </p:normalViewPr>
  <p:slideViewPr>
    <p:cSldViewPr snapToGrid="0">
      <p:cViewPr varScale="1">
        <p:scale>
          <a:sx n="104" d="100"/>
          <a:sy n="104" d="100"/>
        </p:scale>
        <p:origin x="1824"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customschemas.google.com/relationships/presentationmetadata" Target="meta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1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12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19"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1292946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9676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0368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682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9134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2339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1" name="Google Shape;381;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04457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0479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64762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32561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60967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1225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1" name="Google Shape;411;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97094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1" name="Google Shape;421;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21724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9E41C8B6-9C0B-2905-41AC-A35EC0B875A2}"/>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90D914D9-1081-069F-3CF8-1FBA77AC370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10217FE7-8149-7D86-1329-4D93A71ABF4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89677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6" name="Google Shape;426;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30519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1" name="Google Shape;431;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45947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7" name="Google Shape;437;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37938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16057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7" name="Google Shape;447;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47170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2" name="Google Shape;452;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0010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7" name="Google Shape;457;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90664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3" name="Google Shape;463;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69219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71210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a:extLst>
            <a:ext uri="{FF2B5EF4-FFF2-40B4-BE49-F238E27FC236}">
              <a16:creationId xmlns:a16="http://schemas.microsoft.com/office/drawing/2014/main" id="{4ABC8320-2EB7-162E-852E-2EB9D818BE21}"/>
            </a:ext>
          </a:extLst>
        </p:cNvPr>
        <p:cNvGrpSpPr/>
        <p:nvPr/>
      </p:nvGrpSpPr>
      <p:grpSpPr>
        <a:xfrm>
          <a:off x="0" y="0"/>
          <a:ext cx="0" cy="0"/>
          <a:chOff x="0" y="0"/>
          <a:chExt cx="0" cy="0"/>
        </a:xfrm>
      </p:grpSpPr>
      <p:sp>
        <p:nvSpPr>
          <p:cNvPr id="467" name="Google Shape;467;p57:notes">
            <a:extLst>
              <a:ext uri="{FF2B5EF4-FFF2-40B4-BE49-F238E27FC236}">
                <a16:creationId xmlns:a16="http://schemas.microsoft.com/office/drawing/2014/main" id="{3AC0D42E-9BBB-0BC4-033D-932E360B4D95}"/>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p57:notes">
            <a:extLst>
              <a:ext uri="{FF2B5EF4-FFF2-40B4-BE49-F238E27FC236}">
                <a16:creationId xmlns:a16="http://schemas.microsoft.com/office/drawing/2014/main" id="{B1446A90-CCCE-857D-37C7-258D3C7E368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35889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a:extLst>
            <a:ext uri="{FF2B5EF4-FFF2-40B4-BE49-F238E27FC236}">
              <a16:creationId xmlns:a16="http://schemas.microsoft.com/office/drawing/2014/main" id="{22D34EA4-7DE3-963F-EB72-42BC4B70D3FA}"/>
            </a:ext>
          </a:extLst>
        </p:cNvPr>
        <p:cNvGrpSpPr/>
        <p:nvPr/>
      </p:nvGrpSpPr>
      <p:grpSpPr>
        <a:xfrm>
          <a:off x="0" y="0"/>
          <a:ext cx="0" cy="0"/>
          <a:chOff x="0" y="0"/>
          <a:chExt cx="0" cy="0"/>
        </a:xfrm>
      </p:grpSpPr>
      <p:sp>
        <p:nvSpPr>
          <p:cNvPr id="467" name="Google Shape;467;p57:notes">
            <a:extLst>
              <a:ext uri="{FF2B5EF4-FFF2-40B4-BE49-F238E27FC236}">
                <a16:creationId xmlns:a16="http://schemas.microsoft.com/office/drawing/2014/main" id="{EC1D1772-642F-8857-AA4C-95291BF7EF6C}"/>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p57:notes">
            <a:extLst>
              <a:ext uri="{FF2B5EF4-FFF2-40B4-BE49-F238E27FC236}">
                <a16:creationId xmlns:a16="http://schemas.microsoft.com/office/drawing/2014/main" id="{D6B0150C-316D-7992-001B-C6F31E092E8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54900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1" name="Google Shape;491;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71172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6" name="Google Shape;496;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90842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1" name="Google Shape;501;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47176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15815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45E4503C-DFA1-AD7E-FE27-250D7AF7F167}"/>
            </a:ext>
          </a:extLst>
        </p:cNvPr>
        <p:cNvGrpSpPr/>
        <p:nvPr/>
      </p:nvGrpSpPr>
      <p:grpSpPr>
        <a:xfrm>
          <a:off x="0" y="0"/>
          <a:ext cx="0" cy="0"/>
          <a:chOff x="0" y="0"/>
          <a:chExt cx="0" cy="0"/>
        </a:xfrm>
      </p:grpSpPr>
      <p:sp>
        <p:nvSpPr>
          <p:cNvPr id="521" name="Google Shape;521;p67:notes">
            <a:extLst>
              <a:ext uri="{FF2B5EF4-FFF2-40B4-BE49-F238E27FC236}">
                <a16:creationId xmlns:a16="http://schemas.microsoft.com/office/drawing/2014/main" id="{9DF2CDAA-9075-D83F-28A7-24F4CF1E6D9F}"/>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67:notes">
            <a:extLst>
              <a:ext uri="{FF2B5EF4-FFF2-40B4-BE49-F238E27FC236}">
                <a16:creationId xmlns:a16="http://schemas.microsoft.com/office/drawing/2014/main" id="{90ABC665-CA21-6F9B-4449-02EE3314F5D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94747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1" name="Google Shape;531;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47530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A13B8897-BC45-E6E2-7688-E4F4E450792D}"/>
            </a:ext>
          </a:extLst>
        </p:cNvPr>
        <p:cNvGrpSpPr/>
        <p:nvPr/>
      </p:nvGrpSpPr>
      <p:grpSpPr>
        <a:xfrm>
          <a:off x="0" y="0"/>
          <a:ext cx="0" cy="0"/>
          <a:chOff x="0" y="0"/>
          <a:chExt cx="0" cy="0"/>
        </a:xfrm>
      </p:grpSpPr>
      <p:sp>
        <p:nvSpPr>
          <p:cNvPr id="521" name="Google Shape;521;p67:notes">
            <a:extLst>
              <a:ext uri="{FF2B5EF4-FFF2-40B4-BE49-F238E27FC236}">
                <a16:creationId xmlns:a16="http://schemas.microsoft.com/office/drawing/2014/main" id="{651DE9E9-9331-BD9F-72DE-E491974DA80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67:notes">
            <a:extLst>
              <a:ext uri="{FF2B5EF4-FFF2-40B4-BE49-F238E27FC236}">
                <a16:creationId xmlns:a16="http://schemas.microsoft.com/office/drawing/2014/main" id="{7ADC36B5-9721-703B-3570-95D62B76D8C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67189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0" name="Google Shape;550;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35449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9" name="Google Shape;559;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16241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67915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9" name="Google Shape;569;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02196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5" name="Google Shape;575;p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38629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0" name="Google Shape;580;p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91233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7" name="Google Shape;587;p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78095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7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p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6131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2" name="Google Shape;602;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087488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p8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2" name="Google Shape;612;p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12273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8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8" name="Google Shape;618;p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26006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9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4" name="Google Shape;684;p9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61772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p9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0" name="Google Shape;690;p9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887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9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9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9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9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9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9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9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10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0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10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0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0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10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0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10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10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0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10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0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10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10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10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10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0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0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10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10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0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0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0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0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0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0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0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5"/>
          <p:cNvSpPr>
            <a:spLocks noGrp="1"/>
          </p:cNvSpPr>
          <p:nvPr>
            <p:ph type="pic" idx="2"/>
          </p:nvPr>
        </p:nvSpPr>
        <p:spPr>
          <a:xfrm>
            <a:off x="1792288" y="612775"/>
            <a:ext cx="5486400" cy="4114800"/>
          </a:xfrm>
          <a:prstGeom prst="rect">
            <a:avLst/>
          </a:prstGeom>
          <a:noFill/>
          <a:ln>
            <a:noFill/>
          </a:ln>
        </p:spPr>
      </p:sp>
      <p:sp>
        <p:nvSpPr>
          <p:cNvPr id="68" name="Google Shape;68;p10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0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0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0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0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0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0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0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0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0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0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9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5.jpg"/></Relationships>
</file>

<file path=ppt/slides/_rels/slide32.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1.png"/><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41.jpg"/><Relationship Id="rId5" Type="http://schemas.openxmlformats.org/officeDocument/2006/relationships/image" Target="../media/image40.png"/><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36.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46.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1.png"/><Relationship Id="rId4" Type="http://schemas.openxmlformats.org/officeDocument/2006/relationships/image" Target="../media/image5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52.w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2.vml"/><Relationship Id="rId4" Type="http://schemas.openxmlformats.org/officeDocument/2006/relationships/image" Target="../media/image52.w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vmlDrawing" Target="../drawings/vmlDrawing3.vml"/><Relationship Id="rId4" Type="http://schemas.openxmlformats.org/officeDocument/2006/relationships/image" Target="../media/image53.w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xml"/><Relationship Id="rId1" Type="http://schemas.openxmlformats.org/officeDocument/2006/relationships/vmlDrawing" Target="../drawings/vmlDrawing4.vml"/><Relationship Id="rId4" Type="http://schemas.openxmlformats.org/officeDocument/2006/relationships/image" Target="../media/image53.w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378AF0-6AE5-F774-3547-C6FBCB88B7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sp>
        <p:nvSpPr>
          <p:cNvPr id="4" name="Title 1">
            <a:extLst>
              <a:ext uri="{FF2B5EF4-FFF2-40B4-BE49-F238E27FC236}">
                <a16:creationId xmlns:a16="http://schemas.microsoft.com/office/drawing/2014/main" id="{F8960510-E710-2924-90F5-0B0686BFFCDB}"/>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smtClean="0">
                <a:solidFill>
                  <a:schemeClr val="bg1"/>
                </a:solidFill>
                <a:latin typeface="Times New Roman" panose="02020603050405020304" pitchFamily="18" charset="0"/>
                <a:cs typeface="Times New Roman" panose="02020603050405020304" pitchFamily="18" charset="0"/>
              </a:rPr>
              <a:t>Unit-3 </a:t>
            </a:r>
            <a:r>
              <a:rPr lang="en-US" altLang="en-US" sz="3600" b="1" dirty="0">
                <a:solidFill>
                  <a:schemeClr val="bg1"/>
                </a:solidFill>
                <a:latin typeface="Times New Roman" panose="02020603050405020304" pitchFamily="18" charset="0"/>
                <a:cs typeface="Times New Roman" panose="02020603050405020304" pitchFamily="18" charset="0"/>
              </a:rPr>
              <a:t>Syllabus</a:t>
            </a:r>
          </a:p>
        </p:txBody>
      </p:sp>
      <p:sp>
        <p:nvSpPr>
          <p:cNvPr id="5" name="Rectangle 4"/>
          <p:cNvSpPr/>
          <p:nvPr/>
        </p:nvSpPr>
        <p:spPr>
          <a:xfrm>
            <a:off x="415637" y="1588655"/>
            <a:ext cx="8377382" cy="3970318"/>
          </a:xfrm>
          <a:prstGeom prst="rect">
            <a:avLst/>
          </a:prstGeom>
        </p:spPr>
        <p:txBody>
          <a:bodyPr wrap="square">
            <a:spAutoFit/>
          </a:bodyPr>
          <a:lstStyle/>
          <a:p>
            <a:r>
              <a:rPr lang="en-US" sz="3600" b="1" dirty="0">
                <a:latin typeface="Times New Roman" panose="02020603050405020304" pitchFamily="18" charset="0"/>
              </a:rPr>
              <a:t>Combinational logic and arithmetic circuit 6 6</a:t>
            </a:r>
          </a:p>
          <a:p>
            <a:r>
              <a:rPr lang="en-US" sz="3600" dirty="0">
                <a:latin typeface="Times New Roman" panose="02020603050405020304" pitchFamily="18" charset="0"/>
              </a:rPr>
              <a:t>Encoders and Decoders, Multiplexers and </a:t>
            </a:r>
            <a:r>
              <a:rPr lang="en-US" sz="3600" dirty="0" err="1">
                <a:latin typeface="Times New Roman" panose="02020603050405020304" pitchFamily="18" charset="0"/>
              </a:rPr>
              <a:t>Demultiplexers</a:t>
            </a:r>
            <a:r>
              <a:rPr lang="en-US" sz="3600" dirty="0">
                <a:latin typeface="Times New Roman" panose="02020603050405020304" pitchFamily="18" charset="0"/>
              </a:rPr>
              <a:t>, </a:t>
            </a:r>
            <a:r>
              <a:rPr lang="en-US" sz="3600" dirty="0" smtClean="0">
                <a:latin typeface="Times New Roman" panose="02020603050405020304" pitchFamily="18" charset="0"/>
              </a:rPr>
              <a:t>Adder, </a:t>
            </a:r>
            <a:r>
              <a:rPr lang="en-US" sz="3600" dirty="0" err="1" smtClean="0">
                <a:latin typeface="Times New Roman" panose="02020603050405020304" pitchFamily="18" charset="0"/>
              </a:rPr>
              <a:t>subtractors</a:t>
            </a:r>
            <a:r>
              <a:rPr lang="en-US" sz="3600" dirty="0">
                <a:latin typeface="Times New Roman" panose="02020603050405020304" pitchFamily="18" charset="0"/>
              </a:rPr>
              <a:t>, comparators, introduction </a:t>
            </a:r>
            <a:r>
              <a:rPr lang="en-US" sz="3600" dirty="0" smtClean="0">
                <a:latin typeface="Times New Roman" panose="02020603050405020304" pitchFamily="18" charset="0"/>
              </a:rPr>
              <a:t>to Programmable Logic Devices </a:t>
            </a:r>
            <a:r>
              <a:rPr lang="en-US" sz="3600" dirty="0">
                <a:latin typeface="Times New Roman" panose="02020603050405020304" pitchFamily="18" charset="0"/>
              </a:rPr>
              <a:t>(PLDs) like FPGA, Overview of IC classification.</a:t>
            </a:r>
            <a:endParaRPr lang="en-IN" sz="3600" dirty="0"/>
          </a:p>
        </p:txBody>
      </p:sp>
    </p:spTree>
    <p:extLst>
      <p:ext uri="{BB962C8B-B14F-4D97-AF65-F5344CB8AC3E}">
        <p14:creationId xmlns:p14="http://schemas.microsoft.com/office/powerpoint/2010/main" val="2594537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10" name="Google Shape;110;p4"/>
          <p:cNvSpPr txBox="1">
            <a:spLocks noGrp="1"/>
          </p:cNvSpPr>
          <p:nvPr>
            <p:ph type="body" idx="1"/>
          </p:nvPr>
        </p:nvSpPr>
        <p:spPr>
          <a:xfrm>
            <a:off x="457200" y="1227671"/>
            <a:ext cx="8229600" cy="1676399"/>
          </a:xfrm>
          <a:prstGeom prst="rect">
            <a:avLst/>
          </a:prstGeom>
          <a:noFill/>
          <a:ln>
            <a:noFill/>
          </a:ln>
        </p:spPr>
        <p:txBody>
          <a:bodyPr spcFirstLastPara="1" wrap="square" lIns="91425" tIns="45700" rIns="91425" bIns="45700" anchor="t" anchorCtr="0">
            <a:normAutofit fontScale="85000" lnSpcReduction="20000"/>
          </a:bodyPr>
          <a:lstStyle/>
          <a:p>
            <a:pPr marL="0" lvl="0" indent="0" algn="just" rtl="0">
              <a:spcBef>
                <a:spcPts val="600"/>
              </a:spcBef>
              <a:spcAft>
                <a:spcPts val="600"/>
              </a:spcAft>
              <a:buClr>
                <a:schemeClr val="dk1"/>
              </a:buClr>
              <a:buSzPct val="100000"/>
              <a:buNone/>
            </a:pPr>
            <a:r>
              <a:rPr lang="en-US" sz="2600" dirty="0">
                <a:latin typeface="Times New Roman" panose="02020603050405020304" pitchFamily="18" charset="0"/>
                <a:ea typeface="Times New Roman"/>
                <a:cs typeface="Times New Roman" panose="02020603050405020304" pitchFamily="18" charset="0"/>
                <a:sym typeface="Times New Roman"/>
              </a:rPr>
              <a:t>The digital systems in general are classified into two categories namely:</a:t>
            </a:r>
            <a:endParaRPr sz="2600" dirty="0">
              <a:latin typeface="Times New Roman" panose="02020603050405020304" pitchFamily="18" charset="0"/>
              <a:ea typeface="Times New Roman"/>
              <a:cs typeface="Times New Roman" panose="02020603050405020304" pitchFamily="18" charset="0"/>
              <a:sym typeface="Times New Roman"/>
            </a:endParaRPr>
          </a:p>
          <a:p>
            <a:pPr marL="971550" lvl="1" indent="-514350" algn="just">
              <a:spcBef>
                <a:spcPts val="600"/>
              </a:spcBef>
              <a:spcAft>
                <a:spcPts val="600"/>
              </a:spcAft>
              <a:buSzPct val="100000"/>
              <a:buFont typeface="+mj-lt"/>
              <a:buAutoNum type="arabicPeriod"/>
            </a:pPr>
            <a:r>
              <a:rPr lang="en-US" sz="2600" b="1" dirty="0">
                <a:solidFill>
                  <a:srgbClr val="C00000"/>
                </a:solidFill>
                <a:latin typeface="Times New Roman" panose="02020603050405020304" pitchFamily="18" charset="0"/>
                <a:ea typeface="Times New Roman"/>
                <a:cs typeface="Times New Roman" panose="02020603050405020304" pitchFamily="18" charset="0"/>
                <a:sym typeface="Times New Roman"/>
              </a:rPr>
              <a:t>Combinational logic circuits</a:t>
            </a:r>
            <a:endParaRPr sz="2600" b="1" dirty="0">
              <a:solidFill>
                <a:srgbClr val="C00000"/>
              </a:solidFill>
              <a:latin typeface="Times New Roman" panose="02020603050405020304" pitchFamily="18" charset="0"/>
              <a:ea typeface="Times New Roman"/>
              <a:cs typeface="Times New Roman" panose="02020603050405020304" pitchFamily="18" charset="0"/>
              <a:sym typeface="Times New Roman"/>
            </a:endParaRPr>
          </a:p>
          <a:p>
            <a:pPr marL="971550" lvl="1" indent="-514350" algn="just">
              <a:spcBef>
                <a:spcPts val="600"/>
              </a:spcBef>
              <a:spcAft>
                <a:spcPts val="600"/>
              </a:spcAft>
              <a:buSzPct val="100000"/>
              <a:buFont typeface="+mj-lt"/>
              <a:buAutoNum type="arabicPeriod"/>
            </a:pPr>
            <a:r>
              <a:rPr lang="en-US" sz="2600" b="1" dirty="0">
                <a:solidFill>
                  <a:srgbClr val="C00000"/>
                </a:solidFill>
                <a:latin typeface="Times New Roman" panose="02020603050405020304" pitchFamily="18" charset="0"/>
                <a:ea typeface="Times New Roman"/>
                <a:cs typeface="Times New Roman" panose="02020603050405020304" pitchFamily="18" charset="0"/>
                <a:sym typeface="Times New Roman"/>
              </a:rPr>
              <a:t>Sequential logic circuits.</a:t>
            </a:r>
            <a:endParaRPr sz="2600" b="1" dirty="0">
              <a:solidFill>
                <a:srgbClr val="C00000"/>
              </a:solidFill>
              <a:latin typeface="Times New Roman" panose="02020603050405020304" pitchFamily="18" charset="0"/>
              <a:cs typeface="Times New Roman" panose="02020603050405020304" pitchFamily="18" charset="0"/>
            </a:endParaRPr>
          </a:p>
          <a:p>
            <a:pPr marL="342900" lvl="0" indent="-170180" algn="l" rtl="0">
              <a:spcBef>
                <a:spcPts val="544"/>
              </a:spcBef>
              <a:spcAft>
                <a:spcPts val="0"/>
              </a:spcAft>
              <a:buClr>
                <a:schemeClr val="dk1"/>
              </a:buClr>
              <a:buSzPct val="100000"/>
              <a:buNone/>
            </a:pPr>
            <a:endParaRPr dirty="0">
              <a:latin typeface="Times New Roman"/>
              <a:ea typeface="Times New Roman"/>
              <a:cs typeface="Times New Roman"/>
              <a:sym typeface="Times New Roman"/>
            </a:endParaRPr>
          </a:p>
        </p:txBody>
      </p:sp>
      <p:sp>
        <p:nvSpPr>
          <p:cNvPr id="4" name="Title 1">
            <a:extLst>
              <a:ext uri="{FF2B5EF4-FFF2-40B4-BE49-F238E27FC236}">
                <a16:creationId xmlns:a16="http://schemas.microsoft.com/office/drawing/2014/main" id="{EAF69B14-0373-5378-C498-539C7BEF434A}"/>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Classification of Digital Circuits</a:t>
            </a:r>
          </a:p>
        </p:txBody>
      </p:sp>
      <p:pic>
        <p:nvPicPr>
          <p:cNvPr id="6" name="Picture 5">
            <a:extLst>
              <a:ext uri="{FF2B5EF4-FFF2-40B4-BE49-F238E27FC236}">
                <a16:creationId xmlns:a16="http://schemas.microsoft.com/office/drawing/2014/main" id="{A962C223-DA9A-A3BE-2C49-6F29A429F35E}"/>
              </a:ext>
            </a:extLst>
          </p:cNvPr>
          <p:cNvPicPr>
            <a:picLocks noChangeAspect="1"/>
          </p:cNvPicPr>
          <p:nvPr/>
        </p:nvPicPr>
        <p:blipFill>
          <a:blip r:embed="rId3"/>
          <a:stretch>
            <a:fillRect/>
          </a:stretch>
        </p:blipFill>
        <p:spPr>
          <a:xfrm>
            <a:off x="800100" y="2779979"/>
            <a:ext cx="7543800" cy="4000346"/>
          </a:xfrm>
          <a:prstGeom prst="rect">
            <a:avLst/>
          </a:prstGeom>
        </p:spPr>
      </p:pic>
      <p:pic>
        <p:nvPicPr>
          <p:cNvPr id="7" name="Picture 6">
            <a:extLst>
              <a:ext uri="{FF2B5EF4-FFF2-40B4-BE49-F238E27FC236}">
                <a16:creationId xmlns:a16="http://schemas.microsoft.com/office/drawing/2014/main" id="{612FC49D-E3F0-74FA-0E00-B22D5D03166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2" name="Google Shape;102;p3"/>
          <p:cNvSpPr txBox="1">
            <a:spLocks noGrp="1"/>
          </p:cNvSpPr>
          <p:nvPr>
            <p:ph type="body" idx="1"/>
          </p:nvPr>
        </p:nvSpPr>
        <p:spPr>
          <a:xfrm>
            <a:off x="285221" y="1219200"/>
            <a:ext cx="8573558" cy="2667000"/>
          </a:xfrm>
          <a:prstGeom prst="rect">
            <a:avLst/>
          </a:prstGeom>
          <a:noFill/>
          <a:ln>
            <a:noFill/>
          </a:ln>
        </p:spPr>
        <p:txBody>
          <a:bodyPr spcFirstLastPara="1" wrap="square" lIns="91425" tIns="45700" rIns="91425" bIns="45700" anchor="t" anchorCtr="0">
            <a:normAutofit/>
          </a:bodyPr>
          <a:lstStyle/>
          <a:p>
            <a:pPr marL="514350" lvl="0" indent="-514350" algn="just" rtl="0">
              <a:spcBef>
                <a:spcPts val="600"/>
              </a:spcBef>
              <a:spcAft>
                <a:spcPts val="600"/>
              </a:spcAft>
              <a:buClr>
                <a:schemeClr val="dk1"/>
              </a:buClr>
              <a:buSzPct val="100000"/>
              <a:buFont typeface="Calibri"/>
              <a:buAutoNum type="arabicPeriod"/>
            </a:pPr>
            <a:r>
              <a:rPr lang="en-US" sz="2200" b="1" dirty="0">
                <a:latin typeface="Times New Roman" panose="02020603050405020304" pitchFamily="18" charset="0"/>
                <a:ea typeface="Times New Roman"/>
                <a:cs typeface="Times New Roman" panose="02020603050405020304" pitchFamily="18" charset="0"/>
                <a:sym typeface="Times New Roman"/>
              </a:rPr>
              <a:t>Identify number of Input &amp; Output .</a:t>
            </a:r>
            <a:endParaRPr sz="2200" b="1" dirty="0">
              <a:latin typeface="Times New Roman" panose="02020603050405020304" pitchFamily="18" charset="0"/>
              <a:cs typeface="Times New Roman" panose="02020603050405020304" pitchFamily="18" charset="0"/>
            </a:endParaRPr>
          </a:p>
          <a:p>
            <a:pPr marL="514350" lvl="0" indent="-514350" algn="just" rtl="0">
              <a:spcBef>
                <a:spcPts val="600"/>
              </a:spcBef>
              <a:spcAft>
                <a:spcPts val="600"/>
              </a:spcAft>
              <a:buClr>
                <a:schemeClr val="dk1"/>
              </a:buClr>
              <a:buSzPct val="100000"/>
              <a:buFont typeface="Calibri"/>
              <a:buAutoNum type="arabicPeriod"/>
            </a:pPr>
            <a:r>
              <a:rPr lang="en-US" sz="2200" b="1" dirty="0">
                <a:latin typeface="Times New Roman" panose="02020603050405020304" pitchFamily="18" charset="0"/>
                <a:ea typeface="Times New Roman"/>
                <a:cs typeface="Times New Roman" panose="02020603050405020304" pitchFamily="18" charset="0"/>
                <a:sym typeface="Times New Roman"/>
              </a:rPr>
              <a:t>Construct Truth Table.</a:t>
            </a:r>
            <a:endParaRPr sz="2200" b="1" dirty="0">
              <a:latin typeface="Times New Roman" panose="02020603050405020304" pitchFamily="18" charset="0"/>
              <a:cs typeface="Times New Roman" panose="02020603050405020304" pitchFamily="18" charset="0"/>
            </a:endParaRPr>
          </a:p>
          <a:p>
            <a:pPr marL="514350" lvl="0" indent="-514350" algn="just" rtl="0">
              <a:spcBef>
                <a:spcPts val="600"/>
              </a:spcBef>
              <a:spcAft>
                <a:spcPts val="600"/>
              </a:spcAft>
              <a:buClr>
                <a:schemeClr val="dk1"/>
              </a:buClr>
              <a:buSzPct val="100000"/>
              <a:buFont typeface="Calibri"/>
              <a:buAutoNum type="arabicPeriod"/>
            </a:pPr>
            <a:r>
              <a:rPr lang="en-US" sz="2200" b="1" dirty="0">
                <a:latin typeface="Times New Roman" panose="02020603050405020304" pitchFamily="18" charset="0"/>
                <a:ea typeface="Times New Roman"/>
                <a:cs typeface="Times New Roman" panose="02020603050405020304" pitchFamily="18" charset="0"/>
                <a:sym typeface="Times New Roman"/>
              </a:rPr>
              <a:t> Write Logical Expression in SOP and POS Form.</a:t>
            </a:r>
            <a:endParaRPr sz="2200" b="1" dirty="0">
              <a:latin typeface="Times New Roman" panose="02020603050405020304" pitchFamily="18" charset="0"/>
              <a:cs typeface="Times New Roman" panose="02020603050405020304" pitchFamily="18" charset="0"/>
            </a:endParaRPr>
          </a:p>
          <a:p>
            <a:pPr marL="514350" lvl="0" indent="-514350" algn="just" rtl="0">
              <a:spcBef>
                <a:spcPts val="600"/>
              </a:spcBef>
              <a:spcAft>
                <a:spcPts val="600"/>
              </a:spcAft>
              <a:buClr>
                <a:schemeClr val="dk1"/>
              </a:buClr>
              <a:buSzPct val="100000"/>
              <a:buFont typeface="Calibri"/>
              <a:buAutoNum type="arabicPeriod"/>
            </a:pPr>
            <a:r>
              <a:rPr lang="en-IN" sz="2200" b="1" dirty="0">
                <a:latin typeface="Times New Roman" panose="02020603050405020304" pitchFamily="18" charset="0"/>
                <a:ea typeface="Times New Roman"/>
                <a:cs typeface="Times New Roman" panose="02020603050405020304" pitchFamily="18" charset="0"/>
                <a:sym typeface="Times New Roman"/>
              </a:rPr>
              <a:t>Minimize Logical Expression.</a:t>
            </a:r>
          </a:p>
          <a:p>
            <a:pPr marL="514350" lvl="0" indent="-514350" algn="just" rtl="0">
              <a:spcBef>
                <a:spcPts val="600"/>
              </a:spcBef>
              <a:spcAft>
                <a:spcPts val="600"/>
              </a:spcAft>
              <a:buClr>
                <a:schemeClr val="dk1"/>
              </a:buClr>
              <a:buSzPct val="100000"/>
              <a:buFont typeface="Calibri"/>
              <a:buAutoNum type="arabicPeriod"/>
            </a:pPr>
            <a:r>
              <a:rPr lang="en-IN" sz="2200" b="1" dirty="0">
                <a:latin typeface="Times New Roman" panose="02020603050405020304" pitchFamily="18" charset="0"/>
                <a:cs typeface="Times New Roman" panose="02020603050405020304" pitchFamily="18" charset="0"/>
                <a:sym typeface="Times New Roman"/>
              </a:rPr>
              <a:t>Implement Logic Circuits.</a:t>
            </a:r>
            <a:endParaRPr sz="2200" b="1" dirty="0">
              <a:latin typeface="Times New Roman" panose="02020603050405020304" pitchFamily="18" charset="0"/>
              <a:cs typeface="Times New Roman" panose="02020603050405020304" pitchFamily="18" charset="0"/>
            </a:endParaRPr>
          </a:p>
          <a:p>
            <a:pPr marL="0" lvl="0" indent="0" algn="l" rtl="0">
              <a:spcBef>
                <a:spcPts val="592"/>
              </a:spcBef>
              <a:spcAft>
                <a:spcPts val="0"/>
              </a:spcAft>
              <a:buClr>
                <a:schemeClr val="dk1"/>
              </a:buClr>
              <a:buSzPct val="100000"/>
              <a:buNone/>
            </a:pPr>
            <a:endParaRPr dirty="0">
              <a:latin typeface="Times New Roman"/>
              <a:ea typeface="Times New Roman"/>
              <a:cs typeface="Times New Roman"/>
              <a:sym typeface="Times New Roman"/>
            </a:endParaRPr>
          </a:p>
        </p:txBody>
      </p:sp>
      <p:sp>
        <p:nvSpPr>
          <p:cNvPr id="103" name="Google Shape;103;p3" descr="Introduction to Combinational Logic Circuit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pic>
        <p:nvPicPr>
          <p:cNvPr id="104" name="Google Shape;104;p3"/>
          <p:cNvPicPr preferRelativeResize="0"/>
          <p:nvPr/>
        </p:nvPicPr>
        <p:blipFill rotWithShape="1">
          <a:blip r:embed="rId3">
            <a:alphaModFix/>
          </a:blip>
          <a:srcRect/>
          <a:stretch/>
        </p:blipFill>
        <p:spPr>
          <a:xfrm>
            <a:off x="1515532" y="3886200"/>
            <a:ext cx="5418667" cy="2184400"/>
          </a:xfrm>
          <a:prstGeom prst="rect">
            <a:avLst/>
          </a:prstGeom>
          <a:noFill/>
          <a:ln>
            <a:noFill/>
          </a:ln>
        </p:spPr>
      </p:pic>
      <p:sp>
        <p:nvSpPr>
          <p:cNvPr id="2" name="Title 1">
            <a:extLst>
              <a:ext uri="{FF2B5EF4-FFF2-40B4-BE49-F238E27FC236}">
                <a16:creationId xmlns:a16="http://schemas.microsoft.com/office/drawing/2014/main" id="{0EC3353A-F860-4286-2311-26CDB8E70548}"/>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Combinational Circuits </a:t>
            </a:r>
          </a:p>
        </p:txBody>
      </p:sp>
      <p:pic>
        <p:nvPicPr>
          <p:cNvPr id="3" name="Picture 2">
            <a:extLst>
              <a:ext uri="{FF2B5EF4-FFF2-40B4-BE49-F238E27FC236}">
                <a16:creationId xmlns:a16="http://schemas.microsoft.com/office/drawing/2014/main" id="{066B4D5D-EFFF-D083-129D-ADC96F36F0F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spTree>
    <p:extLst>
      <p:ext uri="{BB962C8B-B14F-4D97-AF65-F5344CB8AC3E}">
        <p14:creationId xmlns:p14="http://schemas.microsoft.com/office/powerpoint/2010/main" val="965549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7" name="Google Shape;117;p5"/>
          <p:cNvSpPr txBox="1">
            <a:spLocks noGrp="1"/>
          </p:cNvSpPr>
          <p:nvPr>
            <p:ph type="body" idx="1"/>
          </p:nvPr>
        </p:nvSpPr>
        <p:spPr>
          <a:xfrm>
            <a:off x="93390" y="1219200"/>
            <a:ext cx="8229600" cy="4156449"/>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600"/>
              </a:spcBef>
              <a:spcAft>
                <a:spcPts val="600"/>
              </a:spcAft>
              <a:buClr>
                <a:schemeClr val="dk1"/>
              </a:buClr>
              <a:buSzPct val="100000"/>
              <a:buNone/>
            </a:pPr>
            <a:r>
              <a:rPr lang="en-US" sz="2000" b="1" dirty="0">
                <a:solidFill>
                  <a:srgbClr val="C00000"/>
                </a:solidFill>
                <a:latin typeface="Times New Roman" panose="02020603050405020304" pitchFamily="18" charset="0"/>
                <a:ea typeface="Times New Roman"/>
                <a:cs typeface="Times New Roman" panose="02020603050405020304" pitchFamily="18" charset="0"/>
                <a:sym typeface="Times New Roman"/>
              </a:rPr>
              <a:t>Following are the examples of some combinational circuits:</a:t>
            </a:r>
            <a:endParaRPr sz="2000" b="1" dirty="0">
              <a:solidFill>
                <a:srgbClr val="C00000"/>
              </a:solidFill>
              <a:latin typeface="Times New Roman" panose="02020603050405020304" pitchFamily="18" charset="0"/>
              <a:cs typeface="Times New Roman" panose="02020603050405020304" pitchFamily="18" charset="0"/>
            </a:endParaRPr>
          </a:p>
          <a:p>
            <a:pPr lvl="1" indent="-457200">
              <a:lnSpc>
                <a:spcPct val="150000"/>
              </a:lnSpc>
              <a:spcBef>
                <a:spcPts val="600"/>
              </a:spcBef>
              <a:spcAft>
                <a:spcPts val="600"/>
              </a:spcAft>
              <a:buSzPct val="100000"/>
              <a:buFont typeface="Wingdings" panose="05000000000000000000" pitchFamily="2" charset="2"/>
              <a:buChar char="Ø"/>
            </a:pPr>
            <a:r>
              <a:rPr lang="en-US" sz="2000" b="1" dirty="0">
                <a:latin typeface="Times New Roman" panose="02020603050405020304" pitchFamily="18" charset="0"/>
                <a:ea typeface="Times New Roman"/>
                <a:cs typeface="Times New Roman" panose="02020603050405020304" pitchFamily="18" charset="0"/>
                <a:sym typeface="Times New Roman"/>
              </a:rPr>
              <a:t>Half Adder, Full Adder</a:t>
            </a:r>
          </a:p>
          <a:p>
            <a:pPr lvl="1" indent="-457200">
              <a:lnSpc>
                <a:spcPct val="150000"/>
              </a:lnSpc>
              <a:spcBef>
                <a:spcPts val="600"/>
              </a:spcBef>
              <a:spcAft>
                <a:spcPts val="600"/>
              </a:spcAft>
              <a:buSzPct val="100000"/>
              <a:buFont typeface="Wingdings" panose="05000000000000000000" pitchFamily="2" charset="2"/>
              <a:buChar char="Ø"/>
            </a:pPr>
            <a:r>
              <a:rPr lang="en-US" sz="2000" b="1" dirty="0">
                <a:latin typeface="Times New Roman" panose="02020603050405020304" pitchFamily="18" charset="0"/>
                <a:ea typeface="Times New Roman"/>
                <a:cs typeface="Times New Roman" panose="02020603050405020304" pitchFamily="18" charset="0"/>
                <a:sym typeface="Times New Roman"/>
              </a:rPr>
              <a:t>Half Subtractor, Full Subtractor</a:t>
            </a:r>
          </a:p>
          <a:p>
            <a:pPr lvl="1" indent="-457200">
              <a:lnSpc>
                <a:spcPct val="150000"/>
              </a:lnSpc>
              <a:spcBef>
                <a:spcPts val="600"/>
              </a:spcBef>
              <a:spcAft>
                <a:spcPts val="600"/>
              </a:spcAft>
              <a:buSzPct val="100000"/>
              <a:buFont typeface="Wingdings" panose="05000000000000000000" pitchFamily="2" charset="2"/>
              <a:buChar char="Ø"/>
            </a:pPr>
            <a:r>
              <a:rPr lang="en-US" sz="2000" b="1" dirty="0">
                <a:latin typeface="Times New Roman" panose="02020603050405020304" pitchFamily="18" charset="0"/>
                <a:ea typeface="Times New Roman"/>
                <a:cs typeface="Times New Roman" panose="02020603050405020304" pitchFamily="18" charset="0"/>
                <a:sym typeface="Times New Roman"/>
              </a:rPr>
              <a:t>Multiplexers, Demultiplexers </a:t>
            </a:r>
            <a:endParaRPr lang="en-US" sz="2000" b="1" dirty="0">
              <a:latin typeface="Times New Roman" panose="02020603050405020304" pitchFamily="18" charset="0"/>
              <a:cs typeface="Times New Roman" panose="02020603050405020304" pitchFamily="18" charset="0"/>
            </a:endParaRPr>
          </a:p>
          <a:p>
            <a:pPr lvl="1" indent="-457200">
              <a:lnSpc>
                <a:spcPct val="150000"/>
              </a:lnSpc>
              <a:spcBef>
                <a:spcPts val="600"/>
              </a:spcBef>
              <a:spcAft>
                <a:spcPts val="600"/>
              </a:spcAft>
              <a:buSzPct val="100000"/>
              <a:buFont typeface="Wingdings" panose="05000000000000000000" pitchFamily="2" charset="2"/>
              <a:buChar char="Ø"/>
            </a:pPr>
            <a:r>
              <a:rPr lang="en-US" sz="2000" b="1" dirty="0">
                <a:latin typeface="Times New Roman" panose="02020603050405020304" pitchFamily="18" charset="0"/>
                <a:ea typeface="Times New Roman"/>
                <a:cs typeface="Times New Roman" panose="02020603050405020304" pitchFamily="18" charset="0"/>
                <a:sym typeface="Times New Roman"/>
              </a:rPr>
              <a:t>Encoders, Decoders</a:t>
            </a:r>
          </a:p>
          <a:p>
            <a:pPr lvl="1" indent="-457200">
              <a:lnSpc>
                <a:spcPct val="150000"/>
              </a:lnSpc>
              <a:spcBef>
                <a:spcPts val="600"/>
              </a:spcBef>
              <a:spcAft>
                <a:spcPts val="600"/>
              </a:spcAft>
              <a:buSzPct val="100000"/>
              <a:buFont typeface="Wingdings" panose="05000000000000000000" pitchFamily="2" charset="2"/>
              <a:buChar char="Ø"/>
            </a:pPr>
            <a:r>
              <a:rPr lang="en-US" sz="2000" b="1" dirty="0">
                <a:latin typeface="Times New Roman" panose="02020603050405020304" pitchFamily="18" charset="0"/>
                <a:ea typeface="Times New Roman"/>
                <a:cs typeface="Times New Roman" panose="02020603050405020304" pitchFamily="18" charset="0"/>
                <a:sym typeface="Times New Roman"/>
              </a:rPr>
              <a:t>Comparator &amp; Code Converters</a:t>
            </a:r>
          </a:p>
          <a:p>
            <a:pPr lvl="1" indent="-457200">
              <a:lnSpc>
                <a:spcPct val="150000"/>
              </a:lnSpc>
              <a:spcBef>
                <a:spcPts val="600"/>
              </a:spcBef>
              <a:spcAft>
                <a:spcPts val="600"/>
              </a:spcAft>
              <a:buSzPct val="100000"/>
              <a:buFont typeface="Wingdings" panose="05000000000000000000" pitchFamily="2" charset="2"/>
              <a:buChar char="Ø"/>
            </a:pPr>
            <a:endParaRPr sz="2000" b="1" dirty="0">
              <a:latin typeface="Times New Roman" panose="02020603050405020304" pitchFamily="18" charset="0"/>
              <a:cs typeface="Times New Roman" panose="02020603050405020304" pitchFamily="18" charset="0"/>
            </a:endParaRPr>
          </a:p>
          <a:p>
            <a:pPr marL="342900" lvl="0" indent="-185420" algn="l" rtl="0">
              <a:spcBef>
                <a:spcPts val="496"/>
              </a:spcBef>
              <a:spcAft>
                <a:spcPts val="0"/>
              </a:spcAft>
              <a:buClr>
                <a:schemeClr val="dk1"/>
              </a:buClr>
              <a:buSzPct val="100000"/>
              <a:buNone/>
            </a:pPr>
            <a:endParaRPr dirty="0">
              <a:latin typeface="Times New Roman"/>
              <a:ea typeface="Times New Roman"/>
              <a:cs typeface="Times New Roman"/>
              <a:sym typeface="Times New Roman"/>
            </a:endParaRPr>
          </a:p>
        </p:txBody>
      </p:sp>
      <p:sp>
        <p:nvSpPr>
          <p:cNvPr id="2" name="Title 1">
            <a:extLst>
              <a:ext uri="{FF2B5EF4-FFF2-40B4-BE49-F238E27FC236}">
                <a16:creationId xmlns:a16="http://schemas.microsoft.com/office/drawing/2014/main" id="{87331CA2-CB04-8A06-D065-BC8AAE03C9A9}"/>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Examples of Combinational Circuits</a:t>
            </a:r>
          </a:p>
        </p:txBody>
      </p:sp>
      <p:pic>
        <p:nvPicPr>
          <p:cNvPr id="3" name="Picture 2">
            <a:extLst>
              <a:ext uri="{FF2B5EF4-FFF2-40B4-BE49-F238E27FC236}">
                <a16:creationId xmlns:a16="http://schemas.microsoft.com/office/drawing/2014/main" id="{D32CA6EC-AD43-586E-13BA-D7B035E93D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pic>
        <p:nvPicPr>
          <p:cNvPr id="4" name="Picture 3">
            <a:extLst>
              <a:ext uri="{FF2B5EF4-FFF2-40B4-BE49-F238E27FC236}">
                <a16:creationId xmlns:a16="http://schemas.microsoft.com/office/drawing/2014/main" id="{B548884A-741F-D2EE-CABB-7329A272422E}"/>
              </a:ext>
            </a:extLst>
          </p:cNvPr>
          <p:cNvPicPr>
            <a:picLocks noChangeAspect="1"/>
          </p:cNvPicPr>
          <p:nvPr/>
        </p:nvPicPr>
        <p:blipFill>
          <a:blip r:embed="rId4"/>
          <a:stretch>
            <a:fillRect/>
          </a:stretch>
        </p:blipFill>
        <p:spPr>
          <a:xfrm>
            <a:off x="4708431" y="2033797"/>
            <a:ext cx="4342179" cy="439518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2" name="Title 1">
            <a:extLst>
              <a:ext uri="{FF2B5EF4-FFF2-40B4-BE49-F238E27FC236}">
                <a16:creationId xmlns:a16="http://schemas.microsoft.com/office/drawing/2014/main" id="{50F1B825-9B8E-E7DA-6AB8-919B522AF283}"/>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Adder</a:t>
            </a:r>
          </a:p>
        </p:txBody>
      </p:sp>
      <p:pic>
        <p:nvPicPr>
          <p:cNvPr id="3" name="Picture 2">
            <a:extLst>
              <a:ext uri="{FF2B5EF4-FFF2-40B4-BE49-F238E27FC236}">
                <a16:creationId xmlns:a16="http://schemas.microsoft.com/office/drawing/2014/main" id="{0BECD6F2-9BB1-6417-DA74-8C6A4CAC0B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pic>
        <p:nvPicPr>
          <p:cNvPr id="4" name="Google Shape;371;p38"/>
          <p:cNvPicPr preferRelativeResize="0"/>
          <p:nvPr/>
        </p:nvPicPr>
        <p:blipFill rotWithShape="1">
          <a:blip r:embed="rId4">
            <a:alphaModFix/>
          </a:blip>
          <a:srcRect l="32925" t="12422" r="31655" b="46235"/>
          <a:stretch/>
        </p:blipFill>
        <p:spPr>
          <a:xfrm>
            <a:off x="4309533" y="3849154"/>
            <a:ext cx="3953934" cy="2311400"/>
          </a:xfrm>
          <a:prstGeom prst="rect">
            <a:avLst/>
          </a:prstGeom>
          <a:noFill/>
          <a:ln w="57150">
            <a:solidFill>
              <a:schemeClr val="tx1"/>
            </a:solidFill>
          </a:ln>
        </p:spPr>
      </p:pic>
      <p:sp>
        <p:nvSpPr>
          <p:cNvPr id="5" name="Rectangle 1">
            <a:extLst>
              <a:ext uri="{FF2B5EF4-FFF2-40B4-BE49-F238E27FC236}">
                <a16:creationId xmlns:a16="http://schemas.microsoft.com/office/drawing/2014/main" id="{09F68906-4010-1749-F6AC-47B91D82E140}"/>
              </a:ext>
            </a:extLst>
          </p:cNvPr>
          <p:cNvSpPr>
            <a:spLocks noChangeArrowheads="1"/>
          </p:cNvSpPr>
          <p:nvPr/>
        </p:nvSpPr>
        <p:spPr bwMode="auto">
          <a:xfrm>
            <a:off x="279400" y="1249980"/>
            <a:ext cx="8593666"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ts val="600"/>
              </a:spcBef>
              <a:spcAft>
                <a:spcPts val="60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combinational circuit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digital electronics that performs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binary addition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lvl="2" indent="-342900" algn="just" eaLnBrk="0" fontAlgn="base" hangingPunct="0">
              <a:spcBef>
                <a:spcPts val="600"/>
              </a:spcBef>
              <a:spcAft>
                <a:spcPts val="600"/>
              </a:spcAft>
              <a:buClrTx/>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takes two or more binary numbers as input.</a:t>
            </a:r>
          </a:p>
          <a:p>
            <a:pPr marL="342900" lvl="2" indent="-342900" algn="just" eaLnBrk="0" fontAlgn="base" hangingPunct="0">
              <a:spcBef>
                <a:spcPts val="600"/>
              </a:spcBef>
              <a:spcAft>
                <a:spcPts val="600"/>
              </a:spcAft>
              <a:buClrTx/>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Produces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sometimes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carry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output.</a:t>
            </a:r>
          </a:p>
          <a:p>
            <a:pPr marL="342900" lvl="2" indent="-342900" algn="just" eaLnBrk="0" fontAlgn="base" hangingPunct="0">
              <a:spcBef>
                <a:spcPts val="600"/>
              </a:spcBef>
              <a:spcAft>
                <a:spcPts val="600"/>
              </a:spcAft>
              <a:buClrTx/>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Adders are the basic building blocks in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ALU (Arithmetic Logic Unit)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processors, and calculators.</a:t>
            </a:r>
            <a:endParaRPr lang="en-US" altLang="en-US" sz="2000" dirty="0">
              <a:solidFill>
                <a:schemeClr val="tx1"/>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ts val="600"/>
              </a:spcBef>
              <a:spcAft>
                <a:spcPts val="600"/>
              </a:spcAft>
              <a:buClrTx/>
              <a:buSzTx/>
              <a:tabLst/>
            </a:pPr>
            <a:r>
              <a:rPr lang="en-US" altLang="en-US" sz="2000" b="1" dirty="0">
                <a:solidFill>
                  <a:srgbClr val="FF0000"/>
                </a:solidFill>
                <a:latin typeface="Times New Roman" panose="02020603050405020304" pitchFamily="18" charset="0"/>
                <a:cs typeface="Times New Roman" panose="02020603050405020304" pitchFamily="18" charset="0"/>
              </a:rPr>
              <a:t>Types of Adders</a:t>
            </a:r>
          </a:p>
          <a:p>
            <a:pPr marL="457200" lvl="0" indent="-457200" algn="just" eaLnBrk="0" fontAlgn="base" hangingPunct="0">
              <a:spcBef>
                <a:spcPts val="600"/>
              </a:spcBef>
              <a:spcAft>
                <a:spcPts val="600"/>
              </a:spcAft>
              <a:buClrTx/>
              <a:buFont typeface="+mj-lt"/>
              <a:buAutoNum type="arabicParenR"/>
            </a:pPr>
            <a:r>
              <a:rPr lang="en-US" altLang="en-US" sz="2000" b="1" dirty="0">
                <a:solidFill>
                  <a:schemeClr val="tx1"/>
                </a:solidFill>
                <a:latin typeface="Times New Roman" panose="02020603050405020304" pitchFamily="18" charset="0"/>
                <a:cs typeface="Times New Roman" panose="02020603050405020304" pitchFamily="18" charset="0"/>
              </a:rPr>
              <a:t>Half Adder (HA)</a:t>
            </a:r>
          </a:p>
          <a:p>
            <a:pPr marL="457200" lvl="0" indent="-457200" algn="just" eaLnBrk="0" fontAlgn="base" hangingPunct="0">
              <a:spcBef>
                <a:spcPts val="600"/>
              </a:spcBef>
              <a:spcAft>
                <a:spcPts val="600"/>
              </a:spcAft>
              <a:buClrTx/>
              <a:buFont typeface="+mj-lt"/>
              <a:buAutoNum type="arabicParen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Full Adder (FA)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13271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2" name="Title 1">
            <a:extLst>
              <a:ext uri="{FF2B5EF4-FFF2-40B4-BE49-F238E27FC236}">
                <a16:creationId xmlns:a16="http://schemas.microsoft.com/office/drawing/2014/main" id="{4F12F8EE-7785-939B-CA36-795FE324E31B}"/>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Half Adder (HA)</a:t>
            </a:r>
          </a:p>
        </p:txBody>
      </p:sp>
      <p:pic>
        <p:nvPicPr>
          <p:cNvPr id="3" name="Picture 2">
            <a:extLst>
              <a:ext uri="{FF2B5EF4-FFF2-40B4-BE49-F238E27FC236}">
                <a16:creationId xmlns:a16="http://schemas.microsoft.com/office/drawing/2014/main" id="{E445F1FF-97BB-DF09-E369-CF3F1CE5C09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pic>
        <p:nvPicPr>
          <p:cNvPr id="7" name="Picture 6">
            <a:extLst>
              <a:ext uri="{FF2B5EF4-FFF2-40B4-BE49-F238E27FC236}">
                <a16:creationId xmlns:a16="http://schemas.microsoft.com/office/drawing/2014/main" id="{E79AC32E-84A4-7244-16D4-3D65E0A90329}"/>
              </a:ext>
            </a:extLst>
          </p:cNvPr>
          <p:cNvPicPr>
            <a:picLocks noChangeAspect="1"/>
          </p:cNvPicPr>
          <p:nvPr/>
        </p:nvPicPr>
        <p:blipFill>
          <a:blip r:embed="rId4"/>
          <a:stretch>
            <a:fillRect/>
          </a:stretch>
        </p:blipFill>
        <p:spPr>
          <a:xfrm>
            <a:off x="1642152" y="4550208"/>
            <a:ext cx="5487166" cy="1381318"/>
          </a:xfrm>
          <a:prstGeom prst="rect">
            <a:avLst/>
          </a:prstGeom>
          <a:ln w="57150">
            <a:solidFill>
              <a:schemeClr val="accent1"/>
            </a:solidFill>
          </a:ln>
        </p:spPr>
      </p:pic>
      <p:sp>
        <p:nvSpPr>
          <p:cNvPr id="9" name="TextBox 8">
            <a:extLst>
              <a:ext uri="{FF2B5EF4-FFF2-40B4-BE49-F238E27FC236}">
                <a16:creationId xmlns:a16="http://schemas.microsoft.com/office/drawing/2014/main" id="{565C3E4B-87A0-EF00-9C34-36F4D99C0BB7}"/>
              </a:ext>
            </a:extLst>
          </p:cNvPr>
          <p:cNvSpPr txBox="1"/>
          <p:nvPr/>
        </p:nvSpPr>
        <p:spPr>
          <a:xfrm>
            <a:off x="338667" y="1279149"/>
            <a:ext cx="8466666" cy="2806987"/>
          </a:xfrm>
          <a:prstGeom prst="rect">
            <a:avLst/>
          </a:prstGeom>
          <a:noFill/>
        </p:spPr>
        <p:txBody>
          <a:bodyPr wrap="square">
            <a:spAutoFit/>
          </a:bodyPr>
          <a:lstStyle/>
          <a:p>
            <a:pPr algn="just">
              <a:lnSpc>
                <a:spcPct val="150000"/>
              </a:lnSpc>
              <a:spcBef>
                <a:spcPts val="600"/>
              </a:spcBef>
              <a:spcAft>
                <a:spcPts val="600"/>
              </a:spcAft>
              <a:buNone/>
            </a:pPr>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Half Adder</a:t>
            </a:r>
            <a:r>
              <a:rPr lang="en-US" sz="2000" dirty="0">
                <a:latin typeface="Times New Roman" panose="02020603050405020304" pitchFamily="18" charset="0"/>
                <a:cs typeface="Times New Roman" panose="02020603050405020304" pitchFamily="18" charset="0"/>
              </a:rPr>
              <a:t> is the </a:t>
            </a:r>
            <a:r>
              <a:rPr lang="en-US" sz="2000" b="1" dirty="0">
                <a:latin typeface="Times New Roman" panose="02020603050405020304" pitchFamily="18" charset="0"/>
                <a:cs typeface="Times New Roman" panose="02020603050405020304" pitchFamily="18" charset="0"/>
              </a:rPr>
              <a:t>simplest combinational circuit</a:t>
            </a:r>
            <a:r>
              <a:rPr lang="en-US" sz="2000" dirty="0">
                <a:latin typeface="Times New Roman" panose="02020603050405020304" pitchFamily="18" charset="0"/>
                <a:cs typeface="Times New Roman" panose="02020603050405020304" pitchFamily="18" charset="0"/>
              </a:rPr>
              <a:t> in digital electronics that adds </a:t>
            </a:r>
            <a:r>
              <a:rPr lang="en-US" sz="2000" b="1" dirty="0">
                <a:latin typeface="Times New Roman" panose="02020603050405020304" pitchFamily="18" charset="0"/>
                <a:cs typeface="Times New Roman" panose="02020603050405020304" pitchFamily="18" charset="0"/>
              </a:rPr>
              <a:t>two single-bit binary numbers</a:t>
            </a:r>
            <a:r>
              <a:rPr lang="en-US" sz="2000" dirty="0">
                <a:latin typeface="Times New Roman" panose="02020603050405020304" pitchFamily="18" charset="0"/>
                <a:cs typeface="Times New Roman" panose="02020603050405020304" pitchFamily="18" charset="0"/>
              </a:rPr>
              <a:t>.</a:t>
            </a:r>
          </a:p>
          <a:p>
            <a:pPr algn="just">
              <a:lnSpc>
                <a:spcPct val="150000"/>
              </a:lnSpc>
              <a:spcBef>
                <a:spcPts val="600"/>
              </a:spcBef>
              <a:spcAft>
                <a:spcPts val="600"/>
              </a:spcAft>
              <a:buNone/>
            </a:pPr>
            <a:r>
              <a:rPr lang="en-US" sz="2000" dirty="0">
                <a:latin typeface="Times New Roman" panose="02020603050405020304" pitchFamily="18" charset="0"/>
                <a:cs typeface="Times New Roman" panose="02020603050405020304" pitchFamily="18" charset="0"/>
              </a:rPr>
              <a:t>It has:</a:t>
            </a:r>
          </a:p>
          <a:p>
            <a:pPr marL="342900" indent="-342900" algn="just">
              <a:lnSpc>
                <a:spcPct val="150000"/>
              </a:lnSpc>
              <a:spcBef>
                <a:spcPts val="600"/>
              </a:spcBef>
              <a:spcAft>
                <a:spcPts val="6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Inputs</a:t>
            </a:r>
            <a:r>
              <a:rPr lang="en-US" sz="2000" dirty="0">
                <a:latin typeface="Times New Roman" panose="02020603050405020304" pitchFamily="18" charset="0"/>
                <a:cs typeface="Times New Roman" panose="02020603050405020304" pitchFamily="18" charset="0"/>
              </a:rPr>
              <a:t> → 2 (A, B)</a:t>
            </a:r>
          </a:p>
          <a:p>
            <a:pPr marL="342900" indent="-342900" algn="just">
              <a:lnSpc>
                <a:spcPct val="150000"/>
              </a:lnSpc>
              <a:spcBef>
                <a:spcPts val="600"/>
              </a:spcBef>
              <a:spcAft>
                <a:spcPts val="6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Outputs</a:t>
            </a:r>
            <a:r>
              <a:rPr lang="en-US" sz="2000" dirty="0">
                <a:latin typeface="Times New Roman" panose="02020603050405020304" pitchFamily="18" charset="0"/>
                <a:cs typeface="Times New Roman" panose="02020603050405020304" pitchFamily="18" charset="0"/>
              </a:rPr>
              <a:t> → 2 (Sum, Carry)</a:t>
            </a:r>
          </a:p>
        </p:txBody>
      </p:sp>
    </p:spTree>
    <p:extLst>
      <p:ext uri="{BB962C8B-B14F-4D97-AF65-F5344CB8AC3E}">
        <p14:creationId xmlns:p14="http://schemas.microsoft.com/office/powerpoint/2010/main" val="236252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2" name="Title 1">
            <a:extLst>
              <a:ext uri="{FF2B5EF4-FFF2-40B4-BE49-F238E27FC236}">
                <a16:creationId xmlns:a16="http://schemas.microsoft.com/office/drawing/2014/main" id="{DADC757F-AC2B-C194-4A9B-8F8BBB1AB741}"/>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HA-Truth Table</a:t>
            </a:r>
          </a:p>
        </p:txBody>
      </p:sp>
      <p:pic>
        <p:nvPicPr>
          <p:cNvPr id="3" name="Picture 2">
            <a:extLst>
              <a:ext uri="{FF2B5EF4-FFF2-40B4-BE49-F238E27FC236}">
                <a16:creationId xmlns:a16="http://schemas.microsoft.com/office/drawing/2014/main" id="{E564D32C-EC47-E9D6-B7BF-7F9D61495B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pic>
        <p:nvPicPr>
          <p:cNvPr id="9" name="Picture 8">
            <a:extLst>
              <a:ext uri="{FF2B5EF4-FFF2-40B4-BE49-F238E27FC236}">
                <a16:creationId xmlns:a16="http://schemas.microsoft.com/office/drawing/2014/main" id="{B39CCF56-6038-D396-44FE-2D9FA972A8F6}"/>
              </a:ext>
            </a:extLst>
          </p:cNvPr>
          <p:cNvPicPr>
            <a:picLocks noChangeAspect="1"/>
          </p:cNvPicPr>
          <p:nvPr/>
        </p:nvPicPr>
        <p:blipFill>
          <a:blip r:embed="rId4"/>
          <a:stretch>
            <a:fillRect/>
          </a:stretch>
        </p:blipFill>
        <p:spPr>
          <a:xfrm>
            <a:off x="2446867" y="3093063"/>
            <a:ext cx="3418470" cy="3079137"/>
          </a:xfrm>
          <a:prstGeom prst="rect">
            <a:avLst/>
          </a:prstGeom>
        </p:spPr>
      </p:pic>
      <p:sp>
        <p:nvSpPr>
          <p:cNvPr id="10" name="TextBox 9">
            <a:extLst>
              <a:ext uri="{FF2B5EF4-FFF2-40B4-BE49-F238E27FC236}">
                <a16:creationId xmlns:a16="http://schemas.microsoft.com/office/drawing/2014/main" id="{4FD9F512-F6FF-834E-1EA9-D10F995F9E2E}"/>
              </a:ext>
            </a:extLst>
          </p:cNvPr>
          <p:cNvSpPr txBox="1"/>
          <p:nvPr/>
        </p:nvSpPr>
        <p:spPr>
          <a:xfrm>
            <a:off x="304799" y="1253058"/>
            <a:ext cx="5528734" cy="400110"/>
          </a:xfrm>
          <a:prstGeom prst="rect">
            <a:avLst/>
          </a:prstGeom>
          <a:solidFill>
            <a:schemeClr val="bg2">
              <a:lumMod val="20000"/>
              <a:lumOff val="80000"/>
            </a:schemeClr>
          </a:solidFill>
        </p:spPr>
        <p:txBody>
          <a:bodyPr wrap="square" rtlCol="0">
            <a:spAutoFit/>
          </a:bodyPr>
          <a:lstStyle/>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Step-1: Identify the Input and Output Variables</a:t>
            </a:r>
          </a:p>
        </p:txBody>
      </p:sp>
      <p:sp>
        <p:nvSpPr>
          <p:cNvPr id="11" name="TextBox 10">
            <a:extLst>
              <a:ext uri="{FF2B5EF4-FFF2-40B4-BE49-F238E27FC236}">
                <a16:creationId xmlns:a16="http://schemas.microsoft.com/office/drawing/2014/main" id="{E719FC04-0C5C-9E86-97E4-BD3280D96D83}"/>
              </a:ext>
            </a:extLst>
          </p:cNvPr>
          <p:cNvSpPr txBox="1"/>
          <p:nvPr/>
        </p:nvSpPr>
        <p:spPr>
          <a:xfrm>
            <a:off x="304799" y="2546912"/>
            <a:ext cx="4563533" cy="400110"/>
          </a:xfrm>
          <a:prstGeom prst="rect">
            <a:avLst/>
          </a:prstGeom>
          <a:solidFill>
            <a:schemeClr val="bg2">
              <a:lumMod val="20000"/>
              <a:lumOff val="80000"/>
            </a:schemeClr>
          </a:solidFill>
        </p:spPr>
        <p:txBody>
          <a:bodyPr wrap="square" rtlCol="0">
            <a:spAutoFit/>
          </a:bodyPr>
          <a:lstStyle/>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Step-2: Draw the Truth Table</a:t>
            </a:r>
          </a:p>
        </p:txBody>
      </p:sp>
      <p:pic>
        <p:nvPicPr>
          <p:cNvPr id="15" name="Picture 14">
            <a:extLst>
              <a:ext uri="{FF2B5EF4-FFF2-40B4-BE49-F238E27FC236}">
                <a16:creationId xmlns:a16="http://schemas.microsoft.com/office/drawing/2014/main" id="{BA58DEAC-EA0F-0928-751B-35F431025303}"/>
              </a:ext>
            </a:extLst>
          </p:cNvPr>
          <p:cNvPicPr>
            <a:picLocks noChangeAspect="1"/>
          </p:cNvPicPr>
          <p:nvPr/>
        </p:nvPicPr>
        <p:blipFill>
          <a:blip r:embed="rId5"/>
          <a:stretch>
            <a:fillRect/>
          </a:stretch>
        </p:blipFill>
        <p:spPr>
          <a:xfrm>
            <a:off x="1550718" y="1712426"/>
            <a:ext cx="5098073" cy="717507"/>
          </a:xfrm>
          <a:prstGeom prst="rect">
            <a:avLst/>
          </a:prstGeom>
        </p:spPr>
      </p:pic>
    </p:spTree>
    <p:extLst>
      <p:ext uri="{BB962C8B-B14F-4D97-AF65-F5344CB8AC3E}">
        <p14:creationId xmlns:p14="http://schemas.microsoft.com/office/powerpoint/2010/main" val="461327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2" name="Title 1">
            <a:extLst>
              <a:ext uri="{FF2B5EF4-FFF2-40B4-BE49-F238E27FC236}">
                <a16:creationId xmlns:a16="http://schemas.microsoft.com/office/drawing/2014/main" id="{221A3881-3BC5-7E46-6389-19A810DDFF98}"/>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HA-K Maps</a:t>
            </a:r>
          </a:p>
        </p:txBody>
      </p:sp>
      <p:pic>
        <p:nvPicPr>
          <p:cNvPr id="3" name="Picture 2">
            <a:extLst>
              <a:ext uri="{FF2B5EF4-FFF2-40B4-BE49-F238E27FC236}">
                <a16:creationId xmlns:a16="http://schemas.microsoft.com/office/drawing/2014/main" id="{81AC7920-C935-1C1E-01ED-23D28A2D71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sp>
        <p:nvSpPr>
          <p:cNvPr id="6" name="TextBox 5">
            <a:extLst>
              <a:ext uri="{FF2B5EF4-FFF2-40B4-BE49-F238E27FC236}">
                <a16:creationId xmlns:a16="http://schemas.microsoft.com/office/drawing/2014/main" id="{90EEB269-C038-C683-663C-4A5D7D6B6F19}"/>
              </a:ext>
            </a:extLst>
          </p:cNvPr>
          <p:cNvSpPr txBox="1"/>
          <p:nvPr/>
        </p:nvSpPr>
        <p:spPr>
          <a:xfrm>
            <a:off x="304799" y="1253058"/>
            <a:ext cx="8568268" cy="707886"/>
          </a:xfrm>
          <a:prstGeom prst="rect">
            <a:avLst/>
          </a:prstGeom>
          <a:solidFill>
            <a:schemeClr val="bg2">
              <a:lumMod val="20000"/>
              <a:lumOff val="80000"/>
            </a:schemeClr>
          </a:solidFill>
        </p:spPr>
        <p:txBody>
          <a:bodyPr wrap="square" rtlCol="0">
            <a:spAutoFit/>
          </a:bodyPr>
          <a:lstStyle/>
          <a:p>
            <a:pPr algn="just">
              <a:spcBef>
                <a:spcPts val="600"/>
              </a:spcBef>
              <a:spcAft>
                <a:spcPts val="600"/>
              </a:spcAft>
            </a:pPr>
            <a:r>
              <a:rPr lang="en-IN" sz="2000" b="1" dirty="0">
                <a:latin typeface="Times New Roman" panose="02020603050405020304" pitchFamily="18" charset="0"/>
                <a:cs typeface="Times New Roman" panose="02020603050405020304" pitchFamily="18" charset="0"/>
              </a:rPr>
              <a:t>Step-3: Draw K-Map using Truth Table &amp; determine the simplified Boolean Expression</a:t>
            </a:r>
          </a:p>
        </p:txBody>
      </p:sp>
      <p:pic>
        <p:nvPicPr>
          <p:cNvPr id="8" name="Picture 7">
            <a:extLst>
              <a:ext uri="{FF2B5EF4-FFF2-40B4-BE49-F238E27FC236}">
                <a16:creationId xmlns:a16="http://schemas.microsoft.com/office/drawing/2014/main" id="{3971C2F8-92EB-5699-7AF6-95FAE7671A20}"/>
              </a:ext>
            </a:extLst>
          </p:cNvPr>
          <p:cNvPicPr>
            <a:picLocks noChangeAspect="1"/>
          </p:cNvPicPr>
          <p:nvPr/>
        </p:nvPicPr>
        <p:blipFill>
          <a:blip r:embed="rId4"/>
          <a:stretch>
            <a:fillRect/>
          </a:stretch>
        </p:blipFill>
        <p:spPr>
          <a:xfrm>
            <a:off x="967890" y="2102100"/>
            <a:ext cx="6954220" cy="3991532"/>
          </a:xfrm>
          <a:prstGeom prst="rect">
            <a:avLst/>
          </a:prstGeom>
        </p:spPr>
      </p:pic>
    </p:spTree>
    <p:extLst>
      <p:ext uri="{BB962C8B-B14F-4D97-AF65-F5344CB8AC3E}">
        <p14:creationId xmlns:p14="http://schemas.microsoft.com/office/powerpoint/2010/main" val="3195976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2" name="Title 1">
            <a:extLst>
              <a:ext uri="{FF2B5EF4-FFF2-40B4-BE49-F238E27FC236}">
                <a16:creationId xmlns:a16="http://schemas.microsoft.com/office/drawing/2014/main" id="{9CE9CCC7-82B7-D22A-2475-EFC0C3E4DA76}"/>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HA-Logic Diagram</a:t>
            </a:r>
          </a:p>
        </p:txBody>
      </p:sp>
      <p:pic>
        <p:nvPicPr>
          <p:cNvPr id="3" name="Picture 2">
            <a:extLst>
              <a:ext uri="{FF2B5EF4-FFF2-40B4-BE49-F238E27FC236}">
                <a16:creationId xmlns:a16="http://schemas.microsoft.com/office/drawing/2014/main" id="{0C659599-2522-2D90-5C84-697D5687D8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pic>
        <p:nvPicPr>
          <p:cNvPr id="5" name="Picture 4">
            <a:extLst>
              <a:ext uri="{FF2B5EF4-FFF2-40B4-BE49-F238E27FC236}">
                <a16:creationId xmlns:a16="http://schemas.microsoft.com/office/drawing/2014/main" id="{0D3C9411-3998-A1A4-37A8-C7C1A7953FA2}"/>
              </a:ext>
            </a:extLst>
          </p:cNvPr>
          <p:cNvPicPr>
            <a:picLocks noChangeAspect="1"/>
          </p:cNvPicPr>
          <p:nvPr/>
        </p:nvPicPr>
        <p:blipFill>
          <a:blip r:embed="rId4"/>
          <a:stretch>
            <a:fillRect/>
          </a:stretch>
        </p:blipFill>
        <p:spPr>
          <a:xfrm>
            <a:off x="485825" y="1392956"/>
            <a:ext cx="6868484" cy="4867954"/>
          </a:xfrm>
          <a:prstGeom prst="rect">
            <a:avLst/>
          </a:prstGeom>
        </p:spPr>
      </p:pic>
    </p:spTree>
    <p:extLst>
      <p:ext uri="{BB962C8B-B14F-4D97-AF65-F5344CB8AC3E}">
        <p14:creationId xmlns:p14="http://schemas.microsoft.com/office/powerpoint/2010/main" val="1414749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2" name="Title 1">
            <a:extLst>
              <a:ext uri="{FF2B5EF4-FFF2-40B4-BE49-F238E27FC236}">
                <a16:creationId xmlns:a16="http://schemas.microsoft.com/office/drawing/2014/main" id="{1555C2C1-CD04-E723-93C9-D250EB85FA32}"/>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HA-Limitations</a:t>
            </a:r>
          </a:p>
        </p:txBody>
      </p:sp>
      <p:pic>
        <p:nvPicPr>
          <p:cNvPr id="3" name="Picture 2">
            <a:extLst>
              <a:ext uri="{FF2B5EF4-FFF2-40B4-BE49-F238E27FC236}">
                <a16:creationId xmlns:a16="http://schemas.microsoft.com/office/drawing/2014/main" id="{725C8CE5-AF70-4BA2-F5DD-2E4461FB68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sp>
        <p:nvSpPr>
          <p:cNvPr id="4" name="Rectangle 1">
            <a:extLst>
              <a:ext uri="{FF2B5EF4-FFF2-40B4-BE49-F238E27FC236}">
                <a16:creationId xmlns:a16="http://schemas.microsoft.com/office/drawing/2014/main" id="{6F2CD1C4-F96C-A792-2FC4-4B7C13394FB6}"/>
              </a:ext>
            </a:extLst>
          </p:cNvPr>
          <p:cNvSpPr>
            <a:spLocks noChangeArrowheads="1"/>
          </p:cNvSpPr>
          <p:nvPr/>
        </p:nvSpPr>
        <p:spPr bwMode="auto">
          <a:xfrm>
            <a:off x="330200" y="1234591"/>
            <a:ext cx="806873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Limitation of Half Adder</a:t>
            </a:r>
          </a:p>
          <a:p>
            <a:pPr marL="342900" lvl="1" indent="-342900" eaLnBrk="0" fontAlgn="base" hangingPunct="0">
              <a:spcBef>
                <a:spcPts val="600"/>
              </a:spcBef>
              <a:spcAft>
                <a:spcPts val="600"/>
              </a:spcAft>
              <a:buClrTx/>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cannot perform addition when there is an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 carry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from a previous stage.</a:t>
            </a:r>
          </a:p>
          <a:p>
            <a:pPr marL="342900" lvl="1" indent="-342900" eaLnBrk="0" fontAlgn="base" hangingPunct="0">
              <a:spcBef>
                <a:spcPts val="600"/>
              </a:spcBef>
              <a:spcAft>
                <a:spcPts val="600"/>
              </a:spcAft>
              <a:buClrTx/>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That’s why we need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Full Adder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multi-bit addition.</a:t>
            </a:r>
          </a:p>
          <a:p>
            <a:pPr marL="342900" lvl="1" indent="-342900" eaLnBrk="0" fontAlgn="base" hangingPunct="0">
              <a:spcBef>
                <a:spcPts val="600"/>
              </a:spcBef>
              <a:spcAft>
                <a:spcPts val="600"/>
              </a:spcAft>
              <a:buClrTx/>
              <a:buFont typeface="Wingdings" panose="05000000000000000000" pitchFamily="2" charset="2"/>
              <a:buChar char="Ø"/>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ts val="600"/>
              </a:spcBef>
              <a:spcAft>
                <a:spcPts val="600"/>
              </a:spcAft>
              <a:buClrTx/>
            </a:pPr>
            <a:r>
              <a:rPr lang="en-US" altLang="en-US" sz="2000" dirty="0">
                <a:solidFill>
                  <a:srgbClr val="FF0000"/>
                </a:solidFill>
                <a:latin typeface="Times New Roman" panose="02020603050405020304" pitchFamily="18" charset="0"/>
                <a:cs typeface="Times New Roman" panose="02020603050405020304" pitchFamily="18" charset="0"/>
              </a:rPr>
              <a:t>✅ </a:t>
            </a:r>
            <a:r>
              <a:rPr lang="en-US" altLang="en-US" sz="2000" b="1" dirty="0">
                <a:solidFill>
                  <a:srgbClr val="FF0000"/>
                </a:solidFill>
                <a:latin typeface="Times New Roman" panose="02020603050405020304" pitchFamily="18" charset="0"/>
                <a:cs typeface="Times New Roman" panose="02020603050405020304" pitchFamily="18" charset="0"/>
              </a:rPr>
              <a:t>In short:</a:t>
            </a:r>
            <a:endParaRPr lang="en-US" altLang="en-US" sz="2000" dirty="0">
              <a:solidFill>
                <a:srgbClr val="FF0000"/>
              </a:solidFill>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spcAft>
                <a:spcPts val="600"/>
              </a:spcAft>
              <a:buClrTx/>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A </a:t>
            </a:r>
            <a:r>
              <a:rPr lang="en-US" altLang="en-US" sz="2000" b="1" dirty="0">
                <a:solidFill>
                  <a:schemeClr val="tx1"/>
                </a:solidFill>
                <a:latin typeface="Times New Roman" panose="02020603050405020304" pitchFamily="18" charset="0"/>
                <a:cs typeface="Times New Roman" panose="02020603050405020304" pitchFamily="18" charset="0"/>
              </a:rPr>
              <a:t>Half Adder</a:t>
            </a:r>
            <a:r>
              <a:rPr lang="en-US" altLang="en-US" sz="2000" dirty="0">
                <a:solidFill>
                  <a:schemeClr val="tx1"/>
                </a:solidFill>
                <a:latin typeface="Times New Roman" panose="02020603050405020304" pitchFamily="18" charset="0"/>
                <a:cs typeface="Times New Roman" panose="02020603050405020304" pitchFamily="18" charset="0"/>
              </a:rPr>
              <a:t> adds two binary inputs (A, B).</a:t>
            </a:r>
          </a:p>
          <a:p>
            <a:pPr marL="342900" lvl="0" indent="-342900" eaLnBrk="0" fontAlgn="base" hangingPunct="0">
              <a:spcBef>
                <a:spcPts val="600"/>
              </a:spcBef>
              <a:spcAft>
                <a:spcPts val="600"/>
              </a:spcAft>
              <a:buClrTx/>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Outputs: </a:t>
            </a:r>
            <a:r>
              <a:rPr lang="en-US" altLang="en-US" sz="2000" b="1" dirty="0">
                <a:solidFill>
                  <a:schemeClr val="tx1"/>
                </a:solidFill>
                <a:latin typeface="Times New Roman" panose="02020603050405020304" pitchFamily="18" charset="0"/>
                <a:cs typeface="Times New Roman" panose="02020603050405020304" pitchFamily="18" charset="0"/>
              </a:rPr>
              <a:t>Sum = A ⊕ B</a:t>
            </a: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b="1" dirty="0">
                <a:solidFill>
                  <a:schemeClr val="tx1"/>
                </a:solidFill>
                <a:latin typeface="Times New Roman" panose="02020603050405020304" pitchFamily="18" charset="0"/>
                <a:cs typeface="Times New Roman" panose="02020603050405020304" pitchFamily="18" charset="0"/>
              </a:rPr>
              <a:t>Carry = A · B</a:t>
            </a:r>
            <a:r>
              <a:rPr lang="en-US" altLang="en-US" sz="2000" dirty="0">
                <a:solidFill>
                  <a:schemeClr val="tx1"/>
                </a:solidFill>
                <a:latin typeface="Times New Roman" panose="02020603050405020304" pitchFamily="18" charset="0"/>
                <a:cs typeface="Times New Roman" panose="02020603050405020304" pitchFamily="18" charset="0"/>
              </a:rPr>
              <a:t>.</a:t>
            </a:r>
          </a:p>
          <a:p>
            <a:pPr marL="342900" lvl="0" indent="-342900" eaLnBrk="0" fontAlgn="base" hangingPunct="0">
              <a:spcBef>
                <a:spcPts val="600"/>
              </a:spcBef>
              <a:spcAft>
                <a:spcPts val="600"/>
              </a:spcAft>
              <a:buClrTx/>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Built using </a:t>
            </a:r>
            <a:r>
              <a:rPr lang="en-US" altLang="en-US" sz="2000" b="1" dirty="0">
                <a:solidFill>
                  <a:schemeClr val="tx1"/>
                </a:solidFill>
                <a:latin typeface="Times New Roman" panose="02020603050405020304" pitchFamily="18" charset="0"/>
                <a:cs typeface="Times New Roman" panose="02020603050405020304" pitchFamily="18" charset="0"/>
              </a:rPr>
              <a:t>XOR and </a:t>
            </a:r>
            <a:r>
              <a:rPr lang="en-US" altLang="en-US" sz="2000" b="1" dirty="0" err="1">
                <a:solidFill>
                  <a:schemeClr val="tx1"/>
                </a:solidFill>
                <a:latin typeface="Times New Roman" panose="02020603050405020304" pitchFamily="18" charset="0"/>
                <a:cs typeface="Times New Roman" panose="02020603050405020304" pitchFamily="18" charset="0"/>
              </a:rPr>
              <a:t>AND</a:t>
            </a:r>
            <a:r>
              <a:rPr lang="en-US" altLang="en-US" sz="2000" b="1" dirty="0">
                <a:solidFill>
                  <a:schemeClr val="tx1"/>
                </a:solidFill>
                <a:latin typeface="Times New Roman" panose="02020603050405020304" pitchFamily="18" charset="0"/>
                <a:cs typeface="Times New Roman" panose="02020603050405020304" pitchFamily="18" charset="0"/>
              </a:rPr>
              <a:t> gates</a:t>
            </a:r>
            <a:r>
              <a:rPr lang="en-US" altLang="en-US" sz="2000" dirty="0">
                <a:solidFill>
                  <a:schemeClr val="tx1"/>
                </a:solidFill>
                <a:latin typeface="Times New Roman" panose="02020603050405020304" pitchFamily="18" charset="0"/>
                <a:cs typeface="Times New Roman" panose="02020603050405020304" pitchFamily="18" charset="0"/>
              </a:rPr>
              <a:t>.</a:t>
            </a:r>
          </a:p>
          <a:p>
            <a:pPr marL="342900" lvl="0" indent="-342900" eaLnBrk="0" fontAlgn="base" hangingPunct="0">
              <a:spcBef>
                <a:spcPts val="600"/>
              </a:spcBef>
              <a:spcAft>
                <a:spcPts val="600"/>
              </a:spcAft>
              <a:buClrTx/>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Useful for simple 1-bit addition but </a:t>
            </a:r>
            <a:r>
              <a:rPr lang="en-US" altLang="en-US" sz="2000" b="1" dirty="0">
                <a:solidFill>
                  <a:schemeClr val="tx1"/>
                </a:solidFill>
                <a:latin typeface="Times New Roman" panose="02020603050405020304" pitchFamily="18" charset="0"/>
                <a:cs typeface="Times New Roman" panose="02020603050405020304" pitchFamily="18" charset="0"/>
              </a:rPr>
              <a:t>cannot handle carry input</a:t>
            </a:r>
            <a:r>
              <a:rPr lang="en-US" altLang="en-US" sz="2000" dirty="0">
                <a:solidFill>
                  <a:schemeClr val="tx1"/>
                </a:solidFill>
                <a:latin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4169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2" name="Title 1">
            <a:extLst>
              <a:ext uri="{FF2B5EF4-FFF2-40B4-BE49-F238E27FC236}">
                <a16:creationId xmlns:a16="http://schemas.microsoft.com/office/drawing/2014/main" id="{F12967E6-CEE4-7768-2231-919590A7BED0}"/>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Full Adder (FA)</a:t>
            </a:r>
          </a:p>
        </p:txBody>
      </p:sp>
      <p:pic>
        <p:nvPicPr>
          <p:cNvPr id="3" name="Picture 2">
            <a:extLst>
              <a:ext uri="{FF2B5EF4-FFF2-40B4-BE49-F238E27FC236}">
                <a16:creationId xmlns:a16="http://schemas.microsoft.com/office/drawing/2014/main" id="{1ABE3E74-98D4-719A-F322-0FF382FA24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sp>
        <p:nvSpPr>
          <p:cNvPr id="5" name="TextBox 4">
            <a:extLst>
              <a:ext uri="{FF2B5EF4-FFF2-40B4-BE49-F238E27FC236}">
                <a16:creationId xmlns:a16="http://schemas.microsoft.com/office/drawing/2014/main" id="{71B0133E-F50F-2C51-1669-141C683C558E}"/>
              </a:ext>
            </a:extLst>
          </p:cNvPr>
          <p:cNvSpPr txBox="1"/>
          <p:nvPr/>
        </p:nvSpPr>
        <p:spPr>
          <a:xfrm>
            <a:off x="406401" y="1249621"/>
            <a:ext cx="8398932" cy="5170646"/>
          </a:xfrm>
          <a:prstGeom prst="rect">
            <a:avLst/>
          </a:prstGeom>
          <a:noFill/>
        </p:spPr>
        <p:txBody>
          <a:bodyPr wrap="square">
            <a:spAutoFit/>
          </a:bodyPr>
          <a:lstStyle/>
          <a:p>
            <a:pPr algn="just">
              <a:spcBef>
                <a:spcPts val="600"/>
              </a:spcBef>
              <a:spcAft>
                <a:spcPts val="600"/>
              </a:spcAft>
              <a:buNone/>
            </a:pPr>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Full Adder</a:t>
            </a:r>
            <a:r>
              <a:rPr lang="en-US" sz="2000" dirty="0">
                <a:latin typeface="Times New Roman" panose="02020603050405020304" pitchFamily="18" charset="0"/>
                <a:cs typeface="Times New Roman" panose="02020603050405020304" pitchFamily="18" charset="0"/>
              </a:rPr>
              <a:t> is a </a:t>
            </a:r>
            <a:r>
              <a:rPr lang="en-US" sz="2000" b="1" dirty="0">
                <a:latin typeface="Times New Roman" panose="02020603050405020304" pitchFamily="18" charset="0"/>
                <a:cs typeface="Times New Roman" panose="02020603050405020304" pitchFamily="18" charset="0"/>
              </a:rPr>
              <a:t>combinational logic circuit</a:t>
            </a:r>
            <a:r>
              <a:rPr lang="en-US" sz="2000" dirty="0">
                <a:latin typeface="Times New Roman" panose="02020603050405020304" pitchFamily="18" charset="0"/>
                <a:cs typeface="Times New Roman" panose="02020603050405020304" pitchFamily="18" charset="0"/>
              </a:rPr>
              <a:t> that performs the </a:t>
            </a:r>
            <a:r>
              <a:rPr lang="en-US" sz="2000" b="1" dirty="0">
                <a:latin typeface="Times New Roman" panose="02020603050405020304" pitchFamily="18" charset="0"/>
                <a:cs typeface="Times New Roman" panose="02020603050405020304" pitchFamily="18" charset="0"/>
              </a:rPr>
              <a:t>addition of three input bits</a:t>
            </a:r>
            <a:r>
              <a:rPr lang="en-US" sz="2000" dirty="0">
                <a:latin typeface="Times New Roman" panose="02020603050405020304" pitchFamily="18" charset="0"/>
                <a:cs typeface="Times New Roman" panose="02020603050405020304" pitchFamily="18" charset="0"/>
              </a:rPr>
              <a:t>:</a:t>
            </a:r>
          </a:p>
          <a:p>
            <a:pPr marL="342900" indent="-342900" algn="just">
              <a:spcBef>
                <a:spcPts val="600"/>
              </a:spcBef>
              <a:spcAft>
                <a:spcPts val="6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a:t>
            </a:r>
            <a:r>
              <a:rPr lang="en-US" sz="2000" dirty="0">
                <a:latin typeface="Times New Roman" panose="02020603050405020304" pitchFamily="18" charset="0"/>
                <a:cs typeface="Times New Roman" panose="02020603050405020304" pitchFamily="18" charset="0"/>
              </a:rPr>
              <a:t> → First input</a:t>
            </a:r>
          </a:p>
          <a:p>
            <a:pPr marL="342900" indent="-342900" algn="just">
              <a:spcBef>
                <a:spcPts val="600"/>
              </a:spcBef>
              <a:spcAft>
                <a:spcPts val="6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B</a:t>
            </a:r>
            <a:r>
              <a:rPr lang="en-US" sz="2000" dirty="0">
                <a:latin typeface="Times New Roman" panose="02020603050405020304" pitchFamily="18" charset="0"/>
                <a:cs typeface="Times New Roman" panose="02020603050405020304" pitchFamily="18" charset="0"/>
              </a:rPr>
              <a:t> → Second input</a:t>
            </a:r>
          </a:p>
          <a:p>
            <a:pPr marL="342900" indent="-342900" algn="just">
              <a:spcBef>
                <a:spcPts val="600"/>
              </a:spcBef>
              <a:spcAft>
                <a:spcPts val="6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Cin</a:t>
            </a:r>
            <a:r>
              <a:rPr lang="en-US" sz="2000" dirty="0">
                <a:latin typeface="Times New Roman" panose="02020603050405020304" pitchFamily="18" charset="0"/>
                <a:cs typeface="Times New Roman" panose="02020603050405020304" pitchFamily="18" charset="0"/>
              </a:rPr>
              <a:t> → Carry input (from a previous addition stage)</a:t>
            </a:r>
          </a:p>
          <a:p>
            <a:pPr algn="just">
              <a:spcBef>
                <a:spcPts val="600"/>
              </a:spcBef>
              <a:spcAft>
                <a:spcPts val="600"/>
              </a:spcAft>
              <a:buNone/>
            </a:pPr>
            <a:r>
              <a:rPr lang="en-US" sz="2000" dirty="0">
                <a:latin typeface="Times New Roman" panose="02020603050405020304" pitchFamily="18" charset="0"/>
                <a:cs typeface="Times New Roman" panose="02020603050405020304" pitchFamily="18" charset="0"/>
              </a:rPr>
              <a:t>It produces two outputs:</a:t>
            </a:r>
          </a:p>
          <a:p>
            <a:pPr marL="342900" indent="-342900" algn="just">
              <a:spcBef>
                <a:spcPts val="600"/>
              </a:spcBef>
              <a:spcAft>
                <a:spcPts val="6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Sum (S)</a:t>
            </a:r>
            <a:endParaRPr lang="en-US" sz="2000" dirty="0">
              <a:latin typeface="Times New Roman" panose="02020603050405020304" pitchFamily="18" charset="0"/>
              <a:cs typeface="Times New Roman" panose="02020603050405020304" pitchFamily="18" charset="0"/>
            </a:endParaRPr>
          </a:p>
          <a:p>
            <a:pPr marL="342900" indent="-342900" algn="just">
              <a:spcBef>
                <a:spcPts val="600"/>
              </a:spcBef>
              <a:spcAft>
                <a:spcPts val="6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Carry-out (Cout)</a:t>
            </a:r>
          </a:p>
          <a:p>
            <a:pPr marL="342900" indent="-342900" algn="just">
              <a:spcBef>
                <a:spcPts val="600"/>
              </a:spcBef>
              <a:spcAft>
                <a:spcPts val="600"/>
              </a:spcAf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spcBef>
                <a:spcPts val="600"/>
              </a:spcBef>
              <a:spcAft>
                <a:spcPts val="600"/>
              </a:spcAf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lgn="just">
              <a:spcBef>
                <a:spcPts val="600"/>
              </a:spcBef>
              <a:spcAft>
                <a:spcPts val="600"/>
              </a:spcAft>
              <a:buNone/>
            </a:pPr>
            <a:r>
              <a:rPr lang="en-US" sz="2000" dirty="0">
                <a:latin typeface="Times New Roman" panose="02020603050405020304" pitchFamily="18" charset="0"/>
                <a:cs typeface="Times New Roman" panose="02020603050405020304" pitchFamily="18" charset="0"/>
              </a:rPr>
              <a:t>👉 Unlike the </a:t>
            </a:r>
            <a:r>
              <a:rPr lang="en-US" sz="2000" b="1" dirty="0">
                <a:latin typeface="Times New Roman" panose="02020603050405020304" pitchFamily="18" charset="0"/>
                <a:cs typeface="Times New Roman" panose="02020603050405020304" pitchFamily="18" charset="0"/>
              </a:rPr>
              <a:t>Half Adder</a:t>
            </a:r>
            <a:r>
              <a:rPr lang="en-US" sz="2000" dirty="0">
                <a:latin typeface="Times New Roman" panose="02020603050405020304" pitchFamily="18" charset="0"/>
                <a:cs typeface="Times New Roman" panose="02020603050405020304" pitchFamily="18" charset="0"/>
              </a:rPr>
              <a:t>, the </a:t>
            </a:r>
            <a:r>
              <a:rPr lang="en-US" sz="2000" b="1" dirty="0">
                <a:latin typeface="Times New Roman" panose="02020603050405020304" pitchFamily="18" charset="0"/>
                <a:cs typeface="Times New Roman" panose="02020603050405020304" pitchFamily="18" charset="0"/>
              </a:rPr>
              <a:t>Full Adder</a:t>
            </a:r>
            <a:r>
              <a:rPr lang="en-US" sz="2000" dirty="0">
                <a:latin typeface="Times New Roman" panose="02020603050405020304" pitchFamily="18" charset="0"/>
                <a:cs typeface="Times New Roman" panose="02020603050405020304" pitchFamily="18" charset="0"/>
              </a:rPr>
              <a:t> can handle carry input, making it suitable for </a:t>
            </a:r>
            <a:r>
              <a:rPr lang="en-US" sz="2000" b="1" dirty="0">
                <a:latin typeface="Times New Roman" panose="02020603050405020304" pitchFamily="18" charset="0"/>
                <a:cs typeface="Times New Roman" panose="02020603050405020304" pitchFamily="18" charset="0"/>
              </a:rPr>
              <a:t>multi-bit addition</a:t>
            </a:r>
            <a:r>
              <a:rPr lang="en-US" sz="2000" dirty="0">
                <a:latin typeface="Times New Roman" panose="02020603050405020304" pitchFamily="18" charset="0"/>
                <a:cs typeface="Times New Roman" panose="02020603050405020304" pitchFamily="18" charset="0"/>
              </a:rPr>
              <a:t>.</a:t>
            </a:r>
          </a:p>
        </p:txBody>
      </p:sp>
      <p:pic>
        <p:nvPicPr>
          <p:cNvPr id="7" name="Picture 6">
            <a:extLst>
              <a:ext uri="{FF2B5EF4-FFF2-40B4-BE49-F238E27FC236}">
                <a16:creationId xmlns:a16="http://schemas.microsoft.com/office/drawing/2014/main" id="{A9ED211A-2DC9-9C0C-2B69-0495560E75C2}"/>
              </a:ext>
            </a:extLst>
          </p:cNvPr>
          <p:cNvPicPr>
            <a:picLocks noChangeAspect="1"/>
          </p:cNvPicPr>
          <p:nvPr/>
        </p:nvPicPr>
        <p:blipFill>
          <a:blip r:embed="rId4"/>
          <a:stretch>
            <a:fillRect/>
          </a:stretch>
        </p:blipFill>
        <p:spPr>
          <a:xfrm>
            <a:off x="3374276" y="3537344"/>
            <a:ext cx="5363323" cy="1933845"/>
          </a:xfrm>
          <a:prstGeom prst="rect">
            <a:avLst/>
          </a:prstGeom>
          <a:ln w="38100">
            <a:solidFill>
              <a:schemeClr val="tx1"/>
            </a:solidFill>
          </a:ln>
        </p:spPr>
      </p:pic>
    </p:spTree>
    <p:extLst>
      <p:ext uri="{BB962C8B-B14F-4D97-AF65-F5344CB8AC3E}">
        <p14:creationId xmlns:p14="http://schemas.microsoft.com/office/powerpoint/2010/main" val="3042629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2" name="Title 1">
            <a:extLst>
              <a:ext uri="{FF2B5EF4-FFF2-40B4-BE49-F238E27FC236}">
                <a16:creationId xmlns:a16="http://schemas.microsoft.com/office/drawing/2014/main" id="{B5C8FC06-49CD-89C1-A361-2FF652A5573F}"/>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FA-Truth Table</a:t>
            </a:r>
          </a:p>
        </p:txBody>
      </p:sp>
      <p:pic>
        <p:nvPicPr>
          <p:cNvPr id="3" name="Picture 2">
            <a:extLst>
              <a:ext uri="{FF2B5EF4-FFF2-40B4-BE49-F238E27FC236}">
                <a16:creationId xmlns:a16="http://schemas.microsoft.com/office/drawing/2014/main" id="{32D9B584-B6A0-DE42-E729-B55D5E029F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sp>
        <p:nvSpPr>
          <p:cNvPr id="6" name="TextBox 5">
            <a:extLst>
              <a:ext uri="{FF2B5EF4-FFF2-40B4-BE49-F238E27FC236}">
                <a16:creationId xmlns:a16="http://schemas.microsoft.com/office/drawing/2014/main" id="{F5356789-0299-3FFC-8DEC-4535AE8211AA}"/>
              </a:ext>
            </a:extLst>
          </p:cNvPr>
          <p:cNvSpPr txBox="1"/>
          <p:nvPr/>
        </p:nvSpPr>
        <p:spPr>
          <a:xfrm>
            <a:off x="304799" y="1253058"/>
            <a:ext cx="5528734" cy="400110"/>
          </a:xfrm>
          <a:prstGeom prst="rect">
            <a:avLst/>
          </a:prstGeom>
          <a:solidFill>
            <a:schemeClr val="bg2">
              <a:lumMod val="20000"/>
              <a:lumOff val="80000"/>
            </a:schemeClr>
          </a:solidFill>
        </p:spPr>
        <p:txBody>
          <a:bodyPr wrap="square" rtlCol="0">
            <a:spAutoFit/>
          </a:bodyPr>
          <a:lstStyle/>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Step-1: Identify the Input and Output Variables</a:t>
            </a:r>
          </a:p>
        </p:txBody>
      </p:sp>
      <p:pic>
        <p:nvPicPr>
          <p:cNvPr id="8" name="Picture 7">
            <a:extLst>
              <a:ext uri="{FF2B5EF4-FFF2-40B4-BE49-F238E27FC236}">
                <a16:creationId xmlns:a16="http://schemas.microsoft.com/office/drawing/2014/main" id="{D9BEA1EE-EA66-C999-2F54-468B8A7A9284}"/>
              </a:ext>
            </a:extLst>
          </p:cNvPr>
          <p:cNvPicPr>
            <a:picLocks noChangeAspect="1"/>
          </p:cNvPicPr>
          <p:nvPr/>
        </p:nvPicPr>
        <p:blipFill>
          <a:blip r:embed="rId4"/>
          <a:stretch>
            <a:fillRect/>
          </a:stretch>
        </p:blipFill>
        <p:spPr>
          <a:xfrm>
            <a:off x="2262839" y="1686391"/>
            <a:ext cx="5831646" cy="811276"/>
          </a:xfrm>
          <a:prstGeom prst="rect">
            <a:avLst/>
          </a:prstGeom>
        </p:spPr>
      </p:pic>
      <p:sp>
        <p:nvSpPr>
          <p:cNvPr id="9" name="TextBox 8">
            <a:extLst>
              <a:ext uri="{FF2B5EF4-FFF2-40B4-BE49-F238E27FC236}">
                <a16:creationId xmlns:a16="http://schemas.microsoft.com/office/drawing/2014/main" id="{C8A3E3A1-6B68-D08F-3043-AFB98D1B848E}"/>
              </a:ext>
            </a:extLst>
          </p:cNvPr>
          <p:cNvSpPr txBox="1"/>
          <p:nvPr/>
        </p:nvSpPr>
        <p:spPr>
          <a:xfrm>
            <a:off x="304799" y="2546912"/>
            <a:ext cx="4563533" cy="400110"/>
          </a:xfrm>
          <a:prstGeom prst="rect">
            <a:avLst/>
          </a:prstGeom>
          <a:solidFill>
            <a:schemeClr val="bg2">
              <a:lumMod val="20000"/>
              <a:lumOff val="80000"/>
            </a:schemeClr>
          </a:solidFill>
        </p:spPr>
        <p:txBody>
          <a:bodyPr wrap="square" rtlCol="0">
            <a:spAutoFit/>
          </a:bodyPr>
          <a:lstStyle/>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Step-2: Draw the Truth Table</a:t>
            </a:r>
          </a:p>
        </p:txBody>
      </p:sp>
      <p:pic>
        <p:nvPicPr>
          <p:cNvPr id="12" name="Picture 11">
            <a:extLst>
              <a:ext uri="{FF2B5EF4-FFF2-40B4-BE49-F238E27FC236}">
                <a16:creationId xmlns:a16="http://schemas.microsoft.com/office/drawing/2014/main" id="{97567295-C391-29FF-0F45-F1D30229AEBA}"/>
              </a:ext>
            </a:extLst>
          </p:cNvPr>
          <p:cNvPicPr>
            <a:picLocks noChangeAspect="1"/>
          </p:cNvPicPr>
          <p:nvPr/>
        </p:nvPicPr>
        <p:blipFill>
          <a:blip r:embed="rId5"/>
          <a:stretch>
            <a:fillRect/>
          </a:stretch>
        </p:blipFill>
        <p:spPr>
          <a:xfrm>
            <a:off x="2586565" y="3014757"/>
            <a:ext cx="4135968" cy="3767043"/>
          </a:xfrm>
          <a:prstGeom prst="rect">
            <a:avLst/>
          </a:prstGeom>
        </p:spPr>
      </p:pic>
    </p:spTree>
    <p:extLst>
      <p:ext uri="{BB962C8B-B14F-4D97-AF65-F5344CB8AC3E}">
        <p14:creationId xmlns:p14="http://schemas.microsoft.com/office/powerpoint/2010/main" val="3153667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2" name="Title 1">
            <a:extLst>
              <a:ext uri="{FF2B5EF4-FFF2-40B4-BE49-F238E27FC236}">
                <a16:creationId xmlns:a16="http://schemas.microsoft.com/office/drawing/2014/main" id="{1B829AAD-C2DD-F3A6-4C80-3A0603E74865}"/>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FA-K Map</a:t>
            </a:r>
          </a:p>
        </p:txBody>
      </p:sp>
      <p:pic>
        <p:nvPicPr>
          <p:cNvPr id="3" name="Picture 2">
            <a:extLst>
              <a:ext uri="{FF2B5EF4-FFF2-40B4-BE49-F238E27FC236}">
                <a16:creationId xmlns:a16="http://schemas.microsoft.com/office/drawing/2014/main" id="{07E70686-68E0-135E-EA9B-683C745B6E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pic>
        <p:nvPicPr>
          <p:cNvPr id="11" name="Picture 10">
            <a:extLst>
              <a:ext uri="{FF2B5EF4-FFF2-40B4-BE49-F238E27FC236}">
                <a16:creationId xmlns:a16="http://schemas.microsoft.com/office/drawing/2014/main" id="{5EAB46C8-99FF-0EE0-795D-B148D3ECA0A3}"/>
              </a:ext>
            </a:extLst>
          </p:cNvPr>
          <p:cNvPicPr>
            <a:picLocks noChangeAspect="1"/>
          </p:cNvPicPr>
          <p:nvPr/>
        </p:nvPicPr>
        <p:blipFill>
          <a:blip r:embed="rId4"/>
          <a:stretch>
            <a:fillRect/>
          </a:stretch>
        </p:blipFill>
        <p:spPr>
          <a:xfrm>
            <a:off x="304799" y="2462035"/>
            <a:ext cx="4048690" cy="2543530"/>
          </a:xfrm>
          <a:prstGeom prst="rect">
            <a:avLst/>
          </a:prstGeom>
        </p:spPr>
      </p:pic>
      <p:pic>
        <p:nvPicPr>
          <p:cNvPr id="13" name="Picture 12">
            <a:extLst>
              <a:ext uri="{FF2B5EF4-FFF2-40B4-BE49-F238E27FC236}">
                <a16:creationId xmlns:a16="http://schemas.microsoft.com/office/drawing/2014/main" id="{C76BCD7E-DC6F-D85A-EDC6-E19A00D3D36F}"/>
              </a:ext>
            </a:extLst>
          </p:cNvPr>
          <p:cNvPicPr>
            <a:picLocks noChangeAspect="1"/>
          </p:cNvPicPr>
          <p:nvPr/>
        </p:nvPicPr>
        <p:blipFill>
          <a:blip r:embed="rId5"/>
          <a:stretch>
            <a:fillRect/>
          </a:stretch>
        </p:blipFill>
        <p:spPr>
          <a:xfrm>
            <a:off x="4572000" y="2462035"/>
            <a:ext cx="4220164" cy="2619741"/>
          </a:xfrm>
          <a:prstGeom prst="rect">
            <a:avLst/>
          </a:prstGeom>
        </p:spPr>
      </p:pic>
      <p:sp>
        <p:nvSpPr>
          <p:cNvPr id="14" name="TextBox 13">
            <a:extLst>
              <a:ext uri="{FF2B5EF4-FFF2-40B4-BE49-F238E27FC236}">
                <a16:creationId xmlns:a16="http://schemas.microsoft.com/office/drawing/2014/main" id="{6A44ADCD-D1D2-368B-F62D-F933FC2E0867}"/>
              </a:ext>
            </a:extLst>
          </p:cNvPr>
          <p:cNvSpPr txBox="1"/>
          <p:nvPr/>
        </p:nvSpPr>
        <p:spPr>
          <a:xfrm>
            <a:off x="304799" y="1253058"/>
            <a:ext cx="8568268" cy="707886"/>
          </a:xfrm>
          <a:prstGeom prst="rect">
            <a:avLst/>
          </a:prstGeom>
          <a:solidFill>
            <a:schemeClr val="bg2">
              <a:lumMod val="20000"/>
              <a:lumOff val="80000"/>
            </a:schemeClr>
          </a:solidFill>
        </p:spPr>
        <p:txBody>
          <a:bodyPr wrap="square" rtlCol="0">
            <a:spAutoFit/>
          </a:bodyPr>
          <a:lstStyle/>
          <a:p>
            <a:pPr algn="just">
              <a:spcBef>
                <a:spcPts val="600"/>
              </a:spcBef>
              <a:spcAft>
                <a:spcPts val="600"/>
              </a:spcAft>
            </a:pPr>
            <a:r>
              <a:rPr lang="en-IN" sz="2000" b="1" dirty="0">
                <a:latin typeface="Times New Roman" panose="02020603050405020304" pitchFamily="18" charset="0"/>
                <a:cs typeface="Times New Roman" panose="02020603050405020304" pitchFamily="18" charset="0"/>
              </a:rPr>
              <a:t>Step-3: Draw K-Map using Truth Table &amp; determine the simplified Boolean Expression</a:t>
            </a:r>
          </a:p>
        </p:txBody>
      </p:sp>
    </p:spTree>
    <p:extLst>
      <p:ext uri="{BB962C8B-B14F-4D97-AF65-F5344CB8AC3E}">
        <p14:creationId xmlns:p14="http://schemas.microsoft.com/office/powerpoint/2010/main" val="2637986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2" name="Title 1">
            <a:extLst>
              <a:ext uri="{FF2B5EF4-FFF2-40B4-BE49-F238E27FC236}">
                <a16:creationId xmlns:a16="http://schemas.microsoft.com/office/drawing/2014/main" id="{9E7873A1-722A-5379-816F-6F537EF54F6E}"/>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FA-Logic Diagram</a:t>
            </a:r>
          </a:p>
        </p:txBody>
      </p:sp>
      <p:pic>
        <p:nvPicPr>
          <p:cNvPr id="3" name="Picture 2">
            <a:extLst>
              <a:ext uri="{FF2B5EF4-FFF2-40B4-BE49-F238E27FC236}">
                <a16:creationId xmlns:a16="http://schemas.microsoft.com/office/drawing/2014/main" id="{28E47B59-4522-4750-643B-85D4B59607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pic>
        <p:nvPicPr>
          <p:cNvPr id="5" name="Picture 4">
            <a:extLst>
              <a:ext uri="{FF2B5EF4-FFF2-40B4-BE49-F238E27FC236}">
                <a16:creationId xmlns:a16="http://schemas.microsoft.com/office/drawing/2014/main" id="{526D9624-0866-1414-5E4B-A03AC698B201}"/>
              </a:ext>
            </a:extLst>
          </p:cNvPr>
          <p:cNvPicPr>
            <a:picLocks noChangeAspect="1"/>
          </p:cNvPicPr>
          <p:nvPr/>
        </p:nvPicPr>
        <p:blipFill>
          <a:blip r:embed="rId4"/>
          <a:stretch>
            <a:fillRect/>
          </a:stretch>
        </p:blipFill>
        <p:spPr>
          <a:xfrm>
            <a:off x="1356864" y="1219200"/>
            <a:ext cx="6430272" cy="5553850"/>
          </a:xfrm>
          <a:prstGeom prst="rect">
            <a:avLst/>
          </a:prstGeom>
        </p:spPr>
      </p:pic>
    </p:spTree>
    <p:extLst>
      <p:ext uri="{BB962C8B-B14F-4D97-AF65-F5344CB8AC3E}">
        <p14:creationId xmlns:p14="http://schemas.microsoft.com/office/powerpoint/2010/main" val="3294103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89113D77-BAEA-434D-EAF0-066A215D6C2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C481FF1-1F0B-5E1C-A462-0DE8D02086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sp>
        <p:nvSpPr>
          <p:cNvPr id="3" name="Title 1">
            <a:extLst>
              <a:ext uri="{FF2B5EF4-FFF2-40B4-BE49-F238E27FC236}">
                <a16:creationId xmlns:a16="http://schemas.microsoft.com/office/drawing/2014/main" id="{78707660-D8E3-CACE-4FA2-2DF9E9BC3DC1}"/>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err="1">
                <a:solidFill>
                  <a:schemeClr val="bg1"/>
                </a:solidFill>
                <a:latin typeface="Times New Roman" panose="02020603050405020304" pitchFamily="18" charset="0"/>
                <a:cs typeface="Times New Roman" panose="02020603050405020304" pitchFamily="18" charset="0"/>
              </a:rPr>
              <a:t>Cont</a:t>
            </a:r>
            <a:r>
              <a:rPr lang="en-US" altLang="en-US" sz="3600" b="1" dirty="0">
                <a:solidFill>
                  <a:schemeClr val="bg1"/>
                </a:solidFill>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4C41839B-940C-F9B1-143E-E6073F5B4BE9}"/>
              </a:ext>
            </a:extLst>
          </p:cNvPr>
          <p:cNvSpPr txBox="1"/>
          <p:nvPr/>
        </p:nvSpPr>
        <p:spPr>
          <a:xfrm>
            <a:off x="406400" y="1329951"/>
            <a:ext cx="8077200" cy="4555093"/>
          </a:xfrm>
          <a:prstGeom prst="rect">
            <a:avLst/>
          </a:prstGeom>
          <a:noFill/>
        </p:spPr>
        <p:txBody>
          <a:bodyPr wrap="square">
            <a:spAutoFit/>
          </a:bodyPr>
          <a:lstStyle/>
          <a:p>
            <a:pPr>
              <a:spcBef>
                <a:spcPts val="600"/>
              </a:spcBef>
              <a:spcAft>
                <a:spcPts val="600"/>
              </a:spcAft>
              <a:buNone/>
            </a:pPr>
            <a:r>
              <a:rPr lang="en-US" sz="2000" b="1" dirty="0">
                <a:solidFill>
                  <a:srgbClr val="FF0000"/>
                </a:solidFill>
                <a:latin typeface="Times New Roman" panose="02020603050405020304" pitchFamily="18" charset="0"/>
                <a:cs typeface="Times New Roman" panose="02020603050405020304" pitchFamily="18" charset="0"/>
              </a:rPr>
              <a:t>Advantages</a:t>
            </a:r>
            <a:endParaRPr lang="en-US" sz="2000" dirty="0">
              <a:solidFill>
                <a:srgbClr val="FF0000"/>
              </a:solidFill>
              <a:latin typeface="Times New Roman" panose="02020603050405020304" pitchFamily="18" charset="0"/>
              <a:cs typeface="Times New Roman" panose="02020603050405020304" pitchFamily="18" charset="0"/>
            </a:endParaRPr>
          </a:p>
          <a:p>
            <a:pPr marL="342900" indent="-342900">
              <a:spcBef>
                <a:spcPts val="600"/>
              </a:spcBef>
              <a:spcAft>
                <a:spcPts val="60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Supports carry input.</a:t>
            </a:r>
          </a:p>
          <a:p>
            <a:pPr marL="342900" indent="-342900">
              <a:spcBef>
                <a:spcPts val="600"/>
              </a:spcBef>
              <a:spcAft>
                <a:spcPts val="60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Building block for multi-bit adders.</a:t>
            </a:r>
          </a:p>
          <a:p>
            <a:pPr marL="342900" indent="-342900">
              <a:spcBef>
                <a:spcPts val="600"/>
              </a:spcBef>
              <a:spcAft>
                <a:spcPts val="60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Widely used in ALUs, CPUs.</a:t>
            </a:r>
          </a:p>
          <a:p>
            <a:pPr marL="342900" indent="-342900">
              <a:spcBef>
                <a:spcPts val="600"/>
              </a:spcBef>
              <a:spcAft>
                <a:spcPts val="60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Can be built using simple Half Adders.</a:t>
            </a:r>
          </a:p>
          <a:p>
            <a:pPr marL="342900" indent="-342900">
              <a:spcBef>
                <a:spcPts val="600"/>
              </a:spcBef>
              <a:spcAft>
                <a:spcPts val="600"/>
              </a:spcAf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spcBef>
                <a:spcPts val="600"/>
              </a:spcBef>
              <a:spcAft>
                <a:spcPts val="600"/>
              </a:spcAft>
              <a:buNone/>
            </a:pPr>
            <a:r>
              <a:rPr lang="en-US" sz="2000" b="1" dirty="0">
                <a:solidFill>
                  <a:srgbClr val="FF0000"/>
                </a:solidFill>
                <a:latin typeface="Times New Roman" panose="02020603050405020304" pitchFamily="18" charset="0"/>
                <a:cs typeface="Times New Roman" panose="02020603050405020304" pitchFamily="18" charset="0"/>
              </a:rPr>
              <a:t>Limitations</a:t>
            </a:r>
            <a:endParaRPr lang="en-US" sz="2000" dirty="0">
              <a:solidFill>
                <a:srgbClr val="FF0000"/>
              </a:solidFill>
              <a:latin typeface="Times New Roman" panose="02020603050405020304" pitchFamily="18" charset="0"/>
              <a:cs typeface="Times New Roman" panose="02020603050405020304" pitchFamily="18" charset="0"/>
            </a:endParaRPr>
          </a:p>
          <a:p>
            <a:pPr marL="342900" indent="-342900">
              <a:spcBef>
                <a:spcPts val="600"/>
              </a:spcBef>
              <a:spcAft>
                <a:spcPts val="60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Slower for large bit operations (carry delay).</a:t>
            </a:r>
          </a:p>
          <a:p>
            <a:pPr marL="342900" indent="-342900">
              <a:spcBef>
                <a:spcPts val="600"/>
              </a:spcBef>
              <a:spcAft>
                <a:spcPts val="60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More hardware complexity than Half Adder.</a:t>
            </a:r>
          </a:p>
          <a:p>
            <a:pPr marL="342900" indent="-342900">
              <a:spcBef>
                <a:spcPts val="600"/>
              </a:spcBef>
              <a:spcAft>
                <a:spcPts val="60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Limited to binary addition.</a:t>
            </a:r>
          </a:p>
        </p:txBody>
      </p:sp>
    </p:spTree>
    <p:extLst>
      <p:ext uri="{BB962C8B-B14F-4D97-AF65-F5344CB8AC3E}">
        <p14:creationId xmlns:p14="http://schemas.microsoft.com/office/powerpoint/2010/main" val="2721458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2" name="Title 1">
            <a:extLst>
              <a:ext uri="{FF2B5EF4-FFF2-40B4-BE49-F238E27FC236}">
                <a16:creationId xmlns:a16="http://schemas.microsoft.com/office/drawing/2014/main" id="{E680AD81-C42D-3C26-20F3-DC9B627DA7F4}"/>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Half Subtractor (HS)</a:t>
            </a:r>
          </a:p>
        </p:txBody>
      </p:sp>
      <p:pic>
        <p:nvPicPr>
          <p:cNvPr id="3" name="Picture 2">
            <a:extLst>
              <a:ext uri="{FF2B5EF4-FFF2-40B4-BE49-F238E27FC236}">
                <a16:creationId xmlns:a16="http://schemas.microsoft.com/office/drawing/2014/main" id="{55DB1810-48E5-F1D5-D186-F3933A521AD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sp>
        <p:nvSpPr>
          <p:cNvPr id="7" name="TextBox 6">
            <a:extLst>
              <a:ext uri="{FF2B5EF4-FFF2-40B4-BE49-F238E27FC236}">
                <a16:creationId xmlns:a16="http://schemas.microsoft.com/office/drawing/2014/main" id="{34E7DEC0-942D-30C1-DDF1-C1A690BEAFDD}"/>
              </a:ext>
            </a:extLst>
          </p:cNvPr>
          <p:cNvSpPr txBox="1"/>
          <p:nvPr/>
        </p:nvSpPr>
        <p:spPr>
          <a:xfrm>
            <a:off x="245533" y="1329951"/>
            <a:ext cx="8627533" cy="3730317"/>
          </a:xfrm>
          <a:prstGeom prst="rect">
            <a:avLst/>
          </a:prstGeom>
          <a:noFill/>
        </p:spPr>
        <p:txBody>
          <a:bodyPr wrap="square">
            <a:spAutoFit/>
          </a:bodyPr>
          <a:lstStyle/>
          <a:p>
            <a:pPr>
              <a:lnSpc>
                <a:spcPct val="150000"/>
              </a:lnSpc>
              <a:spcBef>
                <a:spcPts val="600"/>
              </a:spcBef>
              <a:spcAft>
                <a:spcPts val="600"/>
              </a:spcAft>
              <a:buNone/>
            </a:pPr>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Half Subtractor</a:t>
            </a:r>
            <a:r>
              <a:rPr lang="en-US" sz="2000" dirty="0">
                <a:latin typeface="Times New Roman" panose="02020603050405020304" pitchFamily="18" charset="0"/>
                <a:cs typeface="Times New Roman" panose="02020603050405020304" pitchFamily="18" charset="0"/>
              </a:rPr>
              <a:t> is a combinational logic circuit used to perform the subtraction of </a:t>
            </a:r>
            <a:r>
              <a:rPr lang="en-US" sz="2000" b="1" dirty="0">
                <a:latin typeface="Times New Roman" panose="02020603050405020304" pitchFamily="18" charset="0"/>
                <a:cs typeface="Times New Roman" panose="02020603050405020304" pitchFamily="18" charset="0"/>
              </a:rPr>
              <a:t>two binary digits</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It has </a:t>
            </a:r>
            <a:r>
              <a:rPr lang="en-US" sz="2000" b="1" dirty="0">
                <a:latin typeface="Times New Roman" panose="02020603050405020304" pitchFamily="18" charset="0"/>
                <a:cs typeface="Times New Roman" panose="02020603050405020304" pitchFamily="18" charset="0"/>
              </a:rPr>
              <a:t>two inputs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two outputs</a:t>
            </a:r>
            <a:r>
              <a:rPr lang="en-US" sz="2000" dirty="0">
                <a:latin typeface="Times New Roman" panose="02020603050405020304" pitchFamily="18" charset="0"/>
                <a:cs typeface="Times New Roman" panose="02020603050405020304" pitchFamily="18" charset="0"/>
              </a:rPr>
              <a:t>:</a:t>
            </a:r>
          </a:p>
          <a:p>
            <a:pPr marL="342900" indent="-342900">
              <a:lnSpc>
                <a:spcPct val="150000"/>
              </a:lnSpc>
              <a:spcBef>
                <a:spcPts val="600"/>
              </a:spcBef>
              <a:spcAft>
                <a:spcPts val="60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Inputs → </a:t>
            </a:r>
            <a:r>
              <a:rPr lang="en-US" sz="2000" b="1" dirty="0">
                <a:latin typeface="Times New Roman" panose="02020603050405020304" pitchFamily="18" charset="0"/>
                <a:cs typeface="Times New Roman" panose="02020603050405020304" pitchFamily="18" charset="0"/>
              </a:rPr>
              <a:t>A (minuend)</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B (subtrahend)</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spcBef>
                <a:spcPts val="600"/>
              </a:spcBef>
              <a:spcAft>
                <a:spcPts val="60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Outputs → </a:t>
            </a:r>
            <a:r>
              <a:rPr lang="en-US" sz="2000" b="1" dirty="0">
                <a:latin typeface="Times New Roman" panose="02020603050405020304" pitchFamily="18" charset="0"/>
                <a:cs typeface="Times New Roman" panose="02020603050405020304" pitchFamily="18" charset="0"/>
              </a:rPr>
              <a:t>Difference (D)</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Borrow (B)</a:t>
            </a:r>
            <a:endParaRPr lang="en-US" sz="2000" dirty="0">
              <a:latin typeface="Times New Roman" panose="02020603050405020304" pitchFamily="18" charset="0"/>
              <a:cs typeface="Times New Roman" panose="02020603050405020304" pitchFamily="18" charset="0"/>
            </a:endParaRPr>
          </a:p>
          <a:p>
            <a:pPr algn="just">
              <a:lnSpc>
                <a:spcPct val="150000"/>
              </a:lnSpc>
              <a:spcBef>
                <a:spcPts val="600"/>
              </a:spcBef>
              <a:spcAft>
                <a:spcPts val="600"/>
              </a:spcAft>
              <a:buNone/>
            </a:pPr>
            <a:r>
              <a:rPr lang="en-US" sz="2000" b="1" dirty="0">
                <a:solidFill>
                  <a:srgbClr val="00B050"/>
                </a:solidFill>
                <a:latin typeface="Times New Roman" panose="02020603050405020304" pitchFamily="18" charset="0"/>
                <a:cs typeface="Times New Roman" panose="02020603050405020304" pitchFamily="18" charset="0"/>
              </a:rPr>
              <a:t>It is called "half" because it cannot handle borrow input from a previous stage.</a:t>
            </a:r>
          </a:p>
        </p:txBody>
      </p:sp>
      <p:pic>
        <p:nvPicPr>
          <p:cNvPr id="9" name="Picture 8">
            <a:extLst>
              <a:ext uri="{FF2B5EF4-FFF2-40B4-BE49-F238E27FC236}">
                <a16:creationId xmlns:a16="http://schemas.microsoft.com/office/drawing/2014/main" id="{0574EB6E-FE77-FD64-A871-C74E6B22D5A2}"/>
              </a:ext>
            </a:extLst>
          </p:cNvPr>
          <p:cNvPicPr>
            <a:picLocks noChangeAspect="1"/>
          </p:cNvPicPr>
          <p:nvPr/>
        </p:nvPicPr>
        <p:blipFill>
          <a:blip r:embed="rId4"/>
          <a:stretch>
            <a:fillRect/>
          </a:stretch>
        </p:blipFill>
        <p:spPr>
          <a:xfrm>
            <a:off x="1812469" y="4851817"/>
            <a:ext cx="5866798" cy="1590897"/>
          </a:xfrm>
          <a:prstGeom prst="rect">
            <a:avLst/>
          </a:prstGeom>
          <a:ln w="38100">
            <a:solidFill>
              <a:schemeClr val="accent1"/>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pic>
        <p:nvPicPr>
          <p:cNvPr id="434" name="Google Shape;434;p50"/>
          <p:cNvPicPr preferRelativeResize="0"/>
          <p:nvPr/>
        </p:nvPicPr>
        <p:blipFill rotWithShape="1">
          <a:blip r:embed="rId3">
            <a:alphaModFix/>
          </a:blip>
          <a:srcRect l="26011" t="20671" r="31374" b="39954"/>
          <a:stretch/>
        </p:blipFill>
        <p:spPr>
          <a:xfrm>
            <a:off x="1357537" y="3107870"/>
            <a:ext cx="6552728" cy="3404015"/>
          </a:xfrm>
          <a:prstGeom prst="rect">
            <a:avLst/>
          </a:prstGeom>
          <a:noFill/>
          <a:ln w="57150">
            <a:solidFill>
              <a:schemeClr val="accent1"/>
            </a:solidFill>
          </a:ln>
        </p:spPr>
      </p:pic>
      <p:sp>
        <p:nvSpPr>
          <p:cNvPr id="2" name="Title 1">
            <a:extLst>
              <a:ext uri="{FF2B5EF4-FFF2-40B4-BE49-F238E27FC236}">
                <a16:creationId xmlns:a16="http://schemas.microsoft.com/office/drawing/2014/main" id="{34F15A9E-3F1F-A5BC-ACAC-3E2BC102B107}"/>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HS-Truth Table</a:t>
            </a:r>
          </a:p>
        </p:txBody>
      </p:sp>
      <p:pic>
        <p:nvPicPr>
          <p:cNvPr id="3" name="Picture 2">
            <a:extLst>
              <a:ext uri="{FF2B5EF4-FFF2-40B4-BE49-F238E27FC236}">
                <a16:creationId xmlns:a16="http://schemas.microsoft.com/office/drawing/2014/main" id="{C298ECE6-695E-3FB4-013A-EC8A577265C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sp>
        <p:nvSpPr>
          <p:cNvPr id="4" name="TextBox 3">
            <a:extLst>
              <a:ext uri="{FF2B5EF4-FFF2-40B4-BE49-F238E27FC236}">
                <a16:creationId xmlns:a16="http://schemas.microsoft.com/office/drawing/2014/main" id="{5178F3B3-4E19-D59D-C357-15B04ECC2798}"/>
              </a:ext>
            </a:extLst>
          </p:cNvPr>
          <p:cNvSpPr txBox="1"/>
          <p:nvPr/>
        </p:nvSpPr>
        <p:spPr>
          <a:xfrm>
            <a:off x="304799" y="1253058"/>
            <a:ext cx="5528734" cy="400110"/>
          </a:xfrm>
          <a:prstGeom prst="rect">
            <a:avLst/>
          </a:prstGeom>
          <a:solidFill>
            <a:schemeClr val="bg2">
              <a:lumMod val="20000"/>
              <a:lumOff val="80000"/>
            </a:schemeClr>
          </a:solidFill>
        </p:spPr>
        <p:txBody>
          <a:bodyPr wrap="square" rtlCol="0">
            <a:spAutoFit/>
          </a:bodyPr>
          <a:lstStyle/>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Step-1: Identify the Input and Output Variables</a:t>
            </a:r>
          </a:p>
        </p:txBody>
      </p:sp>
      <p:sp>
        <p:nvSpPr>
          <p:cNvPr id="5" name="TextBox 4">
            <a:extLst>
              <a:ext uri="{FF2B5EF4-FFF2-40B4-BE49-F238E27FC236}">
                <a16:creationId xmlns:a16="http://schemas.microsoft.com/office/drawing/2014/main" id="{85F41916-1035-9E8B-DE5F-C29925729C28}"/>
              </a:ext>
            </a:extLst>
          </p:cNvPr>
          <p:cNvSpPr txBox="1"/>
          <p:nvPr/>
        </p:nvSpPr>
        <p:spPr>
          <a:xfrm>
            <a:off x="304799" y="2546912"/>
            <a:ext cx="4563533" cy="400110"/>
          </a:xfrm>
          <a:prstGeom prst="rect">
            <a:avLst/>
          </a:prstGeom>
          <a:solidFill>
            <a:schemeClr val="bg2">
              <a:lumMod val="20000"/>
              <a:lumOff val="80000"/>
            </a:schemeClr>
          </a:solidFill>
        </p:spPr>
        <p:txBody>
          <a:bodyPr wrap="square" rtlCol="0">
            <a:spAutoFit/>
          </a:bodyPr>
          <a:lstStyle/>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Step-2: Draw the Truth Table</a:t>
            </a:r>
          </a:p>
        </p:txBody>
      </p:sp>
      <p:pic>
        <p:nvPicPr>
          <p:cNvPr id="7" name="Picture 6">
            <a:extLst>
              <a:ext uri="{FF2B5EF4-FFF2-40B4-BE49-F238E27FC236}">
                <a16:creationId xmlns:a16="http://schemas.microsoft.com/office/drawing/2014/main" id="{1CE5F6EA-DE90-5F0C-00E4-EBE85177A129}"/>
              </a:ext>
            </a:extLst>
          </p:cNvPr>
          <p:cNvPicPr>
            <a:picLocks noChangeAspect="1"/>
          </p:cNvPicPr>
          <p:nvPr/>
        </p:nvPicPr>
        <p:blipFill>
          <a:blip r:embed="rId5"/>
          <a:stretch>
            <a:fillRect/>
          </a:stretch>
        </p:blipFill>
        <p:spPr>
          <a:xfrm>
            <a:off x="1357537" y="1670092"/>
            <a:ext cx="5394902" cy="85988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2" name="Title 1">
            <a:extLst>
              <a:ext uri="{FF2B5EF4-FFF2-40B4-BE49-F238E27FC236}">
                <a16:creationId xmlns:a16="http://schemas.microsoft.com/office/drawing/2014/main" id="{FBB82AE0-61DC-73CD-FC10-3B849BA2B1B7}"/>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HS-K Map</a:t>
            </a:r>
          </a:p>
        </p:txBody>
      </p:sp>
      <p:pic>
        <p:nvPicPr>
          <p:cNvPr id="3" name="Picture 2">
            <a:extLst>
              <a:ext uri="{FF2B5EF4-FFF2-40B4-BE49-F238E27FC236}">
                <a16:creationId xmlns:a16="http://schemas.microsoft.com/office/drawing/2014/main" id="{572BC7D9-C6C2-93EF-7442-9CCC73E688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sp>
        <p:nvSpPr>
          <p:cNvPr id="4" name="TextBox 3">
            <a:extLst>
              <a:ext uri="{FF2B5EF4-FFF2-40B4-BE49-F238E27FC236}">
                <a16:creationId xmlns:a16="http://schemas.microsoft.com/office/drawing/2014/main" id="{39AA9776-FD35-3AF7-1771-BE748167A823}"/>
              </a:ext>
            </a:extLst>
          </p:cNvPr>
          <p:cNvSpPr txBox="1"/>
          <p:nvPr/>
        </p:nvSpPr>
        <p:spPr>
          <a:xfrm>
            <a:off x="304799" y="1253058"/>
            <a:ext cx="8568268" cy="707886"/>
          </a:xfrm>
          <a:prstGeom prst="rect">
            <a:avLst/>
          </a:prstGeom>
          <a:solidFill>
            <a:schemeClr val="bg2">
              <a:lumMod val="20000"/>
              <a:lumOff val="80000"/>
            </a:schemeClr>
          </a:solidFill>
        </p:spPr>
        <p:txBody>
          <a:bodyPr wrap="square" rtlCol="0">
            <a:spAutoFit/>
          </a:bodyPr>
          <a:lstStyle/>
          <a:p>
            <a:pPr algn="just">
              <a:spcBef>
                <a:spcPts val="600"/>
              </a:spcBef>
              <a:spcAft>
                <a:spcPts val="600"/>
              </a:spcAft>
            </a:pPr>
            <a:r>
              <a:rPr lang="en-IN" sz="2000" b="1" dirty="0">
                <a:latin typeface="Times New Roman" panose="02020603050405020304" pitchFamily="18" charset="0"/>
                <a:cs typeface="Times New Roman" panose="02020603050405020304" pitchFamily="18" charset="0"/>
              </a:rPr>
              <a:t>Step-3: Draw K-Map using Truth Table &amp; determine the simplified Boolean Expression</a:t>
            </a:r>
          </a:p>
        </p:txBody>
      </p:sp>
      <p:pic>
        <p:nvPicPr>
          <p:cNvPr id="6" name="Picture 5">
            <a:extLst>
              <a:ext uri="{FF2B5EF4-FFF2-40B4-BE49-F238E27FC236}">
                <a16:creationId xmlns:a16="http://schemas.microsoft.com/office/drawing/2014/main" id="{9592CCD1-608C-7014-05B8-683A55F1A8A2}"/>
              </a:ext>
            </a:extLst>
          </p:cNvPr>
          <p:cNvPicPr>
            <a:picLocks noChangeAspect="1"/>
          </p:cNvPicPr>
          <p:nvPr/>
        </p:nvPicPr>
        <p:blipFill>
          <a:blip r:embed="rId4"/>
          <a:stretch>
            <a:fillRect/>
          </a:stretch>
        </p:blipFill>
        <p:spPr>
          <a:xfrm>
            <a:off x="1226138" y="2047299"/>
            <a:ext cx="6725589" cy="412490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2" name="Title 1">
            <a:extLst>
              <a:ext uri="{FF2B5EF4-FFF2-40B4-BE49-F238E27FC236}">
                <a16:creationId xmlns:a16="http://schemas.microsoft.com/office/drawing/2014/main" id="{30B4B527-19F4-2BCE-9259-BD70F04AB9B9}"/>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HS-Logic Diagram</a:t>
            </a:r>
          </a:p>
        </p:txBody>
      </p:sp>
      <p:pic>
        <p:nvPicPr>
          <p:cNvPr id="3" name="Picture 2">
            <a:extLst>
              <a:ext uri="{FF2B5EF4-FFF2-40B4-BE49-F238E27FC236}">
                <a16:creationId xmlns:a16="http://schemas.microsoft.com/office/drawing/2014/main" id="{18AE58D8-BE3E-1A0C-1C77-AC53AF43BC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pic>
        <p:nvPicPr>
          <p:cNvPr id="5" name="Picture 4">
            <a:extLst>
              <a:ext uri="{FF2B5EF4-FFF2-40B4-BE49-F238E27FC236}">
                <a16:creationId xmlns:a16="http://schemas.microsoft.com/office/drawing/2014/main" id="{6467D402-72DD-E5E8-1390-B994D649EB46}"/>
              </a:ext>
            </a:extLst>
          </p:cNvPr>
          <p:cNvPicPr>
            <a:picLocks noChangeAspect="1"/>
          </p:cNvPicPr>
          <p:nvPr/>
        </p:nvPicPr>
        <p:blipFill>
          <a:blip r:embed="rId4"/>
          <a:stretch>
            <a:fillRect/>
          </a:stretch>
        </p:blipFill>
        <p:spPr>
          <a:xfrm>
            <a:off x="1436395" y="1941758"/>
            <a:ext cx="6554115" cy="4058216"/>
          </a:xfrm>
          <a:prstGeom prst="rect">
            <a:avLst/>
          </a:prstGeom>
        </p:spPr>
      </p:pic>
      <p:sp>
        <p:nvSpPr>
          <p:cNvPr id="6" name="TextBox 5">
            <a:extLst>
              <a:ext uri="{FF2B5EF4-FFF2-40B4-BE49-F238E27FC236}">
                <a16:creationId xmlns:a16="http://schemas.microsoft.com/office/drawing/2014/main" id="{E486214C-3235-9305-1CB9-F94E3208C72C}"/>
              </a:ext>
            </a:extLst>
          </p:cNvPr>
          <p:cNvSpPr txBox="1"/>
          <p:nvPr/>
        </p:nvSpPr>
        <p:spPr>
          <a:xfrm>
            <a:off x="406399" y="1329951"/>
            <a:ext cx="4563533" cy="400110"/>
          </a:xfrm>
          <a:prstGeom prst="rect">
            <a:avLst/>
          </a:prstGeom>
          <a:solidFill>
            <a:schemeClr val="bg2">
              <a:lumMod val="20000"/>
              <a:lumOff val="80000"/>
            </a:schemeClr>
          </a:solidFill>
        </p:spPr>
        <p:txBody>
          <a:bodyPr wrap="square" rtlCol="0">
            <a:spAutoFit/>
          </a:bodyPr>
          <a:lstStyle/>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Step-4: Draw the Logic Diagram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2" name="Title 1">
            <a:extLst>
              <a:ext uri="{FF2B5EF4-FFF2-40B4-BE49-F238E27FC236}">
                <a16:creationId xmlns:a16="http://schemas.microsoft.com/office/drawing/2014/main" id="{706D99B2-8FC7-7FD2-F531-DF5B64C95AEE}"/>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HA-Limitations</a:t>
            </a:r>
          </a:p>
        </p:txBody>
      </p:sp>
      <p:pic>
        <p:nvPicPr>
          <p:cNvPr id="3" name="Picture 2">
            <a:extLst>
              <a:ext uri="{FF2B5EF4-FFF2-40B4-BE49-F238E27FC236}">
                <a16:creationId xmlns:a16="http://schemas.microsoft.com/office/drawing/2014/main" id="{CD6C4F50-BACC-CCBE-0FF8-D304371EDE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sp>
        <p:nvSpPr>
          <p:cNvPr id="7" name="TextBox 6">
            <a:extLst>
              <a:ext uri="{FF2B5EF4-FFF2-40B4-BE49-F238E27FC236}">
                <a16:creationId xmlns:a16="http://schemas.microsoft.com/office/drawing/2014/main" id="{BEFACE5C-4205-29F1-6DD7-96D50DC07764}"/>
              </a:ext>
            </a:extLst>
          </p:cNvPr>
          <p:cNvSpPr txBox="1"/>
          <p:nvPr/>
        </p:nvSpPr>
        <p:spPr>
          <a:xfrm>
            <a:off x="457200" y="1329951"/>
            <a:ext cx="8280400" cy="2653099"/>
          </a:xfrm>
          <a:prstGeom prst="rect">
            <a:avLst/>
          </a:prstGeom>
          <a:noFill/>
        </p:spPr>
        <p:txBody>
          <a:bodyPr wrap="square">
            <a:spAutoFit/>
          </a:bodyPr>
          <a:lstStyle/>
          <a:p>
            <a:pPr marL="285750" indent="-285750" algn="just">
              <a:lnSpc>
                <a:spcPct val="150000"/>
              </a:lnSpc>
              <a:spcBef>
                <a:spcPts val="600"/>
              </a:spcBef>
              <a:spcAft>
                <a:spcPts val="600"/>
              </a:spcAf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Half subtractors do not take into account "Borrow-in" from the previous circuit.</a:t>
            </a:r>
          </a:p>
          <a:p>
            <a:pPr marL="285750" indent="-285750" algn="just">
              <a:lnSpc>
                <a:spcPct val="150000"/>
              </a:lnSpc>
              <a:spcBef>
                <a:spcPts val="600"/>
              </a:spcBef>
              <a:spcAft>
                <a:spcPts val="600"/>
              </a:spcAf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This is a major drawback of half subtractors.</a:t>
            </a:r>
          </a:p>
          <a:p>
            <a:pPr marL="285750" indent="-285750" algn="just">
              <a:lnSpc>
                <a:spcPct val="150000"/>
              </a:lnSpc>
              <a:spcBef>
                <a:spcPts val="600"/>
              </a:spcBef>
              <a:spcAft>
                <a:spcPts val="600"/>
              </a:spcAf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This is because real time scenarios involve subtracting the multiple number of bits which can not be accomplished using half subtractors.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2" name="Title 1">
            <a:extLst>
              <a:ext uri="{FF2B5EF4-FFF2-40B4-BE49-F238E27FC236}">
                <a16:creationId xmlns:a16="http://schemas.microsoft.com/office/drawing/2014/main" id="{AA05F48E-7A3C-7F78-DFE7-0E7798F3C8F2}"/>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Half Subtractor (HS)</a:t>
            </a:r>
          </a:p>
        </p:txBody>
      </p:sp>
      <p:pic>
        <p:nvPicPr>
          <p:cNvPr id="3" name="Picture 2">
            <a:extLst>
              <a:ext uri="{FF2B5EF4-FFF2-40B4-BE49-F238E27FC236}">
                <a16:creationId xmlns:a16="http://schemas.microsoft.com/office/drawing/2014/main" id="{5DA2DD88-1E7B-2711-AE16-517EEFD5D70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pic>
        <p:nvPicPr>
          <p:cNvPr id="5" name="Picture 4">
            <a:extLst>
              <a:ext uri="{FF2B5EF4-FFF2-40B4-BE49-F238E27FC236}">
                <a16:creationId xmlns:a16="http://schemas.microsoft.com/office/drawing/2014/main" id="{EE6A6A40-7CC4-8627-50F9-190152ECB6AA}"/>
              </a:ext>
            </a:extLst>
          </p:cNvPr>
          <p:cNvPicPr>
            <a:picLocks noChangeAspect="1"/>
          </p:cNvPicPr>
          <p:nvPr/>
        </p:nvPicPr>
        <p:blipFill>
          <a:blip r:embed="rId4"/>
          <a:stretch>
            <a:fillRect/>
          </a:stretch>
        </p:blipFill>
        <p:spPr>
          <a:xfrm>
            <a:off x="1436395" y="4227917"/>
            <a:ext cx="6163535" cy="1771897"/>
          </a:xfrm>
          <a:prstGeom prst="rect">
            <a:avLst/>
          </a:prstGeom>
        </p:spPr>
      </p:pic>
      <p:sp>
        <p:nvSpPr>
          <p:cNvPr id="7" name="TextBox 6">
            <a:extLst>
              <a:ext uri="{FF2B5EF4-FFF2-40B4-BE49-F238E27FC236}">
                <a16:creationId xmlns:a16="http://schemas.microsoft.com/office/drawing/2014/main" id="{6B7231B5-E317-F318-0FD7-2728B51733AB}"/>
              </a:ext>
            </a:extLst>
          </p:cNvPr>
          <p:cNvSpPr txBox="1"/>
          <p:nvPr/>
        </p:nvSpPr>
        <p:spPr>
          <a:xfrm>
            <a:off x="465666" y="1253736"/>
            <a:ext cx="8280401" cy="2554545"/>
          </a:xfrm>
          <a:prstGeom prst="rect">
            <a:avLst/>
          </a:prstGeom>
          <a:noFill/>
        </p:spPr>
        <p:txBody>
          <a:bodyPr wrap="square">
            <a:spAutoFit/>
          </a:bodyPr>
          <a:lstStyle/>
          <a:p>
            <a:pPr marL="342900" indent="-342900" algn="just">
              <a:spcBef>
                <a:spcPts val="600"/>
              </a:spcBef>
              <a:spcAft>
                <a:spcPts val="600"/>
              </a:spcAf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Full Subtractor is a combinational logic circuit.</a:t>
            </a:r>
          </a:p>
          <a:p>
            <a:pPr marL="342900" indent="-342900" algn="just">
              <a:spcBef>
                <a:spcPts val="600"/>
              </a:spcBef>
              <a:spcAft>
                <a:spcPts val="600"/>
              </a:spcAf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is used for the purpose of subtracting two single bit numbers.</a:t>
            </a:r>
          </a:p>
          <a:p>
            <a:pPr marL="342900" indent="-342900" algn="just">
              <a:spcBef>
                <a:spcPts val="600"/>
              </a:spcBef>
              <a:spcAft>
                <a:spcPts val="600"/>
              </a:spcAf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also takes into </a:t>
            </a:r>
            <a:r>
              <a:rPr lang="en-IN" sz="2000" b="1" dirty="0">
                <a:solidFill>
                  <a:srgbClr val="00B050"/>
                </a:solidFill>
                <a:latin typeface="Times New Roman" panose="02020603050405020304" pitchFamily="18" charset="0"/>
                <a:cs typeface="Times New Roman" panose="02020603050405020304" pitchFamily="18" charset="0"/>
              </a:rPr>
              <a:t>consideration borrow of the lower significant stage</a:t>
            </a:r>
            <a:r>
              <a:rPr lang="en-IN" sz="2000" dirty="0">
                <a:latin typeface="Times New Roman" panose="02020603050405020304" pitchFamily="18" charset="0"/>
                <a:cs typeface="Times New Roman" panose="02020603050405020304" pitchFamily="18" charset="0"/>
              </a:rPr>
              <a:t>.</a:t>
            </a:r>
          </a:p>
          <a:p>
            <a:pPr marL="342900" indent="-342900" algn="just">
              <a:spcBef>
                <a:spcPts val="600"/>
              </a:spcBef>
              <a:spcAft>
                <a:spcPts val="600"/>
              </a:spcAf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Thus, full subtractor has the ability to perform the subtraction of three bits.</a:t>
            </a:r>
          </a:p>
          <a:p>
            <a:pPr marL="342900" indent="-342900" algn="just">
              <a:spcBef>
                <a:spcPts val="600"/>
              </a:spcBef>
              <a:spcAft>
                <a:spcPts val="600"/>
              </a:spcAf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Full subtractor </a:t>
            </a:r>
            <a:r>
              <a:rPr lang="en-IN" sz="2000" b="1" dirty="0">
                <a:solidFill>
                  <a:srgbClr val="00B0F0"/>
                </a:solidFill>
                <a:latin typeface="Times New Roman" panose="02020603050405020304" pitchFamily="18" charset="0"/>
                <a:cs typeface="Times New Roman" panose="02020603050405020304" pitchFamily="18" charset="0"/>
              </a:rPr>
              <a:t>contains 3 inputs and 2 outputs (Difference and Borrow)</a:t>
            </a: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as shown below:</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pic>
        <p:nvPicPr>
          <p:cNvPr id="460" name="Google Shape;460;p55"/>
          <p:cNvPicPr preferRelativeResize="0"/>
          <p:nvPr/>
        </p:nvPicPr>
        <p:blipFill rotWithShape="1">
          <a:blip r:embed="rId3">
            <a:alphaModFix/>
          </a:blip>
          <a:srcRect l="29523" t="25391" r="35611" b="19485"/>
          <a:stretch/>
        </p:blipFill>
        <p:spPr>
          <a:xfrm>
            <a:off x="4139952" y="2825552"/>
            <a:ext cx="4536504" cy="4032448"/>
          </a:xfrm>
          <a:prstGeom prst="rect">
            <a:avLst/>
          </a:prstGeom>
          <a:noFill/>
          <a:ln>
            <a:noFill/>
          </a:ln>
        </p:spPr>
      </p:pic>
      <p:sp>
        <p:nvSpPr>
          <p:cNvPr id="2" name="Title 1">
            <a:extLst>
              <a:ext uri="{FF2B5EF4-FFF2-40B4-BE49-F238E27FC236}">
                <a16:creationId xmlns:a16="http://schemas.microsoft.com/office/drawing/2014/main" id="{8BEA1119-A570-5E95-EE33-FCA5A17FA164}"/>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FS-Truth Table</a:t>
            </a:r>
          </a:p>
        </p:txBody>
      </p:sp>
      <p:pic>
        <p:nvPicPr>
          <p:cNvPr id="3" name="Picture 2">
            <a:extLst>
              <a:ext uri="{FF2B5EF4-FFF2-40B4-BE49-F238E27FC236}">
                <a16:creationId xmlns:a16="http://schemas.microsoft.com/office/drawing/2014/main" id="{EB048332-A7B8-98B0-9194-765326F3B99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sp>
        <p:nvSpPr>
          <p:cNvPr id="4" name="TextBox 3">
            <a:extLst>
              <a:ext uri="{FF2B5EF4-FFF2-40B4-BE49-F238E27FC236}">
                <a16:creationId xmlns:a16="http://schemas.microsoft.com/office/drawing/2014/main" id="{48C4A818-4A25-D530-69C5-A7C3668CF8F6}"/>
              </a:ext>
            </a:extLst>
          </p:cNvPr>
          <p:cNvSpPr txBox="1"/>
          <p:nvPr/>
        </p:nvSpPr>
        <p:spPr>
          <a:xfrm>
            <a:off x="304799" y="1253058"/>
            <a:ext cx="5528734" cy="400110"/>
          </a:xfrm>
          <a:prstGeom prst="rect">
            <a:avLst/>
          </a:prstGeom>
          <a:solidFill>
            <a:schemeClr val="bg2">
              <a:lumMod val="20000"/>
              <a:lumOff val="80000"/>
            </a:schemeClr>
          </a:solidFill>
        </p:spPr>
        <p:txBody>
          <a:bodyPr wrap="square" rtlCol="0">
            <a:spAutoFit/>
          </a:bodyPr>
          <a:lstStyle/>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Step-1: Identify the Input and Output Variables</a:t>
            </a:r>
          </a:p>
        </p:txBody>
      </p:sp>
      <p:sp>
        <p:nvSpPr>
          <p:cNvPr id="5" name="TextBox 4">
            <a:extLst>
              <a:ext uri="{FF2B5EF4-FFF2-40B4-BE49-F238E27FC236}">
                <a16:creationId xmlns:a16="http://schemas.microsoft.com/office/drawing/2014/main" id="{052AE749-3193-9F3B-2EE2-E22308384B04}"/>
              </a:ext>
            </a:extLst>
          </p:cNvPr>
          <p:cNvSpPr txBox="1"/>
          <p:nvPr/>
        </p:nvSpPr>
        <p:spPr>
          <a:xfrm>
            <a:off x="304799" y="2479176"/>
            <a:ext cx="4563533" cy="400110"/>
          </a:xfrm>
          <a:prstGeom prst="rect">
            <a:avLst/>
          </a:prstGeom>
          <a:solidFill>
            <a:schemeClr val="bg2">
              <a:lumMod val="20000"/>
              <a:lumOff val="80000"/>
            </a:schemeClr>
          </a:solidFill>
        </p:spPr>
        <p:txBody>
          <a:bodyPr wrap="square" rtlCol="0">
            <a:spAutoFit/>
          </a:bodyPr>
          <a:lstStyle/>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Step-2: Draw the Truth Table</a:t>
            </a:r>
          </a:p>
        </p:txBody>
      </p:sp>
      <p:pic>
        <p:nvPicPr>
          <p:cNvPr id="7" name="Picture 6">
            <a:extLst>
              <a:ext uri="{FF2B5EF4-FFF2-40B4-BE49-F238E27FC236}">
                <a16:creationId xmlns:a16="http://schemas.microsoft.com/office/drawing/2014/main" id="{131B4E6B-4A54-CA5D-FCA3-93234222A307}"/>
              </a:ext>
            </a:extLst>
          </p:cNvPr>
          <p:cNvPicPr>
            <a:picLocks noChangeAspect="1"/>
          </p:cNvPicPr>
          <p:nvPr/>
        </p:nvPicPr>
        <p:blipFill>
          <a:blip r:embed="rId5"/>
          <a:stretch>
            <a:fillRect/>
          </a:stretch>
        </p:blipFill>
        <p:spPr>
          <a:xfrm>
            <a:off x="1436394" y="1705885"/>
            <a:ext cx="5816289" cy="76638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2" name="Title 1">
            <a:extLst>
              <a:ext uri="{FF2B5EF4-FFF2-40B4-BE49-F238E27FC236}">
                <a16:creationId xmlns:a16="http://schemas.microsoft.com/office/drawing/2014/main" id="{B5DA26F8-9840-8134-06CA-B4D8502B2400}"/>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HS-K Map</a:t>
            </a:r>
          </a:p>
        </p:txBody>
      </p:sp>
      <p:pic>
        <p:nvPicPr>
          <p:cNvPr id="3" name="Picture 2">
            <a:extLst>
              <a:ext uri="{FF2B5EF4-FFF2-40B4-BE49-F238E27FC236}">
                <a16:creationId xmlns:a16="http://schemas.microsoft.com/office/drawing/2014/main" id="{EE472892-1502-10B1-A146-109F3C8850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sp>
        <p:nvSpPr>
          <p:cNvPr id="4" name="TextBox 3">
            <a:extLst>
              <a:ext uri="{FF2B5EF4-FFF2-40B4-BE49-F238E27FC236}">
                <a16:creationId xmlns:a16="http://schemas.microsoft.com/office/drawing/2014/main" id="{335919B0-7D28-ACBB-11F9-00668F8ED827}"/>
              </a:ext>
            </a:extLst>
          </p:cNvPr>
          <p:cNvSpPr txBox="1"/>
          <p:nvPr/>
        </p:nvSpPr>
        <p:spPr>
          <a:xfrm>
            <a:off x="304799" y="1253058"/>
            <a:ext cx="8568268" cy="707886"/>
          </a:xfrm>
          <a:prstGeom prst="rect">
            <a:avLst/>
          </a:prstGeom>
          <a:solidFill>
            <a:schemeClr val="bg2">
              <a:lumMod val="20000"/>
              <a:lumOff val="80000"/>
            </a:schemeClr>
          </a:solidFill>
        </p:spPr>
        <p:txBody>
          <a:bodyPr wrap="square" rtlCol="0">
            <a:spAutoFit/>
          </a:bodyPr>
          <a:lstStyle/>
          <a:p>
            <a:pPr algn="just">
              <a:spcBef>
                <a:spcPts val="600"/>
              </a:spcBef>
              <a:spcAft>
                <a:spcPts val="600"/>
              </a:spcAft>
            </a:pPr>
            <a:r>
              <a:rPr lang="en-IN" sz="2000" b="1" dirty="0">
                <a:latin typeface="Times New Roman" panose="02020603050405020304" pitchFamily="18" charset="0"/>
                <a:cs typeface="Times New Roman" panose="02020603050405020304" pitchFamily="18" charset="0"/>
              </a:rPr>
              <a:t>Step-3: Draw K-Map using Truth Table &amp; determine the simplified Boolean Expression</a:t>
            </a:r>
          </a:p>
        </p:txBody>
      </p:sp>
      <p:pic>
        <p:nvPicPr>
          <p:cNvPr id="6" name="Picture 5">
            <a:extLst>
              <a:ext uri="{FF2B5EF4-FFF2-40B4-BE49-F238E27FC236}">
                <a16:creationId xmlns:a16="http://schemas.microsoft.com/office/drawing/2014/main" id="{64E4281A-55C5-40BA-B4B4-54C82B39671B}"/>
              </a:ext>
            </a:extLst>
          </p:cNvPr>
          <p:cNvPicPr>
            <a:picLocks noChangeAspect="1"/>
          </p:cNvPicPr>
          <p:nvPr/>
        </p:nvPicPr>
        <p:blipFill>
          <a:blip r:embed="rId4"/>
          <a:stretch>
            <a:fillRect/>
          </a:stretch>
        </p:blipFill>
        <p:spPr>
          <a:xfrm>
            <a:off x="193858" y="2504924"/>
            <a:ext cx="4208613" cy="2229161"/>
          </a:xfrm>
          <a:prstGeom prst="rect">
            <a:avLst/>
          </a:prstGeom>
        </p:spPr>
      </p:pic>
      <p:pic>
        <p:nvPicPr>
          <p:cNvPr id="8" name="Picture 7">
            <a:extLst>
              <a:ext uri="{FF2B5EF4-FFF2-40B4-BE49-F238E27FC236}">
                <a16:creationId xmlns:a16="http://schemas.microsoft.com/office/drawing/2014/main" id="{BB5EA1AB-A2B0-DFFF-831E-3C52993C724B}"/>
              </a:ext>
            </a:extLst>
          </p:cNvPr>
          <p:cNvPicPr>
            <a:picLocks noChangeAspect="1"/>
          </p:cNvPicPr>
          <p:nvPr/>
        </p:nvPicPr>
        <p:blipFill>
          <a:blip r:embed="rId5"/>
          <a:stretch>
            <a:fillRect/>
          </a:stretch>
        </p:blipFill>
        <p:spPr>
          <a:xfrm>
            <a:off x="4741531" y="2428713"/>
            <a:ext cx="4039278" cy="230537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2" name="Title 1">
            <a:extLst>
              <a:ext uri="{FF2B5EF4-FFF2-40B4-BE49-F238E27FC236}">
                <a16:creationId xmlns:a16="http://schemas.microsoft.com/office/drawing/2014/main" id="{B891FE4E-F9C9-E81C-7A82-15ADA6C9FF18}"/>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HS-Logic Diagram</a:t>
            </a:r>
          </a:p>
        </p:txBody>
      </p:sp>
      <p:pic>
        <p:nvPicPr>
          <p:cNvPr id="3" name="Picture 2">
            <a:extLst>
              <a:ext uri="{FF2B5EF4-FFF2-40B4-BE49-F238E27FC236}">
                <a16:creationId xmlns:a16="http://schemas.microsoft.com/office/drawing/2014/main" id="{9A063630-5AB2-D818-BF81-DC3A5CDCB3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sp>
        <p:nvSpPr>
          <p:cNvPr id="4" name="TextBox 3">
            <a:extLst>
              <a:ext uri="{FF2B5EF4-FFF2-40B4-BE49-F238E27FC236}">
                <a16:creationId xmlns:a16="http://schemas.microsoft.com/office/drawing/2014/main" id="{364AC705-7832-F99C-5800-CE471C2D4A4B}"/>
              </a:ext>
            </a:extLst>
          </p:cNvPr>
          <p:cNvSpPr txBox="1"/>
          <p:nvPr/>
        </p:nvSpPr>
        <p:spPr>
          <a:xfrm>
            <a:off x="406399" y="1329951"/>
            <a:ext cx="4563533" cy="400110"/>
          </a:xfrm>
          <a:prstGeom prst="rect">
            <a:avLst/>
          </a:prstGeom>
          <a:solidFill>
            <a:schemeClr val="bg2">
              <a:lumMod val="20000"/>
              <a:lumOff val="80000"/>
            </a:schemeClr>
          </a:solidFill>
        </p:spPr>
        <p:txBody>
          <a:bodyPr wrap="square" rtlCol="0">
            <a:spAutoFit/>
          </a:bodyPr>
          <a:lstStyle/>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Step-4: Draw the Logic Diagram</a:t>
            </a:r>
          </a:p>
        </p:txBody>
      </p:sp>
      <p:pic>
        <p:nvPicPr>
          <p:cNvPr id="6" name="Picture 5">
            <a:extLst>
              <a:ext uri="{FF2B5EF4-FFF2-40B4-BE49-F238E27FC236}">
                <a16:creationId xmlns:a16="http://schemas.microsoft.com/office/drawing/2014/main" id="{3C1580C5-134B-F3BF-DE48-34B98322CE6F}"/>
              </a:ext>
            </a:extLst>
          </p:cNvPr>
          <p:cNvPicPr>
            <a:picLocks noChangeAspect="1"/>
          </p:cNvPicPr>
          <p:nvPr/>
        </p:nvPicPr>
        <p:blipFill>
          <a:blip r:embed="rId4"/>
          <a:stretch>
            <a:fillRect/>
          </a:stretch>
        </p:blipFill>
        <p:spPr>
          <a:xfrm>
            <a:off x="1525673" y="1810269"/>
            <a:ext cx="6170527" cy="493272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69">
          <a:extLst>
            <a:ext uri="{FF2B5EF4-FFF2-40B4-BE49-F238E27FC236}">
              <a16:creationId xmlns:a16="http://schemas.microsoft.com/office/drawing/2014/main" id="{45E7C5E6-CA39-C871-E163-62B2C87ABA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EFF831-665F-F65B-0738-36BFAB616C58}"/>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err="1">
                <a:solidFill>
                  <a:schemeClr val="bg1"/>
                </a:solidFill>
                <a:latin typeface="Times New Roman" panose="02020603050405020304" pitchFamily="18" charset="0"/>
                <a:cs typeface="Times New Roman" panose="02020603050405020304" pitchFamily="18" charset="0"/>
              </a:rPr>
              <a:t>Cont</a:t>
            </a:r>
            <a:r>
              <a:rPr lang="en-US" altLang="en-US" sz="3600" b="1" dirty="0">
                <a:solidFill>
                  <a:schemeClr val="bg1"/>
                </a:solidFill>
                <a:latin typeface="Times New Roman" panose="02020603050405020304" pitchFamily="18" charset="0"/>
                <a:cs typeface="Times New Roman" panose="02020603050405020304" pitchFamily="18" charset="0"/>
              </a:rPr>
              <a:t>…</a:t>
            </a:r>
          </a:p>
        </p:txBody>
      </p:sp>
      <p:pic>
        <p:nvPicPr>
          <p:cNvPr id="3" name="Picture 2">
            <a:extLst>
              <a:ext uri="{FF2B5EF4-FFF2-40B4-BE49-F238E27FC236}">
                <a16:creationId xmlns:a16="http://schemas.microsoft.com/office/drawing/2014/main" id="{17A24F8B-044D-0402-A645-41E06B43F3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spTree>
    <p:extLst>
      <p:ext uri="{BB962C8B-B14F-4D97-AF65-F5344CB8AC3E}">
        <p14:creationId xmlns:p14="http://schemas.microsoft.com/office/powerpoint/2010/main" val="4768208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9">
          <a:extLst>
            <a:ext uri="{FF2B5EF4-FFF2-40B4-BE49-F238E27FC236}">
              <a16:creationId xmlns:a16="http://schemas.microsoft.com/office/drawing/2014/main" id="{A6FB7EB5-39B1-4A35-3FA4-438510EAAC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2A75D3-6748-929D-3D8C-A4413949ACF2}"/>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MUX &amp; DEMUX</a:t>
            </a:r>
          </a:p>
        </p:txBody>
      </p:sp>
      <p:pic>
        <p:nvPicPr>
          <p:cNvPr id="3" name="Picture 2">
            <a:extLst>
              <a:ext uri="{FF2B5EF4-FFF2-40B4-BE49-F238E27FC236}">
                <a16:creationId xmlns:a16="http://schemas.microsoft.com/office/drawing/2014/main" id="{963C7795-DF93-C4EA-60ED-389F379CEF1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pic>
        <p:nvPicPr>
          <p:cNvPr id="2050" name="Picture 2" descr="Multiplexers | PPTX | Operating Systems | Computer Software and Applications">
            <a:extLst>
              <a:ext uri="{FF2B5EF4-FFF2-40B4-BE49-F238E27FC236}">
                <a16:creationId xmlns:a16="http://schemas.microsoft.com/office/drawing/2014/main" id="{D89DEB67-1AA6-BD9C-3ABF-8A1CB65C57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094" y="1583267"/>
            <a:ext cx="8019812" cy="4783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85882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61"/>
          <p:cNvSpPr txBox="1"/>
          <p:nvPr/>
        </p:nvSpPr>
        <p:spPr>
          <a:xfrm>
            <a:off x="338664" y="1806944"/>
            <a:ext cx="8466671" cy="3323946"/>
          </a:xfrm>
          <a:prstGeom prst="rect">
            <a:avLst/>
          </a:prstGeom>
          <a:noFill/>
          <a:ln>
            <a:noFill/>
          </a:ln>
        </p:spPr>
        <p:txBody>
          <a:bodyPr spcFirstLastPara="1" wrap="square" lIns="91425" tIns="45700" rIns="91425" bIns="45700" anchor="t" anchorCtr="0">
            <a:spAutoFit/>
          </a:bodyPr>
          <a:lstStyle/>
          <a:p>
            <a:pPr marL="215900" lvl="0" indent="-342900" algn="just">
              <a:lnSpc>
                <a:spcPct val="150000"/>
              </a:lnSpc>
              <a:buClr>
                <a:schemeClr val="dk1"/>
              </a:buClr>
              <a:buSzPts val="2000"/>
              <a:buFont typeface="Wingdings" panose="05000000000000000000" pitchFamily="2" charset="2"/>
              <a:buChar char="Ø"/>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The term Multiplexer means </a:t>
            </a:r>
            <a:r>
              <a:rPr lang="en-US" sz="2000" b="1" dirty="0">
                <a:solidFill>
                  <a:schemeClr val="dk1"/>
                </a:solidFill>
                <a:latin typeface="Times New Roman" panose="02020603050405020304" pitchFamily="18" charset="0"/>
                <a:ea typeface="Times New Roman"/>
                <a:cs typeface="Times New Roman" panose="02020603050405020304" pitchFamily="18" charset="0"/>
                <a:sym typeface="Times New Roman"/>
              </a:rPr>
              <a:t>many into one</a:t>
            </a: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p>
          <a:p>
            <a:pPr marL="215900" lvl="0" indent="-342900" algn="just">
              <a:lnSpc>
                <a:spcPct val="150000"/>
              </a:lnSpc>
              <a:buClr>
                <a:schemeClr val="dk1"/>
              </a:buClr>
              <a:buSzPts val="2000"/>
              <a:buFont typeface="Wingdings" panose="05000000000000000000" pitchFamily="2" charset="2"/>
              <a:buChar char="Ø"/>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A Digital Multiplexer (MUX) is a combinational Circuit with more than One Input Lines, One output lines and more than one select lines. </a:t>
            </a:r>
          </a:p>
          <a:p>
            <a:pPr marL="215900" indent="-342900" algn="just">
              <a:lnSpc>
                <a:spcPct val="150000"/>
              </a:lnSpc>
              <a:buClr>
                <a:schemeClr val="dk1"/>
              </a:buClr>
              <a:buSzPts val="2000"/>
              <a:buFont typeface="Wingdings" panose="05000000000000000000" pitchFamily="2" charset="2"/>
              <a:buChar char="Ø"/>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A Multiplexer is a </a:t>
            </a:r>
            <a:r>
              <a:rPr lang="en-US" sz="2000" b="1" dirty="0">
                <a:solidFill>
                  <a:schemeClr val="dk1"/>
                </a:solidFill>
                <a:latin typeface="Times New Roman" panose="02020603050405020304" pitchFamily="18" charset="0"/>
                <a:ea typeface="Times New Roman"/>
                <a:cs typeface="Times New Roman" panose="02020603050405020304" pitchFamily="18" charset="0"/>
                <a:sym typeface="Times New Roman"/>
              </a:rPr>
              <a:t>Digital Switch</a:t>
            </a: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 also called a</a:t>
            </a:r>
            <a:r>
              <a:rPr lang="en-US" sz="2000" b="1" dirty="0">
                <a:solidFill>
                  <a:schemeClr val="dk1"/>
                </a:solidFill>
                <a:latin typeface="Times New Roman" panose="02020603050405020304" pitchFamily="18" charset="0"/>
                <a:ea typeface="Times New Roman"/>
                <a:cs typeface="Times New Roman" panose="02020603050405020304" pitchFamily="18" charset="0"/>
                <a:sym typeface="Times New Roman"/>
              </a:rPr>
              <a:t> Data Selector. </a:t>
            </a:r>
          </a:p>
          <a:p>
            <a:pPr marL="215900" indent="-342900" algn="just">
              <a:lnSpc>
                <a:spcPct val="150000"/>
              </a:lnSpc>
              <a:buClr>
                <a:schemeClr val="dk1"/>
              </a:buClr>
              <a:buSzPts val="2000"/>
              <a:buFont typeface="Wingdings" panose="05000000000000000000" pitchFamily="2" charset="2"/>
              <a:buChar char="Ø"/>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It allows the binary information from several input lines or sources and depending on the set of select lines, particular input line, is routed onto a single output line.</a:t>
            </a:r>
          </a:p>
        </p:txBody>
      </p:sp>
      <p:sp>
        <p:nvSpPr>
          <p:cNvPr id="2" name="Title 1">
            <a:extLst>
              <a:ext uri="{FF2B5EF4-FFF2-40B4-BE49-F238E27FC236}">
                <a16:creationId xmlns:a16="http://schemas.microsoft.com/office/drawing/2014/main" id="{293C3C49-F137-A9FB-F9CB-6EA8360E9DB9}"/>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Multiplexer (Data Selectors)</a:t>
            </a:r>
          </a:p>
        </p:txBody>
      </p:sp>
      <p:pic>
        <p:nvPicPr>
          <p:cNvPr id="3" name="Picture 2">
            <a:extLst>
              <a:ext uri="{FF2B5EF4-FFF2-40B4-BE49-F238E27FC236}">
                <a16:creationId xmlns:a16="http://schemas.microsoft.com/office/drawing/2014/main" id="{6E6C5C0D-9B6E-15B9-E1FD-627FE5DDEE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sp>
        <p:nvSpPr>
          <p:cNvPr id="5" name="TextBox 4">
            <a:extLst>
              <a:ext uri="{FF2B5EF4-FFF2-40B4-BE49-F238E27FC236}">
                <a16:creationId xmlns:a16="http://schemas.microsoft.com/office/drawing/2014/main" id="{6DCA1DF8-81B3-3AB6-2E90-6C7DE4602471}"/>
              </a:ext>
            </a:extLst>
          </p:cNvPr>
          <p:cNvSpPr txBox="1"/>
          <p:nvPr/>
        </p:nvSpPr>
        <p:spPr>
          <a:xfrm>
            <a:off x="338665" y="1329951"/>
            <a:ext cx="8517467" cy="400110"/>
          </a:xfrm>
          <a:prstGeom prst="rect">
            <a:avLst/>
          </a:prstGeom>
          <a:noFill/>
        </p:spPr>
        <p:txBody>
          <a:bodyPr wrap="square">
            <a:spAutoFit/>
          </a:bodyPr>
          <a:lstStyle/>
          <a:p>
            <a:pPr marL="0" marR="0" lvl="0" indent="0" algn="ctr" rtl="0">
              <a:spcBef>
                <a:spcPts val="600"/>
              </a:spcBef>
              <a:spcAft>
                <a:spcPts val="600"/>
              </a:spcAft>
              <a:buNone/>
            </a:pPr>
            <a:r>
              <a:rPr lang="en-US" sz="2000" b="1" dirty="0">
                <a:solidFill>
                  <a:srgbClr val="7030A0"/>
                </a:solidFill>
                <a:highlight>
                  <a:srgbClr val="FFFF00"/>
                </a:highlight>
                <a:latin typeface="Times New Roman"/>
                <a:ea typeface="Times New Roman"/>
                <a:cs typeface="Times New Roman"/>
                <a:sym typeface="Times New Roman"/>
              </a:rPr>
              <a:t>What are multiplexers? Draw the logical circuits and describe its working.</a:t>
            </a:r>
            <a:endParaRPr lang="en-US" sz="2000" dirty="0">
              <a:highlight>
                <a:srgbClr val="FFFF00"/>
              </a:highlight>
            </a:endParaRPr>
          </a:p>
        </p:txBody>
      </p:sp>
      <p:pic>
        <p:nvPicPr>
          <p:cNvPr id="9" name="Picture 8">
            <a:extLst>
              <a:ext uri="{FF2B5EF4-FFF2-40B4-BE49-F238E27FC236}">
                <a16:creationId xmlns:a16="http://schemas.microsoft.com/office/drawing/2014/main" id="{E9E3ACE3-C656-6576-6828-B9BDFB6CF00C}"/>
              </a:ext>
            </a:extLst>
          </p:cNvPr>
          <p:cNvPicPr>
            <a:picLocks noChangeAspect="1"/>
          </p:cNvPicPr>
          <p:nvPr/>
        </p:nvPicPr>
        <p:blipFill>
          <a:blip r:embed="rId4"/>
          <a:stretch>
            <a:fillRect/>
          </a:stretch>
        </p:blipFill>
        <p:spPr>
          <a:xfrm>
            <a:off x="2033726" y="4685027"/>
            <a:ext cx="5601482" cy="2067213"/>
          </a:xfrm>
          <a:prstGeom prst="rect">
            <a:avLst/>
          </a:prstGeom>
          <a:ln w="57150">
            <a:solidFill>
              <a:schemeClr val="accent1"/>
            </a:solid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62"/>
          <p:cNvSpPr/>
          <p:nvPr/>
        </p:nvSpPr>
        <p:spPr>
          <a:xfrm>
            <a:off x="372534" y="1329951"/>
            <a:ext cx="8432800" cy="1323399"/>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600"/>
              </a:spcBef>
              <a:spcAft>
                <a:spcPts val="600"/>
              </a:spcAft>
              <a:buClr>
                <a:schemeClr val="dk1"/>
              </a:buClr>
              <a:buSzPts val="2400"/>
              <a:buFont typeface="Wingdings" panose="05000000000000000000" pitchFamily="2" charset="2"/>
              <a:buChar char="Ø"/>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MUX directs one of the inputs to its output line by using a control bit word (</a:t>
            </a:r>
            <a:r>
              <a:rPr lang="en-US" sz="2000" i="1" dirty="0">
                <a:solidFill>
                  <a:schemeClr val="dk1"/>
                </a:solidFill>
                <a:latin typeface="Times New Roman" panose="02020603050405020304" pitchFamily="18" charset="0"/>
                <a:ea typeface="Times New Roman"/>
                <a:cs typeface="Times New Roman" panose="02020603050405020304" pitchFamily="18" charset="0"/>
                <a:sym typeface="Times New Roman"/>
              </a:rPr>
              <a:t>selection line) to its select lines. </a:t>
            </a:r>
            <a:endParaRPr sz="20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85750" marR="0" lvl="0" indent="-285750" algn="just" rtl="0">
              <a:spcBef>
                <a:spcPts val="600"/>
              </a:spcBef>
              <a:spcAft>
                <a:spcPts val="600"/>
              </a:spcAft>
              <a:buClr>
                <a:schemeClr val="dk1"/>
              </a:buClr>
              <a:buSzPts val="2400"/>
              <a:buFont typeface="Wingdings" panose="05000000000000000000" pitchFamily="2" charset="2"/>
              <a:buChar char="Ø"/>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 Multiplexer contains the followings: </a:t>
            </a:r>
            <a:endParaRPr sz="2000"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2329C8E5-80A9-6D1C-973E-D25DEB45ACE6}"/>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err="1">
                <a:solidFill>
                  <a:schemeClr val="bg1"/>
                </a:solidFill>
                <a:latin typeface="Times New Roman" panose="02020603050405020304" pitchFamily="18" charset="0"/>
                <a:cs typeface="Times New Roman" panose="02020603050405020304" pitchFamily="18" charset="0"/>
              </a:rPr>
              <a:t>Cont</a:t>
            </a:r>
            <a:r>
              <a:rPr lang="en-US" altLang="en-US" sz="3600" b="1" dirty="0">
                <a:solidFill>
                  <a:schemeClr val="bg1"/>
                </a:solidFill>
                <a:latin typeface="Times New Roman" panose="02020603050405020304" pitchFamily="18" charset="0"/>
                <a:cs typeface="Times New Roman" panose="02020603050405020304" pitchFamily="18" charset="0"/>
              </a:rPr>
              <a:t>…</a:t>
            </a:r>
          </a:p>
        </p:txBody>
      </p:sp>
      <p:pic>
        <p:nvPicPr>
          <p:cNvPr id="3" name="Picture 2">
            <a:extLst>
              <a:ext uri="{FF2B5EF4-FFF2-40B4-BE49-F238E27FC236}">
                <a16:creationId xmlns:a16="http://schemas.microsoft.com/office/drawing/2014/main" id="{1044154B-10F7-1A89-D771-D5F1FC8979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pic>
        <p:nvPicPr>
          <p:cNvPr id="1026" name="Picture 2" descr="A Complete Guide to Electronic Multiplexers">
            <a:extLst>
              <a:ext uri="{FF2B5EF4-FFF2-40B4-BE49-F238E27FC236}">
                <a16:creationId xmlns:a16="http://schemas.microsoft.com/office/drawing/2014/main" id="{AD704A34-1B1D-1834-5F8E-17550BFEBD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4316" y="1920344"/>
            <a:ext cx="3867150" cy="25622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BEF4D0D-D924-2B94-D4D3-9D801B41C1AC}"/>
              </a:ext>
            </a:extLst>
          </p:cNvPr>
          <p:cNvSpPr txBox="1"/>
          <p:nvPr/>
        </p:nvSpPr>
        <p:spPr>
          <a:xfrm>
            <a:off x="764892" y="2665727"/>
            <a:ext cx="3959508" cy="1323439"/>
          </a:xfrm>
          <a:prstGeom prst="rect">
            <a:avLst/>
          </a:prstGeom>
          <a:noFill/>
        </p:spPr>
        <p:txBody>
          <a:bodyPr wrap="square">
            <a:spAutoFit/>
          </a:bodyPr>
          <a:lstStyle/>
          <a:p>
            <a:pPr marL="285750" lvl="7" indent="-285750" algn="just">
              <a:spcBef>
                <a:spcPts val="600"/>
              </a:spcBef>
              <a:spcAft>
                <a:spcPts val="600"/>
              </a:spcAft>
              <a:buClr>
                <a:schemeClr val="dk1"/>
              </a:buClr>
              <a:buSzPts val="2400"/>
              <a:buFont typeface="Arial" panose="020B0604020202020204" pitchFamily="34" charset="0"/>
              <a:buChar char="•"/>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Data Inputs </a:t>
            </a:r>
            <a:endParaRPr lang="en-US" sz="2000" dirty="0">
              <a:latin typeface="Times New Roman" panose="02020603050405020304" pitchFamily="18" charset="0"/>
              <a:cs typeface="Times New Roman" panose="02020603050405020304" pitchFamily="18" charset="0"/>
            </a:endParaRPr>
          </a:p>
          <a:p>
            <a:pPr marL="285750" lvl="7" indent="-285750" algn="just">
              <a:spcBef>
                <a:spcPts val="600"/>
              </a:spcBef>
              <a:spcAft>
                <a:spcPts val="600"/>
              </a:spcAft>
              <a:buClr>
                <a:schemeClr val="dk1"/>
              </a:buClr>
              <a:buSzPts val="2400"/>
              <a:buFont typeface="Arial" panose="020B0604020202020204" pitchFamily="34" charset="0"/>
              <a:buChar char="•"/>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 Selection Inputs </a:t>
            </a:r>
            <a:endParaRPr lang="en-US" sz="2000" dirty="0">
              <a:latin typeface="Times New Roman" panose="02020603050405020304" pitchFamily="18" charset="0"/>
              <a:cs typeface="Times New Roman" panose="02020603050405020304" pitchFamily="18" charset="0"/>
            </a:endParaRPr>
          </a:p>
          <a:p>
            <a:pPr marL="285750" lvl="7" indent="-285750" algn="just">
              <a:spcBef>
                <a:spcPts val="600"/>
              </a:spcBef>
              <a:spcAft>
                <a:spcPts val="600"/>
              </a:spcAft>
              <a:buClr>
                <a:schemeClr val="dk1"/>
              </a:buClr>
              <a:buSzPts val="2400"/>
              <a:buFont typeface="Arial" panose="020B0604020202020204" pitchFamily="34" charset="0"/>
              <a:buChar char="•"/>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 A </a:t>
            </a:r>
            <a:r>
              <a:rPr lang="en-US" sz="2000" i="1" dirty="0">
                <a:solidFill>
                  <a:schemeClr val="dk1"/>
                </a:solidFill>
                <a:latin typeface="Times New Roman" panose="02020603050405020304" pitchFamily="18" charset="0"/>
                <a:ea typeface="Times New Roman"/>
                <a:cs typeface="Times New Roman" panose="02020603050405020304" pitchFamily="18" charset="0"/>
                <a:sym typeface="Times New Roman"/>
              </a:rPr>
              <a:t>Single Output </a:t>
            </a:r>
            <a:endParaRPr lang="en-US"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6EEEE47-956F-906A-5203-8A7DE206DAE8}"/>
              </a:ext>
            </a:extLst>
          </p:cNvPr>
          <p:cNvSpPr txBox="1"/>
          <p:nvPr/>
        </p:nvSpPr>
        <p:spPr>
          <a:xfrm>
            <a:off x="450179" y="4635607"/>
            <a:ext cx="8194287" cy="1169551"/>
          </a:xfrm>
          <a:prstGeom prst="rect">
            <a:avLst/>
          </a:prstGeom>
          <a:noFill/>
        </p:spPr>
        <p:txBody>
          <a:bodyPr wrap="square">
            <a:spAutoFit/>
          </a:bodyPr>
          <a:lstStyle/>
          <a:p>
            <a:pPr marL="285750" marR="0" lvl="0" indent="-285750" algn="just" rtl="0">
              <a:spcBef>
                <a:spcPts val="600"/>
              </a:spcBef>
              <a:spcAft>
                <a:spcPts val="600"/>
              </a:spcAft>
              <a:buClr>
                <a:schemeClr val="dk1"/>
              </a:buClr>
              <a:buSzPts val="2400"/>
              <a:buFont typeface="Wingdings" panose="05000000000000000000" pitchFamily="2" charset="2"/>
              <a:buChar char="Ø"/>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Selection input determines the input that should be connected to the output. </a:t>
            </a:r>
          </a:p>
          <a:p>
            <a:pPr marL="285750" marR="0" lvl="0" indent="-285750" algn="just" rtl="0">
              <a:spcBef>
                <a:spcPts val="600"/>
              </a:spcBef>
              <a:spcAft>
                <a:spcPts val="600"/>
              </a:spcAft>
              <a:buClr>
                <a:schemeClr val="dk1"/>
              </a:buClr>
              <a:buSzPts val="2400"/>
              <a:buFont typeface="Wingdings" panose="05000000000000000000" pitchFamily="2" charset="2"/>
              <a:buChar char="Ø"/>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The multiplexer </a:t>
            </a:r>
            <a:r>
              <a:rPr lang="en-US" sz="2000" b="1" dirty="0">
                <a:solidFill>
                  <a:schemeClr val="dk1"/>
                </a:solidFill>
                <a:latin typeface="Times New Roman" panose="02020603050405020304" pitchFamily="18" charset="0"/>
                <a:ea typeface="Times New Roman"/>
                <a:cs typeface="Times New Roman" panose="02020603050405020304" pitchFamily="18" charset="0"/>
                <a:sym typeface="Times New Roman"/>
              </a:rPr>
              <a:t>acts like an electronic switch </a:t>
            </a: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that selects one from different. </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pic>
        <p:nvPicPr>
          <p:cNvPr id="503" name="Google Shape;503;p63" descr="MUX/DEMUX | CircuitVerse"/>
          <p:cNvPicPr preferRelativeResize="0"/>
          <p:nvPr/>
        </p:nvPicPr>
        <p:blipFill rotWithShape="1">
          <a:blip r:embed="rId3">
            <a:alphaModFix/>
          </a:blip>
          <a:srcRect/>
          <a:stretch/>
        </p:blipFill>
        <p:spPr>
          <a:xfrm>
            <a:off x="4114800" y="1408079"/>
            <a:ext cx="4967785" cy="4651440"/>
          </a:xfrm>
          <a:prstGeom prst="rect">
            <a:avLst/>
          </a:prstGeom>
          <a:noFill/>
          <a:ln>
            <a:noFill/>
          </a:ln>
        </p:spPr>
      </p:pic>
      <p:sp>
        <p:nvSpPr>
          <p:cNvPr id="2" name="Title 1">
            <a:extLst>
              <a:ext uri="{FF2B5EF4-FFF2-40B4-BE49-F238E27FC236}">
                <a16:creationId xmlns:a16="http://schemas.microsoft.com/office/drawing/2014/main" id="{5E8BE9FF-E4D2-AD22-644D-4D0DFD5153E2}"/>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err="1">
                <a:solidFill>
                  <a:schemeClr val="bg1"/>
                </a:solidFill>
                <a:latin typeface="Times New Roman" panose="02020603050405020304" pitchFamily="18" charset="0"/>
                <a:cs typeface="Times New Roman" panose="02020603050405020304" pitchFamily="18" charset="0"/>
              </a:rPr>
              <a:t>Cont</a:t>
            </a:r>
            <a:r>
              <a:rPr lang="en-US" altLang="en-US" sz="3600" b="1" dirty="0">
                <a:solidFill>
                  <a:schemeClr val="bg1"/>
                </a:solidFill>
                <a:latin typeface="Times New Roman" panose="02020603050405020304" pitchFamily="18" charset="0"/>
                <a:cs typeface="Times New Roman" panose="02020603050405020304" pitchFamily="18" charset="0"/>
              </a:rPr>
              <a:t>…</a:t>
            </a:r>
          </a:p>
        </p:txBody>
      </p:sp>
      <p:pic>
        <p:nvPicPr>
          <p:cNvPr id="3" name="Picture 2">
            <a:extLst>
              <a:ext uri="{FF2B5EF4-FFF2-40B4-BE49-F238E27FC236}">
                <a16:creationId xmlns:a16="http://schemas.microsoft.com/office/drawing/2014/main" id="{506DFEF0-A00A-2E5E-D5BA-29C75A89A2A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pic>
        <p:nvPicPr>
          <p:cNvPr id="5" name="Picture 4">
            <a:extLst>
              <a:ext uri="{FF2B5EF4-FFF2-40B4-BE49-F238E27FC236}">
                <a16:creationId xmlns:a16="http://schemas.microsoft.com/office/drawing/2014/main" id="{B0FC7E11-A2A6-616C-3099-027DEA950ADA}"/>
              </a:ext>
            </a:extLst>
          </p:cNvPr>
          <p:cNvPicPr>
            <a:picLocks noChangeAspect="1"/>
          </p:cNvPicPr>
          <p:nvPr/>
        </p:nvPicPr>
        <p:blipFill>
          <a:blip r:embed="rId5"/>
          <a:stretch>
            <a:fillRect/>
          </a:stretch>
        </p:blipFill>
        <p:spPr>
          <a:xfrm>
            <a:off x="338667" y="1701800"/>
            <a:ext cx="3102337" cy="365759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pic>
        <p:nvPicPr>
          <p:cNvPr id="526" name="Google Shape;526;p67"/>
          <p:cNvPicPr preferRelativeResize="0"/>
          <p:nvPr/>
        </p:nvPicPr>
        <p:blipFill rotWithShape="1">
          <a:blip r:embed="rId3">
            <a:alphaModFix/>
          </a:blip>
          <a:srcRect/>
          <a:stretch/>
        </p:blipFill>
        <p:spPr>
          <a:xfrm>
            <a:off x="595558" y="3710599"/>
            <a:ext cx="3307575" cy="2207601"/>
          </a:xfrm>
          <a:prstGeom prst="rect">
            <a:avLst/>
          </a:prstGeom>
          <a:noFill/>
          <a:ln>
            <a:noFill/>
          </a:ln>
        </p:spPr>
      </p:pic>
      <p:sp>
        <p:nvSpPr>
          <p:cNvPr id="527" name="Google Shape;527;p67"/>
          <p:cNvSpPr txBox="1"/>
          <p:nvPr/>
        </p:nvSpPr>
        <p:spPr>
          <a:xfrm>
            <a:off x="93390" y="1643936"/>
            <a:ext cx="8720667" cy="1785064"/>
          </a:xfrm>
          <a:prstGeom prst="rect">
            <a:avLst/>
          </a:prstGeom>
          <a:noFill/>
          <a:ln>
            <a:noFill/>
          </a:ln>
        </p:spPr>
        <p:txBody>
          <a:bodyPr spcFirstLastPara="1" wrap="square" lIns="91425" tIns="45700" rIns="91425" bIns="45700" anchor="t" anchorCtr="0">
            <a:spAutoFit/>
          </a:bodyPr>
          <a:lstStyle/>
          <a:p>
            <a:pPr marL="342900" marR="0" lvl="0" indent="-342900" algn="l" rtl="0">
              <a:spcBef>
                <a:spcPts val="600"/>
              </a:spcBef>
              <a:spcAft>
                <a:spcPts val="600"/>
              </a:spcAft>
              <a:buClr>
                <a:schemeClr val="dk1"/>
              </a:buClr>
              <a:buSzPts val="1800"/>
              <a:buFont typeface="Wingdings" panose="05000000000000000000" pitchFamily="2" charset="2"/>
              <a:buChar char="Ø"/>
            </a:pP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The block schematic of a 2 : 1 multiplexer is shown below:</a:t>
            </a:r>
            <a:endParaRPr sz="2000" dirty="0">
              <a:latin typeface="Times New Roman" panose="02020603050405020304" pitchFamily="18" charset="0"/>
              <a:cs typeface="Times New Roman" panose="02020603050405020304" pitchFamily="18" charset="0"/>
            </a:endParaRPr>
          </a:p>
          <a:p>
            <a:pPr marL="342900" marR="0" lvl="0" indent="-342900" algn="l" rtl="0">
              <a:spcBef>
                <a:spcPts val="600"/>
              </a:spcBef>
              <a:spcAft>
                <a:spcPts val="600"/>
              </a:spcAft>
              <a:buClr>
                <a:schemeClr val="dk1"/>
              </a:buClr>
              <a:buSzPts val="1800"/>
              <a:buFont typeface="Wingdings" panose="05000000000000000000" pitchFamily="2" charset="2"/>
              <a:buChar char="Ø"/>
            </a:pP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It has two data inputs Do and D₁, one select input S, an enable input E and one output Y. </a:t>
            </a:r>
            <a:endParaRPr sz="2000" dirty="0">
              <a:latin typeface="Times New Roman" panose="02020603050405020304" pitchFamily="18" charset="0"/>
              <a:cs typeface="Times New Roman" panose="02020603050405020304" pitchFamily="18" charset="0"/>
            </a:endParaRPr>
          </a:p>
          <a:p>
            <a:pPr marL="342900" marR="0" lvl="0" indent="-342900" algn="l" rtl="0">
              <a:spcBef>
                <a:spcPts val="600"/>
              </a:spcBef>
              <a:spcAft>
                <a:spcPts val="600"/>
              </a:spcAft>
              <a:buClr>
                <a:schemeClr val="dk1"/>
              </a:buClr>
              <a:buSzPts val="1800"/>
              <a:buFont typeface="Wingdings" panose="05000000000000000000" pitchFamily="2" charset="2"/>
              <a:buChar char="Ø"/>
            </a:pP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The truth table of this MUX is shown below:</a:t>
            </a:r>
            <a:endParaRPr sz="2000"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2" name="Title 1">
            <a:extLst>
              <a:ext uri="{FF2B5EF4-FFF2-40B4-BE49-F238E27FC236}">
                <a16:creationId xmlns:a16="http://schemas.microsoft.com/office/drawing/2014/main" id="{C04ABCE3-27C2-84FA-897D-A652A67E6DB1}"/>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2:1Multiplexer</a:t>
            </a:r>
          </a:p>
        </p:txBody>
      </p:sp>
      <p:pic>
        <p:nvPicPr>
          <p:cNvPr id="3" name="Picture 2">
            <a:extLst>
              <a:ext uri="{FF2B5EF4-FFF2-40B4-BE49-F238E27FC236}">
                <a16:creationId xmlns:a16="http://schemas.microsoft.com/office/drawing/2014/main" id="{88DCADF4-DF8B-5A72-179E-C51E6B450A0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sp>
        <p:nvSpPr>
          <p:cNvPr id="5" name="TextBox 4">
            <a:extLst>
              <a:ext uri="{FF2B5EF4-FFF2-40B4-BE49-F238E27FC236}">
                <a16:creationId xmlns:a16="http://schemas.microsoft.com/office/drawing/2014/main" id="{5ED11494-0DE4-96EF-D749-5652D8A90401}"/>
              </a:ext>
            </a:extLst>
          </p:cNvPr>
          <p:cNvSpPr txBox="1"/>
          <p:nvPr/>
        </p:nvSpPr>
        <p:spPr>
          <a:xfrm>
            <a:off x="1436395" y="1242793"/>
            <a:ext cx="6358466" cy="400110"/>
          </a:xfrm>
          <a:prstGeom prst="rect">
            <a:avLst/>
          </a:prstGeom>
          <a:solidFill>
            <a:schemeClr val="bg2">
              <a:lumMod val="40000"/>
              <a:lumOff val="60000"/>
            </a:schemeClr>
          </a:solidFill>
        </p:spPr>
        <p:txBody>
          <a:bodyPr wrap="square">
            <a:spAutoFit/>
          </a:bodyPr>
          <a:lstStyle/>
          <a:p>
            <a:pPr algn="ctr"/>
            <a:r>
              <a:rPr lang="en-US" altLang="en-US" sz="2000" b="1" dirty="0">
                <a:solidFill>
                  <a:schemeClr val="tx1"/>
                </a:solidFill>
                <a:latin typeface="Times New Roman" panose="02020603050405020304" pitchFamily="18" charset="0"/>
                <a:cs typeface="Times New Roman" panose="02020603050405020304" pitchFamily="18" charset="0"/>
              </a:rPr>
              <a:t>Draw the symbol and write truth table of 2:1 MUX</a:t>
            </a:r>
            <a:endParaRPr lang="en-IN" sz="2000" dirty="0">
              <a:solidFill>
                <a:schemeClr val="tx1"/>
              </a:solidFill>
            </a:endParaRPr>
          </a:p>
        </p:txBody>
      </p:sp>
      <p:pic>
        <p:nvPicPr>
          <p:cNvPr id="6" name="Picture 5">
            <a:extLst>
              <a:ext uri="{FF2B5EF4-FFF2-40B4-BE49-F238E27FC236}">
                <a16:creationId xmlns:a16="http://schemas.microsoft.com/office/drawing/2014/main" id="{91F379D4-FCCD-064D-6AA7-BE915FB33394}"/>
              </a:ext>
            </a:extLst>
          </p:cNvPr>
          <p:cNvPicPr>
            <a:picLocks noChangeAspect="1"/>
          </p:cNvPicPr>
          <p:nvPr/>
        </p:nvPicPr>
        <p:blipFill>
          <a:blip r:embed="rId5"/>
          <a:stretch>
            <a:fillRect/>
          </a:stretch>
        </p:blipFill>
        <p:spPr>
          <a:xfrm>
            <a:off x="4189580" y="3710599"/>
            <a:ext cx="4429743" cy="1971950"/>
          </a:xfrm>
          <a:prstGeom prst="rect">
            <a:avLst/>
          </a:prstGeom>
        </p:spPr>
      </p:pic>
      <p:sp>
        <p:nvSpPr>
          <p:cNvPr id="4" name="TextBox 3">
            <a:extLst>
              <a:ext uri="{FF2B5EF4-FFF2-40B4-BE49-F238E27FC236}">
                <a16:creationId xmlns:a16="http://schemas.microsoft.com/office/drawing/2014/main" id="{AABEB4A2-C528-4205-84AE-134E87B527B1}"/>
              </a:ext>
            </a:extLst>
          </p:cNvPr>
          <p:cNvSpPr txBox="1"/>
          <p:nvPr/>
        </p:nvSpPr>
        <p:spPr>
          <a:xfrm>
            <a:off x="5668433" y="3870670"/>
            <a:ext cx="499533" cy="276999"/>
          </a:xfrm>
          <a:prstGeom prst="rect">
            <a:avLst/>
          </a:prstGeom>
          <a:noFill/>
        </p:spPr>
        <p:txBody>
          <a:bodyPr wrap="square" rtlCol="0">
            <a:spAutoFit/>
          </a:bodyPr>
          <a:lstStyle/>
          <a:p>
            <a:r>
              <a:rPr lang="en-IN" sz="1200" b="1" dirty="0">
                <a:solidFill>
                  <a:srgbClr val="C00000"/>
                </a:solidFill>
                <a:latin typeface="Times New Roman" panose="02020603050405020304" pitchFamily="18" charset="0"/>
                <a:cs typeface="Times New Roman" panose="02020603050405020304" pitchFamily="18" charset="0"/>
              </a:rPr>
              <a:t>D1</a:t>
            </a:r>
          </a:p>
        </p:txBody>
      </p:sp>
      <p:sp>
        <p:nvSpPr>
          <p:cNvPr id="7" name="TextBox 6">
            <a:extLst>
              <a:ext uri="{FF2B5EF4-FFF2-40B4-BE49-F238E27FC236}">
                <a16:creationId xmlns:a16="http://schemas.microsoft.com/office/drawing/2014/main" id="{046139EB-C783-FF14-15C0-66CF56D475EE}"/>
              </a:ext>
            </a:extLst>
          </p:cNvPr>
          <p:cNvSpPr txBox="1"/>
          <p:nvPr/>
        </p:nvSpPr>
        <p:spPr>
          <a:xfrm>
            <a:off x="6769099" y="3870670"/>
            <a:ext cx="499533" cy="276999"/>
          </a:xfrm>
          <a:prstGeom prst="rect">
            <a:avLst/>
          </a:prstGeom>
          <a:noFill/>
        </p:spPr>
        <p:txBody>
          <a:bodyPr wrap="square" rtlCol="0">
            <a:spAutoFit/>
          </a:bodyPr>
          <a:lstStyle/>
          <a:p>
            <a:r>
              <a:rPr lang="en-IN" sz="1200" b="1" dirty="0">
                <a:solidFill>
                  <a:srgbClr val="C00000"/>
                </a:solidFill>
                <a:latin typeface="Times New Roman" panose="02020603050405020304" pitchFamily="18" charset="0"/>
                <a:cs typeface="Times New Roman" panose="02020603050405020304" pitchFamily="18" charset="0"/>
              </a:rPr>
              <a:t>D0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951190C9-DD68-FB70-4135-AB744799D1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528A6F-DB8C-81FF-3B8C-A3BEDB5EF8AD}"/>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err="1">
                <a:solidFill>
                  <a:schemeClr val="bg1"/>
                </a:solidFill>
                <a:latin typeface="Times New Roman" panose="02020603050405020304" pitchFamily="18" charset="0"/>
                <a:cs typeface="Times New Roman" panose="02020603050405020304" pitchFamily="18" charset="0"/>
              </a:rPr>
              <a:t>Cont</a:t>
            </a:r>
            <a:r>
              <a:rPr lang="en-US" altLang="en-US" sz="3600" b="1" dirty="0">
                <a:solidFill>
                  <a:schemeClr val="bg1"/>
                </a:solidFill>
                <a:latin typeface="Times New Roman" panose="02020603050405020304" pitchFamily="18" charset="0"/>
                <a:cs typeface="Times New Roman" panose="02020603050405020304" pitchFamily="18" charset="0"/>
              </a:rPr>
              <a:t>…</a:t>
            </a:r>
          </a:p>
        </p:txBody>
      </p:sp>
      <p:pic>
        <p:nvPicPr>
          <p:cNvPr id="3" name="Picture 2">
            <a:extLst>
              <a:ext uri="{FF2B5EF4-FFF2-40B4-BE49-F238E27FC236}">
                <a16:creationId xmlns:a16="http://schemas.microsoft.com/office/drawing/2014/main" id="{FB929869-D368-2DEE-FC01-AFC811C67D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pic>
        <p:nvPicPr>
          <p:cNvPr id="4" name="Google Shape;528;p67" descr="C:\Users\pcp\Downloads\IMG_20211022_142605.jpg"/>
          <p:cNvPicPr preferRelativeResize="0"/>
          <p:nvPr/>
        </p:nvPicPr>
        <p:blipFill rotWithShape="1">
          <a:blip r:embed="rId4">
            <a:alphaModFix/>
          </a:blip>
          <a:srcRect l="4097" t="32085" r="9138" b="37513"/>
          <a:stretch/>
        </p:blipFill>
        <p:spPr>
          <a:xfrm>
            <a:off x="3817580" y="2134524"/>
            <a:ext cx="5224820" cy="2588951"/>
          </a:xfrm>
          <a:prstGeom prst="rect">
            <a:avLst/>
          </a:prstGeom>
          <a:noFill/>
          <a:ln w="57150">
            <a:solidFill>
              <a:schemeClr val="accent1"/>
            </a:solidFill>
          </a:ln>
        </p:spPr>
      </p:pic>
      <p:graphicFrame>
        <p:nvGraphicFramePr>
          <p:cNvPr id="6" name="Google Shape;525;p67"/>
          <p:cNvGraphicFramePr/>
          <p:nvPr>
            <p:extLst>
              <p:ext uri="{D42A27DB-BD31-4B8C-83A1-F6EECF244321}">
                <p14:modId xmlns:p14="http://schemas.microsoft.com/office/powerpoint/2010/main" val="87039427"/>
              </p:ext>
            </p:extLst>
          </p:nvPr>
        </p:nvGraphicFramePr>
        <p:xfrm>
          <a:off x="668866" y="2134524"/>
          <a:ext cx="2743200" cy="2069540"/>
        </p:xfrm>
        <a:graphic>
          <a:graphicData uri="http://schemas.openxmlformats.org/drawingml/2006/table">
            <a:tbl>
              <a:tblPr firstRow="1" bandRow="1">
                <a:noFill/>
                <a:tableStyleId>{731D40B5-6E1B-4167-A163-00961D55834B}</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471175">
                <a:tc>
                  <a:txBody>
                    <a:bodyPr/>
                    <a:lstStyle/>
                    <a:p>
                      <a:pPr marL="0" marR="0" lvl="0" indent="0" algn="ctr" rtl="0">
                        <a:spcBef>
                          <a:spcPts val="600"/>
                        </a:spcBef>
                        <a:spcAft>
                          <a:spcPts val="600"/>
                        </a:spcAft>
                        <a:buNone/>
                      </a:pPr>
                      <a:r>
                        <a:rPr lang="en-US" sz="1800">
                          <a:latin typeface="Times New Roman" panose="02020603050405020304" pitchFamily="18" charset="0"/>
                          <a:cs typeface="Times New Roman" panose="02020603050405020304" pitchFamily="18" charset="0"/>
                        </a:rPr>
                        <a:t>Enable</a:t>
                      </a:r>
                      <a:endParaRPr sz="180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ctr" rtl="0">
                        <a:spcBef>
                          <a:spcPts val="600"/>
                        </a:spcBef>
                        <a:spcAft>
                          <a:spcPts val="600"/>
                        </a:spcAft>
                        <a:buNone/>
                      </a:pPr>
                      <a:r>
                        <a:rPr lang="en-US" sz="1800">
                          <a:latin typeface="Times New Roman" panose="02020603050405020304" pitchFamily="18" charset="0"/>
                          <a:cs typeface="Times New Roman" panose="02020603050405020304" pitchFamily="18" charset="0"/>
                        </a:rPr>
                        <a:t>Select Input S</a:t>
                      </a:r>
                      <a:endParaRPr sz="180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ctr" rtl="0">
                        <a:spcBef>
                          <a:spcPts val="600"/>
                        </a:spcBef>
                        <a:spcAft>
                          <a:spcPts val="600"/>
                        </a:spcAft>
                        <a:buNone/>
                      </a:pPr>
                      <a:r>
                        <a:rPr lang="en-US" sz="1800" dirty="0">
                          <a:latin typeface="Times New Roman" panose="02020603050405020304" pitchFamily="18" charset="0"/>
                          <a:cs typeface="Times New Roman" panose="02020603050405020304" pitchFamily="18" charset="0"/>
                        </a:rPr>
                        <a:t>Output Y</a:t>
                      </a:r>
                      <a:endParaRPr sz="18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0"/>
                  </a:ext>
                </a:extLst>
              </a:tr>
              <a:tr h="496750">
                <a:tc>
                  <a:txBody>
                    <a:bodyPr/>
                    <a:lstStyle/>
                    <a:p>
                      <a:pPr marL="0" marR="0" lvl="0" indent="0" algn="ctr" rtl="0">
                        <a:spcBef>
                          <a:spcPts val="600"/>
                        </a:spcBef>
                        <a:spcAft>
                          <a:spcPts val="600"/>
                        </a:spcAft>
                        <a:buNone/>
                      </a:pPr>
                      <a:r>
                        <a:rPr lang="en-US" sz="1800">
                          <a:latin typeface="Times New Roman" panose="02020603050405020304" pitchFamily="18" charset="0"/>
                          <a:cs typeface="Times New Roman" panose="02020603050405020304" pitchFamily="18" charset="0"/>
                        </a:rPr>
                        <a:t>0</a:t>
                      </a:r>
                      <a:endParaRPr sz="180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ctr" rtl="0">
                        <a:spcBef>
                          <a:spcPts val="600"/>
                        </a:spcBef>
                        <a:spcAft>
                          <a:spcPts val="600"/>
                        </a:spcAft>
                        <a:buNone/>
                      </a:pPr>
                      <a:r>
                        <a:rPr lang="en-US" sz="1800">
                          <a:latin typeface="Times New Roman" panose="02020603050405020304" pitchFamily="18" charset="0"/>
                          <a:cs typeface="Times New Roman" panose="02020603050405020304" pitchFamily="18" charset="0"/>
                        </a:rPr>
                        <a:t>X</a:t>
                      </a:r>
                      <a:endParaRPr sz="180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ctr" rtl="0">
                        <a:spcBef>
                          <a:spcPts val="600"/>
                        </a:spcBef>
                        <a:spcAft>
                          <a:spcPts val="600"/>
                        </a:spcAft>
                        <a:buNone/>
                      </a:pPr>
                      <a:r>
                        <a:rPr lang="en-US" sz="1800">
                          <a:latin typeface="Times New Roman" panose="02020603050405020304" pitchFamily="18" charset="0"/>
                          <a:cs typeface="Times New Roman" panose="02020603050405020304" pitchFamily="18" charset="0"/>
                        </a:rPr>
                        <a:t>0</a:t>
                      </a:r>
                      <a:endParaRPr sz="180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1"/>
                  </a:ext>
                </a:extLst>
              </a:tr>
              <a:tr h="466350">
                <a:tc>
                  <a:txBody>
                    <a:bodyPr/>
                    <a:lstStyle/>
                    <a:p>
                      <a:pPr marL="0" marR="0" lvl="0" indent="0" algn="ctr" rtl="0">
                        <a:spcBef>
                          <a:spcPts val="600"/>
                        </a:spcBef>
                        <a:spcAft>
                          <a:spcPts val="600"/>
                        </a:spcAft>
                        <a:buNone/>
                      </a:pPr>
                      <a:r>
                        <a:rPr lang="en-US" sz="1800">
                          <a:latin typeface="Times New Roman" panose="02020603050405020304" pitchFamily="18" charset="0"/>
                          <a:cs typeface="Times New Roman" panose="02020603050405020304" pitchFamily="18" charset="0"/>
                        </a:rPr>
                        <a:t>1</a:t>
                      </a:r>
                      <a:endParaRPr sz="180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ctr" rtl="0">
                        <a:spcBef>
                          <a:spcPts val="600"/>
                        </a:spcBef>
                        <a:spcAft>
                          <a:spcPts val="600"/>
                        </a:spcAft>
                        <a:buNone/>
                      </a:pPr>
                      <a:r>
                        <a:rPr lang="en-US" sz="1800">
                          <a:latin typeface="Times New Roman" panose="02020603050405020304" pitchFamily="18" charset="0"/>
                          <a:cs typeface="Times New Roman" panose="02020603050405020304" pitchFamily="18" charset="0"/>
                        </a:rPr>
                        <a:t>0</a:t>
                      </a:r>
                      <a:endParaRPr sz="180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ctr" rtl="0">
                        <a:spcBef>
                          <a:spcPts val="600"/>
                        </a:spcBef>
                        <a:spcAft>
                          <a:spcPts val="600"/>
                        </a:spcAft>
                        <a:buNone/>
                      </a:pPr>
                      <a:r>
                        <a:rPr lang="en-US" sz="1800">
                          <a:latin typeface="Times New Roman" panose="02020603050405020304" pitchFamily="18" charset="0"/>
                          <a:cs typeface="Times New Roman" panose="02020603050405020304" pitchFamily="18" charset="0"/>
                        </a:rPr>
                        <a:t>D0</a:t>
                      </a:r>
                      <a:endParaRPr sz="180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2"/>
                  </a:ext>
                </a:extLst>
              </a:tr>
              <a:tr h="466350">
                <a:tc>
                  <a:txBody>
                    <a:bodyPr/>
                    <a:lstStyle/>
                    <a:p>
                      <a:pPr marL="0" marR="0" lvl="0" indent="0" algn="ctr" rtl="0">
                        <a:spcBef>
                          <a:spcPts val="600"/>
                        </a:spcBef>
                        <a:spcAft>
                          <a:spcPts val="600"/>
                        </a:spcAft>
                        <a:buNone/>
                      </a:pPr>
                      <a:r>
                        <a:rPr lang="en-US" sz="1800">
                          <a:latin typeface="Times New Roman" panose="02020603050405020304" pitchFamily="18" charset="0"/>
                          <a:cs typeface="Times New Roman" panose="02020603050405020304" pitchFamily="18" charset="0"/>
                        </a:rPr>
                        <a:t>1</a:t>
                      </a:r>
                      <a:endParaRPr sz="180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ctr" rtl="0">
                        <a:spcBef>
                          <a:spcPts val="600"/>
                        </a:spcBef>
                        <a:spcAft>
                          <a:spcPts val="600"/>
                        </a:spcAft>
                        <a:buNone/>
                      </a:pPr>
                      <a:r>
                        <a:rPr lang="en-US" sz="1800">
                          <a:latin typeface="Times New Roman" panose="02020603050405020304" pitchFamily="18" charset="0"/>
                          <a:cs typeface="Times New Roman" panose="02020603050405020304" pitchFamily="18" charset="0"/>
                        </a:rPr>
                        <a:t>1</a:t>
                      </a:r>
                      <a:endParaRPr sz="180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ctr" rtl="0">
                        <a:spcBef>
                          <a:spcPts val="600"/>
                        </a:spcBef>
                        <a:spcAft>
                          <a:spcPts val="600"/>
                        </a:spcAft>
                        <a:buNone/>
                      </a:pPr>
                      <a:r>
                        <a:rPr lang="en-US" sz="1800" dirty="0">
                          <a:latin typeface="Times New Roman" panose="02020603050405020304" pitchFamily="18" charset="0"/>
                          <a:cs typeface="Times New Roman" panose="02020603050405020304" pitchFamily="18" charset="0"/>
                        </a:rPr>
                        <a:t>D1</a:t>
                      </a:r>
                      <a:endParaRPr sz="18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3"/>
                  </a:ext>
                </a:extLst>
              </a:tr>
            </a:tbl>
          </a:graphicData>
        </a:graphic>
      </p:graphicFrame>
      <p:sp>
        <p:nvSpPr>
          <p:cNvPr id="9" name="TextBox 8">
            <a:extLst>
              <a:ext uri="{FF2B5EF4-FFF2-40B4-BE49-F238E27FC236}">
                <a16:creationId xmlns:a16="http://schemas.microsoft.com/office/drawing/2014/main" id="{1EDB825A-893B-72D6-99D5-9F4E0F17ADC5}"/>
              </a:ext>
            </a:extLst>
          </p:cNvPr>
          <p:cNvSpPr txBox="1"/>
          <p:nvPr/>
        </p:nvSpPr>
        <p:spPr>
          <a:xfrm>
            <a:off x="279400" y="1377733"/>
            <a:ext cx="3708400" cy="338554"/>
          </a:xfrm>
          <a:prstGeom prst="rect">
            <a:avLst/>
          </a:prstGeom>
          <a:solidFill>
            <a:srgbClr val="92D050"/>
          </a:solidFill>
        </p:spPr>
        <p:txBody>
          <a:bodyPr wrap="square">
            <a:spAutoFit/>
          </a:bodyPr>
          <a:lstStyle/>
          <a:p>
            <a:pPr algn="ctr">
              <a:spcBef>
                <a:spcPts val="600"/>
              </a:spcBef>
              <a:spcAft>
                <a:spcPts val="600"/>
              </a:spcAft>
            </a:pPr>
            <a:r>
              <a:rPr lang="en-IN" sz="1600" b="1" dirty="0">
                <a:latin typeface="Times New Roman" panose="02020603050405020304" pitchFamily="18" charset="0"/>
                <a:cs typeface="Times New Roman" panose="02020603050405020304" pitchFamily="18" charset="0"/>
              </a:rPr>
              <a:t>When enable </a:t>
            </a:r>
            <a:r>
              <a:rPr lang="en-IN" sz="1600" b="1" dirty="0" err="1">
                <a:latin typeface="Times New Roman" panose="02020603050405020304" pitchFamily="18" charset="0"/>
                <a:cs typeface="Times New Roman" panose="02020603050405020304" pitchFamily="18" charset="0"/>
              </a:rPr>
              <a:t>i</a:t>
            </a:r>
            <a:r>
              <a:rPr lang="en-IN" sz="1600" b="1" dirty="0">
                <a:latin typeface="Times New Roman" panose="02020603050405020304" pitchFamily="18" charset="0"/>
                <a:cs typeface="Times New Roman" panose="02020603050405020304" pitchFamily="18" charset="0"/>
              </a:rPr>
              <a:t>/p is high then only works</a:t>
            </a:r>
            <a:r>
              <a:rPr lang="en-IN"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577037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pic>
        <p:nvPicPr>
          <p:cNvPr id="533" name="Google Shape;533;p68" descr="https://image2.slideserve.com/4294729/4-to-1-multiplexer-logic-symbol-n.jpg"/>
          <p:cNvPicPr preferRelativeResize="0"/>
          <p:nvPr/>
        </p:nvPicPr>
        <p:blipFill rotWithShape="1">
          <a:blip r:embed="rId3">
            <a:alphaModFix/>
          </a:blip>
          <a:srcRect l="18358" t="31287" r="19551" b="23955"/>
          <a:stretch/>
        </p:blipFill>
        <p:spPr>
          <a:xfrm>
            <a:off x="5072048" y="1312330"/>
            <a:ext cx="3886200" cy="2116670"/>
          </a:xfrm>
          <a:prstGeom prst="rect">
            <a:avLst/>
          </a:prstGeom>
          <a:noFill/>
          <a:ln>
            <a:noFill/>
          </a:ln>
        </p:spPr>
      </p:pic>
      <p:pic>
        <p:nvPicPr>
          <p:cNvPr id="535" name="Google Shape;535;p68"/>
          <p:cNvPicPr preferRelativeResize="0"/>
          <p:nvPr/>
        </p:nvPicPr>
        <p:blipFill rotWithShape="1">
          <a:blip r:embed="rId4">
            <a:alphaModFix/>
          </a:blip>
          <a:srcRect l="21745" t="19595" r="19802" b="7520"/>
          <a:stretch/>
        </p:blipFill>
        <p:spPr>
          <a:xfrm>
            <a:off x="5766056" y="3429000"/>
            <a:ext cx="3192192" cy="3141133"/>
          </a:xfrm>
          <a:prstGeom prst="rect">
            <a:avLst/>
          </a:prstGeom>
          <a:noFill/>
          <a:ln>
            <a:noFill/>
          </a:ln>
        </p:spPr>
      </p:pic>
      <p:sp>
        <p:nvSpPr>
          <p:cNvPr id="2" name="Title 1">
            <a:extLst>
              <a:ext uri="{FF2B5EF4-FFF2-40B4-BE49-F238E27FC236}">
                <a16:creationId xmlns:a16="http://schemas.microsoft.com/office/drawing/2014/main" id="{BC566615-F4D5-47E7-B179-0B52DAD8FEDA}"/>
              </a:ext>
            </a:extLst>
          </p:cNvPr>
          <p:cNvSpPr txBox="1">
            <a:spLocks/>
          </p:cNvSpPr>
          <p:nvPr/>
        </p:nvSpPr>
        <p:spPr>
          <a:xfrm>
            <a:off x="0" y="685800"/>
            <a:ext cx="9123529"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4:1Multiplexer</a:t>
            </a:r>
          </a:p>
        </p:txBody>
      </p:sp>
      <p:pic>
        <p:nvPicPr>
          <p:cNvPr id="3" name="Picture 2">
            <a:extLst>
              <a:ext uri="{FF2B5EF4-FFF2-40B4-BE49-F238E27FC236}">
                <a16:creationId xmlns:a16="http://schemas.microsoft.com/office/drawing/2014/main" id="{4485E4D6-F6BE-478D-6B74-71A13C5047B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3390" y="0"/>
            <a:ext cx="1339997" cy="575049"/>
          </a:xfrm>
          <a:prstGeom prst="rect">
            <a:avLst/>
          </a:prstGeom>
        </p:spPr>
      </p:pic>
      <p:sp>
        <p:nvSpPr>
          <p:cNvPr id="11" name="TextBox 10">
            <a:extLst>
              <a:ext uri="{FF2B5EF4-FFF2-40B4-BE49-F238E27FC236}">
                <a16:creationId xmlns:a16="http://schemas.microsoft.com/office/drawing/2014/main" id="{697D7E2D-6DEC-46C6-A168-B894B48B3538}"/>
              </a:ext>
            </a:extLst>
          </p:cNvPr>
          <p:cNvSpPr txBox="1"/>
          <p:nvPr/>
        </p:nvSpPr>
        <p:spPr>
          <a:xfrm>
            <a:off x="185752" y="1312330"/>
            <a:ext cx="4682581" cy="4401205"/>
          </a:xfrm>
          <a:prstGeom prst="rect">
            <a:avLst/>
          </a:prstGeom>
          <a:noFill/>
          <a:ln w="38100">
            <a:solidFill>
              <a:schemeClr val="accent1"/>
            </a:solidFill>
          </a:ln>
        </p:spPr>
        <p:txBody>
          <a:bodyPr wrap="square">
            <a:spAutoFit/>
          </a:bodyPr>
          <a:lstStyle/>
          <a:p>
            <a:pPr marL="342900" marR="0" lvl="0" indent="-342900" algn="l" rtl="0">
              <a:spcBef>
                <a:spcPts val="600"/>
              </a:spcBef>
              <a:spcAft>
                <a:spcPts val="600"/>
              </a:spcAft>
              <a:buClr>
                <a:schemeClr val="dk1"/>
              </a:buClr>
              <a:buSzPts val="1800"/>
              <a:buFont typeface="Wingdings" panose="05000000000000000000" pitchFamily="2" charset="2"/>
              <a:buChar char="Ø"/>
            </a:pPr>
            <a:r>
              <a:rPr lang="en-US" sz="2000" dirty="0">
                <a:solidFill>
                  <a:schemeClr val="dk1"/>
                </a:solidFill>
                <a:latin typeface="Times New Roman"/>
                <a:ea typeface="Times New Roman"/>
                <a:cs typeface="Times New Roman"/>
                <a:sym typeface="Times New Roman"/>
              </a:rPr>
              <a:t>Fig. shows the block diagram of a 4: 1 multiplexer and Table gives its truth table.</a:t>
            </a:r>
            <a:endParaRPr lang="en-US" sz="2000" dirty="0"/>
          </a:p>
          <a:p>
            <a:pPr marL="342900" marR="0" lvl="0" indent="-342900" algn="l" rtl="0">
              <a:spcBef>
                <a:spcPts val="600"/>
              </a:spcBef>
              <a:spcAft>
                <a:spcPts val="600"/>
              </a:spcAft>
              <a:buClr>
                <a:schemeClr val="dk1"/>
              </a:buClr>
              <a:buSzPts val="1800"/>
              <a:buFont typeface="Wingdings" panose="05000000000000000000" pitchFamily="2" charset="2"/>
              <a:buChar char="Ø"/>
            </a:pPr>
            <a:r>
              <a:rPr lang="en-US" sz="2000" dirty="0">
                <a:solidFill>
                  <a:schemeClr val="dk1"/>
                </a:solidFill>
                <a:latin typeface="Times New Roman"/>
                <a:ea typeface="Times New Roman"/>
                <a:cs typeface="Times New Roman"/>
                <a:sym typeface="Times New Roman"/>
              </a:rPr>
              <a:t>Note that n = 4 hence number of select lines i.e. m = 2 so that 2 = n. </a:t>
            </a:r>
            <a:endParaRPr lang="en-US" sz="2000" dirty="0"/>
          </a:p>
          <a:p>
            <a:pPr marL="342900" marR="0" lvl="0" indent="-342900" algn="l" rtl="0">
              <a:spcBef>
                <a:spcPts val="600"/>
              </a:spcBef>
              <a:spcAft>
                <a:spcPts val="600"/>
              </a:spcAft>
              <a:buClr>
                <a:schemeClr val="dk1"/>
              </a:buClr>
              <a:buSzPts val="1800"/>
              <a:buFont typeface="Wingdings" panose="05000000000000000000" pitchFamily="2" charset="2"/>
              <a:buChar char="Ø"/>
            </a:pPr>
            <a:r>
              <a:rPr lang="en-US" sz="2000" dirty="0">
                <a:solidFill>
                  <a:schemeClr val="dk1"/>
                </a:solidFill>
                <a:latin typeface="Times New Roman"/>
                <a:ea typeface="Times New Roman"/>
                <a:cs typeface="Times New Roman"/>
                <a:sym typeface="Times New Roman"/>
              </a:rPr>
              <a:t>The truth table tells us that if S₁ So 00, the data bit Do is selected and routed to output Y = Do </a:t>
            </a:r>
          </a:p>
          <a:p>
            <a:pPr marL="342900" marR="0" lvl="0" indent="-342900" algn="l" rtl="0">
              <a:spcBef>
                <a:spcPts val="600"/>
              </a:spcBef>
              <a:spcAft>
                <a:spcPts val="600"/>
              </a:spcAft>
              <a:buClr>
                <a:schemeClr val="dk1"/>
              </a:buClr>
              <a:buSzPts val="1800"/>
              <a:buFont typeface="Wingdings" panose="05000000000000000000" pitchFamily="2" charset="2"/>
              <a:buChar char="Ø"/>
            </a:pPr>
            <a:r>
              <a:rPr lang="en-US" sz="2000" dirty="0">
                <a:solidFill>
                  <a:schemeClr val="dk1"/>
                </a:solidFill>
                <a:latin typeface="Times New Roman"/>
                <a:ea typeface="Times New Roman"/>
                <a:cs typeface="Times New Roman"/>
                <a:sym typeface="Times New Roman"/>
              </a:rPr>
              <a:t>Similarly if S₁ So 01, then D₁ is selected and routed to the output Y = D₁ </a:t>
            </a:r>
          </a:p>
          <a:p>
            <a:pPr marL="342900" marR="0" lvl="0" indent="-342900" algn="l" rtl="0">
              <a:spcBef>
                <a:spcPts val="600"/>
              </a:spcBef>
              <a:spcAft>
                <a:spcPts val="600"/>
              </a:spcAft>
              <a:buClr>
                <a:schemeClr val="dk1"/>
              </a:buClr>
              <a:buSzPts val="1800"/>
              <a:buFont typeface="Wingdings" panose="05000000000000000000" pitchFamily="2" charset="2"/>
              <a:buChar char="Ø"/>
            </a:pPr>
            <a:r>
              <a:rPr lang="en-US" sz="2000" dirty="0">
                <a:solidFill>
                  <a:schemeClr val="dk1"/>
                </a:solidFill>
                <a:latin typeface="Times New Roman"/>
                <a:ea typeface="Times New Roman"/>
                <a:cs typeface="Times New Roman"/>
                <a:sym typeface="Times New Roman"/>
              </a:rPr>
              <a:t>Y = D₂ for S₁ So = 10 and Y = D3 for S₁ So 11</a:t>
            </a:r>
            <a:endParaRPr lang="en-US" sz="2000" dirty="0"/>
          </a:p>
        </p:txBody>
      </p:sp>
      <p:pic>
        <p:nvPicPr>
          <p:cNvPr id="7" name="Picture 6">
            <a:extLst>
              <a:ext uri="{FF2B5EF4-FFF2-40B4-BE49-F238E27FC236}">
                <a16:creationId xmlns:a16="http://schemas.microsoft.com/office/drawing/2014/main" id="{66EC8B18-F1CE-8BFA-DD68-8F5D6E6A7887}"/>
              </a:ext>
            </a:extLst>
          </p:cNvPr>
          <p:cNvPicPr>
            <a:picLocks noChangeAspect="1"/>
          </p:cNvPicPr>
          <p:nvPr/>
        </p:nvPicPr>
        <p:blipFill>
          <a:blip r:embed="rId6"/>
          <a:stretch>
            <a:fillRect/>
          </a:stretch>
        </p:blipFill>
        <p:spPr>
          <a:xfrm>
            <a:off x="306345" y="5948331"/>
            <a:ext cx="5010849" cy="447737"/>
          </a:xfrm>
          <a:prstGeom prst="rect">
            <a:avLst/>
          </a:prstGeom>
          <a:ln w="38100">
            <a:solidFill>
              <a:srgbClr val="C00000"/>
            </a:solid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678D98A5-E1EB-C6C4-276C-4E9C29BA3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922FC7-F524-5C4B-78B3-DE03CB69CC0B}"/>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err="1">
                <a:solidFill>
                  <a:schemeClr val="bg1"/>
                </a:solidFill>
                <a:latin typeface="Times New Roman" panose="02020603050405020304" pitchFamily="18" charset="0"/>
                <a:cs typeface="Times New Roman" panose="02020603050405020304" pitchFamily="18" charset="0"/>
              </a:rPr>
              <a:t>Cont</a:t>
            </a:r>
            <a:r>
              <a:rPr lang="en-US" altLang="en-US" sz="3600" b="1" dirty="0">
                <a:solidFill>
                  <a:schemeClr val="bg1"/>
                </a:solidFill>
                <a:latin typeface="Times New Roman" panose="02020603050405020304" pitchFamily="18" charset="0"/>
                <a:cs typeface="Times New Roman" panose="02020603050405020304" pitchFamily="18" charset="0"/>
              </a:rPr>
              <a:t>…</a:t>
            </a:r>
          </a:p>
        </p:txBody>
      </p:sp>
      <p:pic>
        <p:nvPicPr>
          <p:cNvPr id="3" name="Picture 2">
            <a:extLst>
              <a:ext uri="{FF2B5EF4-FFF2-40B4-BE49-F238E27FC236}">
                <a16:creationId xmlns:a16="http://schemas.microsoft.com/office/drawing/2014/main" id="{436B13BC-8A93-36B5-8CC9-F8CE8C9F23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pic>
        <p:nvPicPr>
          <p:cNvPr id="5" name="Picture 4">
            <a:extLst>
              <a:ext uri="{FF2B5EF4-FFF2-40B4-BE49-F238E27FC236}">
                <a16:creationId xmlns:a16="http://schemas.microsoft.com/office/drawing/2014/main" id="{AA09FD03-6CBA-D0A4-DD42-601C3786D288}"/>
              </a:ext>
            </a:extLst>
          </p:cNvPr>
          <p:cNvPicPr>
            <a:picLocks noChangeAspect="1"/>
          </p:cNvPicPr>
          <p:nvPr/>
        </p:nvPicPr>
        <p:blipFill>
          <a:blip r:embed="rId4"/>
          <a:stretch>
            <a:fillRect/>
          </a:stretch>
        </p:blipFill>
        <p:spPr>
          <a:xfrm>
            <a:off x="5296217" y="3819835"/>
            <a:ext cx="3488155" cy="2379133"/>
          </a:xfrm>
          <a:prstGeom prst="rect">
            <a:avLst/>
          </a:prstGeom>
        </p:spPr>
      </p:pic>
      <p:pic>
        <p:nvPicPr>
          <p:cNvPr id="8" name="Picture 7">
            <a:extLst>
              <a:ext uri="{FF2B5EF4-FFF2-40B4-BE49-F238E27FC236}">
                <a16:creationId xmlns:a16="http://schemas.microsoft.com/office/drawing/2014/main" id="{F3A5DAC4-4E76-27FB-DBD6-788E7C205515}"/>
              </a:ext>
            </a:extLst>
          </p:cNvPr>
          <p:cNvPicPr>
            <a:picLocks noChangeAspect="1"/>
          </p:cNvPicPr>
          <p:nvPr/>
        </p:nvPicPr>
        <p:blipFill>
          <a:blip r:embed="rId5"/>
          <a:stretch>
            <a:fillRect/>
          </a:stretch>
        </p:blipFill>
        <p:spPr>
          <a:xfrm>
            <a:off x="5296217" y="1329951"/>
            <a:ext cx="3488155" cy="2379133"/>
          </a:xfrm>
          <a:prstGeom prst="rect">
            <a:avLst/>
          </a:prstGeom>
        </p:spPr>
      </p:pic>
      <p:pic>
        <p:nvPicPr>
          <p:cNvPr id="536" name="Google Shape;536;p68" descr="C:\Users\pcp\Downloads\IMG_20211022_142612.jpg"/>
          <p:cNvPicPr preferRelativeResize="0"/>
          <p:nvPr/>
        </p:nvPicPr>
        <p:blipFill rotWithShape="1">
          <a:blip r:embed="rId6">
            <a:alphaModFix/>
          </a:blip>
          <a:srcRect l="7281" t="24875" r="5423" b="8656"/>
          <a:stretch/>
        </p:blipFill>
        <p:spPr>
          <a:xfrm>
            <a:off x="359628" y="2025241"/>
            <a:ext cx="4212372" cy="4675454"/>
          </a:xfrm>
          <a:prstGeom prst="rect">
            <a:avLst/>
          </a:prstGeom>
          <a:noFill/>
          <a:ln>
            <a:noFill/>
          </a:ln>
        </p:spPr>
      </p:pic>
      <p:sp>
        <p:nvSpPr>
          <p:cNvPr id="13" name="TextBox 12">
            <a:extLst>
              <a:ext uri="{FF2B5EF4-FFF2-40B4-BE49-F238E27FC236}">
                <a16:creationId xmlns:a16="http://schemas.microsoft.com/office/drawing/2014/main" id="{7D46CB52-F300-4082-4B4E-F29BE88860E9}"/>
              </a:ext>
            </a:extLst>
          </p:cNvPr>
          <p:cNvSpPr txBox="1"/>
          <p:nvPr/>
        </p:nvSpPr>
        <p:spPr>
          <a:xfrm>
            <a:off x="93390" y="1280284"/>
            <a:ext cx="4876543" cy="707886"/>
          </a:xfrm>
          <a:prstGeom prst="rect">
            <a:avLst/>
          </a:prstGeom>
          <a:solidFill>
            <a:srgbClr val="92D050"/>
          </a:solidFill>
        </p:spPr>
        <p:txBody>
          <a:bodyPr wrap="square">
            <a:spAutoFit/>
          </a:bodyPr>
          <a:lstStyle/>
          <a:p>
            <a:pPr marL="0" marR="0" lvl="0" indent="0" algn="ctr" rtl="0">
              <a:spcBef>
                <a:spcPts val="0"/>
              </a:spcBef>
              <a:spcAft>
                <a:spcPts val="0"/>
              </a:spcAft>
              <a:buNone/>
            </a:pPr>
            <a:r>
              <a:rPr lang="en-US" sz="2000" b="1" dirty="0">
                <a:solidFill>
                  <a:schemeClr val="dk1"/>
                </a:solidFill>
                <a:latin typeface="Times New Roman"/>
                <a:ea typeface="Times New Roman"/>
                <a:cs typeface="Times New Roman"/>
                <a:sym typeface="Times New Roman"/>
              </a:rPr>
              <a:t>This expression can be realized using basic gates as shown in</a:t>
            </a:r>
            <a:endParaRPr lang="en-US" sz="2000" b="1" dirty="0"/>
          </a:p>
        </p:txBody>
      </p:sp>
    </p:spTree>
    <p:extLst>
      <p:ext uri="{BB962C8B-B14F-4D97-AF65-F5344CB8AC3E}">
        <p14:creationId xmlns:p14="http://schemas.microsoft.com/office/powerpoint/2010/main" val="10070859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3" name="Google Shape;553;p70" descr="Multiplexer (MUX) and Multiplexing"/>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5" name="Google Shape;555;p70"/>
          <p:cNvSpPr/>
          <p:nvPr/>
        </p:nvSpPr>
        <p:spPr>
          <a:xfrm>
            <a:off x="2819400" y="4495800"/>
            <a:ext cx="1219200" cy="304800"/>
          </a:xfrm>
          <a:prstGeom prst="rect">
            <a:avLst/>
          </a:prstGeom>
          <a:solidFill>
            <a:srgbClr val="F2F2F2"/>
          </a:solidFill>
          <a:ln w="25400" cap="flat" cmpd="sng">
            <a:solidFill>
              <a:srgbClr val="F2F2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074" name="Picture 2" descr="https://sginfobmt.wordpress.com/wp-content/uploads/2014/09/092714_1512_multiplexer5.png?w=96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75" y="1595966"/>
            <a:ext cx="8729165" cy="416998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A5D8DDA-DA3A-DB4D-BB52-E03A2A6200E9}"/>
              </a:ext>
            </a:extLst>
          </p:cNvPr>
          <p:cNvSpPr txBox="1">
            <a:spLocks/>
          </p:cNvSpPr>
          <p:nvPr/>
        </p:nvSpPr>
        <p:spPr>
          <a:xfrm>
            <a:off x="0" y="685800"/>
            <a:ext cx="9123529"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8:1Multiplexer</a:t>
            </a:r>
          </a:p>
        </p:txBody>
      </p:sp>
      <p:pic>
        <p:nvPicPr>
          <p:cNvPr id="3" name="Picture 2">
            <a:extLst>
              <a:ext uri="{FF2B5EF4-FFF2-40B4-BE49-F238E27FC236}">
                <a16:creationId xmlns:a16="http://schemas.microsoft.com/office/drawing/2014/main" id="{AD2042A4-1D91-DC1E-7AC3-7EF8BD7D33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390" y="0"/>
            <a:ext cx="1339997" cy="57504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71"/>
          <p:cNvSpPr txBox="1">
            <a:spLocks noGrp="1"/>
          </p:cNvSpPr>
          <p:nvPr>
            <p:ph type="body" idx="1"/>
          </p:nvPr>
        </p:nvSpPr>
        <p:spPr>
          <a:xfrm>
            <a:off x="309033" y="1219200"/>
            <a:ext cx="8525934" cy="5249333"/>
          </a:xfrm>
          <a:prstGeom prst="rect">
            <a:avLst/>
          </a:prstGeom>
          <a:noFill/>
          <a:ln>
            <a:noFill/>
          </a:ln>
        </p:spPr>
        <p:txBody>
          <a:bodyPr spcFirstLastPara="1" wrap="square" lIns="91425" tIns="45700" rIns="91425" bIns="45700" anchor="t" anchorCtr="0">
            <a:normAutofit fontScale="92500"/>
          </a:bodyPr>
          <a:lstStyle/>
          <a:p>
            <a:pPr marL="0" lvl="0" indent="0" algn="just" rtl="0">
              <a:spcBef>
                <a:spcPts val="600"/>
              </a:spcBef>
              <a:spcAft>
                <a:spcPts val="600"/>
              </a:spcAft>
              <a:buClr>
                <a:schemeClr val="dk1"/>
              </a:buClr>
              <a:buSzPct val="100000"/>
              <a:buNone/>
            </a:pPr>
            <a:r>
              <a:rPr lang="en-US" sz="2000" dirty="0">
                <a:latin typeface="Times New Roman" panose="02020603050405020304" pitchFamily="18" charset="0"/>
                <a:ea typeface="Times New Roman"/>
                <a:cs typeface="Times New Roman" panose="02020603050405020304" pitchFamily="18" charset="0"/>
                <a:sym typeface="Times New Roman"/>
              </a:rPr>
              <a:t>The block diagram of an 8 1 MUX is shown in Fig. 1and its truth table is shown in Fig. </a:t>
            </a:r>
            <a:r>
              <a:rPr lang="en-US" sz="2000" dirty="0" smtClean="0">
                <a:latin typeface="Times New Roman" panose="02020603050405020304" pitchFamily="18" charset="0"/>
                <a:ea typeface="Times New Roman"/>
                <a:cs typeface="Times New Roman" panose="02020603050405020304" pitchFamily="18" charset="0"/>
                <a:sym typeface="Times New Roman"/>
              </a:rPr>
              <a:t>2. It </a:t>
            </a:r>
            <a:r>
              <a:rPr lang="en-US" sz="2000" dirty="0">
                <a:latin typeface="Times New Roman" panose="02020603050405020304" pitchFamily="18" charset="0"/>
                <a:ea typeface="Times New Roman"/>
                <a:cs typeface="Times New Roman" panose="02020603050405020304" pitchFamily="18" charset="0"/>
                <a:sym typeface="Times New Roman"/>
              </a:rPr>
              <a:t>has eight data inputs, one enable input, three select inputs and one output.</a:t>
            </a:r>
            <a:endParaRPr sz="2000" dirty="0">
              <a:latin typeface="Times New Roman" panose="02020603050405020304" pitchFamily="18" charset="0"/>
              <a:ea typeface="Times New Roman"/>
              <a:cs typeface="Times New Roman" panose="02020603050405020304" pitchFamily="18" charset="0"/>
              <a:sym typeface="Times New Roman"/>
            </a:endParaRPr>
          </a:p>
          <a:p>
            <a:pPr marL="0" lvl="0" indent="0" algn="l" rtl="0">
              <a:spcBef>
                <a:spcPts val="600"/>
              </a:spcBef>
              <a:spcAft>
                <a:spcPts val="600"/>
              </a:spcAft>
              <a:buClr>
                <a:schemeClr val="dk1"/>
              </a:buClr>
              <a:buSzPct val="100000"/>
              <a:buNone/>
            </a:pPr>
            <a:r>
              <a:rPr lang="en-US" sz="2000" b="1" dirty="0">
                <a:latin typeface="Times New Roman" panose="02020603050405020304" pitchFamily="18" charset="0"/>
                <a:ea typeface="Times New Roman"/>
                <a:cs typeface="Times New Roman" panose="02020603050405020304" pitchFamily="18" charset="0"/>
                <a:sym typeface="Times New Roman"/>
              </a:rPr>
              <a:t>Operating principle :</a:t>
            </a:r>
            <a:endParaRPr sz="2000" b="1" dirty="0">
              <a:latin typeface="Times New Roman" panose="02020603050405020304" pitchFamily="18" charset="0"/>
              <a:cs typeface="Times New Roman" panose="02020603050405020304" pitchFamily="18" charset="0"/>
            </a:endParaRPr>
          </a:p>
          <a:p>
            <a:pPr marL="514350" lvl="0" indent="-514350" algn="l" rtl="0">
              <a:spcBef>
                <a:spcPts val="600"/>
              </a:spcBef>
              <a:spcAft>
                <a:spcPts val="600"/>
              </a:spcAft>
              <a:buClr>
                <a:schemeClr val="dk1"/>
              </a:buClr>
              <a:buSzPct val="100000"/>
              <a:buFont typeface="Wingdings" panose="05000000000000000000" pitchFamily="2" charset="2"/>
              <a:buChar char="Ø"/>
            </a:pPr>
            <a:r>
              <a:rPr lang="en-US" sz="2000" dirty="0">
                <a:latin typeface="Times New Roman" panose="02020603050405020304" pitchFamily="18" charset="0"/>
                <a:ea typeface="Times New Roman"/>
                <a:cs typeface="Times New Roman" panose="02020603050405020304" pitchFamily="18" charset="0"/>
                <a:sym typeface="Times New Roman"/>
              </a:rPr>
              <a:t>When the strobe or enable input is 0, the multiplexer will be 0 irrespective of any input. With E = 1, we can select any one of the eight data inputs and of the connect it to the output. </a:t>
            </a:r>
            <a:endParaRPr sz="2000" dirty="0">
              <a:latin typeface="Times New Roman" panose="02020603050405020304" pitchFamily="18" charset="0"/>
              <a:cs typeface="Times New Roman" panose="02020603050405020304" pitchFamily="18" charset="0"/>
            </a:endParaRPr>
          </a:p>
          <a:p>
            <a:pPr marL="514350" lvl="0" indent="-514350" algn="l" rtl="0">
              <a:spcBef>
                <a:spcPts val="600"/>
              </a:spcBef>
              <a:spcAft>
                <a:spcPts val="600"/>
              </a:spcAft>
              <a:buClr>
                <a:schemeClr val="dk1"/>
              </a:buClr>
              <a:buSzPct val="100000"/>
              <a:buFont typeface="Wingdings" panose="05000000000000000000" pitchFamily="2" charset="2"/>
              <a:buChar char="Ø"/>
            </a:pPr>
            <a:r>
              <a:rPr lang="en-US" sz="2000" dirty="0">
                <a:latin typeface="Times New Roman" panose="02020603050405020304" pitchFamily="18" charset="0"/>
                <a:ea typeface="Times New Roman"/>
                <a:cs typeface="Times New Roman" panose="02020603050405020304" pitchFamily="18" charset="0"/>
                <a:sym typeface="Times New Roman"/>
              </a:rPr>
              <a:t>For example if S₂ S, So = 0 1 1 then the data input D, is selected and output Y will follow the selected input D3.</a:t>
            </a:r>
            <a:endParaRPr sz="2000" dirty="0">
              <a:latin typeface="Times New Roman" panose="02020603050405020304" pitchFamily="18" charset="0"/>
              <a:cs typeface="Times New Roman" panose="02020603050405020304" pitchFamily="18" charset="0"/>
            </a:endParaRPr>
          </a:p>
          <a:p>
            <a:pPr marL="514350" lvl="0" indent="-514350" algn="l" rtl="0">
              <a:spcBef>
                <a:spcPts val="600"/>
              </a:spcBef>
              <a:spcAft>
                <a:spcPts val="600"/>
              </a:spcAft>
              <a:buClr>
                <a:schemeClr val="dk1"/>
              </a:buClr>
              <a:buSzPct val="100000"/>
              <a:buFont typeface="Wingdings" panose="05000000000000000000" pitchFamily="2" charset="2"/>
              <a:buChar char="Ø"/>
            </a:pPr>
            <a:r>
              <a:rPr lang="en-US" sz="2000" dirty="0">
                <a:latin typeface="Times New Roman" panose="02020603050405020304" pitchFamily="18" charset="0"/>
                <a:ea typeface="Times New Roman"/>
                <a:cs typeface="Times New Roman" panose="02020603050405020304" pitchFamily="18" charset="0"/>
                <a:sym typeface="Times New Roman"/>
              </a:rPr>
              <a:t>Realization using gates :</a:t>
            </a:r>
            <a:endParaRPr sz="2000" dirty="0">
              <a:latin typeface="Times New Roman" panose="02020603050405020304" pitchFamily="18" charset="0"/>
              <a:cs typeface="Times New Roman" panose="02020603050405020304" pitchFamily="18" charset="0"/>
            </a:endParaRPr>
          </a:p>
          <a:p>
            <a:pPr marL="514350" lvl="0" indent="-514350" algn="l" rtl="0">
              <a:spcBef>
                <a:spcPts val="600"/>
              </a:spcBef>
              <a:spcAft>
                <a:spcPts val="600"/>
              </a:spcAft>
              <a:buClr>
                <a:schemeClr val="dk1"/>
              </a:buClr>
              <a:buSzPct val="100000"/>
              <a:buFont typeface="Wingdings" panose="05000000000000000000" pitchFamily="2" charset="2"/>
              <a:buChar char="Ø"/>
            </a:pPr>
            <a:r>
              <a:rPr lang="en-US" sz="2000" dirty="0">
                <a:latin typeface="Times New Roman" panose="02020603050405020304" pitchFamily="18" charset="0"/>
                <a:ea typeface="Times New Roman"/>
                <a:cs typeface="Times New Roman" panose="02020603050405020304" pitchFamily="18" charset="0"/>
                <a:sym typeface="Times New Roman"/>
              </a:rPr>
              <a:t>The expression for output Y can be obtained from the truth table of Fig. as</a:t>
            </a:r>
          </a:p>
          <a:p>
            <a:pPr marL="514350" lvl="0" indent="-514350" algn="l" rtl="0">
              <a:spcBef>
                <a:spcPts val="600"/>
              </a:spcBef>
              <a:spcAft>
                <a:spcPts val="600"/>
              </a:spcAft>
              <a:buClr>
                <a:schemeClr val="dk1"/>
              </a:buClr>
              <a:buSzPct val="100000"/>
              <a:buFont typeface="Wingdings" panose="05000000000000000000" pitchFamily="2" charset="2"/>
              <a:buChar char="Ø"/>
            </a:pPr>
            <a:endParaRPr lang="en-IN" sz="2000" dirty="0">
              <a:latin typeface="Times New Roman" panose="02020603050405020304" pitchFamily="18" charset="0"/>
              <a:ea typeface="Times New Roman"/>
              <a:cs typeface="Times New Roman" panose="02020603050405020304" pitchFamily="18" charset="0"/>
              <a:sym typeface="Times New Roman"/>
            </a:endParaRPr>
          </a:p>
          <a:p>
            <a:pPr marL="514350" lvl="0" indent="-514350" algn="l" rtl="0">
              <a:spcBef>
                <a:spcPts val="600"/>
              </a:spcBef>
              <a:spcAft>
                <a:spcPts val="600"/>
              </a:spcAft>
              <a:buClr>
                <a:schemeClr val="dk1"/>
              </a:buClr>
              <a:buSzPct val="100000"/>
              <a:buFont typeface="Wingdings" panose="05000000000000000000" pitchFamily="2" charset="2"/>
              <a:buChar char="Ø"/>
            </a:pPr>
            <a:endParaRPr sz="2000" dirty="0">
              <a:latin typeface="Times New Roman" panose="02020603050405020304" pitchFamily="18" charset="0"/>
              <a:ea typeface="Times New Roman"/>
              <a:cs typeface="Times New Roman" panose="02020603050405020304" pitchFamily="18" charset="0"/>
              <a:sym typeface="Times New Roman"/>
            </a:endParaRPr>
          </a:p>
          <a:p>
            <a:pPr lvl="0" indent="-457200" algn="l" rtl="0">
              <a:spcBef>
                <a:spcPts val="600"/>
              </a:spcBef>
              <a:spcAft>
                <a:spcPts val="600"/>
              </a:spcAft>
              <a:buClr>
                <a:schemeClr val="dk1"/>
              </a:buClr>
              <a:buSzPct val="100000"/>
              <a:buFont typeface="Wingdings" panose="05000000000000000000" pitchFamily="2" charset="2"/>
              <a:buChar char="Ø"/>
            </a:pPr>
            <a:r>
              <a:rPr lang="en-US" sz="2000" dirty="0">
                <a:latin typeface="Times New Roman" panose="02020603050405020304" pitchFamily="18" charset="0"/>
                <a:ea typeface="Times New Roman"/>
                <a:cs typeface="Times New Roman" panose="02020603050405020304" pitchFamily="18" charset="0"/>
                <a:sym typeface="Times New Roman"/>
              </a:rPr>
              <a:t>The realization of 8 : 1 MUX using gates is shown in Fig. </a:t>
            </a:r>
            <a:endParaRPr sz="2000"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8B571842-D4D5-7F2A-D645-B58B0CA0BF87}"/>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err="1">
                <a:solidFill>
                  <a:schemeClr val="bg1"/>
                </a:solidFill>
                <a:latin typeface="Times New Roman" panose="02020603050405020304" pitchFamily="18" charset="0"/>
                <a:cs typeface="Times New Roman" panose="02020603050405020304" pitchFamily="18" charset="0"/>
              </a:rPr>
              <a:t>Cont</a:t>
            </a:r>
            <a:r>
              <a:rPr lang="en-US" altLang="en-US" sz="3600" b="1" dirty="0">
                <a:solidFill>
                  <a:schemeClr val="bg1"/>
                </a:solidFill>
                <a:latin typeface="Times New Roman" panose="02020603050405020304" pitchFamily="18" charset="0"/>
                <a:cs typeface="Times New Roman" panose="02020603050405020304" pitchFamily="18" charset="0"/>
              </a:rPr>
              <a:t>…</a:t>
            </a:r>
          </a:p>
        </p:txBody>
      </p:sp>
      <p:pic>
        <p:nvPicPr>
          <p:cNvPr id="3" name="Picture 2">
            <a:extLst>
              <a:ext uri="{FF2B5EF4-FFF2-40B4-BE49-F238E27FC236}">
                <a16:creationId xmlns:a16="http://schemas.microsoft.com/office/drawing/2014/main" id="{85A116F1-82D1-F8CA-8BB8-EBB5CB8F2AE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pic>
        <p:nvPicPr>
          <p:cNvPr id="5" name="Picture 4">
            <a:extLst>
              <a:ext uri="{FF2B5EF4-FFF2-40B4-BE49-F238E27FC236}">
                <a16:creationId xmlns:a16="http://schemas.microsoft.com/office/drawing/2014/main" id="{C0C552F0-5CB3-2076-8A56-271D0B78D630}"/>
              </a:ext>
            </a:extLst>
          </p:cNvPr>
          <p:cNvPicPr>
            <a:picLocks noChangeAspect="1"/>
          </p:cNvPicPr>
          <p:nvPr/>
        </p:nvPicPr>
        <p:blipFill>
          <a:blip r:embed="rId4"/>
          <a:stretch>
            <a:fillRect/>
          </a:stretch>
        </p:blipFill>
        <p:spPr>
          <a:xfrm>
            <a:off x="906190" y="5178979"/>
            <a:ext cx="7928777" cy="63591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pic>
        <p:nvPicPr>
          <p:cNvPr id="566" name="Google Shape;566;p72" descr="C:\Users\pcp\Downloads\IMG_20211022_142627.jpg"/>
          <p:cNvPicPr preferRelativeResize="0"/>
          <p:nvPr/>
        </p:nvPicPr>
        <p:blipFill rotWithShape="1">
          <a:blip r:embed="rId3">
            <a:alphaModFix/>
          </a:blip>
          <a:srcRect l="4627" t="13730" r="12853" b="4478"/>
          <a:stretch/>
        </p:blipFill>
        <p:spPr>
          <a:xfrm>
            <a:off x="2794000" y="59267"/>
            <a:ext cx="6350000" cy="6798733"/>
          </a:xfrm>
          <a:prstGeom prst="rect">
            <a:avLst/>
          </a:prstGeom>
          <a:noFill/>
          <a:ln>
            <a:noFill/>
          </a:ln>
        </p:spPr>
      </p:pic>
      <p:sp>
        <p:nvSpPr>
          <p:cNvPr id="2" name="Title 1">
            <a:extLst>
              <a:ext uri="{FF2B5EF4-FFF2-40B4-BE49-F238E27FC236}">
                <a16:creationId xmlns:a16="http://schemas.microsoft.com/office/drawing/2014/main" id="{2D4B9A8D-6AC9-4E25-E18B-B0AC74EEAB4B}"/>
              </a:ext>
            </a:extLst>
          </p:cNvPr>
          <p:cNvSpPr txBox="1">
            <a:spLocks/>
          </p:cNvSpPr>
          <p:nvPr/>
        </p:nvSpPr>
        <p:spPr>
          <a:xfrm>
            <a:off x="0" y="685800"/>
            <a:ext cx="279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err="1">
                <a:solidFill>
                  <a:schemeClr val="bg1"/>
                </a:solidFill>
                <a:latin typeface="Times New Roman" panose="02020603050405020304" pitchFamily="18" charset="0"/>
                <a:cs typeface="Times New Roman" panose="02020603050405020304" pitchFamily="18" charset="0"/>
              </a:rPr>
              <a:t>Cont</a:t>
            </a:r>
            <a:r>
              <a:rPr lang="en-US" altLang="en-US" sz="3600" b="1" dirty="0">
                <a:solidFill>
                  <a:schemeClr val="bg1"/>
                </a:solidFill>
                <a:latin typeface="Times New Roman" panose="02020603050405020304" pitchFamily="18" charset="0"/>
                <a:cs typeface="Times New Roman" panose="02020603050405020304" pitchFamily="18" charset="0"/>
              </a:rPr>
              <a:t>…</a:t>
            </a:r>
          </a:p>
        </p:txBody>
      </p:sp>
      <p:pic>
        <p:nvPicPr>
          <p:cNvPr id="3" name="Picture 2">
            <a:extLst>
              <a:ext uri="{FF2B5EF4-FFF2-40B4-BE49-F238E27FC236}">
                <a16:creationId xmlns:a16="http://schemas.microsoft.com/office/drawing/2014/main" id="{542F0885-D378-E0C3-950D-956BA739346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Title 1"/>
          <p:cNvSpPr>
            <a:spLocks noGrp="1"/>
          </p:cNvSpPr>
          <p:nvPr>
            <p:ph type="title"/>
          </p:nvPr>
        </p:nvSpPr>
        <p:spPr>
          <a:xfrm>
            <a:off x="381000" y="152400"/>
            <a:ext cx="8229600" cy="563563"/>
          </a:xfrm>
        </p:spPr>
        <p:txBody>
          <a:bodyPr>
            <a:normAutofit fontScale="90000"/>
          </a:bodyPr>
          <a:lstStyle/>
          <a:p>
            <a:pPr eaLnBrk="1" fontAlgn="auto" hangingPunct="1">
              <a:spcAft>
                <a:spcPts val="0"/>
              </a:spcAft>
              <a:defRPr/>
            </a:pPr>
            <a:r>
              <a:rPr lang="en-US" sz="3200" b="1" dirty="0" smtClean="0">
                <a:solidFill>
                  <a:schemeClr val="accent2">
                    <a:lumMod val="50000"/>
                  </a:schemeClr>
                </a:solidFill>
              </a:rPr>
              <a:t>8:1 Multiplexer using 4:1 Multiplexer</a:t>
            </a:r>
          </a:p>
        </p:txBody>
      </p:sp>
      <p:sp>
        <p:nvSpPr>
          <p:cNvPr id="205827"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B53D0014-89BC-4CB8-BEE0-B27E55300BC6}" type="datetime2">
              <a:rPr lang="en-US" altLang="en-US" smtClean="0">
                <a:solidFill>
                  <a:schemeClr val="tx2"/>
                </a:solidFill>
              </a:rPr>
              <a:pPr/>
              <a:t>Tuesday, March 10, 2026</a:t>
            </a:fld>
            <a:endParaRPr lang="en-US" altLang="en-US" smtClean="0">
              <a:solidFill>
                <a:schemeClr val="tx2"/>
              </a:solidFill>
            </a:endParaRPr>
          </a:p>
        </p:txBody>
      </p:sp>
      <p:sp>
        <p:nvSpPr>
          <p:cNvPr id="20582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cxnSp>
        <p:nvCxnSpPr>
          <p:cNvPr id="7" name="Straight Connector 6"/>
          <p:cNvCxnSpPr/>
          <p:nvPr/>
        </p:nvCxnSpPr>
        <p:spPr>
          <a:xfrm>
            <a:off x="304800" y="10668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259138" y="1116013"/>
            <a:ext cx="1600200" cy="238918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9" name="Straight Arrow Connector 8"/>
          <p:cNvCxnSpPr/>
          <p:nvPr/>
        </p:nvCxnSpPr>
        <p:spPr>
          <a:xfrm>
            <a:off x="2649538" y="1344613"/>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2649538" y="1752600"/>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2649538" y="3325813"/>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5834" name="TextBox 15"/>
          <p:cNvSpPr txBox="1">
            <a:spLocks noChangeArrowheads="1"/>
          </p:cNvSpPr>
          <p:nvPr/>
        </p:nvSpPr>
        <p:spPr bwMode="auto">
          <a:xfrm>
            <a:off x="3675063" y="1905000"/>
            <a:ext cx="7270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4:1</a:t>
            </a:r>
          </a:p>
          <a:p>
            <a:pPr algn="ctr" eaLnBrk="1" hangingPunct="1"/>
            <a:r>
              <a:rPr lang="en-US" altLang="en-US" b="1"/>
              <a:t>Mux</a:t>
            </a:r>
          </a:p>
        </p:txBody>
      </p:sp>
      <p:sp>
        <p:nvSpPr>
          <p:cNvPr id="205835" name="TextBox 16"/>
          <p:cNvSpPr txBox="1">
            <a:spLocks noChangeArrowheads="1"/>
          </p:cNvSpPr>
          <p:nvPr/>
        </p:nvSpPr>
        <p:spPr bwMode="auto">
          <a:xfrm>
            <a:off x="3284538" y="3148013"/>
            <a:ext cx="2968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a:t>
            </a:r>
          </a:p>
        </p:txBody>
      </p:sp>
      <p:sp>
        <p:nvSpPr>
          <p:cNvPr id="205836" name="TextBox 18"/>
          <p:cNvSpPr txBox="1">
            <a:spLocks noChangeArrowheads="1"/>
          </p:cNvSpPr>
          <p:nvPr/>
        </p:nvSpPr>
        <p:spPr bwMode="auto">
          <a:xfrm>
            <a:off x="5011738" y="17637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a:t>
            </a:r>
          </a:p>
        </p:txBody>
      </p:sp>
      <p:sp>
        <p:nvSpPr>
          <p:cNvPr id="205837" name="TextBox 19"/>
          <p:cNvSpPr txBox="1">
            <a:spLocks noChangeArrowheads="1"/>
          </p:cNvSpPr>
          <p:nvPr/>
        </p:nvSpPr>
        <p:spPr bwMode="auto">
          <a:xfrm>
            <a:off x="2243138" y="1066800"/>
            <a:ext cx="40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0</a:t>
            </a:r>
          </a:p>
        </p:txBody>
      </p:sp>
      <p:sp>
        <p:nvSpPr>
          <p:cNvPr id="205838" name="TextBox 20"/>
          <p:cNvSpPr txBox="1">
            <a:spLocks noChangeArrowheads="1"/>
          </p:cNvSpPr>
          <p:nvPr/>
        </p:nvSpPr>
        <p:spPr bwMode="auto">
          <a:xfrm>
            <a:off x="2243138" y="1512888"/>
            <a:ext cx="406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1</a:t>
            </a:r>
          </a:p>
        </p:txBody>
      </p:sp>
      <p:cxnSp>
        <p:nvCxnSpPr>
          <p:cNvPr id="24" name="Straight Arrow Connector 23"/>
          <p:cNvCxnSpPr/>
          <p:nvPr/>
        </p:nvCxnSpPr>
        <p:spPr>
          <a:xfrm>
            <a:off x="2649538" y="2209800"/>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2649538" y="2617788"/>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5841" name="TextBox 25"/>
          <p:cNvSpPr txBox="1">
            <a:spLocks noChangeArrowheads="1"/>
          </p:cNvSpPr>
          <p:nvPr/>
        </p:nvSpPr>
        <p:spPr bwMode="auto">
          <a:xfrm>
            <a:off x="2190750" y="1981200"/>
            <a:ext cx="40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2</a:t>
            </a:r>
          </a:p>
        </p:txBody>
      </p:sp>
      <p:sp>
        <p:nvSpPr>
          <p:cNvPr id="205842" name="TextBox 26"/>
          <p:cNvSpPr txBox="1">
            <a:spLocks noChangeArrowheads="1"/>
          </p:cNvSpPr>
          <p:nvPr/>
        </p:nvSpPr>
        <p:spPr bwMode="auto">
          <a:xfrm>
            <a:off x="2190750" y="2362200"/>
            <a:ext cx="40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3</a:t>
            </a:r>
          </a:p>
        </p:txBody>
      </p:sp>
      <p:sp>
        <p:nvSpPr>
          <p:cNvPr id="205843" name="TextBox 28"/>
          <p:cNvSpPr txBox="1">
            <a:spLocks noChangeArrowheads="1"/>
          </p:cNvSpPr>
          <p:nvPr/>
        </p:nvSpPr>
        <p:spPr bwMode="auto">
          <a:xfrm>
            <a:off x="4267200" y="3886200"/>
            <a:ext cx="368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0</a:t>
            </a:r>
          </a:p>
        </p:txBody>
      </p:sp>
      <p:sp>
        <p:nvSpPr>
          <p:cNvPr id="205844" name="TextBox 29"/>
          <p:cNvSpPr txBox="1">
            <a:spLocks noChangeArrowheads="1"/>
          </p:cNvSpPr>
          <p:nvPr/>
        </p:nvSpPr>
        <p:spPr bwMode="auto">
          <a:xfrm>
            <a:off x="1079500" y="3440113"/>
            <a:ext cx="368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1</a:t>
            </a:r>
          </a:p>
        </p:txBody>
      </p:sp>
      <p:sp>
        <p:nvSpPr>
          <p:cNvPr id="31" name="Rectangle 30"/>
          <p:cNvSpPr/>
          <p:nvPr/>
        </p:nvSpPr>
        <p:spPr>
          <a:xfrm>
            <a:off x="3278188" y="3924300"/>
            <a:ext cx="1600200" cy="2389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32" name="Straight Arrow Connector 31"/>
          <p:cNvCxnSpPr/>
          <p:nvPr/>
        </p:nvCxnSpPr>
        <p:spPr>
          <a:xfrm>
            <a:off x="2668588" y="4405313"/>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2668588" y="4811713"/>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V="1">
            <a:off x="2668588" y="6134100"/>
            <a:ext cx="609600" cy="635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5849" name="TextBox 36"/>
          <p:cNvSpPr txBox="1">
            <a:spLocks noChangeArrowheads="1"/>
          </p:cNvSpPr>
          <p:nvPr/>
        </p:nvSpPr>
        <p:spPr bwMode="auto">
          <a:xfrm>
            <a:off x="3694113" y="4713288"/>
            <a:ext cx="7270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4:1</a:t>
            </a:r>
          </a:p>
          <a:p>
            <a:pPr algn="ctr" eaLnBrk="1" hangingPunct="1"/>
            <a:r>
              <a:rPr lang="en-US" altLang="en-US" b="1"/>
              <a:t>Mux</a:t>
            </a:r>
          </a:p>
        </p:txBody>
      </p:sp>
      <p:sp>
        <p:nvSpPr>
          <p:cNvPr id="205850" name="TextBox 37"/>
          <p:cNvSpPr txBox="1">
            <a:spLocks noChangeArrowheads="1"/>
          </p:cNvSpPr>
          <p:nvPr/>
        </p:nvSpPr>
        <p:spPr bwMode="auto">
          <a:xfrm>
            <a:off x="3303588" y="5954713"/>
            <a:ext cx="2968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a:t>
            </a:r>
          </a:p>
        </p:txBody>
      </p:sp>
      <p:sp>
        <p:nvSpPr>
          <p:cNvPr id="205851" name="TextBox 39"/>
          <p:cNvSpPr txBox="1">
            <a:spLocks noChangeArrowheads="1"/>
          </p:cNvSpPr>
          <p:nvPr/>
        </p:nvSpPr>
        <p:spPr bwMode="auto">
          <a:xfrm>
            <a:off x="2262188" y="4125913"/>
            <a:ext cx="40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4</a:t>
            </a:r>
          </a:p>
        </p:txBody>
      </p:sp>
      <p:sp>
        <p:nvSpPr>
          <p:cNvPr id="205852" name="TextBox 40"/>
          <p:cNvSpPr txBox="1">
            <a:spLocks noChangeArrowheads="1"/>
          </p:cNvSpPr>
          <p:nvPr/>
        </p:nvSpPr>
        <p:spPr bwMode="auto">
          <a:xfrm>
            <a:off x="2262188" y="4572000"/>
            <a:ext cx="40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5</a:t>
            </a:r>
          </a:p>
        </p:txBody>
      </p:sp>
      <p:cxnSp>
        <p:nvCxnSpPr>
          <p:cNvPr id="42" name="Straight Arrow Connector 41"/>
          <p:cNvCxnSpPr/>
          <p:nvPr/>
        </p:nvCxnSpPr>
        <p:spPr>
          <a:xfrm>
            <a:off x="2668588" y="5268913"/>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2668588" y="5676900"/>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5855" name="TextBox 43"/>
          <p:cNvSpPr txBox="1">
            <a:spLocks noChangeArrowheads="1"/>
          </p:cNvSpPr>
          <p:nvPr/>
        </p:nvSpPr>
        <p:spPr bwMode="auto">
          <a:xfrm>
            <a:off x="2209800" y="5040313"/>
            <a:ext cx="40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6</a:t>
            </a:r>
          </a:p>
        </p:txBody>
      </p:sp>
      <p:sp>
        <p:nvSpPr>
          <p:cNvPr id="205856" name="TextBox 44"/>
          <p:cNvSpPr txBox="1">
            <a:spLocks noChangeArrowheads="1"/>
          </p:cNvSpPr>
          <p:nvPr/>
        </p:nvSpPr>
        <p:spPr bwMode="auto">
          <a:xfrm>
            <a:off x="2209800" y="5421313"/>
            <a:ext cx="40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7</a:t>
            </a:r>
          </a:p>
        </p:txBody>
      </p:sp>
      <p:cxnSp>
        <p:nvCxnSpPr>
          <p:cNvPr id="47" name="Straight Connector 46"/>
          <p:cNvCxnSpPr/>
          <p:nvPr/>
        </p:nvCxnSpPr>
        <p:spPr>
          <a:xfrm>
            <a:off x="3600450" y="3505200"/>
            <a:ext cx="0" cy="4191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4495800" y="3505200"/>
            <a:ext cx="0" cy="4191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H="1">
            <a:off x="1676400" y="3657600"/>
            <a:ext cx="192405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H="1">
            <a:off x="1676400" y="3810000"/>
            <a:ext cx="283845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5861" name="TextBox 52"/>
          <p:cNvSpPr txBox="1">
            <a:spLocks noChangeArrowheads="1"/>
          </p:cNvSpPr>
          <p:nvPr/>
        </p:nvSpPr>
        <p:spPr bwMode="auto">
          <a:xfrm>
            <a:off x="4267200" y="3124200"/>
            <a:ext cx="368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0</a:t>
            </a:r>
          </a:p>
        </p:txBody>
      </p:sp>
      <p:sp>
        <p:nvSpPr>
          <p:cNvPr id="205862" name="TextBox 53"/>
          <p:cNvSpPr txBox="1">
            <a:spLocks noChangeArrowheads="1"/>
          </p:cNvSpPr>
          <p:nvPr/>
        </p:nvSpPr>
        <p:spPr bwMode="auto">
          <a:xfrm>
            <a:off x="3441700" y="3886200"/>
            <a:ext cx="368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1</a:t>
            </a:r>
          </a:p>
        </p:txBody>
      </p:sp>
      <p:sp>
        <p:nvSpPr>
          <p:cNvPr id="205863" name="TextBox 54"/>
          <p:cNvSpPr txBox="1">
            <a:spLocks noChangeArrowheads="1"/>
          </p:cNvSpPr>
          <p:nvPr/>
        </p:nvSpPr>
        <p:spPr bwMode="auto">
          <a:xfrm>
            <a:off x="3429000" y="3211513"/>
            <a:ext cx="368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1</a:t>
            </a:r>
          </a:p>
        </p:txBody>
      </p:sp>
      <p:sp>
        <p:nvSpPr>
          <p:cNvPr id="205864" name="TextBox 62"/>
          <p:cNvSpPr txBox="1">
            <a:spLocks noChangeArrowheads="1"/>
          </p:cNvSpPr>
          <p:nvPr/>
        </p:nvSpPr>
        <p:spPr bwMode="auto">
          <a:xfrm>
            <a:off x="1066800" y="3668713"/>
            <a:ext cx="368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0</a:t>
            </a:r>
          </a:p>
        </p:txBody>
      </p:sp>
      <p:sp>
        <p:nvSpPr>
          <p:cNvPr id="205865" name="TextBox 63"/>
          <p:cNvSpPr txBox="1">
            <a:spLocks noChangeArrowheads="1"/>
          </p:cNvSpPr>
          <p:nvPr/>
        </p:nvSpPr>
        <p:spPr bwMode="auto">
          <a:xfrm>
            <a:off x="7175500" y="4572000"/>
            <a:ext cx="368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2</a:t>
            </a:r>
          </a:p>
        </p:txBody>
      </p:sp>
      <p:sp>
        <p:nvSpPr>
          <p:cNvPr id="205866" name="TextBox 68"/>
          <p:cNvSpPr txBox="1">
            <a:spLocks noChangeArrowheads="1"/>
          </p:cNvSpPr>
          <p:nvPr/>
        </p:nvSpPr>
        <p:spPr bwMode="auto">
          <a:xfrm>
            <a:off x="5029200" y="51816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2</a:t>
            </a:r>
          </a:p>
        </p:txBody>
      </p:sp>
      <p:cxnSp>
        <p:nvCxnSpPr>
          <p:cNvPr id="77" name="Straight Connector 76"/>
          <p:cNvCxnSpPr>
            <a:stCxn id="31" idx="3"/>
          </p:cNvCxnSpPr>
          <p:nvPr/>
        </p:nvCxnSpPr>
        <p:spPr>
          <a:xfrm>
            <a:off x="4878388" y="5118100"/>
            <a:ext cx="76041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4878388" y="2228850"/>
            <a:ext cx="76041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5638800" y="3505200"/>
            <a:ext cx="0" cy="16129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Rectangle 65"/>
          <p:cNvSpPr/>
          <p:nvPr/>
        </p:nvSpPr>
        <p:spPr>
          <a:xfrm>
            <a:off x="6554788" y="2792413"/>
            <a:ext cx="1600200" cy="133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67" name="Straight Arrow Connector 66"/>
          <p:cNvCxnSpPr/>
          <p:nvPr/>
        </p:nvCxnSpPr>
        <p:spPr>
          <a:xfrm>
            <a:off x="5638800" y="3021013"/>
            <a:ext cx="915988"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a:off x="5638800" y="3505200"/>
            <a:ext cx="915988"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flipV="1">
            <a:off x="6191250" y="3924300"/>
            <a:ext cx="363538" cy="635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8154988" y="3440113"/>
            <a:ext cx="525462"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flipV="1">
            <a:off x="7340600" y="4100513"/>
            <a:ext cx="0" cy="419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5876" name="TextBox 85"/>
          <p:cNvSpPr txBox="1">
            <a:spLocks noChangeArrowheads="1"/>
          </p:cNvSpPr>
          <p:nvPr/>
        </p:nvSpPr>
        <p:spPr bwMode="auto">
          <a:xfrm>
            <a:off x="8153400" y="3592513"/>
            <a:ext cx="8556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Output</a:t>
            </a:r>
          </a:p>
        </p:txBody>
      </p:sp>
      <p:sp>
        <p:nvSpPr>
          <p:cNvPr id="205877" name="TextBox 86"/>
          <p:cNvSpPr txBox="1">
            <a:spLocks noChangeArrowheads="1"/>
          </p:cNvSpPr>
          <p:nvPr/>
        </p:nvSpPr>
        <p:spPr bwMode="auto">
          <a:xfrm>
            <a:off x="6970713" y="3135313"/>
            <a:ext cx="7270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2:1</a:t>
            </a:r>
          </a:p>
          <a:p>
            <a:pPr algn="ctr" eaLnBrk="1" hangingPunct="1"/>
            <a:r>
              <a:rPr lang="en-US" altLang="en-US" b="1"/>
              <a:t>Mux</a:t>
            </a:r>
          </a:p>
        </p:txBody>
      </p:sp>
      <p:sp>
        <p:nvSpPr>
          <p:cNvPr id="205878" name="TextBox 87"/>
          <p:cNvSpPr txBox="1">
            <a:spLocks noChangeArrowheads="1"/>
          </p:cNvSpPr>
          <p:nvPr/>
        </p:nvSpPr>
        <p:spPr bwMode="auto">
          <a:xfrm>
            <a:off x="6561138" y="3744913"/>
            <a:ext cx="2968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a:t>
            </a:r>
          </a:p>
        </p:txBody>
      </p:sp>
      <p:sp>
        <p:nvSpPr>
          <p:cNvPr id="205879" name="TextBox 89"/>
          <p:cNvSpPr txBox="1">
            <a:spLocks noChangeArrowheads="1"/>
          </p:cNvSpPr>
          <p:nvPr/>
        </p:nvSpPr>
        <p:spPr bwMode="auto">
          <a:xfrm>
            <a:off x="8305800" y="3059113"/>
            <a:ext cx="2968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p>
        </p:txBody>
      </p:sp>
      <p:cxnSp>
        <p:nvCxnSpPr>
          <p:cNvPr id="94" name="Straight Connector 93"/>
          <p:cNvCxnSpPr/>
          <p:nvPr/>
        </p:nvCxnSpPr>
        <p:spPr>
          <a:xfrm flipH="1">
            <a:off x="5638800" y="2209800"/>
            <a:ext cx="1588" cy="81121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5881" name="TextBox 94"/>
          <p:cNvSpPr txBox="1">
            <a:spLocks noChangeArrowheads="1"/>
          </p:cNvSpPr>
          <p:nvPr/>
        </p:nvSpPr>
        <p:spPr bwMode="auto">
          <a:xfrm>
            <a:off x="6527800" y="2843213"/>
            <a:ext cx="406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0</a:t>
            </a:r>
          </a:p>
        </p:txBody>
      </p:sp>
      <p:sp>
        <p:nvSpPr>
          <p:cNvPr id="205882" name="TextBox 95"/>
          <p:cNvSpPr txBox="1">
            <a:spLocks noChangeArrowheads="1"/>
          </p:cNvSpPr>
          <p:nvPr/>
        </p:nvSpPr>
        <p:spPr bwMode="auto">
          <a:xfrm>
            <a:off x="6527800" y="3287713"/>
            <a:ext cx="40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1</a:t>
            </a:r>
          </a:p>
        </p:txBody>
      </p:sp>
    </p:spTree>
    <p:extLst>
      <p:ext uri="{BB962C8B-B14F-4D97-AF65-F5344CB8AC3E}">
        <p14:creationId xmlns:p14="http://schemas.microsoft.com/office/powerpoint/2010/main" val="404562779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Title 1"/>
          <p:cNvSpPr>
            <a:spLocks noGrp="1"/>
          </p:cNvSpPr>
          <p:nvPr>
            <p:ph type="title"/>
          </p:nvPr>
        </p:nvSpPr>
        <p:spPr>
          <a:xfrm>
            <a:off x="381000" y="152400"/>
            <a:ext cx="8229600" cy="563563"/>
          </a:xfrm>
        </p:spPr>
        <p:txBody>
          <a:bodyPr>
            <a:normAutofit fontScale="90000"/>
          </a:bodyPr>
          <a:lstStyle/>
          <a:p>
            <a:pPr eaLnBrk="1" fontAlgn="auto" hangingPunct="1">
              <a:spcAft>
                <a:spcPts val="0"/>
              </a:spcAft>
              <a:defRPr/>
            </a:pPr>
            <a:r>
              <a:rPr lang="en-US" sz="3200" b="1" dirty="0" smtClean="0">
                <a:solidFill>
                  <a:schemeClr val="accent2">
                    <a:lumMod val="50000"/>
                  </a:schemeClr>
                </a:solidFill>
              </a:rPr>
              <a:t>8:1 Multiplexer using 4:1 Multiplexer</a:t>
            </a:r>
          </a:p>
        </p:txBody>
      </p:sp>
      <p:sp>
        <p:nvSpPr>
          <p:cNvPr id="204803"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6E5528FE-2D65-453C-BD79-CD868237707C}" type="datetime2">
              <a:rPr lang="en-US" altLang="en-US" smtClean="0">
                <a:solidFill>
                  <a:schemeClr val="tx2"/>
                </a:solidFill>
              </a:rPr>
              <a:pPr/>
              <a:t>Tuesday, March 10, 2026</a:t>
            </a:fld>
            <a:endParaRPr lang="en-US" altLang="en-US" smtClean="0">
              <a:solidFill>
                <a:schemeClr val="tx2"/>
              </a:solidFill>
            </a:endParaRPr>
          </a:p>
        </p:txBody>
      </p:sp>
      <p:sp>
        <p:nvSpPr>
          <p:cNvPr id="20480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cxnSp>
        <p:nvCxnSpPr>
          <p:cNvPr id="7" name="Straight Connector 6"/>
          <p:cNvCxnSpPr/>
          <p:nvPr/>
        </p:nvCxnSpPr>
        <p:spPr>
          <a:xfrm>
            <a:off x="304800" y="10668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259138" y="1116013"/>
            <a:ext cx="1600200" cy="238918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9" name="Straight Arrow Connector 8"/>
          <p:cNvCxnSpPr/>
          <p:nvPr/>
        </p:nvCxnSpPr>
        <p:spPr>
          <a:xfrm>
            <a:off x="2649538" y="1344613"/>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2649538" y="1752600"/>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2649538" y="3325813"/>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4810" name="TextBox 13"/>
          <p:cNvSpPr txBox="1">
            <a:spLocks noChangeArrowheads="1"/>
          </p:cNvSpPr>
          <p:nvPr/>
        </p:nvSpPr>
        <p:spPr bwMode="auto">
          <a:xfrm>
            <a:off x="12700" y="3240088"/>
            <a:ext cx="7493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Select</a:t>
            </a:r>
          </a:p>
          <a:p>
            <a:pPr eaLnBrk="1" hangingPunct="1"/>
            <a:r>
              <a:rPr lang="en-US" altLang="en-US"/>
              <a:t> Lines</a:t>
            </a:r>
          </a:p>
        </p:txBody>
      </p:sp>
      <p:sp>
        <p:nvSpPr>
          <p:cNvPr id="204811" name="TextBox 15"/>
          <p:cNvSpPr txBox="1">
            <a:spLocks noChangeArrowheads="1"/>
          </p:cNvSpPr>
          <p:nvPr/>
        </p:nvSpPr>
        <p:spPr bwMode="auto">
          <a:xfrm>
            <a:off x="3675063" y="1905000"/>
            <a:ext cx="7270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4:1</a:t>
            </a:r>
          </a:p>
          <a:p>
            <a:pPr algn="ctr" eaLnBrk="1" hangingPunct="1"/>
            <a:r>
              <a:rPr lang="en-US" altLang="en-US" b="1"/>
              <a:t>Mux</a:t>
            </a:r>
          </a:p>
        </p:txBody>
      </p:sp>
      <p:sp>
        <p:nvSpPr>
          <p:cNvPr id="204812" name="TextBox 16"/>
          <p:cNvSpPr txBox="1">
            <a:spLocks noChangeArrowheads="1"/>
          </p:cNvSpPr>
          <p:nvPr/>
        </p:nvSpPr>
        <p:spPr bwMode="auto">
          <a:xfrm>
            <a:off x="3284538" y="3148013"/>
            <a:ext cx="2968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a:t>
            </a:r>
          </a:p>
        </p:txBody>
      </p:sp>
      <p:sp>
        <p:nvSpPr>
          <p:cNvPr id="204813" name="TextBox 18"/>
          <p:cNvSpPr txBox="1">
            <a:spLocks noChangeArrowheads="1"/>
          </p:cNvSpPr>
          <p:nvPr/>
        </p:nvSpPr>
        <p:spPr bwMode="auto">
          <a:xfrm>
            <a:off x="5011738" y="17637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a:t>
            </a:r>
          </a:p>
        </p:txBody>
      </p:sp>
      <p:sp>
        <p:nvSpPr>
          <p:cNvPr id="204814" name="TextBox 19"/>
          <p:cNvSpPr txBox="1">
            <a:spLocks noChangeArrowheads="1"/>
          </p:cNvSpPr>
          <p:nvPr/>
        </p:nvSpPr>
        <p:spPr bwMode="auto">
          <a:xfrm>
            <a:off x="2243138" y="1066800"/>
            <a:ext cx="40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0</a:t>
            </a:r>
          </a:p>
        </p:txBody>
      </p:sp>
      <p:sp>
        <p:nvSpPr>
          <p:cNvPr id="204815" name="TextBox 20"/>
          <p:cNvSpPr txBox="1">
            <a:spLocks noChangeArrowheads="1"/>
          </p:cNvSpPr>
          <p:nvPr/>
        </p:nvSpPr>
        <p:spPr bwMode="auto">
          <a:xfrm>
            <a:off x="2243138" y="1512888"/>
            <a:ext cx="406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1</a:t>
            </a:r>
          </a:p>
        </p:txBody>
      </p:sp>
      <p:cxnSp>
        <p:nvCxnSpPr>
          <p:cNvPr id="24" name="Straight Arrow Connector 23"/>
          <p:cNvCxnSpPr/>
          <p:nvPr/>
        </p:nvCxnSpPr>
        <p:spPr>
          <a:xfrm>
            <a:off x="2649538" y="2209800"/>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2649538" y="2617788"/>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4818" name="TextBox 25"/>
          <p:cNvSpPr txBox="1">
            <a:spLocks noChangeArrowheads="1"/>
          </p:cNvSpPr>
          <p:nvPr/>
        </p:nvSpPr>
        <p:spPr bwMode="auto">
          <a:xfrm>
            <a:off x="2190750" y="1981200"/>
            <a:ext cx="40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2</a:t>
            </a:r>
          </a:p>
        </p:txBody>
      </p:sp>
      <p:sp>
        <p:nvSpPr>
          <p:cNvPr id="204819" name="TextBox 26"/>
          <p:cNvSpPr txBox="1">
            <a:spLocks noChangeArrowheads="1"/>
          </p:cNvSpPr>
          <p:nvPr/>
        </p:nvSpPr>
        <p:spPr bwMode="auto">
          <a:xfrm>
            <a:off x="2190750" y="2362200"/>
            <a:ext cx="40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3</a:t>
            </a:r>
          </a:p>
        </p:txBody>
      </p:sp>
      <p:sp>
        <p:nvSpPr>
          <p:cNvPr id="204820" name="TextBox 28"/>
          <p:cNvSpPr txBox="1">
            <a:spLocks noChangeArrowheads="1"/>
          </p:cNvSpPr>
          <p:nvPr/>
        </p:nvSpPr>
        <p:spPr bwMode="auto">
          <a:xfrm>
            <a:off x="4267200" y="3886200"/>
            <a:ext cx="368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0</a:t>
            </a:r>
          </a:p>
        </p:txBody>
      </p:sp>
      <p:sp>
        <p:nvSpPr>
          <p:cNvPr id="204821" name="TextBox 29"/>
          <p:cNvSpPr txBox="1">
            <a:spLocks noChangeArrowheads="1"/>
          </p:cNvSpPr>
          <p:nvPr/>
        </p:nvSpPr>
        <p:spPr bwMode="auto">
          <a:xfrm>
            <a:off x="1079500" y="3440113"/>
            <a:ext cx="368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1</a:t>
            </a:r>
          </a:p>
        </p:txBody>
      </p:sp>
      <p:sp>
        <p:nvSpPr>
          <p:cNvPr id="31" name="Rectangle 30"/>
          <p:cNvSpPr/>
          <p:nvPr/>
        </p:nvSpPr>
        <p:spPr>
          <a:xfrm>
            <a:off x="3278188" y="3924300"/>
            <a:ext cx="1600200" cy="2389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32" name="Straight Arrow Connector 31"/>
          <p:cNvCxnSpPr/>
          <p:nvPr/>
        </p:nvCxnSpPr>
        <p:spPr>
          <a:xfrm>
            <a:off x="2668588" y="4405313"/>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2668588" y="4811713"/>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1892300" y="6134100"/>
            <a:ext cx="1385888"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4826" name="TextBox 35"/>
          <p:cNvSpPr txBox="1">
            <a:spLocks noChangeArrowheads="1"/>
          </p:cNvSpPr>
          <p:nvPr/>
        </p:nvSpPr>
        <p:spPr bwMode="auto">
          <a:xfrm>
            <a:off x="7620000" y="3744913"/>
            <a:ext cx="8556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Output</a:t>
            </a:r>
          </a:p>
        </p:txBody>
      </p:sp>
      <p:sp>
        <p:nvSpPr>
          <p:cNvPr id="204827" name="TextBox 36"/>
          <p:cNvSpPr txBox="1">
            <a:spLocks noChangeArrowheads="1"/>
          </p:cNvSpPr>
          <p:nvPr/>
        </p:nvSpPr>
        <p:spPr bwMode="auto">
          <a:xfrm>
            <a:off x="3694113" y="4713288"/>
            <a:ext cx="7270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4:1</a:t>
            </a:r>
          </a:p>
          <a:p>
            <a:pPr algn="ctr" eaLnBrk="1" hangingPunct="1"/>
            <a:r>
              <a:rPr lang="en-US" altLang="en-US" b="1"/>
              <a:t>Mux</a:t>
            </a:r>
          </a:p>
        </p:txBody>
      </p:sp>
      <p:sp>
        <p:nvSpPr>
          <p:cNvPr id="204828" name="TextBox 37"/>
          <p:cNvSpPr txBox="1">
            <a:spLocks noChangeArrowheads="1"/>
          </p:cNvSpPr>
          <p:nvPr/>
        </p:nvSpPr>
        <p:spPr bwMode="auto">
          <a:xfrm>
            <a:off x="3303588" y="5954713"/>
            <a:ext cx="2968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a:t>
            </a:r>
          </a:p>
        </p:txBody>
      </p:sp>
      <p:sp>
        <p:nvSpPr>
          <p:cNvPr id="204829" name="TextBox 39"/>
          <p:cNvSpPr txBox="1">
            <a:spLocks noChangeArrowheads="1"/>
          </p:cNvSpPr>
          <p:nvPr/>
        </p:nvSpPr>
        <p:spPr bwMode="auto">
          <a:xfrm>
            <a:off x="2262188" y="4125913"/>
            <a:ext cx="40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4</a:t>
            </a:r>
          </a:p>
        </p:txBody>
      </p:sp>
      <p:sp>
        <p:nvSpPr>
          <p:cNvPr id="204830" name="TextBox 40"/>
          <p:cNvSpPr txBox="1">
            <a:spLocks noChangeArrowheads="1"/>
          </p:cNvSpPr>
          <p:nvPr/>
        </p:nvSpPr>
        <p:spPr bwMode="auto">
          <a:xfrm>
            <a:off x="2262188" y="4572000"/>
            <a:ext cx="40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5</a:t>
            </a:r>
          </a:p>
        </p:txBody>
      </p:sp>
      <p:cxnSp>
        <p:nvCxnSpPr>
          <p:cNvPr id="42" name="Straight Arrow Connector 41"/>
          <p:cNvCxnSpPr/>
          <p:nvPr/>
        </p:nvCxnSpPr>
        <p:spPr>
          <a:xfrm>
            <a:off x="2668588" y="5268913"/>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2668588" y="5676900"/>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4833" name="TextBox 43"/>
          <p:cNvSpPr txBox="1">
            <a:spLocks noChangeArrowheads="1"/>
          </p:cNvSpPr>
          <p:nvPr/>
        </p:nvSpPr>
        <p:spPr bwMode="auto">
          <a:xfrm>
            <a:off x="2209800" y="5040313"/>
            <a:ext cx="40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6</a:t>
            </a:r>
          </a:p>
        </p:txBody>
      </p:sp>
      <p:sp>
        <p:nvSpPr>
          <p:cNvPr id="204834" name="TextBox 44"/>
          <p:cNvSpPr txBox="1">
            <a:spLocks noChangeArrowheads="1"/>
          </p:cNvSpPr>
          <p:nvPr/>
        </p:nvSpPr>
        <p:spPr bwMode="auto">
          <a:xfrm>
            <a:off x="2209800" y="5421313"/>
            <a:ext cx="40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7</a:t>
            </a:r>
          </a:p>
        </p:txBody>
      </p:sp>
      <p:cxnSp>
        <p:nvCxnSpPr>
          <p:cNvPr id="47" name="Straight Connector 46"/>
          <p:cNvCxnSpPr/>
          <p:nvPr/>
        </p:nvCxnSpPr>
        <p:spPr>
          <a:xfrm>
            <a:off x="3600450" y="3505200"/>
            <a:ext cx="0" cy="4191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4495800" y="3505200"/>
            <a:ext cx="0" cy="4191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H="1">
            <a:off x="1676400" y="3657600"/>
            <a:ext cx="192405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H="1">
            <a:off x="1676400" y="3810000"/>
            <a:ext cx="283845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4839" name="TextBox 52"/>
          <p:cNvSpPr txBox="1">
            <a:spLocks noChangeArrowheads="1"/>
          </p:cNvSpPr>
          <p:nvPr/>
        </p:nvSpPr>
        <p:spPr bwMode="auto">
          <a:xfrm>
            <a:off x="4267200" y="3124200"/>
            <a:ext cx="368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0</a:t>
            </a:r>
          </a:p>
        </p:txBody>
      </p:sp>
      <p:sp>
        <p:nvSpPr>
          <p:cNvPr id="204840" name="TextBox 53"/>
          <p:cNvSpPr txBox="1">
            <a:spLocks noChangeArrowheads="1"/>
          </p:cNvSpPr>
          <p:nvPr/>
        </p:nvSpPr>
        <p:spPr bwMode="auto">
          <a:xfrm>
            <a:off x="3441700" y="3886200"/>
            <a:ext cx="368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1</a:t>
            </a:r>
          </a:p>
        </p:txBody>
      </p:sp>
      <p:sp>
        <p:nvSpPr>
          <p:cNvPr id="204841" name="TextBox 54"/>
          <p:cNvSpPr txBox="1">
            <a:spLocks noChangeArrowheads="1"/>
          </p:cNvSpPr>
          <p:nvPr/>
        </p:nvSpPr>
        <p:spPr bwMode="auto">
          <a:xfrm>
            <a:off x="3429000" y="3211513"/>
            <a:ext cx="368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1</a:t>
            </a:r>
          </a:p>
        </p:txBody>
      </p:sp>
      <p:grpSp>
        <p:nvGrpSpPr>
          <p:cNvPr id="204842" name="Group 73"/>
          <p:cNvGrpSpPr>
            <a:grpSpLocks/>
          </p:cNvGrpSpPr>
          <p:nvPr/>
        </p:nvGrpSpPr>
        <p:grpSpPr bwMode="auto">
          <a:xfrm>
            <a:off x="2109788" y="3105150"/>
            <a:ext cx="606425" cy="457200"/>
            <a:chOff x="3964820" y="4044696"/>
            <a:chExt cx="1747760" cy="1060704"/>
          </a:xfrm>
        </p:grpSpPr>
        <p:sp>
          <p:nvSpPr>
            <p:cNvPr id="204860" name="Isosceles Triangle 68"/>
            <p:cNvSpPr>
              <a:spLocks noChangeArrowheads="1"/>
            </p:cNvSpPr>
            <p:nvPr/>
          </p:nvSpPr>
          <p:spPr bwMode="auto">
            <a:xfrm rot="5400000">
              <a:off x="4270248" y="4346448"/>
              <a:ext cx="1060704" cy="457200"/>
            </a:xfrm>
            <a:prstGeom prst="triangle">
              <a:avLst>
                <a:gd name="adj" fmla="val 48731"/>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204861" name="Oval 69"/>
            <p:cNvSpPr>
              <a:spLocks noChangeArrowheads="1"/>
            </p:cNvSpPr>
            <p:nvPr/>
          </p:nvSpPr>
          <p:spPr bwMode="auto">
            <a:xfrm>
              <a:off x="5029200" y="4494276"/>
              <a:ext cx="114300" cy="153924"/>
            </a:xfrm>
            <a:prstGeom prst="ellipse">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cxnSp>
          <p:nvCxnSpPr>
            <p:cNvPr id="204862" name="Straight Connector 71"/>
            <p:cNvCxnSpPr>
              <a:cxnSpLocks noChangeShapeType="1"/>
              <a:endCxn id="204860" idx="3"/>
            </p:cNvCxnSpPr>
            <p:nvPr/>
          </p:nvCxnSpPr>
          <p:spPr bwMode="auto">
            <a:xfrm flipV="1">
              <a:off x="3964820" y="4561598"/>
              <a:ext cx="607180" cy="964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204863" name="Straight Connector 72"/>
            <p:cNvCxnSpPr>
              <a:cxnSpLocks noChangeShapeType="1"/>
            </p:cNvCxnSpPr>
            <p:nvPr/>
          </p:nvCxnSpPr>
          <p:spPr bwMode="auto">
            <a:xfrm flipV="1">
              <a:off x="5105400" y="4562360"/>
              <a:ext cx="607180" cy="964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grpSp>
      <p:cxnSp>
        <p:nvCxnSpPr>
          <p:cNvPr id="61" name="Straight Connector 60"/>
          <p:cNvCxnSpPr/>
          <p:nvPr/>
        </p:nvCxnSpPr>
        <p:spPr>
          <a:xfrm flipH="1" flipV="1">
            <a:off x="1676400" y="3330575"/>
            <a:ext cx="433388" cy="476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4844" name="TextBox 62"/>
          <p:cNvSpPr txBox="1">
            <a:spLocks noChangeArrowheads="1"/>
          </p:cNvSpPr>
          <p:nvPr/>
        </p:nvSpPr>
        <p:spPr bwMode="auto">
          <a:xfrm>
            <a:off x="1066800" y="3668713"/>
            <a:ext cx="368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0</a:t>
            </a:r>
          </a:p>
        </p:txBody>
      </p:sp>
      <p:sp>
        <p:nvSpPr>
          <p:cNvPr id="204845" name="TextBox 63"/>
          <p:cNvSpPr txBox="1">
            <a:spLocks noChangeArrowheads="1"/>
          </p:cNvSpPr>
          <p:nvPr/>
        </p:nvSpPr>
        <p:spPr bwMode="auto">
          <a:xfrm>
            <a:off x="1066800" y="3124200"/>
            <a:ext cx="368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2</a:t>
            </a:r>
          </a:p>
        </p:txBody>
      </p:sp>
      <p:cxnSp>
        <p:nvCxnSpPr>
          <p:cNvPr id="65" name="Straight Connector 64"/>
          <p:cNvCxnSpPr/>
          <p:nvPr/>
        </p:nvCxnSpPr>
        <p:spPr>
          <a:xfrm>
            <a:off x="1892300" y="3330575"/>
            <a:ext cx="0" cy="28035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Left Brace 67"/>
          <p:cNvSpPr/>
          <p:nvPr/>
        </p:nvSpPr>
        <p:spPr>
          <a:xfrm>
            <a:off x="762000" y="3124200"/>
            <a:ext cx="304800" cy="935038"/>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204848" name="TextBox 68"/>
          <p:cNvSpPr txBox="1">
            <a:spLocks noChangeArrowheads="1"/>
          </p:cNvSpPr>
          <p:nvPr/>
        </p:nvSpPr>
        <p:spPr bwMode="auto">
          <a:xfrm>
            <a:off x="5029200" y="51816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2</a:t>
            </a:r>
          </a:p>
        </p:txBody>
      </p:sp>
      <p:grpSp>
        <p:nvGrpSpPr>
          <p:cNvPr id="204849" name="Group 65"/>
          <p:cNvGrpSpPr>
            <a:grpSpLocks/>
          </p:cNvGrpSpPr>
          <p:nvPr/>
        </p:nvGrpSpPr>
        <p:grpSpPr bwMode="auto">
          <a:xfrm>
            <a:off x="5967413" y="3287713"/>
            <a:ext cx="1828800" cy="763587"/>
            <a:chOff x="3257550" y="1824114"/>
            <a:chExt cx="3448050" cy="1452486"/>
          </a:xfrm>
        </p:grpSpPr>
        <p:sp>
          <p:nvSpPr>
            <p:cNvPr id="71" name="Arc 70"/>
            <p:cNvSpPr/>
            <p:nvPr/>
          </p:nvSpPr>
          <p:spPr bwMode="auto">
            <a:xfrm>
              <a:off x="4191397" y="1824114"/>
              <a:ext cx="532772" cy="1452486"/>
            </a:xfrm>
            <a:prstGeom prst="arc">
              <a:avLst>
                <a:gd name="adj1" fmla="val 16200000"/>
                <a:gd name="adj2" fmla="val 5317088"/>
              </a:avLst>
            </a:prstGeom>
            <a:noFill/>
            <a:ln w="25400" cap="flat" cmpd="sng" algn="ctr">
              <a:solidFill>
                <a:schemeClr val="tx1"/>
              </a:solidFill>
              <a:prstDash val="solid"/>
              <a:miter lim="800000"/>
              <a:headEnd type="none" w="med" len="med"/>
              <a:tailEnd type="none" w="med" len="med"/>
            </a:ln>
            <a:effectLst/>
          </p:spPr>
          <p:txBody>
            <a:bodyPr wrap="none"/>
            <a:lstStyle/>
            <a:p>
              <a:pPr eaLnBrk="1" fontAlgn="auto" hangingPunct="1">
                <a:spcBef>
                  <a:spcPts val="0"/>
                </a:spcBef>
                <a:spcAft>
                  <a:spcPts val="0"/>
                </a:spcAft>
                <a:defRPr/>
              </a:pPr>
              <a:endParaRPr lang="en-US">
                <a:latin typeface="+mn-lt"/>
              </a:endParaRPr>
            </a:p>
          </p:txBody>
        </p:sp>
        <p:sp>
          <p:nvSpPr>
            <p:cNvPr id="72" name="Arc 71"/>
            <p:cNvSpPr/>
            <p:nvPr/>
          </p:nvSpPr>
          <p:spPr bwMode="auto">
            <a:xfrm>
              <a:off x="3257550" y="1824114"/>
              <a:ext cx="2400465" cy="1452486"/>
            </a:xfrm>
            <a:prstGeom prst="arc">
              <a:avLst>
                <a:gd name="adj1" fmla="val 16200000"/>
                <a:gd name="adj2" fmla="val 5340452"/>
              </a:avLst>
            </a:prstGeom>
            <a:noFill/>
            <a:ln w="25400" cap="flat" cmpd="sng" algn="ctr">
              <a:solidFill>
                <a:schemeClr val="tx1"/>
              </a:solidFill>
              <a:prstDash val="solid"/>
              <a:miter lim="800000"/>
              <a:headEnd type="none" w="med" len="med"/>
              <a:tailEnd type="none" w="med" len="med"/>
            </a:ln>
            <a:effectLst/>
          </p:spPr>
          <p:txBody>
            <a:bodyPr wrap="none"/>
            <a:lstStyle/>
            <a:p>
              <a:pPr eaLnBrk="1" fontAlgn="auto" hangingPunct="1">
                <a:spcBef>
                  <a:spcPts val="0"/>
                </a:spcBef>
                <a:spcAft>
                  <a:spcPts val="0"/>
                </a:spcAft>
                <a:defRPr/>
              </a:pPr>
              <a:endParaRPr lang="en-US">
                <a:latin typeface="+mn-lt"/>
              </a:endParaRPr>
            </a:p>
          </p:txBody>
        </p:sp>
        <p:cxnSp>
          <p:nvCxnSpPr>
            <p:cNvPr id="204857" name="Straight Connector 72"/>
            <p:cNvCxnSpPr>
              <a:cxnSpLocks noChangeShapeType="1"/>
            </p:cNvCxnSpPr>
            <p:nvPr/>
          </p:nvCxnSpPr>
          <p:spPr bwMode="auto">
            <a:xfrm>
              <a:off x="3581400" y="2133600"/>
              <a:ext cx="1066800"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204858" name="Straight Connector 73"/>
            <p:cNvCxnSpPr>
              <a:cxnSpLocks noChangeShapeType="1"/>
            </p:cNvCxnSpPr>
            <p:nvPr/>
          </p:nvCxnSpPr>
          <p:spPr bwMode="auto">
            <a:xfrm>
              <a:off x="3581400" y="3048000"/>
              <a:ext cx="1066800"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204859" name="Straight Connector 74"/>
            <p:cNvCxnSpPr>
              <a:cxnSpLocks noChangeShapeType="1"/>
            </p:cNvCxnSpPr>
            <p:nvPr/>
          </p:nvCxnSpPr>
          <p:spPr bwMode="auto">
            <a:xfrm>
              <a:off x="5638800" y="2514600"/>
              <a:ext cx="1066800"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grpSp>
      <p:cxnSp>
        <p:nvCxnSpPr>
          <p:cNvPr id="77" name="Straight Connector 76"/>
          <p:cNvCxnSpPr>
            <a:stCxn id="31" idx="3"/>
          </p:cNvCxnSpPr>
          <p:nvPr/>
        </p:nvCxnSpPr>
        <p:spPr>
          <a:xfrm>
            <a:off x="4878388" y="5118100"/>
            <a:ext cx="131286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4878388" y="2228850"/>
            <a:ext cx="131286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6172200" y="3919538"/>
            <a:ext cx="0" cy="119856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6172200" y="2209800"/>
            <a:ext cx="19050" cy="12398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4854" name="TextBox 83"/>
          <p:cNvSpPr txBox="1">
            <a:spLocks noChangeArrowheads="1"/>
          </p:cNvSpPr>
          <p:nvPr/>
        </p:nvSpPr>
        <p:spPr bwMode="auto">
          <a:xfrm>
            <a:off x="7778750" y="3211513"/>
            <a:ext cx="2968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endParaRPr lang="en-US" altLang="en-US" baseline="-25000"/>
          </a:p>
        </p:txBody>
      </p:sp>
    </p:spTree>
    <p:extLst>
      <p:ext uri="{BB962C8B-B14F-4D97-AF65-F5344CB8AC3E}">
        <p14:creationId xmlns:p14="http://schemas.microsoft.com/office/powerpoint/2010/main" val="248272963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Title 1"/>
          <p:cNvSpPr>
            <a:spLocks noGrp="1"/>
          </p:cNvSpPr>
          <p:nvPr>
            <p:ph type="title"/>
          </p:nvPr>
        </p:nvSpPr>
        <p:spPr>
          <a:xfrm>
            <a:off x="381000" y="152400"/>
            <a:ext cx="8229600" cy="563563"/>
          </a:xfrm>
        </p:spPr>
        <p:txBody>
          <a:bodyPr>
            <a:normAutofit fontScale="90000"/>
          </a:bodyPr>
          <a:lstStyle/>
          <a:p>
            <a:pPr eaLnBrk="1" fontAlgn="auto" hangingPunct="1">
              <a:spcAft>
                <a:spcPts val="0"/>
              </a:spcAft>
              <a:defRPr/>
            </a:pPr>
            <a:r>
              <a:rPr lang="en-US" sz="3200" b="1" dirty="0" smtClean="0">
                <a:solidFill>
                  <a:schemeClr val="accent2">
                    <a:lumMod val="50000"/>
                  </a:schemeClr>
                </a:solidFill>
              </a:rPr>
              <a:t>16:1 Multiplexer</a:t>
            </a:r>
          </a:p>
        </p:txBody>
      </p:sp>
      <p:sp>
        <p:nvSpPr>
          <p:cNvPr id="201731"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5FBF557D-29AB-422D-8B1F-8034628DC717}" type="datetime2">
              <a:rPr lang="en-US" altLang="en-US" smtClean="0">
                <a:solidFill>
                  <a:schemeClr val="tx2"/>
                </a:solidFill>
              </a:rPr>
              <a:pPr/>
              <a:t>Tuesday, March 10, 2026</a:t>
            </a:fld>
            <a:endParaRPr lang="en-US" altLang="en-US" smtClean="0">
              <a:solidFill>
                <a:schemeClr val="tx2"/>
              </a:solidFill>
            </a:endParaRPr>
          </a:p>
        </p:txBody>
      </p:sp>
      <p:sp>
        <p:nvSpPr>
          <p:cNvPr id="20173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cxnSp>
        <p:nvCxnSpPr>
          <p:cNvPr id="7" name="Straight Connector 6"/>
          <p:cNvCxnSpPr/>
          <p:nvPr/>
        </p:nvCxnSpPr>
        <p:spPr>
          <a:xfrm>
            <a:off x="304800" y="9144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4051300" y="1254125"/>
            <a:ext cx="1600200" cy="43846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9" name="Straight Arrow Connector 8"/>
          <p:cNvCxnSpPr/>
          <p:nvPr/>
        </p:nvCxnSpPr>
        <p:spPr>
          <a:xfrm>
            <a:off x="3441700" y="1558925"/>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441700" y="1787525"/>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3427413" y="5383213"/>
            <a:ext cx="611187"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5651500" y="3170238"/>
            <a:ext cx="525463"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5410200" y="5638800"/>
            <a:ext cx="0" cy="419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1740" name="TextBox 13"/>
          <p:cNvSpPr txBox="1">
            <a:spLocks noChangeArrowheads="1"/>
          </p:cNvSpPr>
          <p:nvPr/>
        </p:nvSpPr>
        <p:spPr bwMode="auto">
          <a:xfrm>
            <a:off x="4283075" y="6400800"/>
            <a:ext cx="12795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Select Lines</a:t>
            </a:r>
          </a:p>
        </p:txBody>
      </p:sp>
      <p:sp>
        <p:nvSpPr>
          <p:cNvPr id="201741" name="TextBox 14"/>
          <p:cNvSpPr txBox="1">
            <a:spLocks noChangeArrowheads="1"/>
          </p:cNvSpPr>
          <p:nvPr/>
        </p:nvSpPr>
        <p:spPr bwMode="auto">
          <a:xfrm>
            <a:off x="5651500" y="3322638"/>
            <a:ext cx="8556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Output</a:t>
            </a:r>
          </a:p>
        </p:txBody>
      </p:sp>
      <p:sp>
        <p:nvSpPr>
          <p:cNvPr id="201742" name="TextBox 15"/>
          <p:cNvSpPr txBox="1">
            <a:spLocks noChangeArrowheads="1"/>
          </p:cNvSpPr>
          <p:nvPr/>
        </p:nvSpPr>
        <p:spPr bwMode="auto">
          <a:xfrm>
            <a:off x="4468813" y="2930525"/>
            <a:ext cx="7254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16:1</a:t>
            </a:r>
          </a:p>
          <a:p>
            <a:pPr algn="ctr" eaLnBrk="1" hangingPunct="1"/>
            <a:r>
              <a:rPr lang="en-US" altLang="en-US" b="1"/>
              <a:t>Mux</a:t>
            </a:r>
          </a:p>
        </p:txBody>
      </p:sp>
      <p:sp>
        <p:nvSpPr>
          <p:cNvPr id="201743" name="TextBox 16"/>
          <p:cNvSpPr txBox="1">
            <a:spLocks noChangeArrowheads="1"/>
          </p:cNvSpPr>
          <p:nvPr/>
        </p:nvSpPr>
        <p:spPr bwMode="auto">
          <a:xfrm>
            <a:off x="3054350" y="5205413"/>
            <a:ext cx="2968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a:t>
            </a:r>
          </a:p>
        </p:txBody>
      </p:sp>
      <p:sp>
        <p:nvSpPr>
          <p:cNvPr id="201744" name="TextBox 17"/>
          <p:cNvSpPr txBox="1">
            <a:spLocks noChangeArrowheads="1"/>
          </p:cNvSpPr>
          <p:nvPr/>
        </p:nvSpPr>
        <p:spPr bwMode="auto">
          <a:xfrm>
            <a:off x="2589213" y="5573713"/>
            <a:ext cx="13731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Enable Input</a:t>
            </a:r>
          </a:p>
        </p:txBody>
      </p:sp>
      <p:sp>
        <p:nvSpPr>
          <p:cNvPr id="201745" name="TextBox 18"/>
          <p:cNvSpPr txBox="1">
            <a:spLocks noChangeArrowheads="1"/>
          </p:cNvSpPr>
          <p:nvPr/>
        </p:nvSpPr>
        <p:spPr bwMode="auto">
          <a:xfrm>
            <a:off x="5803900" y="2789238"/>
            <a:ext cx="2968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p>
        </p:txBody>
      </p:sp>
      <p:sp>
        <p:nvSpPr>
          <p:cNvPr id="201746" name="TextBox 19"/>
          <p:cNvSpPr txBox="1">
            <a:spLocks noChangeArrowheads="1"/>
          </p:cNvSpPr>
          <p:nvPr/>
        </p:nvSpPr>
        <p:spPr bwMode="auto">
          <a:xfrm>
            <a:off x="3003550" y="1373188"/>
            <a:ext cx="3794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t>D</a:t>
            </a:r>
            <a:r>
              <a:rPr lang="en-US" altLang="en-US" sz="1600" baseline="-25000"/>
              <a:t>0</a:t>
            </a:r>
          </a:p>
        </p:txBody>
      </p:sp>
      <p:sp>
        <p:nvSpPr>
          <p:cNvPr id="201747" name="TextBox 20"/>
          <p:cNvSpPr txBox="1">
            <a:spLocks noChangeArrowheads="1"/>
          </p:cNvSpPr>
          <p:nvPr/>
        </p:nvSpPr>
        <p:spPr bwMode="auto">
          <a:xfrm>
            <a:off x="3001963" y="1601788"/>
            <a:ext cx="381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t>D</a:t>
            </a:r>
            <a:r>
              <a:rPr lang="en-US" altLang="en-US" sz="1600" baseline="-25000"/>
              <a:t>1</a:t>
            </a:r>
          </a:p>
        </p:txBody>
      </p:sp>
      <p:sp>
        <p:nvSpPr>
          <p:cNvPr id="24" name="Left Brace 23"/>
          <p:cNvSpPr/>
          <p:nvPr/>
        </p:nvSpPr>
        <p:spPr>
          <a:xfrm>
            <a:off x="2830513" y="1438275"/>
            <a:ext cx="204787" cy="370205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201749" name="TextBox 24"/>
          <p:cNvSpPr txBox="1">
            <a:spLocks noChangeArrowheads="1"/>
          </p:cNvSpPr>
          <p:nvPr/>
        </p:nvSpPr>
        <p:spPr bwMode="auto">
          <a:xfrm>
            <a:off x="2133600" y="2665413"/>
            <a:ext cx="7747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Data</a:t>
            </a:r>
          </a:p>
          <a:p>
            <a:pPr eaLnBrk="1" hangingPunct="1"/>
            <a:r>
              <a:rPr lang="en-US" altLang="en-US"/>
              <a:t>Inputs</a:t>
            </a:r>
          </a:p>
        </p:txBody>
      </p:sp>
      <p:sp>
        <p:nvSpPr>
          <p:cNvPr id="201750" name="TextBox 26"/>
          <p:cNvSpPr txBox="1">
            <a:spLocks noChangeArrowheads="1"/>
          </p:cNvSpPr>
          <p:nvPr/>
        </p:nvSpPr>
        <p:spPr bwMode="auto">
          <a:xfrm>
            <a:off x="347663" y="5334000"/>
            <a:ext cx="1557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b="1"/>
              <a:t>Block Diagram</a:t>
            </a:r>
          </a:p>
        </p:txBody>
      </p:sp>
      <p:cxnSp>
        <p:nvCxnSpPr>
          <p:cNvPr id="29" name="Straight Arrow Connector 28"/>
          <p:cNvCxnSpPr/>
          <p:nvPr/>
        </p:nvCxnSpPr>
        <p:spPr>
          <a:xfrm>
            <a:off x="3459163" y="2016125"/>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3441700" y="2244725"/>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1753" name="TextBox 30"/>
          <p:cNvSpPr txBox="1">
            <a:spLocks noChangeArrowheads="1"/>
          </p:cNvSpPr>
          <p:nvPr/>
        </p:nvSpPr>
        <p:spPr bwMode="auto">
          <a:xfrm>
            <a:off x="3001963" y="1830388"/>
            <a:ext cx="381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t>D</a:t>
            </a:r>
            <a:r>
              <a:rPr lang="en-US" altLang="en-US" sz="1600" baseline="-25000"/>
              <a:t>2</a:t>
            </a:r>
          </a:p>
        </p:txBody>
      </p:sp>
      <p:sp>
        <p:nvSpPr>
          <p:cNvPr id="201754" name="TextBox 31"/>
          <p:cNvSpPr txBox="1">
            <a:spLocks noChangeArrowheads="1"/>
          </p:cNvSpPr>
          <p:nvPr/>
        </p:nvSpPr>
        <p:spPr bwMode="auto">
          <a:xfrm>
            <a:off x="3001963" y="2058988"/>
            <a:ext cx="381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t>D</a:t>
            </a:r>
            <a:r>
              <a:rPr lang="en-US" altLang="en-US" sz="1600" baseline="-25000"/>
              <a:t>3</a:t>
            </a:r>
          </a:p>
        </p:txBody>
      </p:sp>
      <p:cxnSp>
        <p:nvCxnSpPr>
          <p:cNvPr id="40" name="Straight Arrow Connector 39"/>
          <p:cNvCxnSpPr/>
          <p:nvPr/>
        </p:nvCxnSpPr>
        <p:spPr>
          <a:xfrm flipV="1">
            <a:off x="5029200" y="5638800"/>
            <a:ext cx="0" cy="419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1756" name="TextBox 40"/>
          <p:cNvSpPr txBox="1">
            <a:spLocks noChangeArrowheads="1"/>
          </p:cNvSpPr>
          <p:nvPr/>
        </p:nvSpPr>
        <p:spPr bwMode="auto">
          <a:xfrm>
            <a:off x="5270500" y="6107113"/>
            <a:ext cx="368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0</a:t>
            </a:r>
          </a:p>
        </p:txBody>
      </p:sp>
      <p:sp>
        <p:nvSpPr>
          <p:cNvPr id="201757" name="TextBox 41"/>
          <p:cNvSpPr txBox="1">
            <a:spLocks noChangeArrowheads="1"/>
          </p:cNvSpPr>
          <p:nvPr/>
        </p:nvSpPr>
        <p:spPr bwMode="auto">
          <a:xfrm>
            <a:off x="4584700" y="6107113"/>
            <a:ext cx="368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2</a:t>
            </a:r>
          </a:p>
        </p:txBody>
      </p:sp>
      <p:cxnSp>
        <p:nvCxnSpPr>
          <p:cNvPr id="43" name="Straight Arrow Connector 42"/>
          <p:cNvCxnSpPr/>
          <p:nvPr/>
        </p:nvCxnSpPr>
        <p:spPr>
          <a:xfrm>
            <a:off x="3459163" y="2473325"/>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3459163" y="2701925"/>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1760" name="TextBox 44"/>
          <p:cNvSpPr txBox="1">
            <a:spLocks noChangeArrowheads="1"/>
          </p:cNvSpPr>
          <p:nvPr/>
        </p:nvSpPr>
        <p:spPr bwMode="auto">
          <a:xfrm>
            <a:off x="3001963" y="2287588"/>
            <a:ext cx="381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t>D</a:t>
            </a:r>
            <a:r>
              <a:rPr lang="en-US" altLang="en-US" sz="1600" baseline="-25000"/>
              <a:t>4</a:t>
            </a:r>
          </a:p>
        </p:txBody>
      </p:sp>
      <p:sp>
        <p:nvSpPr>
          <p:cNvPr id="201761" name="TextBox 45"/>
          <p:cNvSpPr txBox="1">
            <a:spLocks noChangeArrowheads="1"/>
          </p:cNvSpPr>
          <p:nvPr/>
        </p:nvSpPr>
        <p:spPr bwMode="auto">
          <a:xfrm>
            <a:off x="3001963" y="2516188"/>
            <a:ext cx="381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t>D</a:t>
            </a:r>
            <a:r>
              <a:rPr lang="en-US" altLang="en-US" sz="1600" baseline="-25000"/>
              <a:t>5</a:t>
            </a:r>
          </a:p>
        </p:txBody>
      </p:sp>
      <p:cxnSp>
        <p:nvCxnSpPr>
          <p:cNvPr id="47" name="Straight Arrow Connector 46"/>
          <p:cNvCxnSpPr/>
          <p:nvPr/>
        </p:nvCxnSpPr>
        <p:spPr>
          <a:xfrm>
            <a:off x="3459163" y="2930525"/>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3459163" y="3159125"/>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1764" name="TextBox 48"/>
          <p:cNvSpPr txBox="1">
            <a:spLocks noChangeArrowheads="1"/>
          </p:cNvSpPr>
          <p:nvPr/>
        </p:nvSpPr>
        <p:spPr bwMode="auto">
          <a:xfrm>
            <a:off x="3001963" y="2744788"/>
            <a:ext cx="381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t>D</a:t>
            </a:r>
            <a:r>
              <a:rPr lang="en-US" altLang="en-US" sz="1600" baseline="-25000"/>
              <a:t>6</a:t>
            </a:r>
          </a:p>
        </p:txBody>
      </p:sp>
      <p:sp>
        <p:nvSpPr>
          <p:cNvPr id="201765" name="TextBox 49"/>
          <p:cNvSpPr txBox="1">
            <a:spLocks noChangeArrowheads="1"/>
          </p:cNvSpPr>
          <p:nvPr/>
        </p:nvSpPr>
        <p:spPr bwMode="auto">
          <a:xfrm>
            <a:off x="3003550" y="2973388"/>
            <a:ext cx="3794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t>D</a:t>
            </a:r>
            <a:r>
              <a:rPr lang="en-US" altLang="en-US" sz="1600" baseline="-25000"/>
              <a:t>7</a:t>
            </a:r>
          </a:p>
        </p:txBody>
      </p:sp>
      <p:cxnSp>
        <p:nvCxnSpPr>
          <p:cNvPr id="51" name="Straight Arrow Connector 50"/>
          <p:cNvCxnSpPr/>
          <p:nvPr/>
        </p:nvCxnSpPr>
        <p:spPr>
          <a:xfrm flipV="1">
            <a:off x="4724400" y="5638800"/>
            <a:ext cx="0" cy="419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1767" name="TextBox 51"/>
          <p:cNvSpPr txBox="1">
            <a:spLocks noChangeArrowheads="1"/>
          </p:cNvSpPr>
          <p:nvPr/>
        </p:nvSpPr>
        <p:spPr bwMode="auto">
          <a:xfrm>
            <a:off x="4889500" y="6096000"/>
            <a:ext cx="368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1</a:t>
            </a:r>
          </a:p>
        </p:txBody>
      </p:sp>
      <p:cxnSp>
        <p:nvCxnSpPr>
          <p:cNvPr id="53" name="Straight Arrow Connector 52"/>
          <p:cNvCxnSpPr/>
          <p:nvPr/>
        </p:nvCxnSpPr>
        <p:spPr>
          <a:xfrm>
            <a:off x="3459163" y="3387725"/>
            <a:ext cx="611187"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3459163" y="3616325"/>
            <a:ext cx="611187"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3478213" y="3844925"/>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3459163" y="4073525"/>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3476625" y="4302125"/>
            <a:ext cx="611188"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3476625" y="4530725"/>
            <a:ext cx="611188"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3476625" y="4759325"/>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3476625" y="4987925"/>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1776" name="TextBox 60"/>
          <p:cNvSpPr txBox="1">
            <a:spLocks noChangeArrowheads="1"/>
          </p:cNvSpPr>
          <p:nvPr/>
        </p:nvSpPr>
        <p:spPr bwMode="auto">
          <a:xfrm>
            <a:off x="3003550" y="3159125"/>
            <a:ext cx="3794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t>D</a:t>
            </a:r>
            <a:r>
              <a:rPr lang="en-US" altLang="en-US" sz="1600" baseline="-25000"/>
              <a:t>8</a:t>
            </a:r>
          </a:p>
        </p:txBody>
      </p:sp>
      <p:sp>
        <p:nvSpPr>
          <p:cNvPr id="201777" name="TextBox 61"/>
          <p:cNvSpPr txBox="1">
            <a:spLocks noChangeArrowheads="1"/>
          </p:cNvSpPr>
          <p:nvPr/>
        </p:nvSpPr>
        <p:spPr bwMode="auto">
          <a:xfrm>
            <a:off x="3001963" y="3387725"/>
            <a:ext cx="381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t>D</a:t>
            </a:r>
            <a:r>
              <a:rPr lang="en-US" altLang="en-US" sz="1600" baseline="-25000"/>
              <a:t>9</a:t>
            </a:r>
          </a:p>
        </p:txBody>
      </p:sp>
      <p:sp>
        <p:nvSpPr>
          <p:cNvPr id="201778" name="TextBox 62"/>
          <p:cNvSpPr txBox="1">
            <a:spLocks noChangeArrowheads="1"/>
          </p:cNvSpPr>
          <p:nvPr/>
        </p:nvSpPr>
        <p:spPr bwMode="auto">
          <a:xfrm>
            <a:off x="3001963" y="3616325"/>
            <a:ext cx="4492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t>D</a:t>
            </a:r>
            <a:r>
              <a:rPr lang="en-US" altLang="en-US" sz="1600" baseline="-25000"/>
              <a:t>10</a:t>
            </a:r>
          </a:p>
        </p:txBody>
      </p:sp>
      <p:sp>
        <p:nvSpPr>
          <p:cNvPr id="201779" name="TextBox 63"/>
          <p:cNvSpPr txBox="1">
            <a:spLocks noChangeArrowheads="1"/>
          </p:cNvSpPr>
          <p:nvPr/>
        </p:nvSpPr>
        <p:spPr bwMode="auto">
          <a:xfrm>
            <a:off x="3001963" y="3887788"/>
            <a:ext cx="4492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t>D</a:t>
            </a:r>
            <a:r>
              <a:rPr lang="en-US" altLang="en-US" sz="1600" baseline="-25000"/>
              <a:t>11</a:t>
            </a:r>
          </a:p>
        </p:txBody>
      </p:sp>
      <p:sp>
        <p:nvSpPr>
          <p:cNvPr id="201780" name="TextBox 64"/>
          <p:cNvSpPr txBox="1">
            <a:spLocks noChangeArrowheads="1"/>
          </p:cNvSpPr>
          <p:nvPr/>
        </p:nvSpPr>
        <p:spPr bwMode="auto">
          <a:xfrm>
            <a:off x="3001963" y="4073525"/>
            <a:ext cx="4492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t>D</a:t>
            </a:r>
            <a:r>
              <a:rPr lang="en-US" altLang="en-US" sz="1600" baseline="-25000"/>
              <a:t>12</a:t>
            </a:r>
          </a:p>
        </p:txBody>
      </p:sp>
      <p:sp>
        <p:nvSpPr>
          <p:cNvPr id="201781" name="TextBox 65"/>
          <p:cNvSpPr txBox="1">
            <a:spLocks noChangeArrowheads="1"/>
          </p:cNvSpPr>
          <p:nvPr/>
        </p:nvSpPr>
        <p:spPr bwMode="auto">
          <a:xfrm>
            <a:off x="3001963" y="4302125"/>
            <a:ext cx="4492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t>D</a:t>
            </a:r>
            <a:r>
              <a:rPr lang="en-US" altLang="en-US" sz="1600" baseline="-25000"/>
              <a:t>13</a:t>
            </a:r>
          </a:p>
        </p:txBody>
      </p:sp>
      <p:sp>
        <p:nvSpPr>
          <p:cNvPr id="201782" name="TextBox 66"/>
          <p:cNvSpPr txBox="1">
            <a:spLocks noChangeArrowheads="1"/>
          </p:cNvSpPr>
          <p:nvPr/>
        </p:nvSpPr>
        <p:spPr bwMode="auto">
          <a:xfrm>
            <a:off x="3001963" y="4530725"/>
            <a:ext cx="4492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t>D</a:t>
            </a:r>
            <a:r>
              <a:rPr lang="en-US" altLang="en-US" sz="1600" baseline="-25000"/>
              <a:t>14</a:t>
            </a:r>
          </a:p>
        </p:txBody>
      </p:sp>
      <p:sp>
        <p:nvSpPr>
          <p:cNvPr id="201783" name="TextBox 67"/>
          <p:cNvSpPr txBox="1">
            <a:spLocks noChangeArrowheads="1"/>
          </p:cNvSpPr>
          <p:nvPr/>
        </p:nvSpPr>
        <p:spPr bwMode="auto">
          <a:xfrm>
            <a:off x="3003550" y="4802188"/>
            <a:ext cx="4492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t>D</a:t>
            </a:r>
            <a:r>
              <a:rPr lang="en-US" altLang="en-US" sz="1600" baseline="-25000"/>
              <a:t>15</a:t>
            </a:r>
          </a:p>
        </p:txBody>
      </p:sp>
      <p:cxnSp>
        <p:nvCxnSpPr>
          <p:cNvPr id="69" name="Straight Arrow Connector 68"/>
          <p:cNvCxnSpPr/>
          <p:nvPr/>
        </p:nvCxnSpPr>
        <p:spPr>
          <a:xfrm flipV="1">
            <a:off x="4419600" y="5638800"/>
            <a:ext cx="0" cy="419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1785" name="TextBox 69"/>
          <p:cNvSpPr txBox="1">
            <a:spLocks noChangeArrowheads="1"/>
          </p:cNvSpPr>
          <p:nvPr/>
        </p:nvSpPr>
        <p:spPr bwMode="auto">
          <a:xfrm>
            <a:off x="4267200" y="6096000"/>
            <a:ext cx="368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3</a:t>
            </a:r>
          </a:p>
        </p:txBody>
      </p:sp>
    </p:spTree>
    <p:extLst>
      <p:ext uri="{BB962C8B-B14F-4D97-AF65-F5344CB8AC3E}">
        <p14:creationId xmlns:p14="http://schemas.microsoft.com/office/powerpoint/2010/main" val="150311490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Title 1"/>
          <p:cNvSpPr>
            <a:spLocks noGrp="1"/>
          </p:cNvSpPr>
          <p:nvPr>
            <p:ph type="title"/>
          </p:nvPr>
        </p:nvSpPr>
        <p:spPr>
          <a:xfrm>
            <a:off x="0" y="0"/>
            <a:ext cx="2971800" cy="563563"/>
          </a:xfrm>
        </p:spPr>
        <p:txBody>
          <a:bodyPr>
            <a:normAutofit fontScale="90000"/>
          </a:bodyPr>
          <a:lstStyle/>
          <a:p>
            <a:pPr eaLnBrk="1" fontAlgn="auto" hangingPunct="1">
              <a:spcAft>
                <a:spcPts val="0"/>
              </a:spcAft>
              <a:defRPr/>
            </a:pPr>
            <a:r>
              <a:rPr lang="en-US" sz="3200" b="1" dirty="0" smtClean="0">
                <a:solidFill>
                  <a:schemeClr val="accent2">
                    <a:lumMod val="50000"/>
                  </a:schemeClr>
                </a:solidFill>
              </a:rPr>
              <a:t>16:1 Multiplexer</a:t>
            </a:r>
          </a:p>
        </p:txBody>
      </p:sp>
      <p:sp>
        <p:nvSpPr>
          <p:cNvPr id="202755"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7426CE5C-EE47-4CAC-A180-30EB209F6A3F}" type="datetime2">
              <a:rPr lang="en-US" altLang="en-US" smtClean="0">
                <a:solidFill>
                  <a:schemeClr val="tx2"/>
                </a:solidFill>
              </a:rPr>
              <a:pPr/>
              <a:t>Tuesday, March 10, 2026</a:t>
            </a:fld>
            <a:endParaRPr lang="en-US" altLang="en-US" smtClean="0">
              <a:solidFill>
                <a:schemeClr val="tx2"/>
              </a:solidFill>
            </a:endParaRPr>
          </a:p>
        </p:txBody>
      </p:sp>
      <p:sp>
        <p:nvSpPr>
          <p:cNvPr id="20275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cxnSp>
        <p:nvCxnSpPr>
          <p:cNvPr id="7" name="Straight Connector 6"/>
          <p:cNvCxnSpPr/>
          <p:nvPr/>
        </p:nvCxnSpPr>
        <p:spPr>
          <a:xfrm>
            <a:off x="76200" y="6858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202758" name="TextBox 27"/>
          <p:cNvSpPr txBox="1">
            <a:spLocks noChangeArrowheads="1"/>
          </p:cNvSpPr>
          <p:nvPr/>
        </p:nvSpPr>
        <p:spPr bwMode="auto">
          <a:xfrm>
            <a:off x="762000" y="3276600"/>
            <a:ext cx="1600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b="1"/>
              <a:t>Truth Table</a:t>
            </a:r>
          </a:p>
        </p:txBody>
      </p:sp>
      <p:graphicFrame>
        <p:nvGraphicFramePr>
          <p:cNvPr id="3" name="Table 2"/>
          <p:cNvGraphicFramePr>
            <a:graphicFrameLocks noGrp="1"/>
          </p:cNvGraphicFramePr>
          <p:nvPr>
            <p:extLst>
              <p:ext uri="{D42A27DB-BD31-4B8C-83A1-F6EECF244321}">
                <p14:modId xmlns:p14="http://schemas.microsoft.com/office/powerpoint/2010/main" val="351591773"/>
              </p:ext>
            </p:extLst>
          </p:nvPr>
        </p:nvGraphicFramePr>
        <p:xfrm>
          <a:off x="2189016" y="692730"/>
          <a:ext cx="6502404" cy="6165262"/>
        </p:xfrm>
        <a:graphic>
          <a:graphicData uri="http://schemas.openxmlformats.org/drawingml/2006/table">
            <a:tbl>
              <a:tblPr firstRow="1" bandRow="1">
                <a:tableStyleId>{5C22544A-7EE6-4342-B048-85BDC9FD1C3A}</a:tableStyleId>
              </a:tblPr>
              <a:tblGrid>
                <a:gridCol w="1083734">
                  <a:extLst>
                    <a:ext uri="{9D8B030D-6E8A-4147-A177-3AD203B41FA5}">
                      <a16:colId xmlns:a16="http://schemas.microsoft.com/office/drawing/2014/main" val="20000"/>
                    </a:ext>
                  </a:extLst>
                </a:gridCol>
                <a:gridCol w="1083734">
                  <a:extLst>
                    <a:ext uri="{9D8B030D-6E8A-4147-A177-3AD203B41FA5}">
                      <a16:colId xmlns:a16="http://schemas.microsoft.com/office/drawing/2014/main" val="20001"/>
                    </a:ext>
                  </a:extLst>
                </a:gridCol>
                <a:gridCol w="1083734">
                  <a:extLst>
                    <a:ext uri="{9D8B030D-6E8A-4147-A177-3AD203B41FA5}">
                      <a16:colId xmlns:a16="http://schemas.microsoft.com/office/drawing/2014/main" val="20002"/>
                    </a:ext>
                  </a:extLst>
                </a:gridCol>
                <a:gridCol w="1083734">
                  <a:extLst>
                    <a:ext uri="{9D8B030D-6E8A-4147-A177-3AD203B41FA5}">
                      <a16:colId xmlns:a16="http://schemas.microsoft.com/office/drawing/2014/main" val="20003"/>
                    </a:ext>
                  </a:extLst>
                </a:gridCol>
                <a:gridCol w="1083734">
                  <a:extLst>
                    <a:ext uri="{9D8B030D-6E8A-4147-A177-3AD203B41FA5}">
                      <a16:colId xmlns:a16="http://schemas.microsoft.com/office/drawing/2014/main" val="20004"/>
                    </a:ext>
                  </a:extLst>
                </a:gridCol>
                <a:gridCol w="1083734">
                  <a:extLst>
                    <a:ext uri="{9D8B030D-6E8A-4147-A177-3AD203B41FA5}">
                      <a16:colId xmlns:a16="http://schemas.microsoft.com/office/drawing/2014/main" val="20005"/>
                    </a:ext>
                  </a:extLst>
                </a:gridCol>
              </a:tblGrid>
              <a:tr h="464914">
                <a:tc>
                  <a:txBody>
                    <a:bodyPr/>
                    <a:lstStyle/>
                    <a:p>
                      <a:r>
                        <a:rPr lang="en-US" sz="1800" dirty="0" smtClean="0"/>
                        <a:t>Enable</a:t>
                      </a:r>
                      <a:endParaRPr lang="en-US" sz="1800" dirty="0"/>
                    </a:p>
                  </a:txBody>
                  <a:tcPr marT="45724" marB="45724"/>
                </a:tc>
                <a:tc gridSpan="4">
                  <a:txBody>
                    <a:bodyPr/>
                    <a:lstStyle/>
                    <a:p>
                      <a:r>
                        <a:rPr lang="en-US" sz="1800" dirty="0" smtClean="0"/>
                        <a:t>Select Lines</a:t>
                      </a:r>
                      <a:endParaRPr lang="en-US" sz="1800" dirty="0"/>
                    </a:p>
                  </a:txBody>
                  <a:tcPr marT="45724" marB="45724"/>
                </a:tc>
                <a:tc hMerge="1">
                  <a:txBody>
                    <a:bodyPr/>
                    <a:lstStyle/>
                    <a:p>
                      <a:endParaRPr lang="en-US" dirty="0"/>
                    </a:p>
                  </a:txBody>
                  <a:tcPr/>
                </a:tc>
                <a:tc hMerge="1">
                  <a:txBody>
                    <a:bodyPr/>
                    <a:lstStyle/>
                    <a:p>
                      <a:endParaRPr lang="en-US" dirty="0"/>
                    </a:p>
                  </a:txBody>
                  <a:tcPr/>
                </a:tc>
                <a:tc hMerge="1">
                  <a:txBody>
                    <a:bodyPr/>
                    <a:lstStyle/>
                    <a:p>
                      <a:endParaRPr lang="en-US" dirty="0"/>
                    </a:p>
                  </a:txBody>
                  <a:tcPr/>
                </a:tc>
                <a:tc>
                  <a:txBody>
                    <a:bodyPr/>
                    <a:lstStyle/>
                    <a:p>
                      <a:r>
                        <a:rPr lang="en-US" sz="1800" dirty="0" smtClean="0"/>
                        <a:t>Output</a:t>
                      </a:r>
                      <a:endParaRPr lang="en-US" sz="1800" dirty="0"/>
                    </a:p>
                  </a:txBody>
                  <a:tcPr marT="45724" marB="45724"/>
                </a:tc>
                <a:extLst>
                  <a:ext uri="{0D108BD9-81ED-4DB2-BD59-A6C34878D82A}">
                    <a16:rowId xmlns:a16="http://schemas.microsoft.com/office/drawing/2014/main" val="10000"/>
                  </a:ext>
                </a:extLst>
              </a:tr>
              <a:tr h="316686">
                <a:tc>
                  <a:txBody>
                    <a:bodyPr/>
                    <a:lstStyle/>
                    <a:p>
                      <a:r>
                        <a:rPr lang="en-US" sz="1200" dirty="0" smtClean="0"/>
                        <a:t>E</a:t>
                      </a:r>
                      <a:endParaRPr lang="en-US" sz="1200" dirty="0"/>
                    </a:p>
                  </a:txBody>
                  <a:tcPr marT="45724" marB="45724"/>
                </a:tc>
                <a:tc>
                  <a:txBody>
                    <a:bodyPr/>
                    <a:lstStyle/>
                    <a:p>
                      <a:r>
                        <a:rPr lang="en-US" sz="1200" dirty="0" smtClean="0"/>
                        <a:t>S</a:t>
                      </a:r>
                      <a:r>
                        <a:rPr lang="en-US" sz="1200" baseline="-25000" dirty="0" smtClean="0"/>
                        <a:t>3</a:t>
                      </a:r>
                      <a:endParaRPr lang="en-US" sz="1200" baseline="-25000" dirty="0"/>
                    </a:p>
                  </a:txBody>
                  <a:tcPr marT="45724" marB="45724"/>
                </a:tc>
                <a:tc>
                  <a:txBody>
                    <a:bodyPr/>
                    <a:lstStyle/>
                    <a:p>
                      <a:r>
                        <a:rPr lang="en-US" sz="1200" dirty="0" smtClean="0"/>
                        <a:t>S</a:t>
                      </a:r>
                      <a:r>
                        <a:rPr lang="en-US" sz="1200" baseline="-25000" dirty="0" smtClean="0"/>
                        <a:t>2</a:t>
                      </a:r>
                      <a:endParaRPr lang="en-US" sz="1200" baseline="-25000" dirty="0"/>
                    </a:p>
                  </a:txBody>
                  <a:tcPr marT="45724" marB="45724"/>
                </a:tc>
                <a:tc>
                  <a:txBody>
                    <a:bodyPr/>
                    <a:lstStyle/>
                    <a:p>
                      <a:r>
                        <a:rPr lang="en-US" sz="1200" dirty="0" smtClean="0"/>
                        <a:t>S</a:t>
                      </a:r>
                      <a:r>
                        <a:rPr lang="en-US" sz="1200" baseline="-25000" dirty="0" smtClean="0"/>
                        <a:t>1</a:t>
                      </a:r>
                      <a:endParaRPr lang="en-US" sz="1200" baseline="-25000" dirty="0"/>
                    </a:p>
                  </a:txBody>
                  <a:tcPr marT="45724" marB="45724"/>
                </a:tc>
                <a:tc>
                  <a:txBody>
                    <a:bodyPr/>
                    <a:lstStyle/>
                    <a:p>
                      <a:r>
                        <a:rPr lang="en-US" sz="1200" dirty="0" smtClean="0"/>
                        <a:t>S</a:t>
                      </a:r>
                      <a:r>
                        <a:rPr lang="en-US" sz="1200" baseline="-25000" dirty="0" smtClean="0"/>
                        <a:t>0</a:t>
                      </a:r>
                      <a:endParaRPr lang="en-US" sz="1200" baseline="-25000" dirty="0"/>
                    </a:p>
                  </a:txBody>
                  <a:tcPr marT="45724" marB="45724"/>
                </a:tc>
                <a:tc>
                  <a:txBody>
                    <a:bodyPr/>
                    <a:lstStyle/>
                    <a:p>
                      <a:r>
                        <a:rPr lang="en-US" sz="1200" dirty="0" smtClean="0"/>
                        <a:t>Y</a:t>
                      </a:r>
                      <a:endParaRPr lang="en-US" sz="1200" dirty="0"/>
                    </a:p>
                  </a:txBody>
                  <a:tcPr marT="45724" marB="45724"/>
                </a:tc>
                <a:extLst>
                  <a:ext uri="{0D108BD9-81ED-4DB2-BD59-A6C34878D82A}">
                    <a16:rowId xmlns:a16="http://schemas.microsoft.com/office/drawing/2014/main" val="10001"/>
                  </a:ext>
                </a:extLst>
              </a:tr>
              <a:tr h="316686">
                <a:tc>
                  <a:txBody>
                    <a:bodyPr/>
                    <a:lstStyle/>
                    <a:p>
                      <a:r>
                        <a:rPr lang="en-US" sz="1200" dirty="0" smtClean="0"/>
                        <a:t>0</a:t>
                      </a:r>
                      <a:endParaRPr lang="en-US" sz="1200" dirty="0"/>
                    </a:p>
                  </a:txBody>
                  <a:tcPr marT="45724" marB="45724"/>
                </a:tc>
                <a:tc>
                  <a:txBody>
                    <a:bodyPr/>
                    <a:lstStyle/>
                    <a:p>
                      <a:r>
                        <a:rPr lang="en-US" sz="1200" dirty="0" smtClean="0"/>
                        <a:t>X</a:t>
                      </a:r>
                      <a:endParaRPr lang="en-US" sz="1200" dirty="0"/>
                    </a:p>
                  </a:txBody>
                  <a:tcPr marT="45724" marB="45724"/>
                </a:tc>
                <a:tc>
                  <a:txBody>
                    <a:bodyPr/>
                    <a:lstStyle/>
                    <a:p>
                      <a:r>
                        <a:rPr lang="en-US" sz="1200" dirty="0" smtClean="0"/>
                        <a:t>X</a:t>
                      </a:r>
                      <a:endParaRPr lang="en-US" sz="1200" dirty="0"/>
                    </a:p>
                  </a:txBody>
                  <a:tcPr marT="45724" marB="45724"/>
                </a:tc>
                <a:tc>
                  <a:txBody>
                    <a:bodyPr/>
                    <a:lstStyle/>
                    <a:p>
                      <a:r>
                        <a:rPr lang="en-US" sz="1200" dirty="0" smtClean="0"/>
                        <a:t>X</a:t>
                      </a:r>
                      <a:endParaRPr lang="en-US" sz="1200" dirty="0"/>
                    </a:p>
                  </a:txBody>
                  <a:tcPr marT="45724" marB="45724"/>
                </a:tc>
                <a:tc>
                  <a:txBody>
                    <a:bodyPr/>
                    <a:lstStyle/>
                    <a:p>
                      <a:r>
                        <a:rPr lang="en-US" sz="1200" dirty="0" smtClean="0"/>
                        <a:t>X</a:t>
                      </a:r>
                      <a:endParaRPr lang="en-US" sz="1200" dirty="0"/>
                    </a:p>
                  </a:txBody>
                  <a:tcPr marT="45724" marB="45724"/>
                </a:tc>
                <a:tc>
                  <a:txBody>
                    <a:bodyPr/>
                    <a:lstStyle/>
                    <a:p>
                      <a:r>
                        <a:rPr lang="en-US" sz="1200" dirty="0" smtClean="0"/>
                        <a:t>0</a:t>
                      </a:r>
                      <a:endParaRPr lang="en-US" sz="1200" dirty="0"/>
                    </a:p>
                  </a:txBody>
                  <a:tcPr marT="45724" marB="45724"/>
                </a:tc>
                <a:extLst>
                  <a:ext uri="{0D108BD9-81ED-4DB2-BD59-A6C34878D82A}">
                    <a16:rowId xmlns:a16="http://schemas.microsoft.com/office/drawing/2014/main" val="10002"/>
                  </a:ext>
                </a:extLst>
              </a:tr>
              <a:tr h="316686">
                <a:tc>
                  <a:txBody>
                    <a:bodyPr/>
                    <a:lstStyle/>
                    <a:p>
                      <a:r>
                        <a:rPr lang="en-US" sz="1200" dirty="0" smtClean="0"/>
                        <a:t>1</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0</a:t>
                      </a:r>
                      <a:endParaRPr lang="en-US" sz="1200" dirty="0"/>
                    </a:p>
                  </a:txBody>
                  <a:tcPr marT="45724" marB="4572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D</a:t>
                      </a:r>
                      <a:r>
                        <a:rPr lang="en-US" sz="1200" baseline="-25000" dirty="0" smtClean="0"/>
                        <a:t>0</a:t>
                      </a:r>
                      <a:endParaRPr lang="en-US" sz="1200" dirty="0"/>
                    </a:p>
                  </a:txBody>
                  <a:tcPr marT="45724" marB="45724"/>
                </a:tc>
                <a:extLst>
                  <a:ext uri="{0D108BD9-81ED-4DB2-BD59-A6C34878D82A}">
                    <a16:rowId xmlns:a16="http://schemas.microsoft.com/office/drawing/2014/main" val="10003"/>
                  </a:ext>
                </a:extLst>
              </a:tr>
              <a:tr h="316686">
                <a:tc>
                  <a:txBody>
                    <a:bodyPr/>
                    <a:lstStyle/>
                    <a:p>
                      <a:r>
                        <a:rPr lang="en-US" sz="1200" dirty="0" smtClean="0"/>
                        <a:t>1</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1</a:t>
                      </a:r>
                      <a:endParaRPr lang="en-US" sz="1200" dirty="0"/>
                    </a:p>
                  </a:txBody>
                  <a:tcPr marT="45724" marB="4572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D</a:t>
                      </a:r>
                      <a:r>
                        <a:rPr lang="en-US" sz="1200" baseline="-25000" dirty="0" smtClean="0"/>
                        <a:t>1</a:t>
                      </a:r>
                      <a:endParaRPr lang="en-US" sz="1200" dirty="0"/>
                    </a:p>
                  </a:txBody>
                  <a:tcPr marT="45724" marB="45724"/>
                </a:tc>
                <a:extLst>
                  <a:ext uri="{0D108BD9-81ED-4DB2-BD59-A6C34878D82A}">
                    <a16:rowId xmlns:a16="http://schemas.microsoft.com/office/drawing/2014/main" val="10004"/>
                  </a:ext>
                </a:extLst>
              </a:tr>
              <a:tr h="316686">
                <a:tc>
                  <a:txBody>
                    <a:bodyPr/>
                    <a:lstStyle/>
                    <a:p>
                      <a:r>
                        <a:rPr lang="en-US" sz="1200" dirty="0" smtClean="0"/>
                        <a:t>1</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0</a:t>
                      </a:r>
                      <a:endParaRPr lang="en-US" sz="1200" dirty="0"/>
                    </a:p>
                  </a:txBody>
                  <a:tcPr marT="45724" marB="4572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D</a:t>
                      </a:r>
                      <a:r>
                        <a:rPr lang="en-US" sz="1200" baseline="-25000" dirty="0" smtClean="0"/>
                        <a:t>2</a:t>
                      </a:r>
                      <a:endParaRPr lang="en-US" sz="1200" dirty="0"/>
                    </a:p>
                  </a:txBody>
                  <a:tcPr marT="45724" marB="45724"/>
                </a:tc>
                <a:extLst>
                  <a:ext uri="{0D108BD9-81ED-4DB2-BD59-A6C34878D82A}">
                    <a16:rowId xmlns:a16="http://schemas.microsoft.com/office/drawing/2014/main" val="10005"/>
                  </a:ext>
                </a:extLst>
              </a:tr>
              <a:tr h="316686">
                <a:tc>
                  <a:txBody>
                    <a:bodyPr/>
                    <a:lstStyle/>
                    <a:p>
                      <a:r>
                        <a:rPr lang="en-US" sz="1200" dirty="0" smtClean="0"/>
                        <a:t>1</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1</a:t>
                      </a:r>
                      <a:endParaRPr lang="en-US" sz="1200" dirty="0"/>
                    </a:p>
                  </a:txBody>
                  <a:tcPr marT="45724" marB="4572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D</a:t>
                      </a:r>
                      <a:r>
                        <a:rPr lang="en-US" sz="1200" baseline="-25000" dirty="0" smtClean="0"/>
                        <a:t>3</a:t>
                      </a:r>
                      <a:endParaRPr lang="en-US" sz="1200" dirty="0"/>
                    </a:p>
                  </a:txBody>
                  <a:tcPr marT="45724" marB="45724"/>
                </a:tc>
                <a:extLst>
                  <a:ext uri="{0D108BD9-81ED-4DB2-BD59-A6C34878D82A}">
                    <a16:rowId xmlns:a16="http://schemas.microsoft.com/office/drawing/2014/main" val="10006"/>
                  </a:ext>
                </a:extLst>
              </a:tr>
              <a:tr h="316686">
                <a:tc>
                  <a:txBody>
                    <a:bodyPr/>
                    <a:lstStyle/>
                    <a:p>
                      <a:r>
                        <a:rPr lang="en-US" sz="1200" dirty="0" smtClean="0"/>
                        <a:t>1</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0</a:t>
                      </a:r>
                      <a:endParaRPr lang="en-US" sz="1200" dirty="0"/>
                    </a:p>
                  </a:txBody>
                  <a:tcPr marT="45724" marB="4572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D</a:t>
                      </a:r>
                      <a:r>
                        <a:rPr lang="en-US" sz="1200" baseline="-25000" dirty="0" smtClean="0"/>
                        <a:t>4</a:t>
                      </a:r>
                      <a:endParaRPr lang="en-US" sz="1200" dirty="0"/>
                    </a:p>
                  </a:txBody>
                  <a:tcPr marT="45724" marB="45724"/>
                </a:tc>
                <a:extLst>
                  <a:ext uri="{0D108BD9-81ED-4DB2-BD59-A6C34878D82A}">
                    <a16:rowId xmlns:a16="http://schemas.microsoft.com/office/drawing/2014/main" val="10007"/>
                  </a:ext>
                </a:extLst>
              </a:tr>
              <a:tr h="316686">
                <a:tc>
                  <a:txBody>
                    <a:bodyPr/>
                    <a:lstStyle/>
                    <a:p>
                      <a:r>
                        <a:rPr lang="en-US" sz="1200" dirty="0" smtClean="0"/>
                        <a:t>1</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1</a:t>
                      </a:r>
                      <a:endParaRPr lang="en-US" sz="1200" dirty="0"/>
                    </a:p>
                  </a:txBody>
                  <a:tcPr marT="45724" marB="4572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D</a:t>
                      </a:r>
                      <a:r>
                        <a:rPr lang="en-US" sz="1200" baseline="-25000" dirty="0" smtClean="0"/>
                        <a:t>5</a:t>
                      </a:r>
                      <a:endParaRPr lang="en-US" sz="1200" dirty="0"/>
                    </a:p>
                  </a:txBody>
                  <a:tcPr marT="45724" marB="45724"/>
                </a:tc>
                <a:extLst>
                  <a:ext uri="{0D108BD9-81ED-4DB2-BD59-A6C34878D82A}">
                    <a16:rowId xmlns:a16="http://schemas.microsoft.com/office/drawing/2014/main" val="10008"/>
                  </a:ext>
                </a:extLst>
              </a:tr>
              <a:tr h="316686">
                <a:tc>
                  <a:txBody>
                    <a:bodyPr/>
                    <a:lstStyle/>
                    <a:p>
                      <a:r>
                        <a:rPr lang="en-US" sz="1200" dirty="0" smtClean="0"/>
                        <a:t>1</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0</a:t>
                      </a:r>
                      <a:endParaRPr lang="en-US" sz="1200" dirty="0"/>
                    </a:p>
                  </a:txBody>
                  <a:tcPr marT="45724" marB="4572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D</a:t>
                      </a:r>
                      <a:r>
                        <a:rPr lang="en-US" sz="1200" baseline="-25000" dirty="0" smtClean="0"/>
                        <a:t>6</a:t>
                      </a:r>
                      <a:endParaRPr lang="en-US" sz="1200" dirty="0"/>
                    </a:p>
                  </a:txBody>
                  <a:tcPr marT="45724" marB="45724"/>
                </a:tc>
                <a:extLst>
                  <a:ext uri="{0D108BD9-81ED-4DB2-BD59-A6C34878D82A}">
                    <a16:rowId xmlns:a16="http://schemas.microsoft.com/office/drawing/2014/main" val="10009"/>
                  </a:ext>
                </a:extLst>
              </a:tr>
              <a:tr h="316686">
                <a:tc>
                  <a:txBody>
                    <a:bodyPr/>
                    <a:lstStyle/>
                    <a:p>
                      <a:r>
                        <a:rPr lang="en-US" sz="1200" dirty="0" smtClean="0"/>
                        <a:t>1</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1</a:t>
                      </a:r>
                      <a:endParaRPr lang="en-US" sz="1200" dirty="0"/>
                    </a:p>
                  </a:txBody>
                  <a:tcPr marT="45724" marB="4572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D</a:t>
                      </a:r>
                      <a:r>
                        <a:rPr lang="en-US" sz="1200" baseline="-25000" dirty="0" smtClean="0"/>
                        <a:t>7</a:t>
                      </a:r>
                      <a:endParaRPr lang="en-US" sz="1200" dirty="0"/>
                    </a:p>
                  </a:txBody>
                  <a:tcPr marT="45724" marB="45724"/>
                </a:tc>
                <a:extLst>
                  <a:ext uri="{0D108BD9-81ED-4DB2-BD59-A6C34878D82A}">
                    <a16:rowId xmlns:a16="http://schemas.microsoft.com/office/drawing/2014/main" val="10010"/>
                  </a:ext>
                </a:extLst>
              </a:tr>
              <a:tr h="316686">
                <a:tc>
                  <a:txBody>
                    <a:bodyPr/>
                    <a:lstStyle/>
                    <a:p>
                      <a:r>
                        <a:rPr lang="en-US" sz="1200" dirty="0" smtClean="0"/>
                        <a:t>1</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0</a:t>
                      </a:r>
                      <a:endParaRPr lang="en-US" sz="1200" dirty="0"/>
                    </a:p>
                  </a:txBody>
                  <a:tcPr marT="45724" marB="4572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D</a:t>
                      </a:r>
                      <a:r>
                        <a:rPr lang="en-US" sz="1200" baseline="-25000" dirty="0" smtClean="0"/>
                        <a:t>8</a:t>
                      </a:r>
                      <a:endParaRPr lang="en-US" sz="1200" dirty="0"/>
                    </a:p>
                  </a:txBody>
                  <a:tcPr marT="45724" marB="45724"/>
                </a:tc>
                <a:extLst>
                  <a:ext uri="{0D108BD9-81ED-4DB2-BD59-A6C34878D82A}">
                    <a16:rowId xmlns:a16="http://schemas.microsoft.com/office/drawing/2014/main" val="10011"/>
                  </a:ext>
                </a:extLst>
              </a:tr>
              <a:tr h="316686">
                <a:tc>
                  <a:txBody>
                    <a:bodyPr/>
                    <a:lstStyle/>
                    <a:p>
                      <a:r>
                        <a:rPr lang="en-US" sz="1200" dirty="0" smtClean="0"/>
                        <a:t>1</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1</a:t>
                      </a:r>
                      <a:endParaRPr lang="en-US" sz="1200" dirty="0"/>
                    </a:p>
                  </a:txBody>
                  <a:tcPr marT="45724" marB="4572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D</a:t>
                      </a:r>
                      <a:r>
                        <a:rPr lang="en-US" sz="1200" baseline="-25000" dirty="0" smtClean="0"/>
                        <a:t>9</a:t>
                      </a:r>
                      <a:endParaRPr lang="en-US" sz="1200" dirty="0"/>
                    </a:p>
                  </a:txBody>
                  <a:tcPr marT="45724" marB="45724"/>
                </a:tc>
                <a:extLst>
                  <a:ext uri="{0D108BD9-81ED-4DB2-BD59-A6C34878D82A}">
                    <a16:rowId xmlns:a16="http://schemas.microsoft.com/office/drawing/2014/main" val="10012"/>
                  </a:ext>
                </a:extLst>
              </a:tr>
              <a:tr h="316686">
                <a:tc>
                  <a:txBody>
                    <a:bodyPr/>
                    <a:lstStyle/>
                    <a:p>
                      <a:r>
                        <a:rPr lang="en-US" sz="1200" dirty="0" smtClean="0"/>
                        <a:t>1</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0</a:t>
                      </a:r>
                      <a:endParaRPr lang="en-US" sz="1200" dirty="0"/>
                    </a:p>
                  </a:txBody>
                  <a:tcPr marT="45724" marB="4572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D</a:t>
                      </a:r>
                      <a:r>
                        <a:rPr lang="en-US" sz="1200" baseline="-25000" dirty="0" smtClean="0"/>
                        <a:t>10</a:t>
                      </a:r>
                      <a:endParaRPr lang="en-US" sz="1200" dirty="0"/>
                    </a:p>
                  </a:txBody>
                  <a:tcPr marT="45724" marB="45724"/>
                </a:tc>
                <a:extLst>
                  <a:ext uri="{0D108BD9-81ED-4DB2-BD59-A6C34878D82A}">
                    <a16:rowId xmlns:a16="http://schemas.microsoft.com/office/drawing/2014/main" val="10013"/>
                  </a:ext>
                </a:extLst>
              </a:tr>
              <a:tr h="316686">
                <a:tc>
                  <a:txBody>
                    <a:bodyPr/>
                    <a:lstStyle/>
                    <a:p>
                      <a:r>
                        <a:rPr lang="en-US" sz="1200" dirty="0" smtClean="0"/>
                        <a:t>1</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1</a:t>
                      </a:r>
                      <a:endParaRPr lang="en-US" sz="1200" dirty="0"/>
                    </a:p>
                  </a:txBody>
                  <a:tcPr marT="45724" marB="4572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D</a:t>
                      </a:r>
                      <a:r>
                        <a:rPr lang="en-US" sz="1200" baseline="-25000" dirty="0" smtClean="0"/>
                        <a:t>11</a:t>
                      </a:r>
                      <a:endParaRPr lang="en-US" sz="1200" dirty="0"/>
                    </a:p>
                  </a:txBody>
                  <a:tcPr marT="45724" marB="45724"/>
                </a:tc>
                <a:extLst>
                  <a:ext uri="{0D108BD9-81ED-4DB2-BD59-A6C34878D82A}">
                    <a16:rowId xmlns:a16="http://schemas.microsoft.com/office/drawing/2014/main" val="10014"/>
                  </a:ext>
                </a:extLst>
              </a:tr>
              <a:tr h="316686">
                <a:tc>
                  <a:txBody>
                    <a:bodyPr/>
                    <a:lstStyle/>
                    <a:p>
                      <a:r>
                        <a:rPr lang="en-US" sz="1200" dirty="0" smtClean="0"/>
                        <a:t>1</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0</a:t>
                      </a:r>
                      <a:endParaRPr lang="en-US" sz="1200" dirty="0"/>
                    </a:p>
                  </a:txBody>
                  <a:tcPr marT="45724" marB="4572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D</a:t>
                      </a:r>
                      <a:r>
                        <a:rPr lang="en-US" sz="1200" baseline="-25000" dirty="0" smtClean="0"/>
                        <a:t>12</a:t>
                      </a:r>
                      <a:endParaRPr lang="en-US" sz="1200" dirty="0"/>
                    </a:p>
                  </a:txBody>
                  <a:tcPr marT="45724" marB="45724"/>
                </a:tc>
                <a:extLst>
                  <a:ext uri="{0D108BD9-81ED-4DB2-BD59-A6C34878D82A}">
                    <a16:rowId xmlns:a16="http://schemas.microsoft.com/office/drawing/2014/main" val="10015"/>
                  </a:ext>
                </a:extLst>
              </a:tr>
              <a:tr h="316686">
                <a:tc>
                  <a:txBody>
                    <a:bodyPr/>
                    <a:lstStyle/>
                    <a:p>
                      <a:r>
                        <a:rPr lang="en-US" sz="1200" dirty="0" smtClean="0"/>
                        <a:t>1</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0</a:t>
                      </a:r>
                      <a:endParaRPr lang="en-US" sz="1200" dirty="0"/>
                    </a:p>
                  </a:txBody>
                  <a:tcPr marT="45724" marB="45724"/>
                </a:tc>
                <a:tc>
                  <a:txBody>
                    <a:bodyPr/>
                    <a:lstStyle/>
                    <a:p>
                      <a:r>
                        <a:rPr lang="en-US" sz="1200" dirty="0" smtClean="0"/>
                        <a:t>1</a:t>
                      </a:r>
                      <a:endParaRPr lang="en-US" sz="1200" dirty="0"/>
                    </a:p>
                  </a:txBody>
                  <a:tcPr marT="45724" marB="4572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D</a:t>
                      </a:r>
                      <a:r>
                        <a:rPr lang="en-US" sz="1200" baseline="-25000" dirty="0" smtClean="0"/>
                        <a:t>13</a:t>
                      </a:r>
                      <a:endParaRPr lang="en-US" sz="1200" dirty="0"/>
                    </a:p>
                  </a:txBody>
                  <a:tcPr marT="45724" marB="45724"/>
                </a:tc>
                <a:extLst>
                  <a:ext uri="{0D108BD9-81ED-4DB2-BD59-A6C34878D82A}">
                    <a16:rowId xmlns:a16="http://schemas.microsoft.com/office/drawing/2014/main" val="10016"/>
                  </a:ext>
                </a:extLst>
              </a:tr>
              <a:tr h="316686">
                <a:tc>
                  <a:txBody>
                    <a:bodyPr/>
                    <a:lstStyle/>
                    <a:p>
                      <a:r>
                        <a:rPr lang="en-US" sz="1200" dirty="0" smtClean="0"/>
                        <a:t>1</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0</a:t>
                      </a:r>
                      <a:endParaRPr lang="en-US" sz="1200" dirty="0"/>
                    </a:p>
                  </a:txBody>
                  <a:tcPr marT="45724" marB="4572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D</a:t>
                      </a:r>
                      <a:r>
                        <a:rPr lang="en-US" sz="1200" baseline="-25000" dirty="0" smtClean="0"/>
                        <a:t>14</a:t>
                      </a:r>
                      <a:endParaRPr lang="en-US" sz="1200" dirty="0"/>
                    </a:p>
                  </a:txBody>
                  <a:tcPr marT="45724" marB="45724"/>
                </a:tc>
                <a:extLst>
                  <a:ext uri="{0D108BD9-81ED-4DB2-BD59-A6C34878D82A}">
                    <a16:rowId xmlns:a16="http://schemas.microsoft.com/office/drawing/2014/main" val="10017"/>
                  </a:ext>
                </a:extLst>
              </a:tr>
              <a:tr h="316686">
                <a:tc>
                  <a:txBody>
                    <a:bodyPr/>
                    <a:lstStyle/>
                    <a:p>
                      <a:r>
                        <a:rPr lang="en-US" sz="1200" dirty="0" smtClean="0"/>
                        <a:t>1</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1</a:t>
                      </a:r>
                      <a:endParaRPr lang="en-US" sz="1200" dirty="0"/>
                    </a:p>
                  </a:txBody>
                  <a:tcPr marT="45724" marB="45724"/>
                </a:tc>
                <a:tc>
                  <a:txBody>
                    <a:bodyPr/>
                    <a:lstStyle/>
                    <a:p>
                      <a:r>
                        <a:rPr lang="en-US" sz="1200" dirty="0" smtClean="0"/>
                        <a:t>1</a:t>
                      </a:r>
                      <a:endParaRPr lang="en-US" sz="1200" dirty="0"/>
                    </a:p>
                  </a:txBody>
                  <a:tcPr marT="45724" marB="4572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D</a:t>
                      </a:r>
                      <a:r>
                        <a:rPr lang="en-US" sz="1200" baseline="-25000" dirty="0" smtClean="0"/>
                        <a:t>15</a:t>
                      </a:r>
                      <a:endParaRPr lang="en-US" sz="1200" dirty="0"/>
                    </a:p>
                  </a:txBody>
                  <a:tcPr marT="45724" marB="45724"/>
                </a:tc>
                <a:extLst>
                  <a:ext uri="{0D108BD9-81ED-4DB2-BD59-A6C34878D82A}">
                    <a16:rowId xmlns:a16="http://schemas.microsoft.com/office/drawing/2014/main" val="10018"/>
                  </a:ext>
                </a:extLst>
              </a:tr>
            </a:tbl>
          </a:graphicData>
        </a:graphic>
      </p:graphicFrame>
    </p:spTree>
    <p:extLst>
      <p:ext uri="{BB962C8B-B14F-4D97-AF65-F5344CB8AC3E}">
        <p14:creationId xmlns:p14="http://schemas.microsoft.com/office/powerpoint/2010/main" val="39782591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73"/>
          <p:cNvSpPr txBox="1">
            <a:spLocks noGrp="1"/>
          </p:cNvSpPr>
          <p:nvPr>
            <p:ph type="body" idx="1"/>
          </p:nvPr>
        </p:nvSpPr>
        <p:spPr>
          <a:xfrm>
            <a:off x="347133" y="1166018"/>
            <a:ext cx="8449733" cy="4525963"/>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600"/>
              </a:spcBef>
              <a:spcAft>
                <a:spcPts val="600"/>
              </a:spcAft>
              <a:buClr>
                <a:schemeClr val="dk1"/>
              </a:buClr>
              <a:buSzPts val="2400"/>
              <a:buNone/>
            </a:pPr>
            <a:r>
              <a:rPr lang="en-US" sz="2000" b="1" dirty="0">
                <a:solidFill>
                  <a:srgbClr val="C00000"/>
                </a:solidFill>
                <a:latin typeface="Times New Roman" panose="02020603050405020304" pitchFamily="18" charset="0"/>
                <a:ea typeface="Times New Roman"/>
                <a:cs typeface="Times New Roman" panose="02020603050405020304" pitchFamily="18" charset="0"/>
                <a:sym typeface="Times New Roman"/>
              </a:rPr>
              <a:t>Some of the important applications of a multiplexer are as follows:</a:t>
            </a:r>
            <a:endParaRPr sz="2000" b="1" dirty="0">
              <a:solidFill>
                <a:srgbClr val="C00000"/>
              </a:solidFill>
              <a:latin typeface="Times New Roman" panose="02020603050405020304" pitchFamily="18" charset="0"/>
              <a:cs typeface="Times New Roman" panose="02020603050405020304" pitchFamily="18" charset="0"/>
            </a:endParaRPr>
          </a:p>
          <a:p>
            <a:pPr marL="342900" lvl="0" algn="l" rtl="0">
              <a:lnSpc>
                <a:spcPct val="150000"/>
              </a:lnSpc>
              <a:spcBef>
                <a:spcPts val="600"/>
              </a:spcBef>
              <a:spcAft>
                <a:spcPts val="600"/>
              </a:spcAft>
              <a:buClr>
                <a:schemeClr val="dk1"/>
              </a:buClr>
              <a:buSzPts val="2400"/>
              <a:buFont typeface="Wingdings" panose="05000000000000000000" pitchFamily="2" charset="2"/>
              <a:buChar char="Ø"/>
            </a:pPr>
            <a:r>
              <a:rPr lang="en-US" sz="2000" dirty="0">
                <a:latin typeface="Times New Roman" panose="02020603050405020304" pitchFamily="18" charset="0"/>
                <a:ea typeface="Times New Roman"/>
                <a:cs typeface="Times New Roman" panose="02020603050405020304" pitchFamily="18" charset="0"/>
                <a:sym typeface="Times New Roman"/>
              </a:rPr>
              <a:t> It is used as a </a:t>
            </a:r>
            <a:r>
              <a:rPr lang="en-US" sz="2000" b="1" dirty="0">
                <a:latin typeface="Times New Roman" panose="02020603050405020304" pitchFamily="18" charset="0"/>
                <a:ea typeface="Times New Roman"/>
                <a:cs typeface="Times New Roman" panose="02020603050405020304" pitchFamily="18" charset="0"/>
                <a:sym typeface="Times New Roman"/>
              </a:rPr>
              <a:t>data selector </a:t>
            </a:r>
            <a:r>
              <a:rPr lang="en-US" sz="2000" dirty="0">
                <a:latin typeface="Times New Roman" panose="02020603050405020304" pitchFamily="18" charset="0"/>
                <a:ea typeface="Times New Roman"/>
                <a:cs typeface="Times New Roman" panose="02020603050405020304" pitchFamily="18" charset="0"/>
                <a:sym typeface="Times New Roman"/>
              </a:rPr>
              <a:t>to select one out of many data inputs.</a:t>
            </a:r>
            <a:endParaRPr sz="2000" dirty="0">
              <a:latin typeface="Times New Roman" panose="02020603050405020304" pitchFamily="18" charset="0"/>
              <a:cs typeface="Times New Roman" panose="02020603050405020304" pitchFamily="18" charset="0"/>
            </a:endParaRPr>
          </a:p>
          <a:p>
            <a:pPr marL="342900" lvl="0" algn="l" rtl="0">
              <a:lnSpc>
                <a:spcPct val="150000"/>
              </a:lnSpc>
              <a:spcBef>
                <a:spcPts val="600"/>
              </a:spcBef>
              <a:spcAft>
                <a:spcPts val="600"/>
              </a:spcAft>
              <a:buClr>
                <a:schemeClr val="dk1"/>
              </a:buClr>
              <a:buSzPts val="2400"/>
              <a:buFont typeface="Wingdings" panose="05000000000000000000" pitchFamily="2" charset="2"/>
              <a:buChar char="Ø"/>
            </a:pPr>
            <a:r>
              <a:rPr lang="en-US" sz="2000" dirty="0">
                <a:latin typeface="Times New Roman" panose="02020603050405020304" pitchFamily="18" charset="0"/>
                <a:ea typeface="Times New Roman"/>
                <a:cs typeface="Times New Roman" panose="02020603050405020304" pitchFamily="18" charset="0"/>
                <a:sym typeface="Times New Roman"/>
              </a:rPr>
              <a:t>It is used </a:t>
            </a:r>
            <a:r>
              <a:rPr lang="en-US" sz="2000" b="1" dirty="0">
                <a:latin typeface="Times New Roman" panose="02020603050405020304" pitchFamily="18" charset="0"/>
                <a:ea typeface="Times New Roman"/>
                <a:cs typeface="Times New Roman" panose="02020603050405020304" pitchFamily="18" charset="0"/>
                <a:sym typeface="Times New Roman"/>
              </a:rPr>
              <a:t>for simplification of logic design</a:t>
            </a:r>
            <a:r>
              <a:rPr lang="en-US" sz="2000" dirty="0">
                <a:latin typeface="Times New Roman" panose="02020603050405020304" pitchFamily="18" charset="0"/>
                <a:ea typeface="Times New Roman"/>
                <a:cs typeface="Times New Roman" panose="02020603050405020304" pitchFamily="18" charset="0"/>
                <a:sym typeface="Times New Roman"/>
              </a:rPr>
              <a:t>.</a:t>
            </a:r>
            <a:endParaRPr sz="2000" dirty="0">
              <a:latin typeface="Times New Roman" panose="02020603050405020304" pitchFamily="18" charset="0"/>
              <a:cs typeface="Times New Roman" panose="02020603050405020304" pitchFamily="18" charset="0"/>
            </a:endParaRPr>
          </a:p>
          <a:p>
            <a:pPr marL="342900" lvl="0" algn="l" rtl="0">
              <a:lnSpc>
                <a:spcPct val="150000"/>
              </a:lnSpc>
              <a:spcBef>
                <a:spcPts val="600"/>
              </a:spcBef>
              <a:spcAft>
                <a:spcPts val="600"/>
              </a:spcAft>
              <a:buClr>
                <a:schemeClr val="dk1"/>
              </a:buClr>
              <a:buSzPts val="2400"/>
              <a:buFont typeface="Wingdings" panose="05000000000000000000" pitchFamily="2" charset="2"/>
              <a:buChar char="Ø"/>
            </a:pPr>
            <a:r>
              <a:rPr lang="en-US" sz="2000" dirty="0">
                <a:latin typeface="Times New Roman" panose="02020603050405020304" pitchFamily="18" charset="0"/>
                <a:ea typeface="Times New Roman"/>
                <a:cs typeface="Times New Roman" panose="02020603050405020304" pitchFamily="18" charset="0"/>
                <a:sym typeface="Times New Roman"/>
              </a:rPr>
              <a:t>In the </a:t>
            </a:r>
            <a:r>
              <a:rPr lang="en-US" sz="2000" b="1" dirty="0">
                <a:latin typeface="Times New Roman" panose="02020603050405020304" pitchFamily="18" charset="0"/>
                <a:ea typeface="Times New Roman"/>
                <a:cs typeface="Times New Roman" panose="02020603050405020304" pitchFamily="18" charset="0"/>
                <a:sym typeface="Times New Roman"/>
              </a:rPr>
              <a:t>data acquisition system.</a:t>
            </a:r>
            <a:r>
              <a:rPr lang="en-US" sz="2000" dirty="0">
                <a:latin typeface="Times New Roman" panose="02020603050405020304" pitchFamily="18" charset="0"/>
                <a:ea typeface="Times New Roman"/>
                <a:cs typeface="Times New Roman" panose="02020603050405020304" pitchFamily="18" charset="0"/>
                <a:sym typeface="Times New Roman"/>
              </a:rPr>
              <a:t> In designing the combinational circuits.</a:t>
            </a:r>
            <a:endParaRPr sz="2000" dirty="0">
              <a:latin typeface="Times New Roman" panose="02020603050405020304" pitchFamily="18" charset="0"/>
              <a:cs typeface="Times New Roman" panose="02020603050405020304" pitchFamily="18" charset="0"/>
            </a:endParaRPr>
          </a:p>
          <a:p>
            <a:pPr marL="342900" lvl="0" algn="l" rtl="0">
              <a:lnSpc>
                <a:spcPct val="150000"/>
              </a:lnSpc>
              <a:spcBef>
                <a:spcPts val="600"/>
              </a:spcBef>
              <a:spcAft>
                <a:spcPts val="600"/>
              </a:spcAft>
              <a:buClr>
                <a:schemeClr val="dk1"/>
              </a:buClr>
              <a:buSzPts val="2400"/>
              <a:buFont typeface="Wingdings" panose="05000000000000000000" pitchFamily="2" charset="2"/>
              <a:buChar char="Ø"/>
            </a:pPr>
            <a:r>
              <a:rPr lang="en-US" sz="2000" dirty="0">
                <a:latin typeface="Times New Roman" panose="02020603050405020304" pitchFamily="18" charset="0"/>
                <a:ea typeface="Times New Roman"/>
                <a:cs typeface="Times New Roman" panose="02020603050405020304" pitchFamily="18" charset="0"/>
                <a:sym typeface="Times New Roman"/>
              </a:rPr>
              <a:t>In the </a:t>
            </a:r>
            <a:r>
              <a:rPr lang="en-US" sz="2000" b="1" dirty="0">
                <a:latin typeface="Times New Roman" panose="02020603050405020304" pitchFamily="18" charset="0"/>
                <a:ea typeface="Times New Roman"/>
                <a:cs typeface="Times New Roman" panose="02020603050405020304" pitchFamily="18" charset="0"/>
                <a:sym typeface="Times New Roman"/>
              </a:rPr>
              <a:t>D/A converters</a:t>
            </a:r>
            <a:r>
              <a:rPr lang="en-US" sz="2000" dirty="0">
                <a:latin typeface="Times New Roman" panose="02020603050405020304" pitchFamily="18" charset="0"/>
                <a:ea typeface="Times New Roman"/>
                <a:cs typeface="Times New Roman" panose="02020603050405020304" pitchFamily="18" charset="0"/>
                <a:sym typeface="Times New Roman"/>
              </a:rPr>
              <a:t>.</a:t>
            </a:r>
            <a:endParaRPr sz="2000" dirty="0">
              <a:latin typeface="Times New Roman" panose="02020603050405020304" pitchFamily="18" charset="0"/>
              <a:cs typeface="Times New Roman" panose="02020603050405020304" pitchFamily="18" charset="0"/>
            </a:endParaRPr>
          </a:p>
          <a:p>
            <a:pPr marL="342900" lvl="0" algn="l" rtl="0">
              <a:lnSpc>
                <a:spcPct val="150000"/>
              </a:lnSpc>
              <a:spcBef>
                <a:spcPts val="600"/>
              </a:spcBef>
              <a:spcAft>
                <a:spcPts val="600"/>
              </a:spcAft>
              <a:buClr>
                <a:schemeClr val="dk1"/>
              </a:buClr>
              <a:buSzPts val="2400"/>
              <a:buFont typeface="Wingdings" panose="05000000000000000000" pitchFamily="2" charset="2"/>
              <a:buChar char="Ø"/>
            </a:pPr>
            <a:r>
              <a:rPr lang="en-US" sz="2000" dirty="0">
                <a:latin typeface="Times New Roman" panose="02020603050405020304" pitchFamily="18" charset="0"/>
                <a:ea typeface="Times New Roman"/>
                <a:cs typeface="Times New Roman" panose="02020603050405020304" pitchFamily="18" charset="0"/>
                <a:sym typeface="Times New Roman"/>
              </a:rPr>
              <a:t>To </a:t>
            </a:r>
            <a:r>
              <a:rPr lang="en-US" sz="2000" b="1" dirty="0">
                <a:latin typeface="Times New Roman" panose="02020603050405020304" pitchFamily="18" charset="0"/>
                <a:ea typeface="Times New Roman"/>
                <a:cs typeface="Times New Roman" panose="02020603050405020304" pitchFamily="18" charset="0"/>
                <a:sym typeface="Times New Roman"/>
              </a:rPr>
              <a:t>minimize the number of connections in a logic circuit</a:t>
            </a:r>
            <a:r>
              <a:rPr lang="en-US" sz="2000" dirty="0">
                <a:latin typeface="Times New Roman" panose="02020603050405020304" pitchFamily="18" charset="0"/>
                <a:ea typeface="Times New Roman"/>
                <a:cs typeface="Times New Roman" panose="02020603050405020304" pitchFamily="18" charset="0"/>
                <a:sym typeface="Times New Roman"/>
              </a:rPr>
              <a:t>.</a:t>
            </a:r>
            <a:endParaRPr sz="2000" dirty="0">
              <a:latin typeface="Times New Roman" panose="02020603050405020304" pitchFamily="18" charset="0"/>
              <a:cs typeface="Times New Roman" panose="02020603050405020304" pitchFamily="18" charset="0"/>
            </a:endParaRPr>
          </a:p>
          <a:p>
            <a:pPr marL="342900" lvl="0" indent="-139700" algn="l" rtl="0">
              <a:spcBef>
                <a:spcPts val="640"/>
              </a:spcBef>
              <a:spcAft>
                <a:spcPts val="0"/>
              </a:spcAft>
              <a:buClr>
                <a:schemeClr val="dk1"/>
              </a:buClr>
              <a:buSzPts val="3200"/>
              <a:buNone/>
            </a:pPr>
            <a:endParaRPr dirty="0"/>
          </a:p>
        </p:txBody>
      </p:sp>
      <p:sp>
        <p:nvSpPr>
          <p:cNvPr id="2" name="Title 1">
            <a:extLst>
              <a:ext uri="{FF2B5EF4-FFF2-40B4-BE49-F238E27FC236}">
                <a16:creationId xmlns:a16="http://schemas.microsoft.com/office/drawing/2014/main" id="{4DBE9897-254C-7D2D-373C-14790E82CE88}"/>
              </a:ext>
            </a:extLst>
          </p:cNvPr>
          <p:cNvSpPr txBox="1">
            <a:spLocks/>
          </p:cNvSpPr>
          <p:nvPr/>
        </p:nvSpPr>
        <p:spPr>
          <a:xfrm>
            <a:off x="0" y="685800"/>
            <a:ext cx="9144000"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Applications of a Multiplexer</a:t>
            </a:r>
          </a:p>
        </p:txBody>
      </p:sp>
      <p:pic>
        <p:nvPicPr>
          <p:cNvPr id="3" name="Picture 2">
            <a:extLst>
              <a:ext uri="{FF2B5EF4-FFF2-40B4-BE49-F238E27FC236}">
                <a16:creationId xmlns:a16="http://schemas.microsoft.com/office/drawing/2014/main" id="{76FBF98B-DB3E-33AF-AA6A-D5B6A310CB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43005" cy="575049"/>
          </a:xfrm>
          <a:prstGeom prst="rect">
            <a:avLst/>
          </a:prstGeom>
        </p:spPr>
      </p:pic>
    </p:spTree>
    <p:extLst>
      <p:ext uri="{BB962C8B-B14F-4D97-AF65-F5344CB8AC3E}">
        <p14:creationId xmlns:p14="http://schemas.microsoft.com/office/powerpoint/2010/main" val="3706742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74"/>
          <p:cNvSpPr/>
          <p:nvPr/>
        </p:nvSpPr>
        <p:spPr>
          <a:xfrm>
            <a:off x="294564" y="1329951"/>
            <a:ext cx="8534400" cy="4401164"/>
          </a:xfrm>
          <a:prstGeom prst="rect">
            <a:avLst/>
          </a:prstGeom>
          <a:noFill/>
          <a:ln>
            <a:noFill/>
          </a:ln>
        </p:spPr>
        <p:txBody>
          <a:bodyPr spcFirstLastPara="1" wrap="square" lIns="91425" tIns="45700" rIns="91425" bIns="45700" anchor="t" anchorCtr="0">
            <a:spAutoFit/>
          </a:bodyPr>
          <a:lstStyle/>
          <a:p>
            <a:pPr marL="514350" marR="0" lvl="0" indent="-514350" algn="just" rtl="0">
              <a:lnSpc>
                <a:spcPct val="150000"/>
              </a:lnSpc>
              <a:spcBef>
                <a:spcPts val="600"/>
              </a:spcBef>
              <a:spcAft>
                <a:spcPts val="600"/>
              </a:spcAft>
              <a:buClr>
                <a:schemeClr val="dk1"/>
              </a:buClr>
              <a:buSzPts val="2400"/>
              <a:buFont typeface="Wingdings" panose="05000000000000000000" pitchFamily="2" charset="2"/>
              <a:buChar char="Ø"/>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The De-Multiplexer is a combinational logic circuit that </a:t>
            </a:r>
            <a:r>
              <a:rPr lang="en-US" sz="2000" b="1" dirty="0">
                <a:solidFill>
                  <a:schemeClr val="dk1"/>
                </a:solidFill>
                <a:latin typeface="Times New Roman" panose="02020603050405020304" pitchFamily="18" charset="0"/>
                <a:ea typeface="Times New Roman"/>
                <a:cs typeface="Times New Roman" panose="02020603050405020304" pitchFamily="18" charset="0"/>
                <a:sym typeface="Times New Roman"/>
              </a:rPr>
              <a:t>performs the reverse operation of multiplexer </a:t>
            </a: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(Several output lines, one input line). </a:t>
            </a:r>
            <a:endParaRPr sz="2000" dirty="0">
              <a:latin typeface="Times New Roman" panose="02020603050405020304" pitchFamily="18" charset="0"/>
              <a:cs typeface="Times New Roman" panose="02020603050405020304" pitchFamily="18" charset="0"/>
            </a:endParaRPr>
          </a:p>
          <a:p>
            <a:pPr marL="514350" marR="0" lvl="0" indent="-514350" algn="just" rtl="0">
              <a:lnSpc>
                <a:spcPct val="150000"/>
              </a:lnSpc>
              <a:spcBef>
                <a:spcPts val="600"/>
              </a:spcBef>
              <a:spcAft>
                <a:spcPts val="600"/>
              </a:spcAft>
              <a:buClr>
                <a:schemeClr val="dk1"/>
              </a:buClr>
              <a:buSzPts val="2400"/>
              <a:buFont typeface="Wingdings" panose="05000000000000000000" pitchFamily="2" charset="2"/>
              <a:buChar char="Ø"/>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De -Multiplexer means </a:t>
            </a:r>
            <a:r>
              <a:rPr lang="en-US" sz="2000" b="1" dirty="0">
                <a:solidFill>
                  <a:srgbClr val="FF0000"/>
                </a:solidFill>
                <a:latin typeface="Times New Roman" panose="02020603050405020304" pitchFamily="18" charset="0"/>
                <a:ea typeface="Times New Roman"/>
                <a:cs typeface="Times New Roman" panose="02020603050405020304" pitchFamily="18" charset="0"/>
                <a:sym typeface="Times New Roman"/>
              </a:rPr>
              <a:t>one to many</a:t>
            </a: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a:t>
            </a:r>
            <a:endParaRPr sz="2000" dirty="0">
              <a:latin typeface="Times New Roman" panose="02020603050405020304" pitchFamily="18" charset="0"/>
              <a:cs typeface="Times New Roman" panose="02020603050405020304" pitchFamily="18" charset="0"/>
            </a:endParaRPr>
          </a:p>
          <a:p>
            <a:pPr marL="514350" marR="0" lvl="0" indent="-514350" algn="just" rtl="0">
              <a:lnSpc>
                <a:spcPct val="150000"/>
              </a:lnSpc>
              <a:spcBef>
                <a:spcPts val="600"/>
              </a:spcBef>
              <a:spcAft>
                <a:spcPts val="600"/>
              </a:spcAft>
              <a:buClr>
                <a:schemeClr val="dk1"/>
              </a:buClr>
              <a:buSzPts val="2400"/>
              <a:buFont typeface="Wingdings" panose="05000000000000000000" pitchFamily="2" charset="2"/>
              <a:buChar char="Ø"/>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 A De-Multiplexer is a circuit with one input and many output. By applying control signal, we can steer any input to the output. </a:t>
            </a:r>
            <a:r>
              <a:rPr lang="en-US" sz="2000" b="1" dirty="0">
                <a:solidFill>
                  <a:schemeClr val="dk1"/>
                </a:solidFill>
                <a:latin typeface="Times New Roman" panose="02020603050405020304" pitchFamily="18" charset="0"/>
                <a:ea typeface="Times New Roman"/>
                <a:cs typeface="Times New Roman" panose="02020603050405020304" pitchFamily="18" charset="0"/>
                <a:sym typeface="Times New Roman"/>
              </a:rPr>
              <a:t>Few types of De -Multiplexer are 1-to 2, 1-to-4, 1-to-8 and 1-to 16 De -Multiplexer </a:t>
            </a: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a:t>
            </a:r>
            <a:endParaRPr sz="2000" dirty="0">
              <a:latin typeface="Times New Roman" panose="02020603050405020304" pitchFamily="18" charset="0"/>
              <a:cs typeface="Times New Roman" panose="02020603050405020304" pitchFamily="18" charset="0"/>
            </a:endParaRPr>
          </a:p>
          <a:p>
            <a:pPr marL="514350" marR="0" lvl="0" indent="-514350" algn="just" rtl="0">
              <a:lnSpc>
                <a:spcPct val="150000"/>
              </a:lnSpc>
              <a:spcBef>
                <a:spcPts val="600"/>
              </a:spcBef>
              <a:spcAft>
                <a:spcPts val="600"/>
              </a:spcAft>
              <a:buClr>
                <a:schemeClr val="dk1"/>
              </a:buClr>
              <a:buSzPts val="2400"/>
              <a:buFont typeface="Wingdings" panose="05000000000000000000" pitchFamily="2" charset="2"/>
              <a:buChar char="Ø"/>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De-Multiplexer is the process of taking information from one input and transmitting the same over one of several outputs.</a:t>
            </a:r>
            <a:endParaRPr sz="20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2" name="Title 1">
            <a:extLst>
              <a:ext uri="{FF2B5EF4-FFF2-40B4-BE49-F238E27FC236}">
                <a16:creationId xmlns:a16="http://schemas.microsoft.com/office/drawing/2014/main" id="{38C4B116-5133-7025-E23A-E6070B063F9C}"/>
              </a:ext>
            </a:extLst>
          </p:cNvPr>
          <p:cNvSpPr txBox="1">
            <a:spLocks/>
          </p:cNvSpPr>
          <p:nvPr/>
        </p:nvSpPr>
        <p:spPr>
          <a:xfrm>
            <a:off x="0" y="685800"/>
            <a:ext cx="9123529"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De-Multiplexer</a:t>
            </a:r>
          </a:p>
        </p:txBody>
      </p:sp>
      <p:pic>
        <p:nvPicPr>
          <p:cNvPr id="3" name="Picture 2">
            <a:extLst>
              <a:ext uri="{FF2B5EF4-FFF2-40B4-BE49-F238E27FC236}">
                <a16:creationId xmlns:a16="http://schemas.microsoft.com/office/drawing/2014/main" id="{68D9EFA3-0470-0F79-036C-E48C81A9A3E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39997" cy="575049"/>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3" name="Google Shape;583;p75"/>
          <p:cNvSpPr txBox="1">
            <a:spLocks noGrp="1"/>
          </p:cNvSpPr>
          <p:nvPr>
            <p:ph type="body" idx="1"/>
          </p:nvPr>
        </p:nvSpPr>
        <p:spPr>
          <a:xfrm>
            <a:off x="270933" y="1253067"/>
            <a:ext cx="8661399" cy="2319866"/>
          </a:xfrm>
          <a:prstGeom prst="rect">
            <a:avLst/>
          </a:prstGeom>
          <a:noFill/>
          <a:ln>
            <a:noFill/>
          </a:ln>
        </p:spPr>
        <p:txBody>
          <a:bodyPr spcFirstLastPara="1" wrap="square" lIns="91425" tIns="45700" rIns="91425" bIns="45700" anchor="t" anchorCtr="0">
            <a:normAutofit lnSpcReduction="10000"/>
          </a:bodyPr>
          <a:lstStyle/>
          <a:p>
            <a:pPr marL="457200" lvl="0" indent="-457200" algn="just" rtl="0">
              <a:spcBef>
                <a:spcPts val="600"/>
              </a:spcBef>
              <a:spcAft>
                <a:spcPts val="600"/>
              </a:spcAft>
              <a:buClr>
                <a:schemeClr val="dk1"/>
              </a:buClr>
              <a:buSzPts val="2000"/>
              <a:buFont typeface="Wingdings" panose="05000000000000000000" pitchFamily="2" charset="2"/>
              <a:buChar char="Ø"/>
            </a:pPr>
            <a:r>
              <a:rPr lang="en-US" sz="2000" dirty="0">
                <a:latin typeface="Times New Roman" panose="02020603050405020304" pitchFamily="18" charset="0"/>
                <a:ea typeface="Times New Roman"/>
                <a:cs typeface="Times New Roman" panose="02020603050405020304" pitchFamily="18" charset="0"/>
                <a:sym typeface="Times New Roman"/>
              </a:rPr>
              <a:t>A demultiplexer performs the reverse operation of a multiplexer i.e. it receives one input and distributes it over several outputs.</a:t>
            </a:r>
            <a:endParaRPr sz="2000" dirty="0">
              <a:latin typeface="Times New Roman" panose="02020603050405020304" pitchFamily="18" charset="0"/>
              <a:cs typeface="Times New Roman" panose="02020603050405020304" pitchFamily="18" charset="0"/>
            </a:endParaRPr>
          </a:p>
          <a:p>
            <a:pPr marL="457200" lvl="0" indent="-457200" algn="just" rtl="0">
              <a:spcBef>
                <a:spcPts val="600"/>
              </a:spcBef>
              <a:spcAft>
                <a:spcPts val="600"/>
              </a:spcAft>
              <a:buClr>
                <a:schemeClr val="dk1"/>
              </a:buClr>
              <a:buSzPts val="2000"/>
              <a:buFont typeface="Wingdings" panose="05000000000000000000" pitchFamily="2" charset="2"/>
              <a:buChar char="Ø"/>
            </a:pPr>
            <a:r>
              <a:rPr lang="en-US" sz="2000" dirty="0">
                <a:latin typeface="Times New Roman" panose="02020603050405020304" pitchFamily="18" charset="0"/>
                <a:ea typeface="Times New Roman"/>
                <a:cs typeface="Times New Roman" panose="02020603050405020304" pitchFamily="18" charset="0"/>
                <a:sym typeface="Times New Roman"/>
              </a:rPr>
              <a:t>At a time only one output line is selected by the select lines and the input is routed to the selected output line.</a:t>
            </a:r>
            <a:endParaRPr sz="2000" dirty="0">
              <a:latin typeface="Times New Roman" panose="02020603050405020304" pitchFamily="18" charset="0"/>
              <a:cs typeface="Times New Roman" panose="02020603050405020304" pitchFamily="18" charset="0"/>
            </a:endParaRPr>
          </a:p>
          <a:p>
            <a:pPr marL="457200" lvl="0" indent="-457200" algn="just" rtl="0">
              <a:spcBef>
                <a:spcPts val="600"/>
              </a:spcBef>
              <a:spcAft>
                <a:spcPts val="600"/>
              </a:spcAft>
              <a:buClr>
                <a:schemeClr val="dk1"/>
              </a:buClr>
              <a:buSzPts val="2000"/>
              <a:buFont typeface="Wingdings" panose="05000000000000000000" pitchFamily="2" charset="2"/>
              <a:buChar char="Ø"/>
            </a:pPr>
            <a:r>
              <a:rPr lang="en-US" sz="2000" dirty="0">
                <a:latin typeface="Times New Roman" panose="02020603050405020304" pitchFamily="18" charset="0"/>
                <a:ea typeface="Times New Roman"/>
                <a:cs typeface="Times New Roman" panose="02020603050405020304" pitchFamily="18" charset="0"/>
                <a:sym typeface="Times New Roman"/>
              </a:rPr>
              <a:t>Hence a demultiplexer is equivalent to a single pole multiple way switch as shown in Fig. </a:t>
            </a:r>
          </a:p>
        </p:txBody>
      </p:sp>
      <p:pic>
        <p:nvPicPr>
          <p:cNvPr id="584" name="Google Shape;584;p75" descr="C:\Users\pcp\Downloads\IMG_20211022_144321.jpg"/>
          <p:cNvPicPr preferRelativeResize="0"/>
          <p:nvPr/>
        </p:nvPicPr>
        <p:blipFill rotWithShape="1">
          <a:blip r:embed="rId3">
            <a:alphaModFix/>
          </a:blip>
          <a:srcRect l="9669" t="41791" r="7546" b="25572"/>
          <a:stretch/>
        </p:blipFill>
        <p:spPr>
          <a:xfrm>
            <a:off x="457199" y="3606800"/>
            <a:ext cx="4817533" cy="2760133"/>
          </a:xfrm>
          <a:prstGeom prst="rect">
            <a:avLst/>
          </a:prstGeom>
          <a:noFill/>
          <a:ln w="57150">
            <a:solidFill>
              <a:srgbClr val="00B050"/>
            </a:solidFill>
          </a:ln>
        </p:spPr>
      </p:pic>
      <p:pic>
        <p:nvPicPr>
          <p:cNvPr id="4" name="Picture 3">
            <a:extLst>
              <a:ext uri="{FF2B5EF4-FFF2-40B4-BE49-F238E27FC236}">
                <a16:creationId xmlns:a16="http://schemas.microsoft.com/office/drawing/2014/main" id="{01F6664A-D633-D0EA-C194-D3C58ACDAECD}"/>
              </a:ext>
            </a:extLst>
          </p:cNvPr>
          <p:cNvPicPr>
            <a:picLocks noChangeAspect="1"/>
          </p:cNvPicPr>
          <p:nvPr/>
        </p:nvPicPr>
        <p:blipFill>
          <a:blip r:embed="rId4"/>
          <a:stretch>
            <a:fillRect/>
          </a:stretch>
        </p:blipFill>
        <p:spPr>
          <a:xfrm>
            <a:off x="5720397" y="3214524"/>
            <a:ext cx="3059536" cy="3342915"/>
          </a:xfrm>
          <a:prstGeom prst="rect">
            <a:avLst/>
          </a:prstGeom>
          <a:ln w="57150">
            <a:solidFill>
              <a:srgbClr val="C00000"/>
            </a:solidFill>
          </a:ln>
        </p:spPr>
      </p:pic>
      <p:sp>
        <p:nvSpPr>
          <p:cNvPr id="5" name="Title 1">
            <a:extLst>
              <a:ext uri="{FF2B5EF4-FFF2-40B4-BE49-F238E27FC236}">
                <a16:creationId xmlns:a16="http://schemas.microsoft.com/office/drawing/2014/main" id="{282754A3-041A-7FD1-0899-CB5332605DC4}"/>
              </a:ext>
            </a:extLst>
          </p:cNvPr>
          <p:cNvSpPr txBox="1">
            <a:spLocks/>
          </p:cNvSpPr>
          <p:nvPr/>
        </p:nvSpPr>
        <p:spPr>
          <a:xfrm>
            <a:off x="0" y="685800"/>
            <a:ext cx="9123529"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err="1">
                <a:solidFill>
                  <a:schemeClr val="bg1"/>
                </a:solidFill>
                <a:latin typeface="Times New Roman" panose="02020603050405020304" pitchFamily="18" charset="0"/>
                <a:cs typeface="Times New Roman" panose="02020603050405020304" pitchFamily="18" charset="0"/>
              </a:rPr>
              <a:t>Cont</a:t>
            </a:r>
            <a:r>
              <a:rPr lang="en-US" altLang="en-US" sz="3600" b="1" dirty="0">
                <a:solidFill>
                  <a:schemeClr val="bg1"/>
                </a:solidFill>
                <a:latin typeface="Times New Roman" panose="02020603050405020304" pitchFamily="18" charset="0"/>
                <a:cs typeface="Times New Roman" panose="02020603050405020304" pitchFamily="18" charset="0"/>
              </a:rPr>
              <a:t>…</a:t>
            </a:r>
          </a:p>
        </p:txBody>
      </p:sp>
      <p:pic>
        <p:nvPicPr>
          <p:cNvPr id="6" name="Picture 5">
            <a:extLst>
              <a:ext uri="{FF2B5EF4-FFF2-40B4-BE49-F238E27FC236}">
                <a16:creationId xmlns:a16="http://schemas.microsoft.com/office/drawing/2014/main" id="{632E35BB-8958-C692-ACC2-BE939ADE475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3390" y="0"/>
            <a:ext cx="1339997" cy="57504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76"/>
          <p:cNvSpPr txBox="1">
            <a:spLocks noGrp="1"/>
          </p:cNvSpPr>
          <p:nvPr>
            <p:ph type="body" idx="1"/>
          </p:nvPr>
        </p:nvSpPr>
        <p:spPr>
          <a:xfrm>
            <a:off x="446964" y="1219200"/>
            <a:ext cx="8229600" cy="4525963"/>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600"/>
              </a:spcBef>
              <a:spcAft>
                <a:spcPts val="600"/>
              </a:spcAft>
              <a:buClr>
                <a:schemeClr val="dk1"/>
              </a:buClr>
              <a:buSzPts val="3200"/>
              <a:buNone/>
            </a:pPr>
            <a:r>
              <a:rPr lang="en-US" sz="2000" dirty="0">
                <a:latin typeface="Times New Roman" panose="02020603050405020304" pitchFamily="18" charset="0"/>
                <a:ea typeface="Times New Roman"/>
                <a:cs typeface="Times New Roman" panose="02020603050405020304" pitchFamily="18" charset="0"/>
                <a:sym typeface="Times New Roman"/>
              </a:rPr>
              <a:t>Similar to the multiplexers, the demultiplexers are classified as follows:</a:t>
            </a:r>
            <a:endParaRPr sz="2000" dirty="0">
              <a:latin typeface="Times New Roman" panose="02020603050405020304" pitchFamily="18" charset="0"/>
              <a:cs typeface="Times New Roman" panose="02020603050405020304" pitchFamily="18" charset="0"/>
            </a:endParaRPr>
          </a:p>
          <a:p>
            <a:pPr marL="342900" lvl="0" algn="l" rtl="0">
              <a:lnSpc>
                <a:spcPct val="150000"/>
              </a:lnSpc>
              <a:spcBef>
                <a:spcPts val="600"/>
              </a:spcBef>
              <a:spcAft>
                <a:spcPts val="600"/>
              </a:spcAft>
              <a:buClr>
                <a:schemeClr val="dk1"/>
              </a:buClr>
              <a:buSzPts val="1800"/>
              <a:buFont typeface="Wingdings" panose="05000000000000000000" pitchFamily="2" charset="2"/>
              <a:buChar char="Ø"/>
            </a:pPr>
            <a:r>
              <a:rPr lang="en-US" sz="2000" dirty="0">
                <a:latin typeface="Times New Roman" panose="02020603050405020304" pitchFamily="18" charset="0"/>
                <a:ea typeface="Times New Roman"/>
                <a:cs typeface="Times New Roman" panose="02020603050405020304" pitchFamily="18" charset="0"/>
                <a:sym typeface="Times New Roman"/>
              </a:rPr>
              <a:t>1:2 demultiplexer</a:t>
            </a:r>
            <a:endParaRPr sz="2000" dirty="0">
              <a:latin typeface="Times New Roman" panose="02020603050405020304" pitchFamily="18" charset="0"/>
              <a:cs typeface="Times New Roman" panose="02020603050405020304" pitchFamily="18" charset="0"/>
            </a:endParaRPr>
          </a:p>
          <a:p>
            <a:pPr marL="342900" lvl="0" algn="l" rtl="0">
              <a:lnSpc>
                <a:spcPct val="150000"/>
              </a:lnSpc>
              <a:spcBef>
                <a:spcPts val="600"/>
              </a:spcBef>
              <a:spcAft>
                <a:spcPts val="600"/>
              </a:spcAft>
              <a:buClr>
                <a:schemeClr val="dk1"/>
              </a:buClr>
              <a:buSzPts val="1800"/>
              <a:buFont typeface="Wingdings" panose="05000000000000000000" pitchFamily="2" charset="2"/>
              <a:buChar char="Ø"/>
            </a:pPr>
            <a:r>
              <a:rPr lang="en-US" sz="2000" dirty="0">
                <a:latin typeface="Times New Roman" panose="02020603050405020304" pitchFamily="18" charset="0"/>
                <a:ea typeface="Times New Roman"/>
                <a:cs typeface="Times New Roman" panose="02020603050405020304" pitchFamily="18" charset="0"/>
                <a:sym typeface="Times New Roman"/>
              </a:rPr>
              <a:t>1:4 demultiplexer</a:t>
            </a:r>
            <a:endParaRPr sz="2000" dirty="0">
              <a:latin typeface="Times New Roman" panose="02020603050405020304" pitchFamily="18" charset="0"/>
              <a:cs typeface="Times New Roman" panose="02020603050405020304" pitchFamily="18" charset="0"/>
            </a:endParaRPr>
          </a:p>
          <a:p>
            <a:pPr marL="342900" lvl="0" algn="l" rtl="0">
              <a:lnSpc>
                <a:spcPct val="150000"/>
              </a:lnSpc>
              <a:spcBef>
                <a:spcPts val="600"/>
              </a:spcBef>
              <a:spcAft>
                <a:spcPts val="600"/>
              </a:spcAft>
              <a:buClr>
                <a:schemeClr val="dk1"/>
              </a:buClr>
              <a:buSzPts val="1800"/>
              <a:buFont typeface="Wingdings" panose="05000000000000000000" pitchFamily="2" charset="2"/>
              <a:buChar char="Ø"/>
            </a:pPr>
            <a:r>
              <a:rPr lang="en-US" sz="2000" dirty="0">
                <a:latin typeface="Times New Roman" panose="02020603050405020304" pitchFamily="18" charset="0"/>
                <a:ea typeface="Times New Roman"/>
                <a:cs typeface="Times New Roman" panose="02020603050405020304" pitchFamily="18" charset="0"/>
                <a:sym typeface="Times New Roman"/>
              </a:rPr>
              <a:t>1:8 demultiplexer</a:t>
            </a:r>
            <a:endParaRPr sz="2000" dirty="0">
              <a:latin typeface="Times New Roman" panose="02020603050405020304" pitchFamily="18" charset="0"/>
              <a:cs typeface="Times New Roman" panose="02020603050405020304" pitchFamily="18" charset="0"/>
            </a:endParaRPr>
          </a:p>
          <a:p>
            <a:pPr marL="342900" lvl="0" algn="l" rtl="0">
              <a:lnSpc>
                <a:spcPct val="150000"/>
              </a:lnSpc>
              <a:spcBef>
                <a:spcPts val="600"/>
              </a:spcBef>
              <a:spcAft>
                <a:spcPts val="600"/>
              </a:spcAft>
              <a:buClr>
                <a:schemeClr val="dk1"/>
              </a:buClr>
              <a:buSzPts val="1800"/>
              <a:buFont typeface="Wingdings" panose="05000000000000000000" pitchFamily="2" charset="2"/>
              <a:buChar char="Ø"/>
            </a:pPr>
            <a:r>
              <a:rPr lang="en-US" sz="2000" dirty="0">
                <a:latin typeface="Times New Roman" panose="02020603050405020304" pitchFamily="18" charset="0"/>
                <a:ea typeface="Times New Roman"/>
                <a:cs typeface="Times New Roman" panose="02020603050405020304" pitchFamily="18" charset="0"/>
                <a:sym typeface="Times New Roman"/>
              </a:rPr>
              <a:t>1: 16 demultiplexer</a:t>
            </a:r>
            <a:endParaRPr sz="2000" dirty="0">
              <a:latin typeface="Times New Roman" panose="02020603050405020304" pitchFamily="18" charset="0"/>
              <a:cs typeface="Times New Roman" panose="02020603050405020304" pitchFamily="18" charset="0"/>
            </a:endParaRPr>
          </a:p>
          <a:p>
            <a:pPr marL="342900" lvl="0" indent="-139700" algn="l" rtl="0">
              <a:spcBef>
                <a:spcPts val="640"/>
              </a:spcBef>
              <a:spcAft>
                <a:spcPts val="0"/>
              </a:spcAft>
              <a:buClr>
                <a:schemeClr val="dk1"/>
              </a:buClr>
              <a:buSzPts val="3200"/>
              <a:buNone/>
            </a:pPr>
            <a:endParaRPr dirty="0"/>
          </a:p>
        </p:txBody>
      </p:sp>
      <p:sp>
        <p:nvSpPr>
          <p:cNvPr id="2" name="Title 1">
            <a:extLst>
              <a:ext uri="{FF2B5EF4-FFF2-40B4-BE49-F238E27FC236}">
                <a16:creationId xmlns:a16="http://schemas.microsoft.com/office/drawing/2014/main" id="{82801082-923B-5FA6-C0CC-FDB2E811BBD5}"/>
              </a:ext>
            </a:extLst>
          </p:cNvPr>
          <p:cNvSpPr txBox="1">
            <a:spLocks/>
          </p:cNvSpPr>
          <p:nvPr/>
        </p:nvSpPr>
        <p:spPr>
          <a:xfrm>
            <a:off x="0" y="685800"/>
            <a:ext cx="9123529"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Types of Demultiplexers </a:t>
            </a:r>
          </a:p>
        </p:txBody>
      </p:sp>
      <p:pic>
        <p:nvPicPr>
          <p:cNvPr id="3" name="Picture 2">
            <a:extLst>
              <a:ext uri="{FF2B5EF4-FFF2-40B4-BE49-F238E27FC236}">
                <a16:creationId xmlns:a16="http://schemas.microsoft.com/office/drawing/2014/main" id="{97564888-FD96-F9BE-35F6-902096B9A1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90" y="0"/>
            <a:ext cx="1339997" cy="575049"/>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pic>
        <p:nvPicPr>
          <p:cNvPr id="1026" name="Picture 2" descr="Demultiplexer (Demux) - Types, Cascading, Applications and Advantages">
            <a:extLst>
              <a:ext uri="{FF2B5EF4-FFF2-40B4-BE49-F238E27FC236}">
                <a16:creationId xmlns:a16="http://schemas.microsoft.com/office/drawing/2014/main" id="{B053595A-9CE6-49FD-8F66-5713ED27A9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2771" y="1519767"/>
            <a:ext cx="6867525" cy="25527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A2C3F01-1122-6DF5-D06F-A6E9D99DCAD9}"/>
              </a:ext>
            </a:extLst>
          </p:cNvPr>
          <p:cNvSpPr txBox="1">
            <a:spLocks/>
          </p:cNvSpPr>
          <p:nvPr/>
        </p:nvSpPr>
        <p:spPr>
          <a:xfrm>
            <a:off x="0" y="685800"/>
            <a:ext cx="9123529"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1:2 </a:t>
            </a:r>
            <a:r>
              <a:rPr lang="en-US" altLang="en-US" sz="3600" b="1" dirty="0" err="1">
                <a:solidFill>
                  <a:schemeClr val="bg1"/>
                </a:solidFill>
                <a:latin typeface="Times New Roman" panose="02020603050405020304" pitchFamily="18" charset="0"/>
                <a:cs typeface="Times New Roman" panose="02020603050405020304" pitchFamily="18" charset="0"/>
              </a:rPr>
              <a:t>Demux</a:t>
            </a:r>
            <a:endParaRPr lang="en-US" altLang="en-US" sz="3600" b="1" dirty="0">
              <a:solidFill>
                <a:schemeClr val="bg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570BB76-A1D6-9323-8115-FF219812A79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390" y="0"/>
            <a:ext cx="1339997" cy="575049"/>
          </a:xfrm>
          <a:prstGeom prst="rect">
            <a:avLst/>
          </a:prstGeom>
        </p:spPr>
      </p:pic>
      <p:pic>
        <p:nvPicPr>
          <p:cNvPr id="7" name="Picture 6">
            <a:extLst>
              <a:ext uri="{FF2B5EF4-FFF2-40B4-BE49-F238E27FC236}">
                <a16:creationId xmlns:a16="http://schemas.microsoft.com/office/drawing/2014/main" id="{2A1B2681-5B20-7410-ABC0-8D4EBC1ED656}"/>
              </a:ext>
            </a:extLst>
          </p:cNvPr>
          <p:cNvPicPr>
            <a:picLocks noChangeAspect="1"/>
          </p:cNvPicPr>
          <p:nvPr/>
        </p:nvPicPr>
        <p:blipFill>
          <a:blip r:embed="rId5"/>
          <a:stretch>
            <a:fillRect/>
          </a:stretch>
        </p:blipFill>
        <p:spPr>
          <a:xfrm>
            <a:off x="2565399" y="4438177"/>
            <a:ext cx="3705069" cy="1968111"/>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pic>
        <p:nvPicPr>
          <p:cNvPr id="595" name="Google Shape;595;p77" descr="https://image2.slideserve.com/4294729/1-to-4-demultiplexer-logic-symbol-n.jpg"/>
          <p:cNvPicPr preferRelativeResize="0"/>
          <p:nvPr/>
        </p:nvPicPr>
        <p:blipFill rotWithShape="1">
          <a:blip r:embed="rId3">
            <a:alphaModFix/>
          </a:blip>
          <a:srcRect l="15389" t="32227" r="20620" b="24880"/>
          <a:stretch/>
        </p:blipFill>
        <p:spPr>
          <a:xfrm>
            <a:off x="128270" y="1219200"/>
            <a:ext cx="5022376" cy="2524835"/>
          </a:xfrm>
          <a:prstGeom prst="rect">
            <a:avLst/>
          </a:prstGeom>
          <a:noFill/>
          <a:ln>
            <a:noFill/>
          </a:ln>
        </p:spPr>
      </p:pic>
      <p:pic>
        <p:nvPicPr>
          <p:cNvPr id="3" name="Picture 2">
            <a:extLst>
              <a:ext uri="{FF2B5EF4-FFF2-40B4-BE49-F238E27FC236}">
                <a16:creationId xmlns:a16="http://schemas.microsoft.com/office/drawing/2014/main" id="{C206C1EE-123B-F35A-B8DC-715960ADC1CA}"/>
              </a:ext>
            </a:extLst>
          </p:cNvPr>
          <p:cNvPicPr>
            <a:picLocks noChangeAspect="1"/>
          </p:cNvPicPr>
          <p:nvPr/>
        </p:nvPicPr>
        <p:blipFill>
          <a:blip r:embed="rId4"/>
          <a:stretch>
            <a:fillRect/>
          </a:stretch>
        </p:blipFill>
        <p:spPr>
          <a:xfrm>
            <a:off x="5015065" y="3278273"/>
            <a:ext cx="3953127" cy="3351128"/>
          </a:xfrm>
          <a:prstGeom prst="rect">
            <a:avLst/>
          </a:prstGeom>
        </p:spPr>
      </p:pic>
      <p:sp>
        <p:nvSpPr>
          <p:cNvPr id="4" name="Title 1">
            <a:extLst>
              <a:ext uri="{FF2B5EF4-FFF2-40B4-BE49-F238E27FC236}">
                <a16:creationId xmlns:a16="http://schemas.microsoft.com/office/drawing/2014/main" id="{FB594701-D101-9A46-C273-15BF9826EE2F}"/>
              </a:ext>
            </a:extLst>
          </p:cNvPr>
          <p:cNvSpPr txBox="1">
            <a:spLocks/>
          </p:cNvSpPr>
          <p:nvPr/>
        </p:nvSpPr>
        <p:spPr>
          <a:xfrm>
            <a:off x="0" y="685800"/>
            <a:ext cx="9123529" cy="533400"/>
          </a:xfrm>
          <a:prstGeom prst="rect">
            <a:avLst/>
          </a:prstGeom>
          <a:solidFill>
            <a:srgbClr val="C00000"/>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dirty="0">
                <a:solidFill>
                  <a:schemeClr val="bg1"/>
                </a:solidFill>
                <a:latin typeface="Times New Roman" panose="02020603050405020304" pitchFamily="18" charset="0"/>
                <a:cs typeface="Times New Roman" panose="02020603050405020304" pitchFamily="18" charset="0"/>
              </a:rPr>
              <a:t>1:4 </a:t>
            </a:r>
            <a:r>
              <a:rPr lang="en-US" altLang="en-US" sz="3600" b="1" dirty="0" err="1">
                <a:solidFill>
                  <a:schemeClr val="bg1"/>
                </a:solidFill>
                <a:latin typeface="Times New Roman" panose="02020603050405020304" pitchFamily="18" charset="0"/>
                <a:cs typeface="Times New Roman" panose="02020603050405020304" pitchFamily="18" charset="0"/>
              </a:rPr>
              <a:t>Demux</a:t>
            </a:r>
            <a:endParaRPr lang="en-US" altLang="en-US" sz="3600" b="1" dirty="0">
              <a:solidFill>
                <a:schemeClr val="bg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EE5763D-C516-220C-CE96-28D3BE237D2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3390" y="0"/>
            <a:ext cx="1339997" cy="575049"/>
          </a:xfrm>
          <a:prstGeom prst="rect">
            <a:avLst/>
          </a:prstGeom>
        </p:spPr>
      </p:pic>
      <p:pic>
        <p:nvPicPr>
          <p:cNvPr id="7" name="Picture 6">
            <a:extLst>
              <a:ext uri="{FF2B5EF4-FFF2-40B4-BE49-F238E27FC236}">
                <a16:creationId xmlns:a16="http://schemas.microsoft.com/office/drawing/2014/main" id="{50611024-919C-FAA1-AF34-ACF11036C56B}"/>
              </a:ext>
            </a:extLst>
          </p:cNvPr>
          <p:cNvPicPr>
            <a:picLocks noChangeAspect="1"/>
          </p:cNvPicPr>
          <p:nvPr/>
        </p:nvPicPr>
        <p:blipFill>
          <a:blip r:embed="rId6"/>
          <a:stretch>
            <a:fillRect/>
          </a:stretch>
        </p:blipFill>
        <p:spPr>
          <a:xfrm>
            <a:off x="252011" y="3870412"/>
            <a:ext cx="4564925" cy="2369521"/>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Title 1"/>
          <p:cNvSpPr>
            <a:spLocks noGrp="1"/>
          </p:cNvSpPr>
          <p:nvPr>
            <p:ph type="title"/>
          </p:nvPr>
        </p:nvSpPr>
        <p:spPr>
          <a:xfrm>
            <a:off x="381000" y="152400"/>
            <a:ext cx="8229600" cy="563563"/>
          </a:xfrm>
        </p:spPr>
        <p:txBody>
          <a:bodyPr>
            <a:normAutofit fontScale="90000"/>
          </a:bodyPr>
          <a:lstStyle/>
          <a:p>
            <a:pPr eaLnBrk="1" fontAlgn="auto" hangingPunct="1">
              <a:spcAft>
                <a:spcPts val="0"/>
              </a:spcAft>
              <a:defRPr/>
            </a:pPr>
            <a:r>
              <a:rPr lang="en-US" sz="3200" b="1" dirty="0" smtClean="0">
                <a:solidFill>
                  <a:schemeClr val="accent2">
                    <a:lumMod val="50000"/>
                  </a:schemeClr>
                </a:solidFill>
              </a:rPr>
              <a:t>1: 8 De-multiplexer</a:t>
            </a:r>
          </a:p>
        </p:txBody>
      </p:sp>
      <p:sp>
        <p:nvSpPr>
          <p:cNvPr id="216067"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836E40C4-710F-4DFC-A544-88FFE95838A1}" type="datetime2">
              <a:rPr lang="en-US" altLang="en-US" smtClean="0">
                <a:solidFill>
                  <a:schemeClr val="tx2"/>
                </a:solidFill>
              </a:rPr>
              <a:pPr/>
              <a:t>Tuesday, March 10, 2026</a:t>
            </a:fld>
            <a:endParaRPr lang="en-US" altLang="en-US" smtClean="0">
              <a:solidFill>
                <a:schemeClr val="tx2"/>
              </a:solidFill>
            </a:endParaRPr>
          </a:p>
        </p:txBody>
      </p:sp>
      <p:sp>
        <p:nvSpPr>
          <p:cNvPr id="21606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cxnSp>
        <p:nvCxnSpPr>
          <p:cNvPr id="7" name="Straight Connector 6"/>
          <p:cNvCxnSpPr/>
          <p:nvPr/>
        </p:nvCxnSpPr>
        <p:spPr>
          <a:xfrm>
            <a:off x="304800" y="10668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549650" y="1638300"/>
            <a:ext cx="1600200" cy="2324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10" name="Straight Arrow Connector 9"/>
          <p:cNvCxnSpPr/>
          <p:nvPr/>
        </p:nvCxnSpPr>
        <p:spPr>
          <a:xfrm>
            <a:off x="5149850" y="24384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2971800" y="3735388"/>
            <a:ext cx="57785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4800600" y="3924300"/>
            <a:ext cx="0" cy="419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6074" name="TextBox 13"/>
          <p:cNvSpPr txBox="1">
            <a:spLocks noChangeArrowheads="1"/>
          </p:cNvSpPr>
          <p:nvPr/>
        </p:nvSpPr>
        <p:spPr bwMode="auto">
          <a:xfrm>
            <a:off x="3717925" y="4811713"/>
            <a:ext cx="1279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Select Lines</a:t>
            </a:r>
          </a:p>
        </p:txBody>
      </p:sp>
      <p:sp>
        <p:nvSpPr>
          <p:cNvPr id="216075" name="TextBox 15"/>
          <p:cNvSpPr txBox="1">
            <a:spLocks noChangeArrowheads="1"/>
          </p:cNvSpPr>
          <p:nvPr/>
        </p:nvSpPr>
        <p:spPr bwMode="auto">
          <a:xfrm>
            <a:off x="3810000" y="2478088"/>
            <a:ext cx="10318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1:8</a:t>
            </a:r>
          </a:p>
          <a:p>
            <a:pPr algn="ctr" eaLnBrk="1" hangingPunct="1"/>
            <a:r>
              <a:rPr lang="en-US" altLang="en-US" b="1"/>
              <a:t>De-mux</a:t>
            </a:r>
          </a:p>
        </p:txBody>
      </p:sp>
      <p:sp>
        <p:nvSpPr>
          <p:cNvPr id="216076" name="TextBox 16"/>
          <p:cNvSpPr txBox="1">
            <a:spLocks noChangeArrowheads="1"/>
          </p:cNvSpPr>
          <p:nvPr/>
        </p:nvSpPr>
        <p:spPr bwMode="auto">
          <a:xfrm>
            <a:off x="2598738" y="3556000"/>
            <a:ext cx="2968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a:t>
            </a:r>
          </a:p>
        </p:txBody>
      </p:sp>
      <p:sp>
        <p:nvSpPr>
          <p:cNvPr id="216077" name="TextBox 17"/>
          <p:cNvSpPr txBox="1">
            <a:spLocks noChangeArrowheads="1"/>
          </p:cNvSpPr>
          <p:nvPr/>
        </p:nvSpPr>
        <p:spPr bwMode="auto">
          <a:xfrm>
            <a:off x="2381250" y="3925888"/>
            <a:ext cx="8191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Enable</a:t>
            </a:r>
          </a:p>
          <a:p>
            <a:pPr eaLnBrk="1" hangingPunct="1"/>
            <a:r>
              <a:rPr lang="en-US" altLang="en-US"/>
              <a:t> Input</a:t>
            </a:r>
          </a:p>
        </p:txBody>
      </p:sp>
      <p:sp>
        <p:nvSpPr>
          <p:cNvPr id="216078" name="TextBox 19"/>
          <p:cNvSpPr txBox="1">
            <a:spLocks noChangeArrowheads="1"/>
          </p:cNvSpPr>
          <p:nvPr/>
        </p:nvSpPr>
        <p:spPr bwMode="auto">
          <a:xfrm>
            <a:off x="5645150" y="16002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0</a:t>
            </a:r>
          </a:p>
        </p:txBody>
      </p:sp>
      <p:sp>
        <p:nvSpPr>
          <p:cNvPr id="216079" name="TextBox 20"/>
          <p:cNvSpPr txBox="1">
            <a:spLocks noChangeArrowheads="1"/>
          </p:cNvSpPr>
          <p:nvPr/>
        </p:nvSpPr>
        <p:spPr bwMode="auto">
          <a:xfrm>
            <a:off x="5638800" y="19050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a:t>
            </a:r>
          </a:p>
        </p:txBody>
      </p:sp>
      <p:sp>
        <p:nvSpPr>
          <p:cNvPr id="216080" name="TextBox 23"/>
          <p:cNvSpPr txBox="1">
            <a:spLocks noChangeArrowheads="1"/>
          </p:cNvSpPr>
          <p:nvPr/>
        </p:nvSpPr>
        <p:spPr bwMode="auto">
          <a:xfrm>
            <a:off x="2058988" y="2325688"/>
            <a:ext cx="6842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Data</a:t>
            </a:r>
          </a:p>
          <a:p>
            <a:pPr eaLnBrk="1" hangingPunct="1"/>
            <a:r>
              <a:rPr lang="en-US" altLang="en-US"/>
              <a:t>Input</a:t>
            </a:r>
          </a:p>
        </p:txBody>
      </p:sp>
      <p:sp>
        <p:nvSpPr>
          <p:cNvPr id="216081" name="TextBox 24"/>
          <p:cNvSpPr txBox="1">
            <a:spLocks noChangeArrowheads="1"/>
          </p:cNvSpPr>
          <p:nvPr/>
        </p:nvSpPr>
        <p:spPr bwMode="auto">
          <a:xfrm>
            <a:off x="3657600" y="5334000"/>
            <a:ext cx="15573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b="1"/>
              <a:t>Block Diagram</a:t>
            </a:r>
          </a:p>
        </p:txBody>
      </p:sp>
      <p:cxnSp>
        <p:nvCxnSpPr>
          <p:cNvPr id="27" name="Straight Arrow Connector 26"/>
          <p:cNvCxnSpPr/>
          <p:nvPr/>
        </p:nvCxnSpPr>
        <p:spPr>
          <a:xfrm>
            <a:off x="5143500" y="18288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2971800" y="2678113"/>
            <a:ext cx="57785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6084" name="TextBox 30"/>
          <p:cNvSpPr txBox="1">
            <a:spLocks noChangeArrowheads="1"/>
          </p:cNvSpPr>
          <p:nvPr/>
        </p:nvSpPr>
        <p:spPr bwMode="auto">
          <a:xfrm>
            <a:off x="2667000" y="2209800"/>
            <a:ext cx="442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in</a:t>
            </a:r>
          </a:p>
        </p:txBody>
      </p:sp>
      <p:cxnSp>
        <p:nvCxnSpPr>
          <p:cNvPr id="26" name="Straight Arrow Connector 25"/>
          <p:cNvCxnSpPr/>
          <p:nvPr/>
        </p:nvCxnSpPr>
        <p:spPr>
          <a:xfrm flipV="1">
            <a:off x="3962400" y="3962400"/>
            <a:ext cx="0" cy="419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6086" name="TextBox 28"/>
          <p:cNvSpPr txBox="1">
            <a:spLocks noChangeArrowheads="1"/>
          </p:cNvSpPr>
          <p:nvPr/>
        </p:nvSpPr>
        <p:spPr bwMode="auto">
          <a:xfrm>
            <a:off x="4654550" y="44196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0</a:t>
            </a:r>
          </a:p>
        </p:txBody>
      </p:sp>
      <p:sp>
        <p:nvSpPr>
          <p:cNvPr id="216087" name="TextBox 29"/>
          <p:cNvSpPr txBox="1">
            <a:spLocks noChangeArrowheads="1"/>
          </p:cNvSpPr>
          <p:nvPr/>
        </p:nvSpPr>
        <p:spPr bwMode="auto">
          <a:xfrm>
            <a:off x="4197350" y="44307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1</a:t>
            </a:r>
          </a:p>
        </p:txBody>
      </p:sp>
      <p:cxnSp>
        <p:nvCxnSpPr>
          <p:cNvPr id="34" name="Straight Arrow Connector 33"/>
          <p:cNvCxnSpPr/>
          <p:nvPr/>
        </p:nvCxnSpPr>
        <p:spPr>
          <a:xfrm>
            <a:off x="5149850" y="21336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5154613" y="2687638"/>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6090" name="TextBox 35"/>
          <p:cNvSpPr txBox="1">
            <a:spLocks noChangeArrowheads="1"/>
          </p:cNvSpPr>
          <p:nvPr/>
        </p:nvSpPr>
        <p:spPr bwMode="auto">
          <a:xfrm>
            <a:off x="5645150" y="22209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2</a:t>
            </a:r>
          </a:p>
        </p:txBody>
      </p:sp>
      <p:sp>
        <p:nvSpPr>
          <p:cNvPr id="216091" name="TextBox 36"/>
          <p:cNvSpPr txBox="1">
            <a:spLocks noChangeArrowheads="1"/>
          </p:cNvSpPr>
          <p:nvPr/>
        </p:nvSpPr>
        <p:spPr bwMode="auto">
          <a:xfrm>
            <a:off x="5638800" y="24495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3</a:t>
            </a:r>
          </a:p>
        </p:txBody>
      </p:sp>
      <p:cxnSp>
        <p:nvCxnSpPr>
          <p:cNvPr id="38" name="Straight Arrow Connector 37"/>
          <p:cNvCxnSpPr/>
          <p:nvPr/>
        </p:nvCxnSpPr>
        <p:spPr>
          <a:xfrm>
            <a:off x="5149850" y="34290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6093" name="TextBox 38"/>
          <p:cNvSpPr txBox="1">
            <a:spLocks noChangeArrowheads="1"/>
          </p:cNvSpPr>
          <p:nvPr/>
        </p:nvSpPr>
        <p:spPr bwMode="auto">
          <a:xfrm>
            <a:off x="5645150" y="26670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4</a:t>
            </a:r>
          </a:p>
        </p:txBody>
      </p:sp>
      <p:sp>
        <p:nvSpPr>
          <p:cNvPr id="216094" name="TextBox 39"/>
          <p:cNvSpPr txBox="1">
            <a:spLocks noChangeArrowheads="1"/>
          </p:cNvSpPr>
          <p:nvPr/>
        </p:nvSpPr>
        <p:spPr bwMode="auto">
          <a:xfrm>
            <a:off x="5638800" y="29718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5</a:t>
            </a:r>
          </a:p>
        </p:txBody>
      </p:sp>
      <p:cxnSp>
        <p:nvCxnSpPr>
          <p:cNvPr id="41" name="Straight Arrow Connector 40"/>
          <p:cNvCxnSpPr/>
          <p:nvPr/>
        </p:nvCxnSpPr>
        <p:spPr>
          <a:xfrm>
            <a:off x="5143500" y="28956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5149850" y="31242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5154613" y="37338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6098" name="TextBox 43"/>
          <p:cNvSpPr txBox="1">
            <a:spLocks noChangeArrowheads="1"/>
          </p:cNvSpPr>
          <p:nvPr/>
        </p:nvSpPr>
        <p:spPr bwMode="auto">
          <a:xfrm>
            <a:off x="5645150" y="32877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6</a:t>
            </a:r>
          </a:p>
        </p:txBody>
      </p:sp>
      <p:sp>
        <p:nvSpPr>
          <p:cNvPr id="216099" name="TextBox 44"/>
          <p:cNvSpPr txBox="1">
            <a:spLocks noChangeArrowheads="1"/>
          </p:cNvSpPr>
          <p:nvPr/>
        </p:nvSpPr>
        <p:spPr bwMode="auto">
          <a:xfrm>
            <a:off x="5638800" y="35163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7</a:t>
            </a:r>
          </a:p>
        </p:txBody>
      </p:sp>
      <p:cxnSp>
        <p:nvCxnSpPr>
          <p:cNvPr id="46" name="Straight Arrow Connector 45"/>
          <p:cNvCxnSpPr/>
          <p:nvPr/>
        </p:nvCxnSpPr>
        <p:spPr>
          <a:xfrm flipV="1">
            <a:off x="4343400" y="3962400"/>
            <a:ext cx="0" cy="419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6101" name="TextBox 46"/>
          <p:cNvSpPr txBox="1">
            <a:spLocks noChangeArrowheads="1"/>
          </p:cNvSpPr>
          <p:nvPr/>
        </p:nvSpPr>
        <p:spPr bwMode="auto">
          <a:xfrm>
            <a:off x="3810000" y="44196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2</a:t>
            </a:r>
          </a:p>
        </p:txBody>
      </p:sp>
    </p:spTree>
    <p:extLst>
      <p:ext uri="{BB962C8B-B14F-4D97-AF65-F5344CB8AC3E}">
        <p14:creationId xmlns:p14="http://schemas.microsoft.com/office/powerpoint/2010/main" val="68521579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Title 1"/>
          <p:cNvSpPr>
            <a:spLocks noGrp="1"/>
          </p:cNvSpPr>
          <p:nvPr>
            <p:ph type="title"/>
          </p:nvPr>
        </p:nvSpPr>
        <p:spPr>
          <a:xfrm>
            <a:off x="228600" y="46038"/>
            <a:ext cx="8229600" cy="563562"/>
          </a:xfrm>
        </p:spPr>
        <p:txBody>
          <a:bodyPr>
            <a:normAutofit fontScale="90000"/>
          </a:bodyPr>
          <a:lstStyle/>
          <a:p>
            <a:pPr eaLnBrk="1" fontAlgn="auto" hangingPunct="1">
              <a:spcAft>
                <a:spcPts val="0"/>
              </a:spcAft>
              <a:defRPr/>
            </a:pPr>
            <a:r>
              <a:rPr lang="en-US" sz="3200" b="1" dirty="0" smtClean="0">
                <a:solidFill>
                  <a:schemeClr val="accent2">
                    <a:lumMod val="50000"/>
                  </a:schemeClr>
                </a:solidFill>
              </a:rPr>
              <a:t>1: 8 De-multiplexer</a:t>
            </a:r>
          </a:p>
        </p:txBody>
      </p:sp>
      <p:sp>
        <p:nvSpPr>
          <p:cNvPr id="217091"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4023679F-A6BE-483E-ACF3-BC0F2EBE8A5C}" type="datetime2">
              <a:rPr lang="en-US" altLang="en-US" smtClean="0">
                <a:solidFill>
                  <a:schemeClr val="tx2"/>
                </a:solidFill>
              </a:rPr>
              <a:pPr/>
              <a:t>Tuesday, March 10, 2026</a:t>
            </a:fld>
            <a:endParaRPr lang="en-US" altLang="en-US" smtClean="0">
              <a:solidFill>
                <a:schemeClr val="tx2"/>
              </a:solidFill>
            </a:endParaRPr>
          </a:p>
        </p:txBody>
      </p:sp>
      <p:sp>
        <p:nvSpPr>
          <p:cNvPr id="21709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cxnSp>
        <p:nvCxnSpPr>
          <p:cNvPr id="7" name="Straight Connector 6"/>
          <p:cNvCxnSpPr/>
          <p:nvPr/>
        </p:nvCxnSpPr>
        <p:spPr>
          <a:xfrm>
            <a:off x="304800" y="6858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32" name="Table 31"/>
          <p:cNvGraphicFramePr>
            <a:graphicFrameLocks noGrp="1"/>
          </p:cNvGraphicFramePr>
          <p:nvPr/>
        </p:nvGraphicFramePr>
        <p:xfrm>
          <a:off x="0" y="1208088"/>
          <a:ext cx="9143999" cy="5573717"/>
        </p:xfrm>
        <a:graphic>
          <a:graphicData uri="http://schemas.openxmlformats.org/drawingml/2006/table">
            <a:tbl>
              <a:tblPr firstRow="1" bandRow="1">
                <a:tableStyleId>{5C22544A-7EE6-4342-B048-85BDC9FD1C3A}</a:tableStyleId>
              </a:tblPr>
              <a:tblGrid>
                <a:gridCol w="814914">
                  <a:extLst>
                    <a:ext uri="{9D8B030D-6E8A-4147-A177-3AD203B41FA5}">
                      <a16:colId xmlns:a16="http://schemas.microsoft.com/office/drawing/2014/main" val="20000"/>
                    </a:ext>
                  </a:extLst>
                </a:gridCol>
                <a:gridCol w="709085">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gridCol w="762000">
                  <a:extLst>
                    <a:ext uri="{9D8B030D-6E8A-4147-A177-3AD203B41FA5}">
                      <a16:colId xmlns:a16="http://schemas.microsoft.com/office/drawing/2014/main" val="20008"/>
                    </a:ext>
                  </a:extLst>
                </a:gridCol>
                <a:gridCol w="762000">
                  <a:extLst>
                    <a:ext uri="{9D8B030D-6E8A-4147-A177-3AD203B41FA5}">
                      <a16:colId xmlns:a16="http://schemas.microsoft.com/office/drawing/2014/main" val="20009"/>
                    </a:ext>
                  </a:extLst>
                </a:gridCol>
                <a:gridCol w="762000">
                  <a:extLst>
                    <a:ext uri="{9D8B030D-6E8A-4147-A177-3AD203B41FA5}">
                      <a16:colId xmlns:a16="http://schemas.microsoft.com/office/drawing/2014/main" val="20010"/>
                    </a:ext>
                  </a:extLst>
                </a:gridCol>
                <a:gridCol w="762000">
                  <a:extLst>
                    <a:ext uri="{9D8B030D-6E8A-4147-A177-3AD203B41FA5}">
                      <a16:colId xmlns:a16="http://schemas.microsoft.com/office/drawing/2014/main" val="20011"/>
                    </a:ext>
                  </a:extLst>
                </a:gridCol>
              </a:tblGrid>
              <a:tr h="963257">
                <a:tc>
                  <a:txBody>
                    <a:bodyPr/>
                    <a:lstStyle/>
                    <a:p>
                      <a:pPr algn="ctr"/>
                      <a:r>
                        <a:rPr lang="en-US" sz="1800" dirty="0" smtClean="0"/>
                        <a:t>Enable i/p</a:t>
                      </a:r>
                      <a:endParaRPr lang="en-US" sz="1800" dirty="0"/>
                    </a:p>
                  </a:txBody>
                  <a:tcPr marT="45715" marB="45715" anchor="ctr"/>
                </a:tc>
                <a:tc gridSpan="3">
                  <a:txBody>
                    <a:bodyPr/>
                    <a:lstStyle/>
                    <a:p>
                      <a:pPr algn="ctr"/>
                      <a:r>
                        <a:rPr lang="en-US" sz="1800" dirty="0" smtClean="0"/>
                        <a:t>Select i/p</a:t>
                      </a:r>
                      <a:endParaRPr lang="en-US" sz="1800" dirty="0"/>
                    </a:p>
                  </a:txBody>
                  <a:tcPr marT="45715" marB="45715" anchor="ctr"/>
                </a:tc>
                <a:tc hMerge="1">
                  <a:txBody>
                    <a:bodyPr/>
                    <a:lstStyle/>
                    <a:p>
                      <a:endParaRPr lang="en-US"/>
                    </a:p>
                  </a:txBody>
                  <a:tcPr/>
                </a:tc>
                <a:tc hMerge="1">
                  <a:txBody>
                    <a:bodyPr/>
                    <a:lstStyle/>
                    <a:p>
                      <a:pPr algn="ctr"/>
                      <a:endParaRPr lang="en-US" dirty="0"/>
                    </a:p>
                  </a:txBody>
                  <a:tcPr anchor="ctr"/>
                </a:tc>
                <a:tc gridSpan="8">
                  <a:txBody>
                    <a:bodyPr/>
                    <a:lstStyle/>
                    <a:p>
                      <a:pPr algn="ctr"/>
                      <a:r>
                        <a:rPr lang="en-US" sz="1800" dirty="0" smtClean="0"/>
                        <a:t>Outputs</a:t>
                      </a:r>
                      <a:endParaRPr lang="en-US" sz="1800" dirty="0"/>
                    </a:p>
                  </a:txBody>
                  <a:tcPr marT="45715" marB="4571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00"/>
                  </a:ext>
                </a:extLst>
              </a:tr>
              <a:tr h="461046">
                <a:tc>
                  <a:txBody>
                    <a:bodyPr/>
                    <a:lstStyle/>
                    <a:p>
                      <a:pPr algn="ctr"/>
                      <a:r>
                        <a:rPr lang="en-US" sz="1800" b="1" dirty="0" smtClean="0"/>
                        <a:t>E</a:t>
                      </a:r>
                      <a:endParaRPr lang="en-US" sz="1800" b="1" dirty="0"/>
                    </a:p>
                  </a:txBody>
                  <a:tcPr marT="45715" marB="45715" anchor="ctr"/>
                </a:tc>
                <a:tc>
                  <a:txBody>
                    <a:bodyPr/>
                    <a:lstStyle/>
                    <a:p>
                      <a:pPr algn="ctr"/>
                      <a:r>
                        <a:rPr lang="en-US" sz="1800" b="1" dirty="0" smtClean="0"/>
                        <a:t>S</a:t>
                      </a:r>
                      <a:r>
                        <a:rPr lang="en-US" sz="1800" b="1" baseline="-25000" dirty="0" smtClean="0"/>
                        <a:t>2</a:t>
                      </a:r>
                      <a:endParaRPr lang="en-US" sz="1800" b="1" baseline="-25000" dirty="0"/>
                    </a:p>
                  </a:txBody>
                  <a:tcPr marT="45715" marB="45715" anchor="ctr"/>
                </a:tc>
                <a:tc>
                  <a:txBody>
                    <a:bodyPr/>
                    <a:lstStyle/>
                    <a:p>
                      <a:pPr algn="ctr"/>
                      <a:r>
                        <a:rPr lang="en-US" sz="1800" b="1" dirty="0" smtClean="0"/>
                        <a:t>S</a:t>
                      </a:r>
                      <a:r>
                        <a:rPr lang="en-US" sz="1800" b="1" baseline="-25000" dirty="0" smtClean="0"/>
                        <a:t>1</a:t>
                      </a:r>
                      <a:endParaRPr lang="en-US" sz="1800" b="1" baseline="-25000" dirty="0"/>
                    </a:p>
                  </a:txBody>
                  <a:tcPr marT="45715" marB="45715" anchor="ctr"/>
                </a:tc>
                <a:tc>
                  <a:txBody>
                    <a:bodyPr/>
                    <a:lstStyle/>
                    <a:p>
                      <a:pPr algn="ctr"/>
                      <a:r>
                        <a:rPr lang="en-US" sz="1800" b="1" dirty="0" smtClean="0"/>
                        <a:t>S</a:t>
                      </a:r>
                      <a:r>
                        <a:rPr lang="en-US" sz="1800" b="1" baseline="-25000" dirty="0" smtClean="0"/>
                        <a:t>0</a:t>
                      </a:r>
                      <a:endParaRPr lang="en-US" sz="1800" b="1" baseline="-25000" dirty="0"/>
                    </a:p>
                  </a:txBody>
                  <a:tcPr marT="45715" marB="45715" anchor="ctr"/>
                </a:tc>
                <a:tc>
                  <a:txBody>
                    <a:bodyPr/>
                    <a:lstStyle/>
                    <a:p>
                      <a:pPr algn="ctr"/>
                      <a:r>
                        <a:rPr lang="en-US" sz="1800" b="1" dirty="0" smtClean="0"/>
                        <a:t>Y</a:t>
                      </a:r>
                      <a:r>
                        <a:rPr lang="en-US" sz="1800" b="1" baseline="-25000" dirty="0" smtClean="0"/>
                        <a:t>7</a:t>
                      </a:r>
                      <a:endParaRPr lang="en-US" sz="1800" b="1" baseline="-25000" dirty="0"/>
                    </a:p>
                  </a:txBody>
                  <a:tcPr marT="45715" marB="45715" anchor="ctr"/>
                </a:tc>
                <a:tc>
                  <a:txBody>
                    <a:bodyPr/>
                    <a:lstStyle/>
                    <a:p>
                      <a:pPr algn="ctr"/>
                      <a:r>
                        <a:rPr lang="en-US" sz="1800" b="1" dirty="0" smtClean="0"/>
                        <a:t>Y</a:t>
                      </a:r>
                      <a:r>
                        <a:rPr lang="en-US" sz="1800" b="1" baseline="-25000" dirty="0" smtClean="0"/>
                        <a:t>6</a:t>
                      </a:r>
                      <a:endParaRPr lang="en-US" sz="1800" b="1" baseline="-25000" dirty="0"/>
                    </a:p>
                  </a:txBody>
                  <a:tcPr marT="45715" marB="45715" anchor="ctr"/>
                </a:tc>
                <a:tc>
                  <a:txBody>
                    <a:bodyPr/>
                    <a:lstStyle/>
                    <a:p>
                      <a:pPr algn="ctr"/>
                      <a:r>
                        <a:rPr lang="en-US" sz="1800" b="1" dirty="0" smtClean="0"/>
                        <a:t>Y</a:t>
                      </a:r>
                      <a:r>
                        <a:rPr lang="en-US" sz="1800" b="1" baseline="-25000" dirty="0" smtClean="0"/>
                        <a:t>5</a:t>
                      </a:r>
                      <a:endParaRPr lang="en-US" sz="1800" b="1" baseline="-25000" dirty="0"/>
                    </a:p>
                  </a:txBody>
                  <a:tcPr marT="45715" marB="45715" anchor="ctr"/>
                </a:tc>
                <a:tc>
                  <a:txBody>
                    <a:bodyPr/>
                    <a:lstStyle/>
                    <a:p>
                      <a:pPr algn="ctr"/>
                      <a:r>
                        <a:rPr lang="en-US" sz="1800" b="1" dirty="0" smtClean="0"/>
                        <a:t>Y</a:t>
                      </a:r>
                      <a:r>
                        <a:rPr lang="en-US" sz="1800" b="1" baseline="-25000" dirty="0" smtClean="0"/>
                        <a:t>4</a:t>
                      </a:r>
                      <a:endParaRPr lang="en-US" sz="1800" b="1" baseline="-25000" dirty="0"/>
                    </a:p>
                  </a:txBody>
                  <a:tcPr marT="45715" marB="45715" anchor="ctr"/>
                </a:tc>
                <a:tc>
                  <a:txBody>
                    <a:bodyPr/>
                    <a:lstStyle/>
                    <a:p>
                      <a:pPr algn="ctr"/>
                      <a:r>
                        <a:rPr lang="en-US" sz="1800" b="1" dirty="0" smtClean="0"/>
                        <a:t>Y</a:t>
                      </a:r>
                      <a:r>
                        <a:rPr lang="en-US" sz="1800" b="1" baseline="-25000" dirty="0" smtClean="0"/>
                        <a:t>3</a:t>
                      </a:r>
                      <a:endParaRPr lang="en-US" sz="1800" b="1" baseline="-25000" dirty="0"/>
                    </a:p>
                  </a:txBody>
                  <a:tcPr marT="45715" marB="45715" anchor="ctr"/>
                </a:tc>
                <a:tc>
                  <a:txBody>
                    <a:bodyPr/>
                    <a:lstStyle/>
                    <a:p>
                      <a:pPr algn="ctr"/>
                      <a:r>
                        <a:rPr lang="en-US" sz="1800" b="1" dirty="0" smtClean="0"/>
                        <a:t>Y</a:t>
                      </a:r>
                      <a:r>
                        <a:rPr lang="en-US" sz="1800" b="1" baseline="-25000" dirty="0" smtClean="0"/>
                        <a:t>2</a:t>
                      </a:r>
                      <a:endParaRPr lang="en-US" sz="1800" b="1" baseline="-25000" dirty="0"/>
                    </a:p>
                  </a:txBody>
                  <a:tcPr marT="45715" marB="45715" anchor="ctr"/>
                </a:tc>
                <a:tc>
                  <a:txBody>
                    <a:bodyPr/>
                    <a:lstStyle/>
                    <a:p>
                      <a:pPr algn="ctr"/>
                      <a:r>
                        <a:rPr lang="en-US" sz="1800" b="1" dirty="0" smtClean="0"/>
                        <a:t>Y</a:t>
                      </a:r>
                      <a:r>
                        <a:rPr lang="en-US" sz="1800" b="1" baseline="-25000" dirty="0" smtClean="0"/>
                        <a:t>1</a:t>
                      </a:r>
                      <a:endParaRPr lang="en-US" sz="1800" b="1" baseline="-25000" dirty="0"/>
                    </a:p>
                  </a:txBody>
                  <a:tcPr marT="45715" marB="45715" anchor="ctr"/>
                </a:tc>
                <a:tc>
                  <a:txBody>
                    <a:bodyPr/>
                    <a:lstStyle/>
                    <a:p>
                      <a:pPr algn="ctr"/>
                      <a:r>
                        <a:rPr lang="en-US" sz="1800" b="1" dirty="0" smtClean="0"/>
                        <a:t>Y</a:t>
                      </a:r>
                      <a:r>
                        <a:rPr lang="en-US" sz="1800" b="1" baseline="-25000" dirty="0" smtClean="0"/>
                        <a:t>0</a:t>
                      </a:r>
                      <a:endParaRPr lang="en-US" sz="1800" b="1" baseline="-25000" dirty="0"/>
                    </a:p>
                  </a:txBody>
                  <a:tcPr marT="45715" marB="45715" anchor="ctr"/>
                </a:tc>
                <a:extLst>
                  <a:ext uri="{0D108BD9-81ED-4DB2-BD59-A6C34878D82A}">
                    <a16:rowId xmlns:a16="http://schemas.microsoft.com/office/drawing/2014/main" val="10001"/>
                  </a:ext>
                </a:extLst>
              </a:tr>
              <a:tr h="461046">
                <a:tc>
                  <a:txBody>
                    <a:bodyPr/>
                    <a:lstStyle/>
                    <a:p>
                      <a:pPr algn="ctr"/>
                      <a:r>
                        <a:rPr lang="en-US" sz="1800" dirty="0" smtClean="0"/>
                        <a:t>0</a:t>
                      </a:r>
                      <a:endParaRPr lang="en-US" sz="1800" dirty="0"/>
                    </a:p>
                  </a:txBody>
                  <a:tcPr marT="45715" marB="45715" anchor="ctr"/>
                </a:tc>
                <a:tc>
                  <a:txBody>
                    <a:bodyPr/>
                    <a:lstStyle/>
                    <a:p>
                      <a:pPr algn="ctr"/>
                      <a:r>
                        <a:rPr lang="en-US" sz="1800" dirty="0" smtClean="0"/>
                        <a:t>X</a:t>
                      </a:r>
                      <a:endParaRPr lang="en-US" sz="1800" dirty="0"/>
                    </a:p>
                  </a:txBody>
                  <a:tcPr marT="45715" marB="45715" anchor="ctr"/>
                </a:tc>
                <a:tc>
                  <a:txBody>
                    <a:bodyPr/>
                    <a:lstStyle/>
                    <a:p>
                      <a:pPr algn="ctr"/>
                      <a:r>
                        <a:rPr lang="en-US" sz="1800" dirty="0" smtClean="0"/>
                        <a:t>X</a:t>
                      </a:r>
                      <a:endParaRPr lang="en-US" sz="1800" dirty="0"/>
                    </a:p>
                  </a:txBody>
                  <a:tcPr marT="45715" marB="45715" anchor="ctr"/>
                </a:tc>
                <a:tc>
                  <a:txBody>
                    <a:bodyPr/>
                    <a:lstStyle/>
                    <a:p>
                      <a:pPr algn="ctr"/>
                      <a:r>
                        <a:rPr lang="en-US" sz="1800" dirty="0" smtClean="0"/>
                        <a:t>X</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extLst>
                  <a:ext uri="{0D108BD9-81ED-4DB2-BD59-A6C34878D82A}">
                    <a16:rowId xmlns:a16="http://schemas.microsoft.com/office/drawing/2014/main" val="10002"/>
                  </a:ext>
                </a:extLst>
              </a:tr>
              <a:tr h="461046">
                <a:tc>
                  <a:txBody>
                    <a:bodyPr/>
                    <a:lstStyle/>
                    <a:p>
                      <a:pPr algn="ctr"/>
                      <a:r>
                        <a:rPr lang="en-US" sz="1800" dirty="0" smtClean="0"/>
                        <a:t>1</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2000" b="1" dirty="0" smtClean="0"/>
                        <a:t>D</a:t>
                      </a:r>
                      <a:r>
                        <a:rPr lang="en-US" sz="2000" b="1" baseline="-25000" dirty="0" smtClean="0"/>
                        <a:t>in</a:t>
                      </a:r>
                      <a:endParaRPr lang="en-US" sz="2000" b="1" dirty="0"/>
                    </a:p>
                  </a:txBody>
                  <a:tcPr marT="45715" marB="45715" anchor="ctr"/>
                </a:tc>
                <a:extLst>
                  <a:ext uri="{0D108BD9-81ED-4DB2-BD59-A6C34878D82A}">
                    <a16:rowId xmlns:a16="http://schemas.microsoft.com/office/drawing/2014/main" val="10003"/>
                  </a:ext>
                </a:extLst>
              </a:tr>
              <a:tr h="461046">
                <a:tc>
                  <a:txBody>
                    <a:bodyPr/>
                    <a:lstStyle/>
                    <a:p>
                      <a:pPr algn="ctr"/>
                      <a:r>
                        <a:rPr lang="en-US" sz="1800" dirty="0" smtClean="0"/>
                        <a:t>1</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dirty="0" smtClean="0"/>
                        <a:t>1</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b="1" dirty="0" smtClean="0"/>
                        <a:t>D</a:t>
                      </a:r>
                      <a:r>
                        <a:rPr lang="en-US" sz="1800" b="1" baseline="-25000" dirty="0" smtClean="0"/>
                        <a:t>in</a:t>
                      </a:r>
                      <a:endParaRPr lang="en-US" sz="1800" dirty="0"/>
                    </a:p>
                  </a:txBody>
                  <a:tcPr marT="45715" marB="45715" anchor="ctr"/>
                </a:tc>
                <a:tc>
                  <a:txBody>
                    <a:bodyPr/>
                    <a:lstStyle/>
                    <a:p>
                      <a:pPr algn="ctr"/>
                      <a:r>
                        <a:rPr lang="en-US" sz="1800" dirty="0" smtClean="0"/>
                        <a:t>0</a:t>
                      </a:r>
                      <a:endParaRPr lang="en-US" sz="1800" dirty="0"/>
                    </a:p>
                  </a:txBody>
                  <a:tcPr marT="45715" marB="45715" anchor="ctr"/>
                </a:tc>
                <a:extLst>
                  <a:ext uri="{0D108BD9-81ED-4DB2-BD59-A6C34878D82A}">
                    <a16:rowId xmlns:a16="http://schemas.microsoft.com/office/drawing/2014/main" val="10004"/>
                  </a:ext>
                </a:extLst>
              </a:tr>
              <a:tr h="461046">
                <a:tc>
                  <a:txBody>
                    <a:bodyPr/>
                    <a:lstStyle/>
                    <a:p>
                      <a:pPr algn="ctr"/>
                      <a:r>
                        <a:rPr lang="en-US" sz="1800" dirty="0" smtClean="0"/>
                        <a:t>1</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dirty="0" smtClean="0"/>
                        <a:t>1</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b="1" dirty="0" smtClean="0"/>
                        <a:t>D</a:t>
                      </a:r>
                      <a:r>
                        <a:rPr lang="en-US" sz="1800" b="1" baseline="-25000" dirty="0" smtClean="0"/>
                        <a:t>in</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extLst>
                  <a:ext uri="{0D108BD9-81ED-4DB2-BD59-A6C34878D82A}">
                    <a16:rowId xmlns:a16="http://schemas.microsoft.com/office/drawing/2014/main" val="10005"/>
                  </a:ext>
                </a:extLst>
              </a:tr>
              <a:tr h="461046">
                <a:tc>
                  <a:txBody>
                    <a:bodyPr/>
                    <a:lstStyle/>
                    <a:p>
                      <a:pPr algn="ctr"/>
                      <a:r>
                        <a:rPr lang="en-US" sz="1800" dirty="0" smtClean="0"/>
                        <a:t>1</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dirty="0" smtClean="0"/>
                        <a:t>1</a:t>
                      </a:r>
                      <a:endParaRPr lang="en-US" sz="1800" dirty="0"/>
                    </a:p>
                  </a:txBody>
                  <a:tcPr marT="45715" marB="45715" anchor="ctr"/>
                </a:tc>
                <a:tc>
                  <a:txBody>
                    <a:bodyPr/>
                    <a:lstStyle/>
                    <a:p>
                      <a:pPr algn="ctr"/>
                      <a:r>
                        <a:rPr lang="en-US" sz="1800" dirty="0" smtClean="0"/>
                        <a:t>1</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b="1" dirty="0" smtClean="0"/>
                        <a:t>D</a:t>
                      </a:r>
                      <a:r>
                        <a:rPr lang="en-US" sz="1800" b="1" baseline="-25000" dirty="0" smtClean="0"/>
                        <a:t>in</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extLst>
                  <a:ext uri="{0D108BD9-81ED-4DB2-BD59-A6C34878D82A}">
                    <a16:rowId xmlns:a16="http://schemas.microsoft.com/office/drawing/2014/main" val="10006"/>
                  </a:ext>
                </a:extLst>
              </a:tr>
              <a:tr h="461046">
                <a:tc>
                  <a:txBody>
                    <a:bodyPr/>
                    <a:lstStyle/>
                    <a:p>
                      <a:pPr algn="ctr"/>
                      <a:r>
                        <a:rPr lang="en-US" sz="1800" dirty="0" smtClean="0"/>
                        <a:t>1</a:t>
                      </a:r>
                      <a:endParaRPr lang="en-US" sz="1800" dirty="0"/>
                    </a:p>
                  </a:txBody>
                  <a:tcPr marT="45715" marB="45715" anchor="ctr"/>
                </a:tc>
                <a:tc>
                  <a:txBody>
                    <a:bodyPr/>
                    <a:lstStyle/>
                    <a:p>
                      <a:pPr algn="ctr"/>
                      <a:r>
                        <a:rPr lang="en-US" sz="1800" dirty="0" smtClean="0"/>
                        <a:t>1</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b="1" dirty="0" smtClean="0"/>
                        <a:t>D</a:t>
                      </a:r>
                      <a:r>
                        <a:rPr lang="en-US" sz="1800" b="1" baseline="-25000" dirty="0" smtClean="0"/>
                        <a:t>in</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extLst>
                  <a:ext uri="{0D108BD9-81ED-4DB2-BD59-A6C34878D82A}">
                    <a16:rowId xmlns:a16="http://schemas.microsoft.com/office/drawing/2014/main" val="10007"/>
                  </a:ext>
                </a:extLst>
              </a:tr>
              <a:tr h="461046">
                <a:tc>
                  <a:txBody>
                    <a:bodyPr/>
                    <a:lstStyle/>
                    <a:p>
                      <a:pPr algn="ctr"/>
                      <a:r>
                        <a:rPr lang="en-US" sz="1800" dirty="0" smtClean="0"/>
                        <a:t>1</a:t>
                      </a:r>
                      <a:endParaRPr lang="en-US" sz="1800" dirty="0"/>
                    </a:p>
                  </a:txBody>
                  <a:tcPr marT="45715" marB="45715" anchor="ctr"/>
                </a:tc>
                <a:tc>
                  <a:txBody>
                    <a:bodyPr/>
                    <a:lstStyle/>
                    <a:p>
                      <a:pPr algn="ctr"/>
                      <a:r>
                        <a:rPr lang="en-US" sz="1800" dirty="0" smtClean="0"/>
                        <a:t>1</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dirty="0" smtClean="0"/>
                        <a:t>1</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b="1" dirty="0" smtClean="0"/>
                        <a:t>D</a:t>
                      </a:r>
                      <a:r>
                        <a:rPr lang="en-US" sz="1800" b="1" baseline="-25000" dirty="0" smtClean="0"/>
                        <a:t>in</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extLst>
                  <a:ext uri="{0D108BD9-81ED-4DB2-BD59-A6C34878D82A}">
                    <a16:rowId xmlns:a16="http://schemas.microsoft.com/office/drawing/2014/main" val="10008"/>
                  </a:ext>
                </a:extLst>
              </a:tr>
              <a:tr h="461046">
                <a:tc>
                  <a:txBody>
                    <a:bodyPr/>
                    <a:lstStyle/>
                    <a:p>
                      <a:pPr algn="ctr"/>
                      <a:r>
                        <a:rPr lang="en-US" sz="1800" dirty="0" smtClean="0"/>
                        <a:t>1</a:t>
                      </a:r>
                      <a:endParaRPr lang="en-US" sz="1800" dirty="0"/>
                    </a:p>
                  </a:txBody>
                  <a:tcPr marT="45715" marB="45715" anchor="ctr"/>
                </a:tc>
                <a:tc>
                  <a:txBody>
                    <a:bodyPr/>
                    <a:lstStyle/>
                    <a:p>
                      <a:pPr algn="ctr"/>
                      <a:r>
                        <a:rPr lang="en-US" sz="1800" dirty="0" smtClean="0"/>
                        <a:t>1</a:t>
                      </a:r>
                      <a:endParaRPr lang="en-US" sz="1800" dirty="0"/>
                    </a:p>
                  </a:txBody>
                  <a:tcPr marT="45715" marB="45715" anchor="ctr"/>
                </a:tc>
                <a:tc>
                  <a:txBody>
                    <a:bodyPr/>
                    <a:lstStyle/>
                    <a:p>
                      <a:pPr algn="ctr"/>
                      <a:r>
                        <a:rPr lang="en-US" sz="1800" dirty="0" smtClean="0"/>
                        <a:t>1</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b="1" dirty="0" smtClean="0"/>
                        <a:t>D</a:t>
                      </a:r>
                      <a:r>
                        <a:rPr lang="en-US" sz="1800" b="1" baseline="-25000" dirty="0" smtClean="0"/>
                        <a:t>in</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dirty="0" smtClean="0"/>
                        <a:t>0</a:t>
                      </a:r>
                      <a:endParaRPr lang="en-US" sz="1800" dirty="0"/>
                    </a:p>
                  </a:txBody>
                  <a:tcPr marT="45715" marB="45715" anchor="ctr"/>
                </a:tc>
                <a:extLst>
                  <a:ext uri="{0D108BD9-81ED-4DB2-BD59-A6C34878D82A}">
                    <a16:rowId xmlns:a16="http://schemas.microsoft.com/office/drawing/2014/main" val="10009"/>
                  </a:ext>
                </a:extLst>
              </a:tr>
              <a:tr h="461046">
                <a:tc>
                  <a:txBody>
                    <a:bodyPr/>
                    <a:lstStyle/>
                    <a:p>
                      <a:pPr algn="ctr"/>
                      <a:r>
                        <a:rPr lang="en-US" sz="1800" dirty="0" smtClean="0"/>
                        <a:t>1</a:t>
                      </a:r>
                      <a:endParaRPr lang="en-US" sz="1800" dirty="0"/>
                    </a:p>
                  </a:txBody>
                  <a:tcPr marT="45715" marB="45715" anchor="ctr"/>
                </a:tc>
                <a:tc>
                  <a:txBody>
                    <a:bodyPr/>
                    <a:lstStyle/>
                    <a:p>
                      <a:pPr algn="ctr"/>
                      <a:r>
                        <a:rPr lang="en-US" sz="1800" dirty="0" smtClean="0"/>
                        <a:t>1</a:t>
                      </a:r>
                      <a:endParaRPr lang="en-US" sz="1800" dirty="0"/>
                    </a:p>
                  </a:txBody>
                  <a:tcPr marT="45715" marB="45715" anchor="ctr"/>
                </a:tc>
                <a:tc>
                  <a:txBody>
                    <a:bodyPr/>
                    <a:lstStyle/>
                    <a:p>
                      <a:pPr algn="ctr"/>
                      <a:r>
                        <a:rPr lang="en-US" sz="1800" dirty="0" smtClean="0"/>
                        <a:t>1</a:t>
                      </a:r>
                      <a:endParaRPr lang="en-US" sz="1800" dirty="0"/>
                    </a:p>
                  </a:txBody>
                  <a:tcPr marT="45715" marB="45715" anchor="ctr"/>
                </a:tc>
                <a:tc>
                  <a:txBody>
                    <a:bodyPr/>
                    <a:lstStyle/>
                    <a:p>
                      <a:pPr algn="ctr"/>
                      <a:r>
                        <a:rPr lang="en-US" sz="1800" dirty="0" smtClean="0"/>
                        <a:t>1</a:t>
                      </a:r>
                      <a:endParaRPr lang="en-US" sz="1800" dirty="0"/>
                    </a:p>
                  </a:txBody>
                  <a:tcPr marT="45715" marB="45715"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smtClean="0"/>
                        <a:t>D</a:t>
                      </a:r>
                      <a:r>
                        <a:rPr lang="en-US" sz="1800" b="1" baseline="-25000" dirty="0" smtClean="0"/>
                        <a:t>in</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r>
                        <a:rPr lang="en-US" sz="1800" smtClean="0"/>
                        <a:t>0</a:t>
                      </a:r>
                      <a:endParaRPr lang="en-US" sz="1800" dirty="0"/>
                    </a:p>
                  </a:txBody>
                  <a:tcPr marT="45715" marB="45715" anchor="ctr"/>
                </a:tc>
                <a:tc>
                  <a:txBody>
                    <a:bodyPr/>
                    <a:lstStyle/>
                    <a:p>
                      <a:pPr algn="ctr"/>
                      <a:r>
                        <a:rPr lang="en-US" sz="1800" dirty="0" smtClean="0"/>
                        <a:t>0</a:t>
                      </a:r>
                      <a:endParaRPr lang="en-US" sz="1800" dirty="0"/>
                    </a:p>
                  </a:txBody>
                  <a:tcPr marT="45715" marB="45715" anchor="ctr"/>
                </a:tc>
                <a:tc>
                  <a:txBody>
                    <a:bodyPr/>
                    <a:lstStyle/>
                    <a:p>
                      <a:pPr algn="ctr"/>
                      <a:endParaRPr lang="en-US" sz="1800" dirty="0"/>
                    </a:p>
                  </a:txBody>
                  <a:tcPr marT="45715" marB="45715" anchor="ctr"/>
                </a:tc>
                <a:extLst>
                  <a:ext uri="{0D108BD9-81ED-4DB2-BD59-A6C34878D82A}">
                    <a16:rowId xmlns:a16="http://schemas.microsoft.com/office/drawing/2014/main" val="10010"/>
                  </a:ext>
                </a:extLst>
              </a:tr>
            </a:tbl>
          </a:graphicData>
        </a:graphic>
      </p:graphicFrame>
      <p:sp>
        <p:nvSpPr>
          <p:cNvPr id="217243" name="TextBox 32"/>
          <p:cNvSpPr txBox="1">
            <a:spLocks noChangeArrowheads="1"/>
          </p:cNvSpPr>
          <p:nvPr/>
        </p:nvSpPr>
        <p:spPr bwMode="auto">
          <a:xfrm>
            <a:off x="7432675" y="685800"/>
            <a:ext cx="1254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b="1"/>
              <a:t>Truth Table</a:t>
            </a:r>
          </a:p>
        </p:txBody>
      </p:sp>
    </p:spTree>
    <p:extLst>
      <p:ext uri="{BB962C8B-B14F-4D97-AF65-F5344CB8AC3E}">
        <p14:creationId xmlns:p14="http://schemas.microsoft.com/office/powerpoint/2010/main" val="373541865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Title 1"/>
          <p:cNvSpPr>
            <a:spLocks noGrp="1"/>
          </p:cNvSpPr>
          <p:nvPr>
            <p:ph type="title"/>
          </p:nvPr>
        </p:nvSpPr>
        <p:spPr>
          <a:xfrm>
            <a:off x="381000" y="152400"/>
            <a:ext cx="8229600" cy="563563"/>
          </a:xfrm>
        </p:spPr>
        <p:txBody>
          <a:bodyPr>
            <a:normAutofit fontScale="90000"/>
          </a:bodyPr>
          <a:lstStyle/>
          <a:p>
            <a:pPr eaLnBrk="1" fontAlgn="auto" hangingPunct="1">
              <a:spcAft>
                <a:spcPts val="0"/>
              </a:spcAft>
              <a:defRPr/>
            </a:pPr>
            <a:r>
              <a:rPr lang="en-US" sz="3200" b="1" dirty="0" smtClean="0">
                <a:solidFill>
                  <a:schemeClr val="accent2">
                    <a:lumMod val="50000"/>
                  </a:schemeClr>
                </a:solidFill>
              </a:rPr>
              <a:t>1: 16 De-multiplexer</a:t>
            </a:r>
          </a:p>
        </p:txBody>
      </p:sp>
      <p:sp>
        <p:nvSpPr>
          <p:cNvPr id="218115"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A3EC5C87-1941-4448-8603-49793D298F4A}" type="datetime2">
              <a:rPr lang="en-US" altLang="en-US" smtClean="0">
                <a:solidFill>
                  <a:schemeClr val="tx2"/>
                </a:solidFill>
              </a:rPr>
              <a:pPr/>
              <a:t>Tuesday, March 10, 2026</a:t>
            </a:fld>
            <a:endParaRPr lang="en-US" altLang="en-US" smtClean="0">
              <a:solidFill>
                <a:schemeClr val="tx2"/>
              </a:solidFill>
            </a:endParaRPr>
          </a:p>
        </p:txBody>
      </p:sp>
      <p:sp>
        <p:nvSpPr>
          <p:cNvPr id="21811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cxnSp>
        <p:nvCxnSpPr>
          <p:cNvPr id="7" name="Straight Connector 6"/>
          <p:cNvCxnSpPr/>
          <p:nvPr/>
        </p:nvCxnSpPr>
        <p:spPr>
          <a:xfrm>
            <a:off x="304800" y="9144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549650" y="1219200"/>
            <a:ext cx="1600200" cy="48006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10" name="Straight Arrow Connector 9"/>
          <p:cNvCxnSpPr/>
          <p:nvPr/>
        </p:nvCxnSpPr>
        <p:spPr>
          <a:xfrm>
            <a:off x="5149850" y="19812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2971800" y="5716588"/>
            <a:ext cx="57785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4495800" y="6019800"/>
            <a:ext cx="0" cy="419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8122" name="TextBox 15"/>
          <p:cNvSpPr txBox="1">
            <a:spLocks noChangeArrowheads="1"/>
          </p:cNvSpPr>
          <p:nvPr/>
        </p:nvSpPr>
        <p:spPr bwMode="auto">
          <a:xfrm>
            <a:off x="3810000" y="3544888"/>
            <a:ext cx="10318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1:16</a:t>
            </a:r>
          </a:p>
          <a:p>
            <a:pPr algn="ctr" eaLnBrk="1" hangingPunct="1"/>
            <a:r>
              <a:rPr lang="en-US" altLang="en-US" b="1"/>
              <a:t>De-mux</a:t>
            </a:r>
          </a:p>
        </p:txBody>
      </p:sp>
      <p:sp>
        <p:nvSpPr>
          <p:cNvPr id="218123" name="TextBox 16"/>
          <p:cNvSpPr txBox="1">
            <a:spLocks noChangeArrowheads="1"/>
          </p:cNvSpPr>
          <p:nvPr/>
        </p:nvSpPr>
        <p:spPr bwMode="auto">
          <a:xfrm>
            <a:off x="2598738" y="5537200"/>
            <a:ext cx="2968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a:t>
            </a:r>
          </a:p>
        </p:txBody>
      </p:sp>
      <p:sp>
        <p:nvSpPr>
          <p:cNvPr id="218124" name="TextBox 17"/>
          <p:cNvSpPr txBox="1">
            <a:spLocks noChangeArrowheads="1"/>
          </p:cNvSpPr>
          <p:nvPr/>
        </p:nvSpPr>
        <p:spPr bwMode="auto">
          <a:xfrm>
            <a:off x="2381250" y="5907088"/>
            <a:ext cx="8191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Enable</a:t>
            </a:r>
          </a:p>
          <a:p>
            <a:pPr eaLnBrk="1" hangingPunct="1"/>
            <a:r>
              <a:rPr lang="en-US" altLang="en-US"/>
              <a:t> Input</a:t>
            </a:r>
          </a:p>
        </p:txBody>
      </p:sp>
      <p:sp>
        <p:nvSpPr>
          <p:cNvPr id="218125" name="TextBox 19"/>
          <p:cNvSpPr txBox="1">
            <a:spLocks noChangeArrowheads="1"/>
          </p:cNvSpPr>
          <p:nvPr/>
        </p:nvSpPr>
        <p:spPr bwMode="auto">
          <a:xfrm>
            <a:off x="5715000" y="11430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0</a:t>
            </a:r>
          </a:p>
        </p:txBody>
      </p:sp>
      <p:sp>
        <p:nvSpPr>
          <p:cNvPr id="218126" name="TextBox 23"/>
          <p:cNvSpPr txBox="1">
            <a:spLocks noChangeArrowheads="1"/>
          </p:cNvSpPr>
          <p:nvPr/>
        </p:nvSpPr>
        <p:spPr bwMode="auto">
          <a:xfrm>
            <a:off x="2058988" y="3163888"/>
            <a:ext cx="6842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Data</a:t>
            </a:r>
          </a:p>
          <a:p>
            <a:pPr eaLnBrk="1" hangingPunct="1"/>
            <a:r>
              <a:rPr lang="en-US" altLang="en-US"/>
              <a:t>Input</a:t>
            </a:r>
          </a:p>
        </p:txBody>
      </p:sp>
      <p:sp>
        <p:nvSpPr>
          <p:cNvPr id="218127" name="TextBox 24"/>
          <p:cNvSpPr txBox="1">
            <a:spLocks noChangeArrowheads="1"/>
          </p:cNvSpPr>
          <p:nvPr/>
        </p:nvSpPr>
        <p:spPr bwMode="auto">
          <a:xfrm>
            <a:off x="76200" y="4724400"/>
            <a:ext cx="15573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b="1"/>
              <a:t>Block Diagram</a:t>
            </a:r>
          </a:p>
        </p:txBody>
      </p:sp>
      <p:cxnSp>
        <p:nvCxnSpPr>
          <p:cNvPr id="27" name="Straight Arrow Connector 26"/>
          <p:cNvCxnSpPr/>
          <p:nvPr/>
        </p:nvCxnSpPr>
        <p:spPr>
          <a:xfrm>
            <a:off x="5143500" y="13716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2971800" y="3516313"/>
            <a:ext cx="57785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8130" name="TextBox 30"/>
          <p:cNvSpPr txBox="1">
            <a:spLocks noChangeArrowheads="1"/>
          </p:cNvSpPr>
          <p:nvPr/>
        </p:nvSpPr>
        <p:spPr bwMode="auto">
          <a:xfrm>
            <a:off x="2667000" y="3048000"/>
            <a:ext cx="442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in</a:t>
            </a:r>
          </a:p>
        </p:txBody>
      </p:sp>
      <p:cxnSp>
        <p:nvCxnSpPr>
          <p:cNvPr id="26" name="Straight Arrow Connector 25"/>
          <p:cNvCxnSpPr/>
          <p:nvPr/>
        </p:nvCxnSpPr>
        <p:spPr>
          <a:xfrm flipV="1">
            <a:off x="3810000" y="6019800"/>
            <a:ext cx="0" cy="419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8132" name="TextBox 28"/>
          <p:cNvSpPr txBox="1">
            <a:spLocks noChangeArrowheads="1"/>
          </p:cNvSpPr>
          <p:nvPr/>
        </p:nvSpPr>
        <p:spPr bwMode="auto">
          <a:xfrm>
            <a:off x="4648200" y="64008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0</a:t>
            </a:r>
          </a:p>
        </p:txBody>
      </p:sp>
      <p:sp>
        <p:nvSpPr>
          <p:cNvPr id="218133" name="TextBox 29"/>
          <p:cNvSpPr txBox="1">
            <a:spLocks noChangeArrowheads="1"/>
          </p:cNvSpPr>
          <p:nvPr/>
        </p:nvSpPr>
        <p:spPr bwMode="auto">
          <a:xfrm>
            <a:off x="4349750" y="64119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1</a:t>
            </a:r>
          </a:p>
        </p:txBody>
      </p:sp>
      <p:cxnSp>
        <p:nvCxnSpPr>
          <p:cNvPr id="34" name="Straight Arrow Connector 33"/>
          <p:cNvCxnSpPr/>
          <p:nvPr/>
        </p:nvCxnSpPr>
        <p:spPr>
          <a:xfrm>
            <a:off x="5149850" y="16764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4114800" y="6019800"/>
            <a:ext cx="0" cy="419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8136" name="TextBox 46"/>
          <p:cNvSpPr txBox="1">
            <a:spLocks noChangeArrowheads="1"/>
          </p:cNvSpPr>
          <p:nvPr/>
        </p:nvSpPr>
        <p:spPr bwMode="auto">
          <a:xfrm>
            <a:off x="3968750" y="64008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2</a:t>
            </a:r>
          </a:p>
        </p:txBody>
      </p:sp>
      <p:cxnSp>
        <p:nvCxnSpPr>
          <p:cNvPr id="48" name="Straight Arrow Connector 47"/>
          <p:cNvCxnSpPr/>
          <p:nvPr/>
        </p:nvCxnSpPr>
        <p:spPr>
          <a:xfrm>
            <a:off x="5143500" y="28956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a:off x="5137150" y="22860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5143500" y="25908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5143500" y="37338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5137150" y="31242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5143500" y="34290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5137150" y="46482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5130800" y="40386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5137150" y="43434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5143500" y="48768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5137150" y="57912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5130800" y="51816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5137150" y="54864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8150" name="TextBox 60"/>
          <p:cNvSpPr txBox="1">
            <a:spLocks noChangeArrowheads="1"/>
          </p:cNvSpPr>
          <p:nvPr/>
        </p:nvSpPr>
        <p:spPr bwMode="auto">
          <a:xfrm>
            <a:off x="5715000" y="14478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a:t>
            </a:r>
          </a:p>
        </p:txBody>
      </p:sp>
      <p:sp>
        <p:nvSpPr>
          <p:cNvPr id="218151" name="TextBox 61"/>
          <p:cNvSpPr txBox="1">
            <a:spLocks noChangeArrowheads="1"/>
          </p:cNvSpPr>
          <p:nvPr/>
        </p:nvSpPr>
        <p:spPr bwMode="auto">
          <a:xfrm>
            <a:off x="5715000" y="17526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2</a:t>
            </a:r>
          </a:p>
        </p:txBody>
      </p:sp>
      <p:sp>
        <p:nvSpPr>
          <p:cNvPr id="218152" name="TextBox 62"/>
          <p:cNvSpPr txBox="1">
            <a:spLocks noChangeArrowheads="1"/>
          </p:cNvSpPr>
          <p:nvPr/>
        </p:nvSpPr>
        <p:spPr bwMode="auto">
          <a:xfrm>
            <a:off x="5715000" y="20685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3</a:t>
            </a:r>
          </a:p>
        </p:txBody>
      </p:sp>
      <p:sp>
        <p:nvSpPr>
          <p:cNvPr id="218153" name="TextBox 63"/>
          <p:cNvSpPr txBox="1">
            <a:spLocks noChangeArrowheads="1"/>
          </p:cNvSpPr>
          <p:nvPr/>
        </p:nvSpPr>
        <p:spPr bwMode="auto">
          <a:xfrm>
            <a:off x="5715000" y="23622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4</a:t>
            </a:r>
          </a:p>
        </p:txBody>
      </p:sp>
      <p:sp>
        <p:nvSpPr>
          <p:cNvPr id="218154" name="TextBox 64"/>
          <p:cNvSpPr txBox="1">
            <a:spLocks noChangeArrowheads="1"/>
          </p:cNvSpPr>
          <p:nvPr/>
        </p:nvSpPr>
        <p:spPr bwMode="auto">
          <a:xfrm>
            <a:off x="5715000" y="26670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5</a:t>
            </a:r>
          </a:p>
        </p:txBody>
      </p:sp>
      <p:sp>
        <p:nvSpPr>
          <p:cNvPr id="218155" name="TextBox 65"/>
          <p:cNvSpPr txBox="1">
            <a:spLocks noChangeArrowheads="1"/>
          </p:cNvSpPr>
          <p:nvPr/>
        </p:nvSpPr>
        <p:spPr bwMode="auto">
          <a:xfrm>
            <a:off x="5715000" y="28956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6</a:t>
            </a:r>
          </a:p>
        </p:txBody>
      </p:sp>
      <p:sp>
        <p:nvSpPr>
          <p:cNvPr id="218156" name="TextBox 66"/>
          <p:cNvSpPr txBox="1">
            <a:spLocks noChangeArrowheads="1"/>
          </p:cNvSpPr>
          <p:nvPr/>
        </p:nvSpPr>
        <p:spPr bwMode="auto">
          <a:xfrm>
            <a:off x="5715000" y="32115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7</a:t>
            </a:r>
          </a:p>
        </p:txBody>
      </p:sp>
      <p:sp>
        <p:nvSpPr>
          <p:cNvPr id="218157" name="TextBox 67"/>
          <p:cNvSpPr txBox="1">
            <a:spLocks noChangeArrowheads="1"/>
          </p:cNvSpPr>
          <p:nvPr/>
        </p:nvSpPr>
        <p:spPr bwMode="auto">
          <a:xfrm>
            <a:off x="5715000" y="35163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8</a:t>
            </a:r>
          </a:p>
        </p:txBody>
      </p:sp>
      <p:sp>
        <p:nvSpPr>
          <p:cNvPr id="218158" name="TextBox 68"/>
          <p:cNvSpPr txBox="1">
            <a:spLocks noChangeArrowheads="1"/>
          </p:cNvSpPr>
          <p:nvPr/>
        </p:nvSpPr>
        <p:spPr bwMode="auto">
          <a:xfrm>
            <a:off x="5715000" y="38100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9</a:t>
            </a:r>
          </a:p>
        </p:txBody>
      </p:sp>
      <p:sp>
        <p:nvSpPr>
          <p:cNvPr id="218159" name="TextBox 69"/>
          <p:cNvSpPr txBox="1">
            <a:spLocks noChangeArrowheads="1"/>
          </p:cNvSpPr>
          <p:nvPr/>
        </p:nvSpPr>
        <p:spPr bwMode="auto">
          <a:xfrm>
            <a:off x="5715000" y="4114800"/>
            <a:ext cx="454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10</a:t>
            </a:r>
          </a:p>
        </p:txBody>
      </p:sp>
      <p:sp>
        <p:nvSpPr>
          <p:cNvPr id="218160" name="TextBox 70"/>
          <p:cNvSpPr txBox="1">
            <a:spLocks noChangeArrowheads="1"/>
          </p:cNvSpPr>
          <p:nvPr/>
        </p:nvSpPr>
        <p:spPr bwMode="auto">
          <a:xfrm>
            <a:off x="5715000" y="4343400"/>
            <a:ext cx="454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11</a:t>
            </a:r>
          </a:p>
        </p:txBody>
      </p:sp>
      <p:sp>
        <p:nvSpPr>
          <p:cNvPr id="218161" name="TextBox 71"/>
          <p:cNvSpPr txBox="1">
            <a:spLocks noChangeArrowheads="1"/>
          </p:cNvSpPr>
          <p:nvPr/>
        </p:nvSpPr>
        <p:spPr bwMode="auto">
          <a:xfrm>
            <a:off x="5715000" y="4648200"/>
            <a:ext cx="454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12</a:t>
            </a:r>
          </a:p>
        </p:txBody>
      </p:sp>
      <p:sp>
        <p:nvSpPr>
          <p:cNvPr id="218162" name="TextBox 72"/>
          <p:cNvSpPr txBox="1">
            <a:spLocks noChangeArrowheads="1"/>
          </p:cNvSpPr>
          <p:nvPr/>
        </p:nvSpPr>
        <p:spPr bwMode="auto">
          <a:xfrm>
            <a:off x="5715000" y="4953000"/>
            <a:ext cx="454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13</a:t>
            </a:r>
          </a:p>
        </p:txBody>
      </p:sp>
      <p:sp>
        <p:nvSpPr>
          <p:cNvPr id="218163" name="TextBox 73"/>
          <p:cNvSpPr txBox="1">
            <a:spLocks noChangeArrowheads="1"/>
          </p:cNvSpPr>
          <p:nvPr/>
        </p:nvSpPr>
        <p:spPr bwMode="auto">
          <a:xfrm>
            <a:off x="5715000" y="5257800"/>
            <a:ext cx="454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14</a:t>
            </a:r>
          </a:p>
        </p:txBody>
      </p:sp>
      <p:sp>
        <p:nvSpPr>
          <p:cNvPr id="218164" name="TextBox 74"/>
          <p:cNvSpPr txBox="1">
            <a:spLocks noChangeArrowheads="1"/>
          </p:cNvSpPr>
          <p:nvPr/>
        </p:nvSpPr>
        <p:spPr bwMode="auto">
          <a:xfrm>
            <a:off x="5715000" y="5562600"/>
            <a:ext cx="454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15</a:t>
            </a:r>
          </a:p>
        </p:txBody>
      </p:sp>
      <p:cxnSp>
        <p:nvCxnSpPr>
          <p:cNvPr id="76" name="Straight Arrow Connector 75"/>
          <p:cNvCxnSpPr/>
          <p:nvPr/>
        </p:nvCxnSpPr>
        <p:spPr>
          <a:xfrm flipV="1">
            <a:off x="4800600" y="6019800"/>
            <a:ext cx="0" cy="419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8166" name="TextBox 76"/>
          <p:cNvSpPr txBox="1">
            <a:spLocks noChangeArrowheads="1"/>
          </p:cNvSpPr>
          <p:nvPr/>
        </p:nvSpPr>
        <p:spPr bwMode="auto">
          <a:xfrm>
            <a:off x="3663950" y="64008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3</a:t>
            </a:r>
          </a:p>
        </p:txBody>
      </p:sp>
    </p:spTree>
    <p:extLst>
      <p:ext uri="{BB962C8B-B14F-4D97-AF65-F5344CB8AC3E}">
        <p14:creationId xmlns:p14="http://schemas.microsoft.com/office/powerpoint/2010/main" val="173056654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Title 1"/>
          <p:cNvSpPr>
            <a:spLocks noGrp="1"/>
          </p:cNvSpPr>
          <p:nvPr>
            <p:ph type="title"/>
          </p:nvPr>
        </p:nvSpPr>
        <p:spPr>
          <a:xfrm>
            <a:off x="381000" y="152400"/>
            <a:ext cx="8229600" cy="563563"/>
          </a:xfrm>
        </p:spPr>
        <p:txBody>
          <a:bodyPr>
            <a:normAutofit fontScale="90000"/>
          </a:bodyPr>
          <a:lstStyle/>
          <a:p>
            <a:pPr eaLnBrk="1" fontAlgn="auto" hangingPunct="1">
              <a:spcAft>
                <a:spcPts val="0"/>
              </a:spcAft>
              <a:defRPr/>
            </a:pPr>
            <a:r>
              <a:rPr lang="en-US" sz="3200" b="1" dirty="0" smtClean="0">
                <a:solidFill>
                  <a:schemeClr val="accent2">
                    <a:lumMod val="50000"/>
                  </a:schemeClr>
                </a:solidFill>
              </a:rPr>
              <a:t>De-</a:t>
            </a:r>
            <a:r>
              <a:rPr lang="en-US" sz="3200" b="1" dirty="0" err="1" smtClean="0">
                <a:solidFill>
                  <a:schemeClr val="accent2">
                    <a:lumMod val="50000"/>
                  </a:schemeClr>
                </a:solidFill>
              </a:rPr>
              <a:t>mux</a:t>
            </a:r>
            <a:r>
              <a:rPr lang="en-US" sz="3200" b="1" dirty="0" smtClean="0">
                <a:solidFill>
                  <a:schemeClr val="accent2">
                    <a:lumMod val="50000"/>
                  </a:schemeClr>
                </a:solidFill>
              </a:rPr>
              <a:t> Tree</a:t>
            </a:r>
          </a:p>
        </p:txBody>
      </p:sp>
      <p:sp>
        <p:nvSpPr>
          <p:cNvPr id="219139"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CDEB0582-4E8D-4CF2-8849-DE8F68292F14}" type="datetime2">
              <a:rPr lang="en-US" altLang="en-US" smtClean="0">
                <a:solidFill>
                  <a:schemeClr val="tx2"/>
                </a:solidFill>
              </a:rPr>
              <a:pPr/>
              <a:t>Tuesday, March 10, 2026</a:t>
            </a:fld>
            <a:endParaRPr lang="en-US" altLang="en-US" smtClean="0">
              <a:solidFill>
                <a:schemeClr val="tx2"/>
              </a:solidFill>
            </a:endParaRPr>
          </a:p>
        </p:txBody>
      </p:sp>
      <p:sp>
        <p:nvSpPr>
          <p:cNvPr id="21914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sp>
        <p:nvSpPr>
          <p:cNvPr id="3" name="Content Placeholder 2"/>
          <p:cNvSpPr>
            <a:spLocks noGrp="1"/>
          </p:cNvSpPr>
          <p:nvPr>
            <p:ph sz="quarter" idx="1"/>
          </p:nvPr>
        </p:nvSpPr>
        <p:spPr/>
        <p:txBody>
          <a:bodyPr rtlCol="0">
            <a:normAutofit/>
          </a:bodyPr>
          <a:lstStyle/>
          <a:p>
            <a:pPr marL="274320" indent="-274320" algn="just" eaLnBrk="1" fontAlgn="auto" hangingPunct="1">
              <a:spcBef>
                <a:spcPts val="580"/>
              </a:spcBef>
              <a:spcAft>
                <a:spcPts val="0"/>
              </a:spcAft>
              <a:buFont typeface="Wingdings" pitchFamily="2" charset="2"/>
              <a:buChar char="ü"/>
              <a:defRPr/>
            </a:pPr>
            <a:r>
              <a:rPr lang="en-US" dirty="0" smtClean="0"/>
              <a:t>Similar to multiplexer we can construct the de-multiplexer with more number of lines using de-multiplexer having less number of lines. This is call as “De-mux Tree”.</a:t>
            </a:r>
          </a:p>
          <a:p>
            <a:pPr marL="0" indent="0" algn="just" eaLnBrk="1" fontAlgn="auto" hangingPunct="1">
              <a:spcBef>
                <a:spcPts val="580"/>
              </a:spcBef>
              <a:spcAft>
                <a:spcPts val="0"/>
              </a:spcAft>
              <a:buFont typeface="Arial" pitchFamily="34" charset="0"/>
              <a:buNone/>
              <a:defRPr/>
            </a:pPr>
            <a:endParaRPr lang="en-US" dirty="0"/>
          </a:p>
        </p:txBody>
      </p:sp>
      <p:cxnSp>
        <p:nvCxnSpPr>
          <p:cNvPr id="7" name="Straight Connector 6"/>
          <p:cNvCxnSpPr/>
          <p:nvPr/>
        </p:nvCxnSpPr>
        <p:spPr>
          <a:xfrm>
            <a:off x="304800" y="10668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491351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Title 1"/>
          <p:cNvSpPr>
            <a:spLocks noGrp="1"/>
          </p:cNvSpPr>
          <p:nvPr>
            <p:ph type="title"/>
          </p:nvPr>
        </p:nvSpPr>
        <p:spPr>
          <a:xfrm>
            <a:off x="381000" y="152400"/>
            <a:ext cx="8229600" cy="563563"/>
          </a:xfrm>
        </p:spPr>
        <p:txBody>
          <a:bodyPr>
            <a:normAutofit fontScale="90000"/>
          </a:bodyPr>
          <a:lstStyle/>
          <a:p>
            <a:pPr eaLnBrk="1" fontAlgn="auto" hangingPunct="1">
              <a:spcAft>
                <a:spcPts val="0"/>
              </a:spcAft>
              <a:defRPr/>
            </a:pPr>
            <a:r>
              <a:rPr lang="en-US" sz="3200" b="1" dirty="0" smtClean="0">
                <a:solidFill>
                  <a:schemeClr val="accent2">
                    <a:lumMod val="50000"/>
                  </a:schemeClr>
                </a:solidFill>
              </a:rPr>
              <a:t>1:4 De-</a:t>
            </a:r>
            <a:r>
              <a:rPr lang="en-US" sz="3200" b="1" dirty="0" err="1" smtClean="0">
                <a:solidFill>
                  <a:schemeClr val="accent2">
                    <a:lumMod val="50000"/>
                  </a:schemeClr>
                </a:solidFill>
              </a:rPr>
              <a:t>mux</a:t>
            </a:r>
            <a:r>
              <a:rPr lang="en-US" sz="3200" b="1" dirty="0" smtClean="0">
                <a:solidFill>
                  <a:schemeClr val="accent2">
                    <a:lumMod val="50000"/>
                  </a:schemeClr>
                </a:solidFill>
              </a:rPr>
              <a:t> using 1:2 De-</a:t>
            </a:r>
            <a:r>
              <a:rPr lang="en-US" sz="3200" b="1" dirty="0" err="1" smtClean="0">
                <a:solidFill>
                  <a:schemeClr val="accent2">
                    <a:lumMod val="50000"/>
                  </a:schemeClr>
                </a:solidFill>
              </a:rPr>
              <a:t>mux</a:t>
            </a:r>
            <a:endParaRPr lang="en-US" sz="3200" b="1" dirty="0" smtClean="0">
              <a:solidFill>
                <a:schemeClr val="accent2">
                  <a:lumMod val="50000"/>
                </a:schemeClr>
              </a:solidFill>
            </a:endParaRPr>
          </a:p>
        </p:txBody>
      </p:sp>
      <p:sp>
        <p:nvSpPr>
          <p:cNvPr id="220163"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4C878F64-0288-4D42-95C2-69675E715124}" type="datetime2">
              <a:rPr lang="en-US" altLang="en-US" smtClean="0">
                <a:solidFill>
                  <a:schemeClr val="tx2"/>
                </a:solidFill>
              </a:rPr>
              <a:pPr/>
              <a:t>Tuesday, March 10, 2026</a:t>
            </a:fld>
            <a:endParaRPr lang="en-US" altLang="en-US" smtClean="0">
              <a:solidFill>
                <a:schemeClr val="tx2"/>
              </a:solidFill>
            </a:endParaRPr>
          </a:p>
        </p:txBody>
      </p:sp>
      <p:sp>
        <p:nvSpPr>
          <p:cNvPr id="22016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cxnSp>
        <p:nvCxnSpPr>
          <p:cNvPr id="7" name="Straight Connector 6"/>
          <p:cNvCxnSpPr/>
          <p:nvPr/>
        </p:nvCxnSpPr>
        <p:spPr>
          <a:xfrm>
            <a:off x="304800" y="10668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937000" y="1725613"/>
            <a:ext cx="1600200" cy="133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9" name="Straight Arrow Connector 8"/>
          <p:cNvCxnSpPr/>
          <p:nvPr/>
        </p:nvCxnSpPr>
        <p:spPr>
          <a:xfrm>
            <a:off x="5537200" y="2678113"/>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384550" y="2932113"/>
            <a:ext cx="57785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0169" name="TextBox 11"/>
          <p:cNvSpPr txBox="1">
            <a:spLocks noChangeArrowheads="1"/>
          </p:cNvSpPr>
          <p:nvPr/>
        </p:nvSpPr>
        <p:spPr bwMode="auto">
          <a:xfrm>
            <a:off x="469900" y="2895600"/>
            <a:ext cx="7493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Select</a:t>
            </a:r>
          </a:p>
          <a:p>
            <a:pPr eaLnBrk="1" hangingPunct="1"/>
            <a:r>
              <a:rPr lang="en-US" altLang="en-US"/>
              <a:t> Lines</a:t>
            </a:r>
          </a:p>
        </p:txBody>
      </p:sp>
      <p:sp>
        <p:nvSpPr>
          <p:cNvPr id="220170" name="TextBox 12"/>
          <p:cNvSpPr txBox="1">
            <a:spLocks noChangeArrowheads="1"/>
          </p:cNvSpPr>
          <p:nvPr/>
        </p:nvSpPr>
        <p:spPr bwMode="auto">
          <a:xfrm>
            <a:off x="4197350" y="1992313"/>
            <a:ext cx="10302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1:2</a:t>
            </a:r>
          </a:p>
          <a:p>
            <a:pPr algn="ctr" eaLnBrk="1" hangingPunct="1"/>
            <a:r>
              <a:rPr lang="en-US" altLang="en-US" b="1"/>
              <a:t>De-mux</a:t>
            </a:r>
          </a:p>
        </p:txBody>
      </p:sp>
      <p:sp>
        <p:nvSpPr>
          <p:cNvPr id="220171" name="TextBox 13"/>
          <p:cNvSpPr txBox="1">
            <a:spLocks noChangeArrowheads="1"/>
          </p:cNvSpPr>
          <p:nvPr/>
        </p:nvSpPr>
        <p:spPr bwMode="auto">
          <a:xfrm>
            <a:off x="3894138" y="2678113"/>
            <a:ext cx="2968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a:t>
            </a:r>
          </a:p>
        </p:txBody>
      </p:sp>
      <p:sp>
        <p:nvSpPr>
          <p:cNvPr id="220172" name="TextBox 15"/>
          <p:cNvSpPr txBox="1">
            <a:spLocks noChangeArrowheads="1"/>
          </p:cNvSpPr>
          <p:nvPr/>
        </p:nvSpPr>
        <p:spPr bwMode="auto">
          <a:xfrm>
            <a:off x="6000750" y="1852613"/>
            <a:ext cx="374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0</a:t>
            </a:r>
          </a:p>
        </p:txBody>
      </p:sp>
      <p:sp>
        <p:nvSpPr>
          <p:cNvPr id="220173" name="TextBox 16"/>
          <p:cNvSpPr txBox="1">
            <a:spLocks noChangeArrowheads="1"/>
          </p:cNvSpPr>
          <p:nvPr/>
        </p:nvSpPr>
        <p:spPr bwMode="auto">
          <a:xfrm>
            <a:off x="6026150" y="2462213"/>
            <a:ext cx="374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a:t>
            </a:r>
          </a:p>
        </p:txBody>
      </p:sp>
      <p:sp>
        <p:nvSpPr>
          <p:cNvPr id="220174" name="TextBox 17"/>
          <p:cNvSpPr txBox="1">
            <a:spLocks noChangeArrowheads="1"/>
          </p:cNvSpPr>
          <p:nvPr/>
        </p:nvSpPr>
        <p:spPr bwMode="auto">
          <a:xfrm>
            <a:off x="1295400" y="3271838"/>
            <a:ext cx="4302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400"/>
              <a:t>S</a:t>
            </a:r>
            <a:r>
              <a:rPr lang="en-US" altLang="en-US" sz="2400" baseline="-25000"/>
              <a:t>0</a:t>
            </a:r>
          </a:p>
        </p:txBody>
      </p:sp>
      <p:sp>
        <p:nvSpPr>
          <p:cNvPr id="220175" name="TextBox 18"/>
          <p:cNvSpPr txBox="1">
            <a:spLocks noChangeArrowheads="1"/>
          </p:cNvSpPr>
          <p:nvPr/>
        </p:nvSpPr>
        <p:spPr bwMode="auto">
          <a:xfrm>
            <a:off x="609600" y="1905000"/>
            <a:ext cx="6842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Data</a:t>
            </a:r>
          </a:p>
          <a:p>
            <a:pPr eaLnBrk="1" hangingPunct="1"/>
            <a:r>
              <a:rPr lang="en-US" altLang="en-US"/>
              <a:t>Input</a:t>
            </a:r>
          </a:p>
        </p:txBody>
      </p:sp>
      <p:cxnSp>
        <p:nvCxnSpPr>
          <p:cNvPr id="20" name="Straight Arrow Connector 19"/>
          <p:cNvCxnSpPr/>
          <p:nvPr/>
        </p:nvCxnSpPr>
        <p:spPr>
          <a:xfrm>
            <a:off x="5530850" y="2068513"/>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1295400" y="2133600"/>
            <a:ext cx="2641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0178" name="TextBox 21"/>
          <p:cNvSpPr txBox="1">
            <a:spLocks noChangeArrowheads="1"/>
          </p:cNvSpPr>
          <p:nvPr/>
        </p:nvSpPr>
        <p:spPr bwMode="auto">
          <a:xfrm>
            <a:off x="3900488" y="2144713"/>
            <a:ext cx="4429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in</a:t>
            </a:r>
          </a:p>
        </p:txBody>
      </p:sp>
      <p:sp>
        <p:nvSpPr>
          <p:cNvPr id="23" name="Rectangle 22"/>
          <p:cNvSpPr/>
          <p:nvPr/>
        </p:nvSpPr>
        <p:spPr>
          <a:xfrm>
            <a:off x="3929063" y="4000500"/>
            <a:ext cx="1600200" cy="133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24" name="Straight Arrow Connector 23"/>
          <p:cNvCxnSpPr/>
          <p:nvPr/>
        </p:nvCxnSpPr>
        <p:spPr>
          <a:xfrm>
            <a:off x="5529263" y="49530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19400" y="5132388"/>
            <a:ext cx="1109663" cy="4762"/>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0182" name="TextBox 26"/>
          <p:cNvSpPr txBox="1">
            <a:spLocks noChangeArrowheads="1"/>
          </p:cNvSpPr>
          <p:nvPr/>
        </p:nvSpPr>
        <p:spPr bwMode="auto">
          <a:xfrm>
            <a:off x="4189413" y="4267200"/>
            <a:ext cx="10318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1:2</a:t>
            </a:r>
          </a:p>
          <a:p>
            <a:pPr algn="ctr" eaLnBrk="1" hangingPunct="1"/>
            <a:r>
              <a:rPr lang="en-US" altLang="en-US" b="1"/>
              <a:t>De-mux</a:t>
            </a:r>
          </a:p>
        </p:txBody>
      </p:sp>
      <p:sp>
        <p:nvSpPr>
          <p:cNvPr id="220183" name="TextBox 27"/>
          <p:cNvSpPr txBox="1">
            <a:spLocks noChangeArrowheads="1"/>
          </p:cNvSpPr>
          <p:nvPr/>
        </p:nvSpPr>
        <p:spPr bwMode="auto">
          <a:xfrm>
            <a:off x="3886200" y="4953000"/>
            <a:ext cx="2968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a:t>
            </a:r>
          </a:p>
        </p:txBody>
      </p:sp>
      <p:sp>
        <p:nvSpPr>
          <p:cNvPr id="220184" name="TextBox 29"/>
          <p:cNvSpPr txBox="1">
            <a:spLocks noChangeArrowheads="1"/>
          </p:cNvSpPr>
          <p:nvPr/>
        </p:nvSpPr>
        <p:spPr bwMode="auto">
          <a:xfrm>
            <a:off x="5994400" y="41259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2</a:t>
            </a:r>
          </a:p>
        </p:txBody>
      </p:sp>
      <p:sp>
        <p:nvSpPr>
          <p:cNvPr id="220185" name="TextBox 30"/>
          <p:cNvSpPr txBox="1">
            <a:spLocks noChangeArrowheads="1"/>
          </p:cNvSpPr>
          <p:nvPr/>
        </p:nvSpPr>
        <p:spPr bwMode="auto">
          <a:xfrm>
            <a:off x="6018213" y="4735513"/>
            <a:ext cx="3762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3</a:t>
            </a:r>
          </a:p>
        </p:txBody>
      </p:sp>
      <p:cxnSp>
        <p:nvCxnSpPr>
          <p:cNvPr id="33" name="Straight Arrow Connector 32"/>
          <p:cNvCxnSpPr/>
          <p:nvPr/>
        </p:nvCxnSpPr>
        <p:spPr>
          <a:xfrm>
            <a:off x="5522913" y="43434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V="1">
            <a:off x="2120900" y="4659313"/>
            <a:ext cx="1808163" cy="7937"/>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0188" name="TextBox 34"/>
          <p:cNvSpPr txBox="1">
            <a:spLocks noChangeArrowheads="1"/>
          </p:cNvSpPr>
          <p:nvPr/>
        </p:nvSpPr>
        <p:spPr bwMode="auto">
          <a:xfrm>
            <a:off x="3900488" y="4381500"/>
            <a:ext cx="4429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in</a:t>
            </a:r>
          </a:p>
        </p:txBody>
      </p:sp>
      <p:cxnSp>
        <p:nvCxnSpPr>
          <p:cNvPr id="37" name="Straight Connector 36"/>
          <p:cNvCxnSpPr>
            <a:stCxn id="8" idx="2"/>
            <a:endCxn id="23" idx="0"/>
          </p:cNvCxnSpPr>
          <p:nvPr/>
        </p:nvCxnSpPr>
        <p:spPr>
          <a:xfrm flipH="1">
            <a:off x="4729163" y="3059113"/>
            <a:ext cx="7937" cy="9413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1752600" y="3530600"/>
            <a:ext cx="297656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0191" name="Group 73"/>
          <p:cNvGrpSpPr>
            <a:grpSpLocks/>
          </p:cNvGrpSpPr>
          <p:nvPr/>
        </p:nvGrpSpPr>
        <p:grpSpPr bwMode="auto">
          <a:xfrm>
            <a:off x="2843213" y="2703513"/>
            <a:ext cx="608012" cy="457200"/>
            <a:chOff x="3964820" y="4044696"/>
            <a:chExt cx="1747760" cy="1060704"/>
          </a:xfrm>
        </p:grpSpPr>
        <p:sp>
          <p:nvSpPr>
            <p:cNvPr id="220202" name="Isosceles Triangle 68"/>
            <p:cNvSpPr>
              <a:spLocks noChangeArrowheads="1"/>
            </p:cNvSpPr>
            <p:nvPr/>
          </p:nvSpPr>
          <p:spPr bwMode="auto">
            <a:xfrm rot="5400000">
              <a:off x="4270247" y="4346448"/>
              <a:ext cx="1060704" cy="457199"/>
            </a:xfrm>
            <a:prstGeom prst="triangle">
              <a:avLst>
                <a:gd name="adj" fmla="val 48731"/>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220203" name="Oval 69"/>
            <p:cNvSpPr>
              <a:spLocks noChangeArrowheads="1"/>
            </p:cNvSpPr>
            <p:nvPr/>
          </p:nvSpPr>
          <p:spPr bwMode="auto">
            <a:xfrm>
              <a:off x="5029200" y="4494276"/>
              <a:ext cx="114300" cy="153924"/>
            </a:xfrm>
            <a:prstGeom prst="ellipse">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cxnSp>
          <p:nvCxnSpPr>
            <p:cNvPr id="220204" name="Straight Connector 71"/>
            <p:cNvCxnSpPr>
              <a:cxnSpLocks noChangeShapeType="1"/>
              <a:endCxn id="220202" idx="3"/>
            </p:cNvCxnSpPr>
            <p:nvPr/>
          </p:nvCxnSpPr>
          <p:spPr bwMode="auto">
            <a:xfrm flipV="1">
              <a:off x="3964820" y="4561598"/>
              <a:ext cx="607180" cy="964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220205" name="Straight Connector 72"/>
            <p:cNvCxnSpPr>
              <a:cxnSpLocks noChangeShapeType="1"/>
            </p:cNvCxnSpPr>
            <p:nvPr/>
          </p:nvCxnSpPr>
          <p:spPr bwMode="auto">
            <a:xfrm flipV="1">
              <a:off x="5105400" y="4562360"/>
              <a:ext cx="607180" cy="964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grpSp>
      <p:cxnSp>
        <p:nvCxnSpPr>
          <p:cNvPr id="45" name="Straight Connector 44"/>
          <p:cNvCxnSpPr/>
          <p:nvPr/>
        </p:nvCxnSpPr>
        <p:spPr>
          <a:xfrm flipH="1">
            <a:off x="2806700" y="2932113"/>
            <a:ext cx="12700" cy="22050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H="1">
            <a:off x="1752600" y="2927350"/>
            <a:ext cx="1306513" cy="476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20194" name="TextBox 53"/>
          <p:cNvSpPr txBox="1">
            <a:spLocks noChangeArrowheads="1"/>
          </p:cNvSpPr>
          <p:nvPr/>
        </p:nvSpPr>
        <p:spPr bwMode="auto">
          <a:xfrm>
            <a:off x="1295400" y="2667000"/>
            <a:ext cx="4302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400"/>
              <a:t>S</a:t>
            </a:r>
            <a:r>
              <a:rPr lang="en-US" altLang="en-US" sz="2400" baseline="-25000"/>
              <a:t>1</a:t>
            </a:r>
          </a:p>
        </p:txBody>
      </p:sp>
      <p:cxnSp>
        <p:nvCxnSpPr>
          <p:cNvPr id="56" name="Straight Connector 55"/>
          <p:cNvCxnSpPr/>
          <p:nvPr/>
        </p:nvCxnSpPr>
        <p:spPr>
          <a:xfrm flipH="1">
            <a:off x="2120900" y="2144713"/>
            <a:ext cx="6350" cy="25034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20196" name="TextBox 58"/>
          <p:cNvSpPr txBox="1">
            <a:spLocks noChangeArrowheads="1"/>
          </p:cNvSpPr>
          <p:nvPr/>
        </p:nvSpPr>
        <p:spPr bwMode="auto">
          <a:xfrm>
            <a:off x="4495800" y="3957638"/>
            <a:ext cx="368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0</a:t>
            </a:r>
          </a:p>
        </p:txBody>
      </p:sp>
      <p:sp>
        <p:nvSpPr>
          <p:cNvPr id="220197" name="TextBox 59"/>
          <p:cNvSpPr txBox="1">
            <a:spLocks noChangeArrowheads="1"/>
          </p:cNvSpPr>
          <p:nvPr/>
        </p:nvSpPr>
        <p:spPr bwMode="auto">
          <a:xfrm>
            <a:off x="4572000" y="2678113"/>
            <a:ext cx="368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0</a:t>
            </a:r>
          </a:p>
        </p:txBody>
      </p:sp>
      <p:sp>
        <p:nvSpPr>
          <p:cNvPr id="220198" name="TextBox 60"/>
          <p:cNvSpPr txBox="1">
            <a:spLocks noChangeArrowheads="1"/>
          </p:cNvSpPr>
          <p:nvPr/>
        </p:nvSpPr>
        <p:spPr bwMode="auto">
          <a:xfrm>
            <a:off x="5181600" y="18399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0</a:t>
            </a:r>
          </a:p>
        </p:txBody>
      </p:sp>
      <p:sp>
        <p:nvSpPr>
          <p:cNvPr id="220199" name="TextBox 61"/>
          <p:cNvSpPr txBox="1">
            <a:spLocks noChangeArrowheads="1"/>
          </p:cNvSpPr>
          <p:nvPr/>
        </p:nvSpPr>
        <p:spPr bwMode="auto">
          <a:xfrm>
            <a:off x="5207000" y="24495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a:t>
            </a:r>
          </a:p>
        </p:txBody>
      </p:sp>
      <p:sp>
        <p:nvSpPr>
          <p:cNvPr id="220200" name="TextBox 62"/>
          <p:cNvSpPr txBox="1">
            <a:spLocks noChangeArrowheads="1"/>
          </p:cNvSpPr>
          <p:nvPr/>
        </p:nvSpPr>
        <p:spPr bwMode="auto">
          <a:xfrm>
            <a:off x="5181600" y="41259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0</a:t>
            </a:r>
          </a:p>
        </p:txBody>
      </p:sp>
      <p:sp>
        <p:nvSpPr>
          <p:cNvPr id="220201" name="TextBox 63"/>
          <p:cNvSpPr txBox="1">
            <a:spLocks noChangeArrowheads="1"/>
          </p:cNvSpPr>
          <p:nvPr/>
        </p:nvSpPr>
        <p:spPr bwMode="auto">
          <a:xfrm>
            <a:off x="5207000" y="47355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a:t>
            </a:r>
          </a:p>
        </p:txBody>
      </p:sp>
    </p:spTree>
    <p:extLst>
      <p:ext uri="{BB962C8B-B14F-4D97-AF65-F5344CB8AC3E}">
        <p14:creationId xmlns:p14="http://schemas.microsoft.com/office/powerpoint/2010/main" val="377702868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Title 1"/>
          <p:cNvSpPr>
            <a:spLocks noGrp="1"/>
          </p:cNvSpPr>
          <p:nvPr>
            <p:ph type="title"/>
          </p:nvPr>
        </p:nvSpPr>
        <p:spPr>
          <a:xfrm>
            <a:off x="76200" y="122238"/>
            <a:ext cx="4267200" cy="563562"/>
          </a:xfrm>
        </p:spPr>
        <p:txBody>
          <a:bodyPr>
            <a:normAutofit fontScale="90000"/>
          </a:bodyPr>
          <a:lstStyle/>
          <a:p>
            <a:pPr eaLnBrk="1" fontAlgn="auto" hangingPunct="1">
              <a:spcAft>
                <a:spcPts val="0"/>
              </a:spcAft>
              <a:defRPr/>
            </a:pPr>
            <a:r>
              <a:rPr lang="en-US" sz="3200" b="1" dirty="0" smtClean="0">
                <a:solidFill>
                  <a:schemeClr val="accent2">
                    <a:lumMod val="50000"/>
                  </a:schemeClr>
                </a:solidFill>
              </a:rPr>
              <a:t>1:16 De-</a:t>
            </a:r>
            <a:r>
              <a:rPr lang="en-US" sz="3200" b="1" dirty="0" err="1" smtClean="0">
                <a:solidFill>
                  <a:schemeClr val="accent2">
                    <a:lumMod val="50000"/>
                  </a:schemeClr>
                </a:solidFill>
              </a:rPr>
              <a:t>mux</a:t>
            </a:r>
            <a:r>
              <a:rPr lang="en-US" sz="3200" b="1" dirty="0" smtClean="0">
                <a:solidFill>
                  <a:schemeClr val="accent2">
                    <a:lumMod val="50000"/>
                  </a:schemeClr>
                </a:solidFill>
              </a:rPr>
              <a:t> using 1:4 De-</a:t>
            </a:r>
            <a:r>
              <a:rPr lang="en-US" sz="3200" b="1" dirty="0" err="1" smtClean="0">
                <a:solidFill>
                  <a:schemeClr val="accent2">
                    <a:lumMod val="50000"/>
                  </a:schemeClr>
                </a:solidFill>
              </a:rPr>
              <a:t>mux</a:t>
            </a:r>
            <a:endParaRPr lang="en-US" sz="3200" b="1" dirty="0" smtClean="0">
              <a:solidFill>
                <a:schemeClr val="accent2">
                  <a:lumMod val="50000"/>
                </a:schemeClr>
              </a:solidFill>
            </a:endParaRPr>
          </a:p>
        </p:txBody>
      </p:sp>
      <p:sp>
        <p:nvSpPr>
          <p:cNvPr id="221187"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B055CBCA-FC2B-47A2-95D6-25B890CE99D6}" type="datetime2">
              <a:rPr lang="en-US" altLang="en-US" smtClean="0">
                <a:solidFill>
                  <a:schemeClr val="tx2"/>
                </a:solidFill>
              </a:rPr>
              <a:pPr/>
              <a:t>Tuesday, March 10, 2026</a:t>
            </a:fld>
            <a:endParaRPr lang="en-US" altLang="en-US" smtClean="0">
              <a:solidFill>
                <a:schemeClr val="tx2"/>
              </a:solidFill>
            </a:endParaRPr>
          </a:p>
        </p:txBody>
      </p:sp>
      <p:sp>
        <p:nvSpPr>
          <p:cNvPr id="22118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sp>
        <p:nvSpPr>
          <p:cNvPr id="8" name="Rectangle 7"/>
          <p:cNvSpPr/>
          <p:nvPr/>
        </p:nvSpPr>
        <p:spPr>
          <a:xfrm>
            <a:off x="4452938" y="125413"/>
            <a:ext cx="1600200" cy="12350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9" name="Straight Arrow Connector 8"/>
          <p:cNvCxnSpPr/>
          <p:nvPr/>
        </p:nvCxnSpPr>
        <p:spPr>
          <a:xfrm>
            <a:off x="6053138" y="354013"/>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6062663" y="628650"/>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1192" name="TextBox 17"/>
          <p:cNvSpPr txBox="1">
            <a:spLocks noChangeArrowheads="1"/>
          </p:cNvSpPr>
          <p:nvPr/>
        </p:nvSpPr>
        <p:spPr bwMode="auto">
          <a:xfrm>
            <a:off x="6711950" y="76200"/>
            <a:ext cx="376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0</a:t>
            </a:r>
          </a:p>
        </p:txBody>
      </p:sp>
      <p:sp>
        <p:nvSpPr>
          <p:cNvPr id="221193" name="TextBox 18"/>
          <p:cNvSpPr txBox="1">
            <a:spLocks noChangeArrowheads="1"/>
          </p:cNvSpPr>
          <p:nvPr/>
        </p:nvSpPr>
        <p:spPr bwMode="auto">
          <a:xfrm>
            <a:off x="6711950" y="369888"/>
            <a:ext cx="3762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a:t>
            </a:r>
          </a:p>
        </p:txBody>
      </p:sp>
      <p:cxnSp>
        <p:nvCxnSpPr>
          <p:cNvPr id="22" name="Straight Arrow Connector 21"/>
          <p:cNvCxnSpPr/>
          <p:nvPr/>
        </p:nvCxnSpPr>
        <p:spPr>
          <a:xfrm>
            <a:off x="6053138" y="841375"/>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6062663" y="1066800"/>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1196" name="TextBox 23"/>
          <p:cNvSpPr txBox="1">
            <a:spLocks noChangeArrowheads="1"/>
          </p:cNvSpPr>
          <p:nvPr/>
        </p:nvSpPr>
        <p:spPr bwMode="auto">
          <a:xfrm>
            <a:off x="6705600" y="598488"/>
            <a:ext cx="374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2</a:t>
            </a:r>
          </a:p>
        </p:txBody>
      </p:sp>
      <p:sp>
        <p:nvSpPr>
          <p:cNvPr id="221197" name="TextBox 24"/>
          <p:cNvSpPr txBox="1">
            <a:spLocks noChangeArrowheads="1"/>
          </p:cNvSpPr>
          <p:nvPr/>
        </p:nvSpPr>
        <p:spPr bwMode="auto">
          <a:xfrm>
            <a:off x="6705600" y="8382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3</a:t>
            </a:r>
          </a:p>
        </p:txBody>
      </p:sp>
      <p:sp>
        <p:nvSpPr>
          <p:cNvPr id="221198" name="TextBox 26"/>
          <p:cNvSpPr txBox="1">
            <a:spLocks noChangeArrowheads="1"/>
          </p:cNvSpPr>
          <p:nvPr/>
        </p:nvSpPr>
        <p:spPr bwMode="auto">
          <a:xfrm>
            <a:off x="5449888" y="4648200"/>
            <a:ext cx="368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0</a:t>
            </a:r>
          </a:p>
        </p:txBody>
      </p:sp>
      <p:sp>
        <p:nvSpPr>
          <p:cNvPr id="221199" name="TextBox 27"/>
          <p:cNvSpPr txBox="1">
            <a:spLocks noChangeArrowheads="1"/>
          </p:cNvSpPr>
          <p:nvPr/>
        </p:nvSpPr>
        <p:spPr bwMode="auto">
          <a:xfrm>
            <a:off x="4648200" y="4648200"/>
            <a:ext cx="368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1</a:t>
            </a:r>
          </a:p>
        </p:txBody>
      </p:sp>
      <p:cxnSp>
        <p:nvCxnSpPr>
          <p:cNvPr id="30" name="Straight Connector 29"/>
          <p:cNvCxnSpPr/>
          <p:nvPr/>
        </p:nvCxnSpPr>
        <p:spPr>
          <a:xfrm>
            <a:off x="4860925" y="5029200"/>
            <a:ext cx="0" cy="59531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5638800" y="1371600"/>
            <a:ext cx="0" cy="6064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Rectangle 57"/>
          <p:cNvSpPr/>
          <p:nvPr/>
        </p:nvSpPr>
        <p:spPr>
          <a:xfrm>
            <a:off x="4452938" y="1954213"/>
            <a:ext cx="1600200" cy="12350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8" name="Rectangle 67"/>
          <p:cNvSpPr/>
          <p:nvPr/>
        </p:nvSpPr>
        <p:spPr>
          <a:xfrm>
            <a:off x="4452938" y="3783013"/>
            <a:ext cx="1600200" cy="12350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8" name="Rectangle 77"/>
          <p:cNvSpPr/>
          <p:nvPr/>
        </p:nvSpPr>
        <p:spPr>
          <a:xfrm>
            <a:off x="4452938" y="5624513"/>
            <a:ext cx="1600200" cy="123348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89" name="Straight Connector 88"/>
          <p:cNvCxnSpPr/>
          <p:nvPr/>
        </p:nvCxnSpPr>
        <p:spPr>
          <a:xfrm>
            <a:off x="4800600" y="1371600"/>
            <a:ext cx="0" cy="6064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5638800" y="5029200"/>
            <a:ext cx="0" cy="59531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21207" name="TextBox 93"/>
          <p:cNvSpPr txBox="1">
            <a:spLocks noChangeArrowheads="1"/>
          </p:cNvSpPr>
          <p:nvPr/>
        </p:nvSpPr>
        <p:spPr bwMode="auto">
          <a:xfrm>
            <a:off x="5499100" y="5573713"/>
            <a:ext cx="368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0</a:t>
            </a:r>
          </a:p>
        </p:txBody>
      </p:sp>
      <p:sp>
        <p:nvSpPr>
          <p:cNvPr id="221208" name="TextBox 94"/>
          <p:cNvSpPr txBox="1">
            <a:spLocks noChangeArrowheads="1"/>
          </p:cNvSpPr>
          <p:nvPr/>
        </p:nvSpPr>
        <p:spPr bwMode="auto">
          <a:xfrm>
            <a:off x="4697413" y="5573713"/>
            <a:ext cx="368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1</a:t>
            </a:r>
          </a:p>
        </p:txBody>
      </p:sp>
      <p:sp>
        <p:nvSpPr>
          <p:cNvPr id="221209" name="TextBox 95"/>
          <p:cNvSpPr txBox="1">
            <a:spLocks noChangeArrowheads="1"/>
          </p:cNvSpPr>
          <p:nvPr/>
        </p:nvSpPr>
        <p:spPr bwMode="auto">
          <a:xfrm>
            <a:off x="5449888" y="1905000"/>
            <a:ext cx="368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0</a:t>
            </a:r>
          </a:p>
        </p:txBody>
      </p:sp>
      <p:sp>
        <p:nvSpPr>
          <p:cNvPr id="221210" name="TextBox 96"/>
          <p:cNvSpPr txBox="1">
            <a:spLocks noChangeArrowheads="1"/>
          </p:cNvSpPr>
          <p:nvPr/>
        </p:nvSpPr>
        <p:spPr bwMode="auto">
          <a:xfrm>
            <a:off x="4648200" y="1905000"/>
            <a:ext cx="368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1</a:t>
            </a:r>
          </a:p>
        </p:txBody>
      </p:sp>
      <p:sp>
        <p:nvSpPr>
          <p:cNvPr id="221211" name="TextBox 97"/>
          <p:cNvSpPr txBox="1">
            <a:spLocks noChangeArrowheads="1"/>
          </p:cNvSpPr>
          <p:nvPr/>
        </p:nvSpPr>
        <p:spPr bwMode="auto">
          <a:xfrm>
            <a:off x="5449888" y="990600"/>
            <a:ext cx="368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0</a:t>
            </a:r>
          </a:p>
        </p:txBody>
      </p:sp>
      <p:sp>
        <p:nvSpPr>
          <p:cNvPr id="221212" name="TextBox 98"/>
          <p:cNvSpPr txBox="1">
            <a:spLocks noChangeArrowheads="1"/>
          </p:cNvSpPr>
          <p:nvPr/>
        </p:nvSpPr>
        <p:spPr bwMode="auto">
          <a:xfrm>
            <a:off x="4648200" y="990600"/>
            <a:ext cx="368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1</a:t>
            </a:r>
          </a:p>
        </p:txBody>
      </p:sp>
      <p:cxnSp>
        <p:nvCxnSpPr>
          <p:cNvPr id="100" name="Straight Connector 99"/>
          <p:cNvCxnSpPr/>
          <p:nvPr/>
        </p:nvCxnSpPr>
        <p:spPr>
          <a:xfrm flipH="1">
            <a:off x="5638800" y="1752600"/>
            <a:ext cx="245745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flipH="1" flipV="1">
            <a:off x="4800600" y="1524000"/>
            <a:ext cx="2914650" cy="1111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a:off x="7715250" y="1524000"/>
            <a:ext cx="0" cy="46672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5638800" y="5410200"/>
            <a:ext cx="245745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flipH="1">
            <a:off x="4876800" y="5181600"/>
            <a:ext cx="283845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a:off x="8096250" y="1752600"/>
            <a:ext cx="0" cy="44386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3" name="Rectangle 112"/>
          <p:cNvSpPr/>
          <p:nvPr/>
        </p:nvSpPr>
        <p:spPr>
          <a:xfrm>
            <a:off x="1430338" y="2655888"/>
            <a:ext cx="1600200" cy="123348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114" name="Straight Arrow Connector 113"/>
          <p:cNvCxnSpPr/>
          <p:nvPr/>
        </p:nvCxnSpPr>
        <p:spPr>
          <a:xfrm>
            <a:off x="3048000" y="2884488"/>
            <a:ext cx="611188"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p:nvPr/>
        </p:nvCxnSpPr>
        <p:spPr>
          <a:xfrm>
            <a:off x="3048000" y="3138488"/>
            <a:ext cx="9144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1222" name="TextBox 115"/>
          <p:cNvSpPr txBox="1">
            <a:spLocks noChangeArrowheads="1"/>
          </p:cNvSpPr>
          <p:nvPr/>
        </p:nvSpPr>
        <p:spPr bwMode="auto">
          <a:xfrm>
            <a:off x="1633538" y="2859088"/>
            <a:ext cx="9572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1:4</a:t>
            </a:r>
          </a:p>
          <a:p>
            <a:pPr algn="ctr" eaLnBrk="1" hangingPunct="1"/>
            <a:r>
              <a:rPr lang="en-US" altLang="en-US" b="1"/>
              <a:t>De-mux</a:t>
            </a:r>
          </a:p>
        </p:txBody>
      </p:sp>
      <p:cxnSp>
        <p:nvCxnSpPr>
          <p:cNvPr id="118" name="Straight Arrow Connector 117"/>
          <p:cNvCxnSpPr/>
          <p:nvPr/>
        </p:nvCxnSpPr>
        <p:spPr>
          <a:xfrm>
            <a:off x="3048000" y="3367088"/>
            <a:ext cx="912813"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p:nvPr/>
        </p:nvCxnSpPr>
        <p:spPr>
          <a:xfrm>
            <a:off x="3048000" y="3595688"/>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a:off x="2616200" y="3900488"/>
            <a:ext cx="0" cy="6064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a:off x="1778000" y="3900488"/>
            <a:ext cx="0" cy="6064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21227" name="TextBox 123"/>
          <p:cNvSpPr txBox="1">
            <a:spLocks noChangeArrowheads="1"/>
          </p:cNvSpPr>
          <p:nvPr/>
        </p:nvSpPr>
        <p:spPr bwMode="auto">
          <a:xfrm>
            <a:off x="2427288" y="3519488"/>
            <a:ext cx="368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0</a:t>
            </a:r>
          </a:p>
        </p:txBody>
      </p:sp>
      <p:sp>
        <p:nvSpPr>
          <p:cNvPr id="221228" name="TextBox 124"/>
          <p:cNvSpPr txBox="1">
            <a:spLocks noChangeArrowheads="1"/>
          </p:cNvSpPr>
          <p:nvPr/>
        </p:nvSpPr>
        <p:spPr bwMode="auto">
          <a:xfrm>
            <a:off x="1625600" y="3519488"/>
            <a:ext cx="368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1</a:t>
            </a:r>
          </a:p>
        </p:txBody>
      </p:sp>
      <p:cxnSp>
        <p:nvCxnSpPr>
          <p:cNvPr id="128" name="Straight Connector 127"/>
          <p:cNvCxnSpPr/>
          <p:nvPr/>
        </p:nvCxnSpPr>
        <p:spPr>
          <a:xfrm>
            <a:off x="3640138" y="628650"/>
            <a:ext cx="0" cy="2286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3638550" y="3581400"/>
            <a:ext cx="0" cy="254476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3935413" y="2466975"/>
            <a:ext cx="1587" cy="7048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3960813" y="3367088"/>
            <a:ext cx="0" cy="103346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21233" name="TextBox 142"/>
          <p:cNvSpPr txBox="1">
            <a:spLocks noChangeArrowheads="1"/>
          </p:cNvSpPr>
          <p:nvPr/>
        </p:nvSpPr>
        <p:spPr bwMode="auto">
          <a:xfrm>
            <a:off x="2382838" y="4560888"/>
            <a:ext cx="3698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2</a:t>
            </a:r>
          </a:p>
        </p:txBody>
      </p:sp>
      <p:sp>
        <p:nvSpPr>
          <p:cNvPr id="221234" name="TextBox 143"/>
          <p:cNvSpPr txBox="1">
            <a:spLocks noChangeArrowheads="1"/>
          </p:cNvSpPr>
          <p:nvPr/>
        </p:nvSpPr>
        <p:spPr bwMode="auto">
          <a:xfrm>
            <a:off x="1582738" y="4560888"/>
            <a:ext cx="368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3</a:t>
            </a:r>
          </a:p>
        </p:txBody>
      </p:sp>
      <p:cxnSp>
        <p:nvCxnSpPr>
          <p:cNvPr id="145" name="Straight Arrow Connector 144"/>
          <p:cNvCxnSpPr/>
          <p:nvPr/>
        </p:nvCxnSpPr>
        <p:spPr>
          <a:xfrm>
            <a:off x="3640138" y="641350"/>
            <a:ext cx="855662"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1236" name="TextBox 145"/>
          <p:cNvSpPr txBox="1">
            <a:spLocks noChangeArrowheads="1"/>
          </p:cNvSpPr>
          <p:nvPr/>
        </p:nvSpPr>
        <p:spPr bwMode="auto">
          <a:xfrm>
            <a:off x="77788" y="2667000"/>
            <a:ext cx="6842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Data </a:t>
            </a:r>
          </a:p>
          <a:p>
            <a:pPr eaLnBrk="1" hangingPunct="1"/>
            <a:r>
              <a:rPr lang="en-US" altLang="en-US"/>
              <a:t>Input</a:t>
            </a:r>
          </a:p>
        </p:txBody>
      </p:sp>
      <p:sp>
        <p:nvSpPr>
          <p:cNvPr id="221237" name="TextBox 147"/>
          <p:cNvSpPr txBox="1">
            <a:spLocks noChangeArrowheads="1"/>
          </p:cNvSpPr>
          <p:nvPr/>
        </p:nvSpPr>
        <p:spPr bwMode="auto">
          <a:xfrm>
            <a:off x="2667000" y="26019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0</a:t>
            </a:r>
          </a:p>
        </p:txBody>
      </p:sp>
      <p:cxnSp>
        <p:nvCxnSpPr>
          <p:cNvPr id="107" name="Straight Arrow Connector 106"/>
          <p:cNvCxnSpPr/>
          <p:nvPr/>
        </p:nvCxnSpPr>
        <p:spPr>
          <a:xfrm>
            <a:off x="6038850" y="2259013"/>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p:nvPr/>
        </p:nvCxnSpPr>
        <p:spPr>
          <a:xfrm>
            <a:off x="6037263" y="2533650"/>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0" name="Straight Arrow Connector 109"/>
          <p:cNvCxnSpPr/>
          <p:nvPr/>
        </p:nvCxnSpPr>
        <p:spPr>
          <a:xfrm>
            <a:off x="6038850" y="2767013"/>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7" name="Straight Arrow Connector 116"/>
          <p:cNvCxnSpPr/>
          <p:nvPr/>
        </p:nvCxnSpPr>
        <p:spPr>
          <a:xfrm>
            <a:off x="6037263" y="2971800"/>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0" name="Straight Arrow Connector 119"/>
          <p:cNvCxnSpPr/>
          <p:nvPr/>
        </p:nvCxnSpPr>
        <p:spPr>
          <a:xfrm>
            <a:off x="6053138" y="4073525"/>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p:nvPr/>
        </p:nvCxnSpPr>
        <p:spPr>
          <a:xfrm>
            <a:off x="6051550" y="4286250"/>
            <a:ext cx="611188"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7" name="Straight Arrow Connector 126"/>
          <p:cNvCxnSpPr/>
          <p:nvPr/>
        </p:nvCxnSpPr>
        <p:spPr>
          <a:xfrm>
            <a:off x="6021388" y="4498975"/>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9" name="Straight Arrow Connector 128"/>
          <p:cNvCxnSpPr/>
          <p:nvPr/>
        </p:nvCxnSpPr>
        <p:spPr>
          <a:xfrm>
            <a:off x="6021388" y="4724400"/>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p:nvPr/>
        </p:nvCxnSpPr>
        <p:spPr>
          <a:xfrm>
            <a:off x="6037263" y="5916613"/>
            <a:ext cx="611187"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1" name="Straight Arrow Connector 130"/>
          <p:cNvCxnSpPr/>
          <p:nvPr/>
        </p:nvCxnSpPr>
        <p:spPr>
          <a:xfrm>
            <a:off x="6051550" y="6191250"/>
            <a:ext cx="611188"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p:nvPr/>
        </p:nvCxnSpPr>
        <p:spPr>
          <a:xfrm>
            <a:off x="6037263" y="6403975"/>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5" name="Straight Arrow Connector 134"/>
          <p:cNvCxnSpPr/>
          <p:nvPr/>
        </p:nvCxnSpPr>
        <p:spPr>
          <a:xfrm>
            <a:off x="6053138" y="6629400"/>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1250" name="TextBox 136"/>
          <p:cNvSpPr txBox="1">
            <a:spLocks noChangeArrowheads="1"/>
          </p:cNvSpPr>
          <p:nvPr/>
        </p:nvSpPr>
        <p:spPr bwMode="auto">
          <a:xfrm>
            <a:off x="7556500" y="6183313"/>
            <a:ext cx="368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1</a:t>
            </a:r>
          </a:p>
        </p:txBody>
      </p:sp>
      <p:sp>
        <p:nvSpPr>
          <p:cNvPr id="221251" name="TextBox 138"/>
          <p:cNvSpPr txBox="1">
            <a:spLocks noChangeArrowheads="1"/>
          </p:cNvSpPr>
          <p:nvPr/>
        </p:nvSpPr>
        <p:spPr bwMode="auto">
          <a:xfrm>
            <a:off x="7937500" y="6172200"/>
            <a:ext cx="368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0</a:t>
            </a:r>
          </a:p>
        </p:txBody>
      </p:sp>
      <p:cxnSp>
        <p:nvCxnSpPr>
          <p:cNvPr id="142" name="Straight Arrow Connector 141"/>
          <p:cNvCxnSpPr/>
          <p:nvPr/>
        </p:nvCxnSpPr>
        <p:spPr>
          <a:xfrm>
            <a:off x="3640138" y="6096000"/>
            <a:ext cx="855662"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p:cNvCxnSpPr/>
          <p:nvPr/>
        </p:nvCxnSpPr>
        <p:spPr>
          <a:xfrm>
            <a:off x="3937000" y="4419600"/>
            <a:ext cx="555625"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7" name="Straight Arrow Connector 156"/>
          <p:cNvCxnSpPr/>
          <p:nvPr/>
        </p:nvCxnSpPr>
        <p:spPr>
          <a:xfrm>
            <a:off x="3962400" y="2466975"/>
            <a:ext cx="555625"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1255" name="TextBox 157"/>
          <p:cNvSpPr txBox="1">
            <a:spLocks noChangeArrowheads="1"/>
          </p:cNvSpPr>
          <p:nvPr/>
        </p:nvSpPr>
        <p:spPr bwMode="auto">
          <a:xfrm>
            <a:off x="2667000" y="29067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a:t>
            </a:r>
          </a:p>
        </p:txBody>
      </p:sp>
      <p:sp>
        <p:nvSpPr>
          <p:cNvPr id="221256" name="TextBox 158"/>
          <p:cNvSpPr txBox="1">
            <a:spLocks noChangeArrowheads="1"/>
          </p:cNvSpPr>
          <p:nvPr/>
        </p:nvSpPr>
        <p:spPr bwMode="auto">
          <a:xfrm>
            <a:off x="2667000" y="31353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2</a:t>
            </a:r>
          </a:p>
        </p:txBody>
      </p:sp>
      <p:sp>
        <p:nvSpPr>
          <p:cNvPr id="221257" name="TextBox 159"/>
          <p:cNvSpPr txBox="1">
            <a:spLocks noChangeArrowheads="1"/>
          </p:cNvSpPr>
          <p:nvPr/>
        </p:nvSpPr>
        <p:spPr bwMode="auto">
          <a:xfrm>
            <a:off x="2667000" y="33639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3</a:t>
            </a:r>
          </a:p>
        </p:txBody>
      </p:sp>
      <p:cxnSp>
        <p:nvCxnSpPr>
          <p:cNvPr id="88" name="Straight Arrow Connector 87"/>
          <p:cNvCxnSpPr/>
          <p:nvPr/>
        </p:nvCxnSpPr>
        <p:spPr>
          <a:xfrm>
            <a:off x="990600" y="3290888"/>
            <a:ext cx="4572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1259" name="TextBox 91"/>
          <p:cNvSpPr txBox="1">
            <a:spLocks noChangeArrowheads="1"/>
          </p:cNvSpPr>
          <p:nvPr/>
        </p:nvSpPr>
        <p:spPr bwMode="auto">
          <a:xfrm>
            <a:off x="776288" y="2819400"/>
            <a:ext cx="4429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in</a:t>
            </a:r>
          </a:p>
        </p:txBody>
      </p:sp>
      <p:sp>
        <p:nvSpPr>
          <p:cNvPr id="221260" name="TextBox 92"/>
          <p:cNvSpPr txBox="1">
            <a:spLocks noChangeArrowheads="1"/>
          </p:cNvSpPr>
          <p:nvPr/>
        </p:nvSpPr>
        <p:spPr bwMode="auto">
          <a:xfrm>
            <a:off x="6788150" y="19812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4</a:t>
            </a:r>
          </a:p>
        </p:txBody>
      </p:sp>
      <p:sp>
        <p:nvSpPr>
          <p:cNvPr id="221261" name="TextBox 102"/>
          <p:cNvSpPr txBox="1">
            <a:spLocks noChangeArrowheads="1"/>
          </p:cNvSpPr>
          <p:nvPr/>
        </p:nvSpPr>
        <p:spPr bwMode="auto">
          <a:xfrm>
            <a:off x="6788150" y="2274888"/>
            <a:ext cx="374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5</a:t>
            </a:r>
          </a:p>
        </p:txBody>
      </p:sp>
      <p:sp>
        <p:nvSpPr>
          <p:cNvPr id="221262" name="TextBox 103"/>
          <p:cNvSpPr txBox="1">
            <a:spLocks noChangeArrowheads="1"/>
          </p:cNvSpPr>
          <p:nvPr/>
        </p:nvSpPr>
        <p:spPr bwMode="auto">
          <a:xfrm>
            <a:off x="6780213" y="2503488"/>
            <a:ext cx="3762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6</a:t>
            </a:r>
          </a:p>
        </p:txBody>
      </p:sp>
      <p:sp>
        <p:nvSpPr>
          <p:cNvPr id="221263" name="TextBox 125"/>
          <p:cNvSpPr txBox="1">
            <a:spLocks noChangeArrowheads="1"/>
          </p:cNvSpPr>
          <p:nvPr/>
        </p:nvSpPr>
        <p:spPr bwMode="auto">
          <a:xfrm>
            <a:off x="6780213" y="2743200"/>
            <a:ext cx="3762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7</a:t>
            </a:r>
          </a:p>
        </p:txBody>
      </p:sp>
      <p:sp>
        <p:nvSpPr>
          <p:cNvPr id="221264" name="TextBox 132"/>
          <p:cNvSpPr txBox="1">
            <a:spLocks noChangeArrowheads="1"/>
          </p:cNvSpPr>
          <p:nvPr/>
        </p:nvSpPr>
        <p:spPr bwMode="auto">
          <a:xfrm>
            <a:off x="6788150" y="3821113"/>
            <a:ext cx="3762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8</a:t>
            </a:r>
          </a:p>
        </p:txBody>
      </p:sp>
      <p:sp>
        <p:nvSpPr>
          <p:cNvPr id="221265" name="TextBox 137"/>
          <p:cNvSpPr txBox="1">
            <a:spLocks noChangeArrowheads="1"/>
          </p:cNvSpPr>
          <p:nvPr/>
        </p:nvSpPr>
        <p:spPr bwMode="auto">
          <a:xfrm>
            <a:off x="6788150" y="4114800"/>
            <a:ext cx="376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9</a:t>
            </a:r>
          </a:p>
        </p:txBody>
      </p:sp>
      <p:sp>
        <p:nvSpPr>
          <p:cNvPr id="221266" name="TextBox 139"/>
          <p:cNvSpPr txBox="1">
            <a:spLocks noChangeArrowheads="1"/>
          </p:cNvSpPr>
          <p:nvPr/>
        </p:nvSpPr>
        <p:spPr bwMode="auto">
          <a:xfrm>
            <a:off x="6781800" y="4343400"/>
            <a:ext cx="454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10</a:t>
            </a:r>
          </a:p>
        </p:txBody>
      </p:sp>
      <p:sp>
        <p:nvSpPr>
          <p:cNvPr id="221267" name="TextBox 149"/>
          <p:cNvSpPr txBox="1">
            <a:spLocks noChangeArrowheads="1"/>
          </p:cNvSpPr>
          <p:nvPr/>
        </p:nvSpPr>
        <p:spPr bwMode="auto">
          <a:xfrm>
            <a:off x="6781800" y="4583113"/>
            <a:ext cx="4540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11</a:t>
            </a:r>
          </a:p>
        </p:txBody>
      </p:sp>
      <p:sp>
        <p:nvSpPr>
          <p:cNvPr id="221268" name="TextBox 160"/>
          <p:cNvSpPr txBox="1">
            <a:spLocks noChangeArrowheads="1"/>
          </p:cNvSpPr>
          <p:nvPr/>
        </p:nvSpPr>
        <p:spPr bwMode="auto">
          <a:xfrm>
            <a:off x="6788150" y="5573713"/>
            <a:ext cx="4540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12</a:t>
            </a:r>
          </a:p>
        </p:txBody>
      </p:sp>
      <p:sp>
        <p:nvSpPr>
          <p:cNvPr id="221269" name="TextBox 161"/>
          <p:cNvSpPr txBox="1">
            <a:spLocks noChangeArrowheads="1"/>
          </p:cNvSpPr>
          <p:nvPr/>
        </p:nvSpPr>
        <p:spPr bwMode="auto">
          <a:xfrm>
            <a:off x="6788150" y="5867400"/>
            <a:ext cx="454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13</a:t>
            </a:r>
          </a:p>
        </p:txBody>
      </p:sp>
      <p:sp>
        <p:nvSpPr>
          <p:cNvPr id="221270" name="TextBox 162"/>
          <p:cNvSpPr txBox="1">
            <a:spLocks noChangeArrowheads="1"/>
          </p:cNvSpPr>
          <p:nvPr/>
        </p:nvSpPr>
        <p:spPr bwMode="auto">
          <a:xfrm>
            <a:off x="6781800" y="6096000"/>
            <a:ext cx="454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14</a:t>
            </a:r>
          </a:p>
        </p:txBody>
      </p:sp>
      <p:sp>
        <p:nvSpPr>
          <p:cNvPr id="221271" name="TextBox 163"/>
          <p:cNvSpPr txBox="1">
            <a:spLocks noChangeArrowheads="1"/>
          </p:cNvSpPr>
          <p:nvPr/>
        </p:nvSpPr>
        <p:spPr bwMode="auto">
          <a:xfrm>
            <a:off x="6781800" y="6335713"/>
            <a:ext cx="4540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15</a:t>
            </a:r>
          </a:p>
        </p:txBody>
      </p:sp>
      <p:sp>
        <p:nvSpPr>
          <p:cNvPr id="221272" name="TextBox 164"/>
          <p:cNvSpPr txBox="1">
            <a:spLocks noChangeArrowheads="1"/>
          </p:cNvSpPr>
          <p:nvPr/>
        </p:nvSpPr>
        <p:spPr bwMode="auto">
          <a:xfrm>
            <a:off x="4433888" y="533400"/>
            <a:ext cx="4429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in</a:t>
            </a:r>
          </a:p>
        </p:txBody>
      </p:sp>
      <p:sp>
        <p:nvSpPr>
          <p:cNvPr id="221273" name="TextBox 165"/>
          <p:cNvSpPr txBox="1">
            <a:spLocks noChangeArrowheads="1"/>
          </p:cNvSpPr>
          <p:nvPr/>
        </p:nvSpPr>
        <p:spPr bwMode="auto">
          <a:xfrm>
            <a:off x="4419600" y="2449513"/>
            <a:ext cx="442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in</a:t>
            </a:r>
          </a:p>
        </p:txBody>
      </p:sp>
      <p:sp>
        <p:nvSpPr>
          <p:cNvPr id="221274" name="TextBox 166"/>
          <p:cNvSpPr txBox="1">
            <a:spLocks noChangeArrowheads="1"/>
          </p:cNvSpPr>
          <p:nvPr/>
        </p:nvSpPr>
        <p:spPr bwMode="auto">
          <a:xfrm>
            <a:off x="4419600" y="4191000"/>
            <a:ext cx="442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in</a:t>
            </a:r>
          </a:p>
        </p:txBody>
      </p:sp>
      <p:sp>
        <p:nvSpPr>
          <p:cNvPr id="221275" name="TextBox 167"/>
          <p:cNvSpPr txBox="1">
            <a:spLocks noChangeArrowheads="1"/>
          </p:cNvSpPr>
          <p:nvPr/>
        </p:nvSpPr>
        <p:spPr bwMode="auto">
          <a:xfrm>
            <a:off x="4419600" y="5943600"/>
            <a:ext cx="442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in</a:t>
            </a:r>
          </a:p>
        </p:txBody>
      </p:sp>
      <p:sp>
        <p:nvSpPr>
          <p:cNvPr id="221276" name="TextBox 168"/>
          <p:cNvSpPr txBox="1">
            <a:spLocks noChangeArrowheads="1"/>
          </p:cNvSpPr>
          <p:nvPr/>
        </p:nvSpPr>
        <p:spPr bwMode="auto">
          <a:xfrm>
            <a:off x="4773613" y="344488"/>
            <a:ext cx="9572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1:4</a:t>
            </a:r>
          </a:p>
          <a:p>
            <a:pPr algn="ctr" eaLnBrk="1" hangingPunct="1"/>
            <a:r>
              <a:rPr lang="en-US" altLang="en-US" b="1"/>
              <a:t>De-mux</a:t>
            </a:r>
          </a:p>
        </p:txBody>
      </p:sp>
      <p:sp>
        <p:nvSpPr>
          <p:cNvPr id="221277" name="TextBox 169"/>
          <p:cNvSpPr txBox="1">
            <a:spLocks noChangeArrowheads="1"/>
          </p:cNvSpPr>
          <p:nvPr/>
        </p:nvSpPr>
        <p:spPr bwMode="auto">
          <a:xfrm>
            <a:off x="4776788" y="2311400"/>
            <a:ext cx="9572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1:4</a:t>
            </a:r>
          </a:p>
          <a:p>
            <a:pPr algn="ctr" eaLnBrk="1" hangingPunct="1"/>
            <a:r>
              <a:rPr lang="en-US" altLang="en-US" b="1"/>
              <a:t>De-mux</a:t>
            </a:r>
          </a:p>
        </p:txBody>
      </p:sp>
      <p:sp>
        <p:nvSpPr>
          <p:cNvPr id="221278" name="TextBox 170"/>
          <p:cNvSpPr txBox="1">
            <a:spLocks noChangeArrowheads="1"/>
          </p:cNvSpPr>
          <p:nvPr/>
        </p:nvSpPr>
        <p:spPr bwMode="auto">
          <a:xfrm>
            <a:off x="4757738" y="4002088"/>
            <a:ext cx="9572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1:4</a:t>
            </a:r>
          </a:p>
          <a:p>
            <a:pPr algn="ctr" eaLnBrk="1" hangingPunct="1"/>
            <a:r>
              <a:rPr lang="en-US" altLang="en-US" b="1"/>
              <a:t>De-mux</a:t>
            </a:r>
          </a:p>
        </p:txBody>
      </p:sp>
      <p:sp>
        <p:nvSpPr>
          <p:cNvPr id="221279" name="TextBox 171"/>
          <p:cNvSpPr txBox="1">
            <a:spLocks noChangeArrowheads="1"/>
          </p:cNvSpPr>
          <p:nvPr/>
        </p:nvSpPr>
        <p:spPr bwMode="auto">
          <a:xfrm>
            <a:off x="4724400" y="5907088"/>
            <a:ext cx="9572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1:4</a:t>
            </a:r>
          </a:p>
          <a:p>
            <a:pPr algn="ctr" eaLnBrk="1" hangingPunct="1"/>
            <a:r>
              <a:rPr lang="en-US" altLang="en-US" b="1"/>
              <a:t>De-mux</a:t>
            </a:r>
          </a:p>
        </p:txBody>
      </p:sp>
    </p:spTree>
    <p:extLst>
      <p:ext uri="{BB962C8B-B14F-4D97-AF65-F5344CB8AC3E}">
        <p14:creationId xmlns:p14="http://schemas.microsoft.com/office/powerpoint/2010/main" val="298435571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81"/>
          <p:cNvSpPr txBox="1"/>
          <p:nvPr/>
        </p:nvSpPr>
        <p:spPr>
          <a:xfrm>
            <a:off x="1295400" y="304800"/>
            <a:ext cx="6172200" cy="584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FF0000"/>
                </a:solidFill>
                <a:latin typeface="Times New Roman"/>
                <a:ea typeface="Times New Roman"/>
                <a:cs typeface="Times New Roman"/>
                <a:sym typeface="Times New Roman"/>
              </a:rPr>
              <a:t>Applications of Multiplexer</a:t>
            </a:r>
            <a:endParaRPr sz="3200" b="1">
              <a:solidFill>
                <a:srgbClr val="FF0000"/>
              </a:solidFill>
              <a:latin typeface="Times New Roman"/>
              <a:ea typeface="Times New Roman"/>
              <a:cs typeface="Times New Roman"/>
              <a:sym typeface="Times New Roman"/>
            </a:endParaRPr>
          </a:p>
        </p:txBody>
      </p:sp>
      <p:sp>
        <p:nvSpPr>
          <p:cNvPr id="615" name="Google Shape;615;p81"/>
          <p:cNvSpPr/>
          <p:nvPr/>
        </p:nvSpPr>
        <p:spPr>
          <a:xfrm>
            <a:off x="457200" y="1447800"/>
            <a:ext cx="8458200" cy="46783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3600">
                <a:solidFill>
                  <a:srgbClr val="FF0000"/>
                </a:solidFill>
                <a:latin typeface="Times New Roman"/>
                <a:ea typeface="Times New Roman"/>
                <a:cs typeface="Times New Roman"/>
                <a:sym typeface="Times New Roman"/>
              </a:rPr>
              <a:t>Communication system </a:t>
            </a:r>
            <a:r>
              <a:rPr lang="en-US" sz="2400">
                <a:solidFill>
                  <a:schemeClr val="dk1"/>
                </a:solidFill>
                <a:latin typeface="Times New Roman"/>
                <a:ea typeface="Times New Roman"/>
                <a:cs typeface="Times New Roman"/>
                <a:sym typeface="Times New Roman"/>
              </a:rPr>
              <a:t>– Communication system is a set of system that enable communication like transmission system, relay and tributary station, and communication network. The efficiency of communication system can be increased considerably using multiplexer. Multiplexer allow the process of transmitting different type of data such as audio, video at the same time using a single transmission line. </a:t>
            </a:r>
            <a:endParaRPr/>
          </a:p>
          <a:p>
            <a:pPr marL="0" marR="0" lvl="0" indent="0" algn="just" rtl="0">
              <a:spcBef>
                <a:spcPts val="0"/>
              </a:spcBef>
              <a:spcAft>
                <a:spcPts val="0"/>
              </a:spcAft>
              <a:buNone/>
            </a:pPr>
            <a:r>
              <a:rPr lang="en-US" sz="2800" b="1">
                <a:solidFill>
                  <a:srgbClr val="FF0000"/>
                </a:solidFill>
                <a:latin typeface="Times New Roman"/>
                <a:ea typeface="Times New Roman"/>
                <a:cs typeface="Times New Roman"/>
                <a:sym typeface="Times New Roman"/>
              </a:rPr>
              <a:t>Computer Memory </a:t>
            </a:r>
            <a:r>
              <a:rPr lang="en-US" sz="2400" b="1">
                <a:solidFill>
                  <a:schemeClr val="dk1"/>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A Multiplexer is used in computer memory to keep up a vast amount of memory in the computers, and also to decrease the number of copper lines necessary to connect the memory to other parts of the computer.</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82"/>
          <p:cNvSpPr txBox="1"/>
          <p:nvPr/>
        </p:nvSpPr>
        <p:spPr>
          <a:xfrm>
            <a:off x="1295400" y="152400"/>
            <a:ext cx="6172200" cy="584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FF0000"/>
                </a:solidFill>
                <a:latin typeface="Times New Roman"/>
                <a:ea typeface="Times New Roman"/>
                <a:cs typeface="Times New Roman"/>
                <a:sym typeface="Times New Roman"/>
              </a:rPr>
              <a:t>Applications of De-Multiplexer</a:t>
            </a:r>
            <a:endParaRPr sz="3200" b="1">
              <a:solidFill>
                <a:srgbClr val="FF0000"/>
              </a:solidFill>
              <a:latin typeface="Times New Roman"/>
              <a:ea typeface="Times New Roman"/>
              <a:cs typeface="Times New Roman"/>
              <a:sym typeface="Times New Roman"/>
            </a:endParaRPr>
          </a:p>
        </p:txBody>
      </p:sp>
      <p:sp>
        <p:nvSpPr>
          <p:cNvPr id="621" name="Google Shape;621;p82"/>
          <p:cNvSpPr/>
          <p:nvPr/>
        </p:nvSpPr>
        <p:spPr>
          <a:xfrm>
            <a:off x="381000" y="1295400"/>
            <a:ext cx="8534400" cy="34464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3200" b="1">
                <a:solidFill>
                  <a:srgbClr val="FF0000"/>
                </a:solidFill>
                <a:latin typeface="Times New Roman"/>
                <a:ea typeface="Times New Roman"/>
                <a:cs typeface="Times New Roman"/>
                <a:sym typeface="Times New Roman"/>
              </a:rPr>
              <a:t>Communication System </a:t>
            </a:r>
            <a:r>
              <a:rPr lang="en-US" sz="2400">
                <a:solidFill>
                  <a:schemeClr val="dk1"/>
                </a:solidFill>
                <a:latin typeface="Times New Roman"/>
                <a:ea typeface="Times New Roman"/>
                <a:cs typeface="Times New Roman"/>
                <a:sym typeface="Times New Roman"/>
              </a:rPr>
              <a:t>- Communication system use multiplexer to carry multiple data like audio, video and other form of data using a single line for transmission. This process make the transmission easier. The demultiplexer receive the output signals of the multiplexer and converts them back to the original form of the data at the receiving end. The multiplexer and demultiplexer work together to carry out the process of transmission and reception of data in communication system.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9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a:buSzPts val="4400"/>
            </a:pPr>
            <a:r>
              <a:rPr lang="en-IN" b="1" dirty="0"/>
              <a:t>74153 Multiplexer IC</a:t>
            </a:r>
            <a:br>
              <a:rPr lang="en-IN" b="1" dirty="0"/>
            </a:br>
            <a:endParaRPr dirty="0"/>
          </a:p>
        </p:txBody>
      </p:sp>
      <p:sp>
        <p:nvSpPr>
          <p:cNvPr id="687" name="Google Shape;687;p94"/>
          <p:cNvSpPr txBox="1">
            <a:spLocks noGrp="1"/>
          </p:cNvSpPr>
          <p:nvPr>
            <p:ph type="body" idx="1"/>
          </p:nvPr>
        </p:nvSpPr>
        <p:spPr>
          <a:xfrm>
            <a:off x="457200" y="859810"/>
            <a:ext cx="8229600" cy="5266354"/>
          </a:xfrm>
          <a:prstGeom prst="rect">
            <a:avLst/>
          </a:prstGeom>
          <a:noFill/>
          <a:ln>
            <a:noFill/>
          </a:ln>
        </p:spPr>
        <p:txBody>
          <a:bodyPr spcFirstLastPara="1" wrap="square" lIns="91425" tIns="45700" rIns="91425" bIns="45700" anchor="t" anchorCtr="0">
            <a:normAutofit lnSpcReduction="10000"/>
          </a:bodyPr>
          <a:lstStyle/>
          <a:p>
            <a:pPr fontAlgn="base"/>
            <a:r>
              <a:rPr lang="en-IN" b="1" dirty="0"/>
              <a:t>Specifications :</a:t>
            </a:r>
            <a:endParaRPr lang="en-IN" dirty="0"/>
          </a:p>
          <a:p>
            <a:pPr fontAlgn="base"/>
            <a:r>
              <a:rPr lang="en-IN" dirty="0"/>
              <a:t>TTL ICs i.e. Transistor </a:t>
            </a:r>
            <a:r>
              <a:rPr lang="en-IN" dirty="0" err="1"/>
              <a:t>Transistor</a:t>
            </a:r>
            <a:r>
              <a:rPr lang="en-IN" dirty="0"/>
              <a:t> Logic ICs.</a:t>
            </a:r>
          </a:p>
          <a:p>
            <a:pPr fontAlgn="base"/>
            <a:r>
              <a:rPr lang="en-IN" dirty="0"/>
              <a:t>Total pins = 16 pins.</a:t>
            </a:r>
          </a:p>
          <a:p>
            <a:pPr fontAlgn="base"/>
            <a:r>
              <a:rPr lang="en-IN" dirty="0"/>
              <a:t>Dual 4:1 line multiplexer circuit in single package.</a:t>
            </a:r>
          </a:p>
          <a:p>
            <a:pPr fontAlgn="base"/>
            <a:r>
              <a:rPr lang="en-IN" dirty="0"/>
              <a:t>Supply voltage = 5V DC ±0.25V.</a:t>
            </a:r>
          </a:p>
          <a:p>
            <a:pPr fontAlgn="base"/>
            <a:r>
              <a:rPr lang="en-IN" dirty="0"/>
              <a:t>Operating temperature range = 0°C to +70°C.</a:t>
            </a:r>
          </a:p>
          <a:p>
            <a:pPr fontAlgn="base"/>
            <a:r>
              <a:rPr lang="en-IN" dirty="0"/>
              <a:t>High fan-out = 10.</a:t>
            </a:r>
          </a:p>
          <a:p>
            <a:pPr fontAlgn="base"/>
            <a:r>
              <a:rPr lang="en-IN" dirty="0"/>
              <a:t>Low impedance &lt; 100</a:t>
            </a:r>
            <a:r>
              <a:rPr lang="el-GR" dirty="0"/>
              <a:t>Ω</a:t>
            </a:r>
          </a:p>
          <a:p>
            <a:pPr fontAlgn="base"/>
            <a:r>
              <a:rPr lang="en-IN" dirty="0"/>
              <a:t>Totem pole outputs.</a:t>
            </a:r>
          </a:p>
          <a:p>
            <a:pPr marL="342900" lvl="0" indent="-139700" algn="l" rtl="0">
              <a:spcBef>
                <a:spcPts val="0"/>
              </a:spcBef>
              <a:spcAft>
                <a:spcPts val="0"/>
              </a:spcAft>
              <a:buClr>
                <a:schemeClr val="dk1"/>
              </a:buClr>
              <a:buSzPts val="3200"/>
              <a:buNone/>
            </a:pPr>
            <a:endParaRPr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Title 1"/>
          <p:cNvSpPr>
            <a:spLocks noGrp="1"/>
          </p:cNvSpPr>
          <p:nvPr>
            <p:ph type="title"/>
          </p:nvPr>
        </p:nvSpPr>
        <p:spPr>
          <a:xfrm>
            <a:off x="381000" y="152400"/>
            <a:ext cx="8229600" cy="563563"/>
          </a:xfrm>
        </p:spPr>
        <p:txBody>
          <a:bodyPr>
            <a:normAutofit fontScale="90000"/>
          </a:bodyPr>
          <a:lstStyle/>
          <a:p>
            <a:pPr eaLnBrk="1" fontAlgn="auto" hangingPunct="1">
              <a:spcAft>
                <a:spcPts val="0"/>
              </a:spcAft>
              <a:defRPr/>
            </a:pPr>
            <a:r>
              <a:rPr lang="en-US" sz="3200" b="1" dirty="0" smtClean="0">
                <a:solidFill>
                  <a:schemeClr val="accent2">
                    <a:lumMod val="50000"/>
                  </a:schemeClr>
                </a:solidFill>
              </a:rPr>
              <a:t>Decoder</a:t>
            </a:r>
          </a:p>
        </p:txBody>
      </p:sp>
      <p:sp>
        <p:nvSpPr>
          <p:cNvPr id="222211"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06BD9443-43A7-4DC6-931B-9B683A9B589B}" type="datetime2">
              <a:rPr lang="en-US" altLang="en-US" smtClean="0">
                <a:solidFill>
                  <a:schemeClr val="tx2"/>
                </a:solidFill>
              </a:rPr>
              <a:pPr/>
              <a:t>Tuesday, March 10, 2026</a:t>
            </a:fld>
            <a:endParaRPr lang="en-US" altLang="en-US" smtClean="0">
              <a:solidFill>
                <a:schemeClr val="tx2"/>
              </a:solidFill>
            </a:endParaRPr>
          </a:p>
        </p:txBody>
      </p:sp>
      <p:sp>
        <p:nvSpPr>
          <p:cNvPr id="22221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sp>
        <p:nvSpPr>
          <p:cNvPr id="222213" name="Content Placeholder 2"/>
          <p:cNvSpPr>
            <a:spLocks noGrp="1"/>
          </p:cNvSpPr>
          <p:nvPr>
            <p:ph sz="quarter" idx="1"/>
          </p:nvPr>
        </p:nvSpPr>
        <p:spPr/>
        <p:txBody>
          <a:bodyPr/>
          <a:lstStyle/>
          <a:p>
            <a:pPr algn="just" eaLnBrk="1" hangingPunct="1">
              <a:buFont typeface="Wingdings" panose="05000000000000000000" pitchFamily="2" charset="2"/>
              <a:buChar char="ü"/>
            </a:pPr>
            <a:r>
              <a:rPr lang="en-US" altLang="en-US" smtClean="0"/>
              <a:t>Decoder is a combinational circuit.</a:t>
            </a:r>
          </a:p>
          <a:p>
            <a:pPr algn="just" eaLnBrk="1" hangingPunct="1">
              <a:buFont typeface="Wingdings" panose="05000000000000000000" pitchFamily="2" charset="2"/>
              <a:buChar char="ü"/>
            </a:pPr>
            <a:r>
              <a:rPr lang="en-US" altLang="en-US" smtClean="0"/>
              <a:t>It converts n bit binary information at its input into a maximum of 2</a:t>
            </a:r>
            <a:r>
              <a:rPr lang="en-US" altLang="en-US" baseline="-25000" smtClean="0"/>
              <a:t>n</a:t>
            </a:r>
            <a:r>
              <a:rPr lang="en-US" altLang="en-US" smtClean="0"/>
              <a:t> output lines.</a:t>
            </a:r>
          </a:p>
          <a:p>
            <a:pPr algn="just" eaLnBrk="1" hangingPunct="1">
              <a:buFont typeface="Wingdings" panose="05000000000000000000" pitchFamily="2" charset="2"/>
              <a:buChar char="ü"/>
            </a:pPr>
            <a:r>
              <a:rPr lang="en-US" altLang="en-US" smtClean="0"/>
              <a:t>For example, if n=2 then we can design upto 2:4 decoder</a:t>
            </a:r>
          </a:p>
        </p:txBody>
      </p:sp>
      <p:cxnSp>
        <p:nvCxnSpPr>
          <p:cNvPr id="7" name="Straight Connector 6"/>
          <p:cNvCxnSpPr/>
          <p:nvPr/>
        </p:nvCxnSpPr>
        <p:spPr>
          <a:xfrm>
            <a:off x="304800" y="10668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466662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Title 1"/>
          <p:cNvSpPr>
            <a:spLocks noGrp="1"/>
          </p:cNvSpPr>
          <p:nvPr>
            <p:ph type="title"/>
          </p:nvPr>
        </p:nvSpPr>
        <p:spPr>
          <a:xfrm>
            <a:off x="381000" y="152400"/>
            <a:ext cx="8229600" cy="563563"/>
          </a:xfrm>
        </p:spPr>
        <p:txBody>
          <a:bodyPr>
            <a:normAutofit fontScale="90000"/>
          </a:bodyPr>
          <a:lstStyle/>
          <a:p>
            <a:pPr eaLnBrk="1" fontAlgn="auto" hangingPunct="1">
              <a:spcAft>
                <a:spcPts val="0"/>
              </a:spcAft>
              <a:defRPr/>
            </a:pPr>
            <a:r>
              <a:rPr lang="en-US" sz="3200" b="1" dirty="0" smtClean="0">
                <a:solidFill>
                  <a:schemeClr val="accent2">
                    <a:lumMod val="50000"/>
                  </a:schemeClr>
                </a:solidFill>
              </a:rPr>
              <a:t>2:4 Decoder </a:t>
            </a:r>
          </a:p>
        </p:txBody>
      </p:sp>
      <p:sp>
        <p:nvSpPr>
          <p:cNvPr id="223235"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9528BAF1-25A8-48E5-9056-BBF34A2E9C27}" type="datetime2">
              <a:rPr lang="en-US" altLang="en-US" smtClean="0">
                <a:solidFill>
                  <a:schemeClr val="tx2"/>
                </a:solidFill>
              </a:rPr>
              <a:pPr/>
              <a:t>Tuesday, March 10, 2026</a:t>
            </a:fld>
            <a:endParaRPr lang="en-US" altLang="en-US" smtClean="0">
              <a:solidFill>
                <a:schemeClr val="tx2"/>
              </a:solidFill>
            </a:endParaRPr>
          </a:p>
        </p:txBody>
      </p:sp>
      <p:sp>
        <p:nvSpPr>
          <p:cNvPr id="22323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cxnSp>
        <p:nvCxnSpPr>
          <p:cNvPr id="7" name="Straight Connector 6"/>
          <p:cNvCxnSpPr/>
          <p:nvPr/>
        </p:nvCxnSpPr>
        <p:spPr>
          <a:xfrm>
            <a:off x="304800" y="10668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657350" y="1181100"/>
            <a:ext cx="1600200" cy="133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9" name="Straight Arrow Connector 8"/>
          <p:cNvCxnSpPr/>
          <p:nvPr/>
        </p:nvCxnSpPr>
        <p:spPr>
          <a:xfrm>
            <a:off x="3263900" y="22860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2374900" y="2514600"/>
            <a:ext cx="0" cy="5588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3241" name="TextBox 12"/>
          <p:cNvSpPr txBox="1">
            <a:spLocks noChangeArrowheads="1"/>
          </p:cNvSpPr>
          <p:nvPr/>
        </p:nvSpPr>
        <p:spPr bwMode="auto">
          <a:xfrm>
            <a:off x="1924050" y="1447800"/>
            <a:ext cx="10302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2:4</a:t>
            </a:r>
          </a:p>
          <a:p>
            <a:pPr algn="ctr" eaLnBrk="1" hangingPunct="1"/>
            <a:r>
              <a:rPr lang="en-US" altLang="en-US" b="1"/>
              <a:t>Decoder</a:t>
            </a:r>
          </a:p>
        </p:txBody>
      </p:sp>
      <p:sp>
        <p:nvSpPr>
          <p:cNvPr id="223242" name="TextBox 13"/>
          <p:cNvSpPr txBox="1">
            <a:spLocks noChangeArrowheads="1"/>
          </p:cNvSpPr>
          <p:nvPr/>
        </p:nvSpPr>
        <p:spPr bwMode="auto">
          <a:xfrm>
            <a:off x="1925638" y="2601913"/>
            <a:ext cx="2968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a:t>
            </a:r>
          </a:p>
        </p:txBody>
      </p:sp>
      <p:sp>
        <p:nvSpPr>
          <p:cNvPr id="223243" name="TextBox 14"/>
          <p:cNvSpPr txBox="1">
            <a:spLocks noChangeArrowheads="1"/>
          </p:cNvSpPr>
          <p:nvPr/>
        </p:nvSpPr>
        <p:spPr bwMode="auto">
          <a:xfrm>
            <a:off x="2393950" y="2630488"/>
            <a:ext cx="8191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Enable</a:t>
            </a:r>
          </a:p>
          <a:p>
            <a:pPr eaLnBrk="1" hangingPunct="1"/>
            <a:r>
              <a:rPr lang="en-US" altLang="en-US"/>
              <a:t> Input</a:t>
            </a:r>
          </a:p>
        </p:txBody>
      </p:sp>
      <p:sp>
        <p:nvSpPr>
          <p:cNvPr id="223244" name="TextBox 15"/>
          <p:cNvSpPr txBox="1">
            <a:spLocks noChangeArrowheads="1"/>
          </p:cNvSpPr>
          <p:nvPr/>
        </p:nvSpPr>
        <p:spPr bwMode="auto">
          <a:xfrm>
            <a:off x="3727450" y="11430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0</a:t>
            </a:r>
          </a:p>
        </p:txBody>
      </p:sp>
      <p:sp>
        <p:nvSpPr>
          <p:cNvPr id="223245" name="TextBox 16"/>
          <p:cNvSpPr txBox="1">
            <a:spLocks noChangeArrowheads="1"/>
          </p:cNvSpPr>
          <p:nvPr/>
        </p:nvSpPr>
        <p:spPr bwMode="auto">
          <a:xfrm>
            <a:off x="3752850" y="17526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2</a:t>
            </a:r>
          </a:p>
        </p:txBody>
      </p:sp>
      <p:sp>
        <p:nvSpPr>
          <p:cNvPr id="223246" name="TextBox 18"/>
          <p:cNvSpPr txBox="1">
            <a:spLocks noChangeArrowheads="1"/>
          </p:cNvSpPr>
          <p:nvPr/>
        </p:nvSpPr>
        <p:spPr bwMode="auto">
          <a:xfrm>
            <a:off x="-76200" y="1563688"/>
            <a:ext cx="774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Inputs</a:t>
            </a:r>
          </a:p>
        </p:txBody>
      </p:sp>
      <p:sp>
        <p:nvSpPr>
          <p:cNvPr id="223247" name="TextBox 19"/>
          <p:cNvSpPr txBox="1">
            <a:spLocks noChangeArrowheads="1"/>
          </p:cNvSpPr>
          <p:nvPr/>
        </p:nvSpPr>
        <p:spPr bwMode="auto">
          <a:xfrm>
            <a:off x="4127500" y="1585913"/>
            <a:ext cx="15557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b="1"/>
              <a:t>Block Diagram</a:t>
            </a:r>
          </a:p>
        </p:txBody>
      </p:sp>
      <p:cxnSp>
        <p:nvCxnSpPr>
          <p:cNvPr id="21" name="Straight Arrow Connector 20"/>
          <p:cNvCxnSpPr/>
          <p:nvPr/>
        </p:nvCxnSpPr>
        <p:spPr>
          <a:xfrm>
            <a:off x="3257550" y="13716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1079500" y="1524000"/>
            <a:ext cx="57785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3250" name="TextBox 22"/>
          <p:cNvSpPr txBox="1">
            <a:spLocks noChangeArrowheads="1"/>
          </p:cNvSpPr>
          <p:nvPr/>
        </p:nvSpPr>
        <p:spPr bwMode="auto">
          <a:xfrm>
            <a:off x="609600" y="1295400"/>
            <a:ext cx="317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A</a:t>
            </a:r>
            <a:endParaRPr lang="en-US" altLang="en-US" baseline="-25000"/>
          </a:p>
        </p:txBody>
      </p:sp>
      <p:sp>
        <p:nvSpPr>
          <p:cNvPr id="223251" name="TextBox 24"/>
          <p:cNvSpPr txBox="1">
            <a:spLocks noChangeArrowheads="1"/>
          </p:cNvSpPr>
          <p:nvPr/>
        </p:nvSpPr>
        <p:spPr bwMode="auto">
          <a:xfrm>
            <a:off x="2057400" y="5715000"/>
            <a:ext cx="1254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b="1"/>
              <a:t>Truth Table</a:t>
            </a:r>
          </a:p>
        </p:txBody>
      </p:sp>
      <p:cxnSp>
        <p:nvCxnSpPr>
          <p:cNvPr id="27" name="Straight Arrow Connector 26"/>
          <p:cNvCxnSpPr/>
          <p:nvPr/>
        </p:nvCxnSpPr>
        <p:spPr>
          <a:xfrm>
            <a:off x="1079500" y="2057400"/>
            <a:ext cx="57785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3253" name="TextBox 27"/>
          <p:cNvSpPr txBox="1">
            <a:spLocks noChangeArrowheads="1"/>
          </p:cNvSpPr>
          <p:nvPr/>
        </p:nvSpPr>
        <p:spPr bwMode="auto">
          <a:xfrm>
            <a:off x="622300" y="1839913"/>
            <a:ext cx="317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B</a:t>
            </a:r>
            <a:endParaRPr lang="en-US" altLang="en-US" baseline="-25000"/>
          </a:p>
        </p:txBody>
      </p:sp>
      <p:cxnSp>
        <p:nvCxnSpPr>
          <p:cNvPr id="29" name="Straight Arrow Connector 28"/>
          <p:cNvCxnSpPr/>
          <p:nvPr/>
        </p:nvCxnSpPr>
        <p:spPr>
          <a:xfrm>
            <a:off x="3251200" y="19812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3251200" y="16764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3256" name="TextBox 30"/>
          <p:cNvSpPr txBox="1">
            <a:spLocks noChangeArrowheads="1"/>
          </p:cNvSpPr>
          <p:nvPr/>
        </p:nvSpPr>
        <p:spPr bwMode="auto">
          <a:xfrm>
            <a:off x="3746500" y="1458913"/>
            <a:ext cx="3762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a:t>
            </a:r>
          </a:p>
        </p:txBody>
      </p:sp>
      <p:sp>
        <p:nvSpPr>
          <p:cNvPr id="223257" name="TextBox 31"/>
          <p:cNvSpPr txBox="1">
            <a:spLocks noChangeArrowheads="1"/>
          </p:cNvSpPr>
          <p:nvPr/>
        </p:nvSpPr>
        <p:spPr bwMode="auto">
          <a:xfrm>
            <a:off x="3746500" y="2057400"/>
            <a:ext cx="376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3</a:t>
            </a:r>
          </a:p>
        </p:txBody>
      </p:sp>
      <p:graphicFrame>
        <p:nvGraphicFramePr>
          <p:cNvPr id="34" name="Table 33"/>
          <p:cNvGraphicFramePr>
            <a:graphicFrameLocks noGrp="1"/>
          </p:cNvGraphicFramePr>
          <p:nvPr/>
        </p:nvGraphicFramePr>
        <p:xfrm>
          <a:off x="3581400" y="2743200"/>
          <a:ext cx="5486397" cy="4054474"/>
        </p:xfrm>
        <a:graphic>
          <a:graphicData uri="http://schemas.openxmlformats.org/drawingml/2006/table">
            <a:tbl>
              <a:tblPr firstRow="1" bandRow="1">
                <a:tableStyleId>{5C22544A-7EE6-4342-B048-85BDC9FD1C3A}</a:tableStyleId>
              </a:tblPr>
              <a:tblGrid>
                <a:gridCol w="838197">
                  <a:extLst>
                    <a:ext uri="{9D8B030D-6E8A-4147-A177-3AD203B41FA5}">
                      <a16:colId xmlns:a16="http://schemas.microsoft.com/office/drawing/2014/main" val="20000"/>
                    </a:ext>
                  </a:extLst>
                </a:gridCol>
                <a:gridCol w="729345">
                  <a:extLst>
                    <a:ext uri="{9D8B030D-6E8A-4147-A177-3AD203B41FA5}">
                      <a16:colId xmlns:a16="http://schemas.microsoft.com/office/drawing/2014/main" val="20001"/>
                    </a:ext>
                  </a:extLst>
                </a:gridCol>
                <a:gridCol w="783771">
                  <a:extLst>
                    <a:ext uri="{9D8B030D-6E8A-4147-A177-3AD203B41FA5}">
                      <a16:colId xmlns:a16="http://schemas.microsoft.com/office/drawing/2014/main" val="20002"/>
                    </a:ext>
                  </a:extLst>
                </a:gridCol>
                <a:gridCol w="783771">
                  <a:extLst>
                    <a:ext uri="{9D8B030D-6E8A-4147-A177-3AD203B41FA5}">
                      <a16:colId xmlns:a16="http://schemas.microsoft.com/office/drawing/2014/main" val="20003"/>
                    </a:ext>
                  </a:extLst>
                </a:gridCol>
                <a:gridCol w="783771">
                  <a:extLst>
                    <a:ext uri="{9D8B030D-6E8A-4147-A177-3AD203B41FA5}">
                      <a16:colId xmlns:a16="http://schemas.microsoft.com/office/drawing/2014/main" val="20004"/>
                    </a:ext>
                  </a:extLst>
                </a:gridCol>
                <a:gridCol w="783771">
                  <a:extLst>
                    <a:ext uri="{9D8B030D-6E8A-4147-A177-3AD203B41FA5}">
                      <a16:colId xmlns:a16="http://schemas.microsoft.com/office/drawing/2014/main" val="20005"/>
                    </a:ext>
                  </a:extLst>
                </a:gridCol>
                <a:gridCol w="783771">
                  <a:extLst>
                    <a:ext uri="{9D8B030D-6E8A-4147-A177-3AD203B41FA5}">
                      <a16:colId xmlns:a16="http://schemas.microsoft.com/office/drawing/2014/main" val="20006"/>
                    </a:ext>
                  </a:extLst>
                </a:gridCol>
              </a:tblGrid>
              <a:tr h="640180">
                <a:tc>
                  <a:txBody>
                    <a:bodyPr/>
                    <a:lstStyle/>
                    <a:p>
                      <a:pPr algn="ctr"/>
                      <a:r>
                        <a:rPr lang="en-US" sz="1800" dirty="0" smtClean="0"/>
                        <a:t>Enable i/p</a:t>
                      </a:r>
                      <a:endParaRPr lang="en-US" sz="1800" dirty="0"/>
                    </a:p>
                  </a:txBody>
                  <a:tcPr marT="45727" marB="45727" anchor="ctr"/>
                </a:tc>
                <a:tc gridSpan="2">
                  <a:txBody>
                    <a:bodyPr/>
                    <a:lstStyle/>
                    <a:p>
                      <a:pPr algn="ctr"/>
                      <a:r>
                        <a:rPr lang="en-US" sz="1800" dirty="0" smtClean="0"/>
                        <a:t>Data</a:t>
                      </a:r>
                      <a:r>
                        <a:rPr lang="en-US" sz="1800" baseline="0" dirty="0" smtClean="0"/>
                        <a:t> Inputs</a:t>
                      </a:r>
                      <a:endParaRPr lang="en-US" sz="1800" dirty="0"/>
                    </a:p>
                  </a:txBody>
                  <a:tcPr marT="45727" marB="45727" anchor="ctr"/>
                </a:tc>
                <a:tc hMerge="1">
                  <a:txBody>
                    <a:bodyPr/>
                    <a:lstStyle/>
                    <a:p>
                      <a:pPr algn="ctr"/>
                      <a:endParaRPr lang="en-US" dirty="0"/>
                    </a:p>
                  </a:txBody>
                  <a:tcPr anchor="ctr"/>
                </a:tc>
                <a:tc gridSpan="4">
                  <a:txBody>
                    <a:bodyPr/>
                    <a:lstStyle/>
                    <a:p>
                      <a:pPr algn="ctr"/>
                      <a:r>
                        <a:rPr lang="en-US" sz="1800" dirty="0" smtClean="0"/>
                        <a:t>Outputs</a:t>
                      </a:r>
                      <a:endParaRPr lang="en-US" sz="1800" dirty="0"/>
                    </a:p>
                  </a:txBody>
                  <a:tcPr marT="45727" marB="45727" anchor="ct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00"/>
                  </a:ext>
                </a:extLst>
              </a:tr>
              <a:tr h="569049">
                <a:tc>
                  <a:txBody>
                    <a:bodyPr/>
                    <a:lstStyle/>
                    <a:p>
                      <a:pPr algn="ctr"/>
                      <a:r>
                        <a:rPr lang="en-US" sz="1800" b="1" dirty="0" smtClean="0"/>
                        <a:t>E</a:t>
                      </a:r>
                      <a:endParaRPr lang="en-US" sz="1800" b="1" dirty="0"/>
                    </a:p>
                  </a:txBody>
                  <a:tcPr marT="45727" marB="45727" anchor="ctr"/>
                </a:tc>
                <a:tc>
                  <a:txBody>
                    <a:bodyPr/>
                    <a:lstStyle/>
                    <a:p>
                      <a:pPr algn="ctr"/>
                      <a:r>
                        <a:rPr lang="en-US" sz="1800" b="1" dirty="0" smtClean="0"/>
                        <a:t>A</a:t>
                      </a:r>
                      <a:endParaRPr lang="en-US" sz="1800" b="1" baseline="-25000" dirty="0"/>
                    </a:p>
                  </a:txBody>
                  <a:tcPr marT="45727" marB="45727" anchor="ctr"/>
                </a:tc>
                <a:tc>
                  <a:txBody>
                    <a:bodyPr/>
                    <a:lstStyle/>
                    <a:p>
                      <a:pPr algn="ctr"/>
                      <a:r>
                        <a:rPr lang="en-US" sz="1800" b="1" dirty="0" smtClean="0"/>
                        <a:t>B</a:t>
                      </a:r>
                      <a:endParaRPr lang="en-US" sz="1800" b="1" baseline="-25000" dirty="0"/>
                    </a:p>
                  </a:txBody>
                  <a:tcPr marT="45727" marB="45727" anchor="ctr"/>
                </a:tc>
                <a:tc>
                  <a:txBody>
                    <a:bodyPr/>
                    <a:lstStyle/>
                    <a:p>
                      <a:pPr algn="ctr"/>
                      <a:r>
                        <a:rPr lang="en-US" sz="1800" b="1" dirty="0" smtClean="0"/>
                        <a:t>Y</a:t>
                      </a:r>
                      <a:r>
                        <a:rPr lang="en-US" sz="1800" b="1" baseline="-25000" dirty="0" smtClean="0"/>
                        <a:t>0</a:t>
                      </a:r>
                      <a:endParaRPr lang="en-US" sz="1800" b="1" baseline="-25000" dirty="0"/>
                    </a:p>
                  </a:txBody>
                  <a:tcPr marT="45727" marB="45727" anchor="ctr"/>
                </a:tc>
                <a:tc>
                  <a:txBody>
                    <a:bodyPr/>
                    <a:lstStyle/>
                    <a:p>
                      <a:pPr algn="ctr"/>
                      <a:r>
                        <a:rPr lang="en-US" sz="1800" b="1" dirty="0" smtClean="0"/>
                        <a:t>Y</a:t>
                      </a:r>
                      <a:r>
                        <a:rPr lang="en-US" sz="1800" b="1" baseline="-25000" dirty="0" smtClean="0"/>
                        <a:t>1</a:t>
                      </a:r>
                      <a:endParaRPr lang="en-US" sz="1800" b="1" baseline="-25000" dirty="0"/>
                    </a:p>
                  </a:txBody>
                  <a:tcPr marT="45727" marB="45727" anchor="ctr"/>
                </a:tc>
                <a:tc>
                  <a:txBody>
                    <a:bodyPr/>
                    <a:lstStyle/>
                    <a:p>
                      <a:pPr algn="ctr"/>
                      <a:r>
                        <a:rPr lang="en-US" sz="1800" b="1" dirty="0" smtClean="0"/>
                        <a:t>Y</a:t>
                      </a:r>
                      <a:r>
                        <a:rPr lang="en-US" sz="1800" b="1" baseline="-25000" dirty="0" smtClean="0"/>
                        <a:t>2</a:t>
                      </a:r>
                      <a:endParaRPr lang="en-US" sz="1800" b="1" baseline="-25000" dirty="0"/>
                    </a:p>
                  </a:txBody>
                  <a:tcPr marT="45727" marB="45727" anchor="ctr"/>
                </a:tc>
                <a:tc>
                  <a:txBody>
                    <a:bodyPr/>
                    <a:lstStyle/>
                    <a:p>
                      <a:pPr algn="ctr"/>
                      <a:r>
                        <a:rPr lang="en-US" sz="1800" b="1" dirty="0" smtClean="0"/>
                        <a:t>Y</a:t>
                      </a:r>
                      <a:r>
                        <a:rPr lang="en-US" sz="1800" b="1" baseline="-25000" dirty="0" smtClean="0"/>
                        <a:t>3</a:t>
                      </a:r>
                      <a:endParaRPr lang="en-US" sz="1800" b="1" dirty="0"/>
                    </a:p>
                  </a:txBody>
                  <a:tcPr marT="45727" marB="45727" anchor="ctr"/>
                </a:tc>
                <a:extLst>
                  <a:ext uri="{0D108BD9-81ED-4DB2-BD59-A6C34878D82A}">
                    <a16:rowId xmlns:a16="http://schemas.microsoft.com/office/drawing/2014/main" val="10001"/>
                  </a:ext>
                </a:extLst>
              </a:tr>
              <a:tr h="569049">
                <a:tc>
                  <a:txBody>
                    <a:bodyPr/>
                    <a:lstStyle/>
                    <a:p>
                      <a:pPr algn="ctr"/>
                      <a:r>
                        <a:rPr lang="en-US" sz="1800" dirty="0" smtClean="0"/>
                        <a:t>0</a:t>
                      </a:r>
                      <a:endParaRPr lang="en-US" sz="1800" dirty="0"/>
                    </a:p>
                  </a:txBody>
                  <a:tcPr marT="45727" marB="45727" anchor="ctr"/>
                </a:tc>
                <a:tc>
                  <a:txBody>
                    <a:bodyPr/>
                    <a:lstStyle/>
                    <a:p>
                      <a:pPr algn="ctr"/>
                      <a:r>
                        <a:rPr lang="en-US" sz="1800" dirty="0" smtClean="0"/>
                        <a:t>X</a:t>
                      </a:r>
                      <a:endParaRPr lang="en-US" sz="1800" dirty="0"/>
                    </a:p>
                  </a:txBody>
                  <a:tcPr marT="45727" marB="45727" anchor="ctr"/>
                </a:tc>
                <a:tc>
                  <a:txBody>
                    <a:bodyPr/>
                    <a:lstStyle/>
                    <a:p>
                      <a:pPr algn="ctr"/>
                      <a:r>
                        <a:rPr lang="en-US" sz="1800" dirty="0" smtClean="0"/>
                        <a:t>X</a:t>
                      </a:r>
                      <a:endParaRPr lang="en-US" sz="1800" dirty="0"/>
                    </a:p>
                  </a:txBody>
                  <a:tcPr marT="45727" marB="45727" anchor="ctr"/>
                </a:tc>
                <a:tc>
                  <a:txBody>
                    <a:bodyPr/>
                    <a:lstStyle/>
                    <a:p>
                      <a:pPr algn="ctr"/>
                      <a:r>
                        <a:rPr lang="en-US" sz="1800" dirty="0" smtClean="0"/>
                        <a:t>0</a:t>
                      </a:r>
                      <a:endParaRPr lang="en-US" sz="1800" dirty="0"/>
                    </a:p>
                  </a:txBody>
                  <a:tcPr marT="45727" marB="45727" anchor="ctr"/>
                </a:tc>
                <a:tc>
                  <a:txBody>
                    <a:bodyPr/>
                    <a:lstStyle/>
                    <a:p>
                      <a:pPr algn="ctr"/>
                      <a:r>
                        <a:rPr lang="en-US" sz="1800" dirty="0" smtClean="0"/>
                        <a:t>0</a:t>
                      </a:r>
                      <a:endParaRPr lang="en-US" sz="1800" dirty="0"/>
                    </a:p>
                  </a:txBody>
                  <a:tcPr marT="45727" marB="45727" anchor="ctr"/>
                </a:tc>
                <a:tc>
                  <a:txBody>
                    <a:bodyPr/>
                    <a:lstStyle/>
                    <a:p>
                      <a:pPr algn="ctr"/>
                      <a:r>
                        <a:rPr lang="en-US" sz="1800" dirty="0" smtClean="0"/>
                        <a:t>0</a:t>
                      </a:r>
                      <a:endParaRPr lang="en-US" sz="1800" dirty="0"/>
                    </a:p>
                  </a:txBody>
                  <a:tcPr marT="45727" marB="45727" anchor="ctr"/>
                </a:tc>
                <a:tc>
                  <a:txBody>
                    <a:bodyPr/>
                    <a:lstStyle/>
                    <a:p>
                      <a:pPr algn="ctr"/>
                      <a:r>
                        <a:rPr lang="en-US" sz="1800" dirty="0" smtClean="0"/>
                        <a:t>0</a:t>
                      </a:r>
                      <a:endParaRPr lang="en-US" sz="1800" dirty="0"/>
                    </a:p>
                  </a:txBody>
                  <a:tcPr marT="45727" marB="45727" anchor="ctr"/>
                </a:tc>
                <a:extLst>
                  <a:ext uri="{0D108BD9-81ED-4DB2-BD59-A6C34878D82A}">
                    <a16:rowId xmlns:a16="http://schemas.microsoft.com/office/drawing/2014/main" val="10002"/>
                  </a:ext>
                </a:extLst>
              </a:tr>
              <a:tr h="569049">
                <a:tc>
                  <a:txBody>
                    <a:bodyPr/>
                    <a:lstStyle/>
                    <a:p>
                      <a:pPr algn="ctr"/>
                      <a:r>
                        <a:rPr lang="en-US" sz="1800" dirty="0" smtClean="0"/>
                        <a:t>1</a:t>
                      </a:r>
                      <a:endParaRPr lang="en-US" sz="1800" dirty="0"/>
                    </a:p>
                  </a:txBody>
                  <a:tcPr marT="45727" marB="45727" anchor="ctr"/>
                </a:tc>
                <a:tc>
                  <a:txBody>
                    <a:bodyPr/>
                    <a:lstStyle/>
                    <a:p>
                      <a:pPr algn="ctr"/>
                      <a:r>
                        <a:rPr lang="en-US" sz="1800" dirty="0" smtClean="0"/>
                        <a:t>0</a:t>
                      </a:r>
                      <a:endParaRPr lang="en-US" sz="1800" dirty="0"/>
                    </a:p>
                  </a:txBody>
                  <a:tcPr marT="45727" marB="45727" anchor="ctr"/>
                </a:tc>
                <a:tc>
                  <a:txBody>
                    <a:bodyPr/>
                    <a:lstStyle/>
                    <a:p>
                      <a:pPr algn="ctr"/>
                      <a:r>
                        <a:rPr lang="en-US" sz="1800" dirty="0" smtClean="0"/>
                        <a:t>0</a:t>
                      </a:r>
                      <a:endParaRPr lang="en-US" sz="1800" dirty="0"/>
                    </a:p>
                  </a:txBody>
                  <a:tcPr marT="45727" marB="45727"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1</a:t>
                      </a:r>
                      <a:endParaRPr lang="en-US" sz="1800" baseline="-25000" dirty="0" smtClean="0"/>
                    </a:p>
                    <a:p>
                      <a:pPr algn="ctr"/>
                      <a:endParaRPr lang="en-US" sz="1800" baseline="-25000" dirty="0"/>
                    </a:p>
                  </a:txBody>
                  <a:tcPr marT="45727" marB="45727" anchor="ctr"/>
                </a:tc>
                <a:tc>
                  <a:txBody>
                    <a:bodyPr/>
                    <a:lstStyle/>
                    <a:p>
                      <a:pPr algn="ctr"/>
                      <a:r>
                        <a:rPr lang="en-US" sz="1800" dirty="0" smtClean="0"/>
                        <a:t>0</a:t>
                      </a:r>
                      <a:endParaRPr lang="en-US" sz="1800" dirty="0"/>
                    </a:p>
                  </a:txBody>
                  <a:tcPr marT="45727" marB="45727" anchor="ctr"/>
                </a:tc>
                <a:tc>
                  <a:txBody>
                    <a:bodyPr/>
                    <a:lstStyle/>
                    <a:p>
                      <a:pPr algn="ctr"/>
                      <a:r>
                        <a:rPr lang="en-US" sz="1800" dirty="0" smtClean="0"/>
                        <a:t>0</a:t>
                      </a:r>
                      <a:endParaRPr lang="en-US" sz="1800" dirty="0"/>
                    </a:p>
                  </a:txBody>
                  <a:tcPr marT="45727" marB="45727" anchor="ctr"/>
                </a:tc>
                <a:tc>
                  <a:txBody>
                    <a:bodyPr/>
                    <a:lstStyle/>
                    <a:p>
                      <a:pPr algn="ctr"/>
                      <a:r>
                        <a:rPr lang="en-US" sz="1800" dirty="0" smtClean="0"/>
                        <a:t>0</a:t>
                      </a:r>
                      <a:endParaRPr lang="en-US" sz="1800" dirty="0"/>
                    </a:p>
                  </a:txBody>
                  <a:tcPr marT="45727" marB="45727" anchor="ctr"/>
                </a:tc>
                <a:extLst>
                  <a:ext uri="{0D108BD9-81ED-4DB2-BD59-A6C34878D82A}">
                    <a16:rowId xmlns:a16="http://schemas.microsoft.com/office/drawing/2014/main" val="10003"/>
                  </a:ext>
                </a:extLst>
              </a:tr>
              <a:tr h="569049">
                <a:tc>
                  <a:txBody>
                    <a:bodyPr/>
                    <a:lstStyle/>
                    <a:p>
                      <a:pPr algn="ctr"/>
                      <a:r>
                        <a:rPr lang="en-US" sz="1800" dirty="0" smtClean="0"/>
                        <a:t>1</a:t>
                      </a:r>
                      <a:endParaRPr lang="en-US" sz="1800" dirty="0"/>
                    </a:p>
                  </a:txBody>
                  <a:tcPr marT="45727" marB="45727" anchor="ctr"/>
                </a:tc>
                <a:tc>
                  <a:txBody>
                    <a:bodyPr/>
                    <a:lstStyle/>
                    <a:p>
                      <a:pPr algn="ctr"/>
                      <a:r>
                        <a:rPr lang="en-US" sz="1800" dirty="0" smtClean="0"/>
                        <a:t>0</a:t>
                      </a:r>
                      <a:endParaRPr lang="en-US" sz="1800" dirty="0"/>
                    </a:p>
                  </a:txBody>
                  <a:tcPr marT="45727" marB="45727" anchor="ctr"/>
                </a:tc>
                <a:tc>
                  <a:txBody>
                    <a:bodyPr/>
                    <a:lstStyle/>
                    <a:p>
                      <a:pPr algn="ctr"/>
                      <a:r>
                        <a:rPr lang="en-US" sz="1800" dirty="0" smtClean="0"/>
                        <a:t>1</a:t>
                      </a:r>
                      <a:endParaRPr lang="en-US" sz="1800" dirty="0"/>
                    </a:p>
                  </a:txBody>
                  <a:tcPr marT="45727" marB="45727"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0</a:t>
                      </a:r>
                      <a:endParaRPr lang="en-US" sz="1800" baseline="-25000" dirty="0"/>
                    </a:p>
                  </a:txBody>
                  <a:tcPr marT="45727" marB="45727"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1</a:t>
                      </a:r>
                      <a:endParaRPr lang="en-US" sz="1800" dirty="0"/>
                    </a:p>
                  </a:txBody>
                  <a:tcPr marT="45727" marB="45727" anchor="ctr"/>
                </a:tc>
                <a:tc>
                  <a:txBody>
                    <a:bodyPr/>
                    <a:lstStyle/>
                    <a:p>
                      <a:pPr algn="ctr"/>
                      <a:r>
                        <a:rPr lang="en-US" sz="1800" dirty="0" smtClean="0"/>
                        <a:t>0</a:t>
                      </a:r>
                      <a:endParaRPr lang="en-US" sz="1800" dirty="0"/>
                    </a:p>
                  </a:txBody>
                  <a:tcPr marT="45727" marB="45727" anchor="ctr"/>
                </a:tc>
                <a:tc>
                  <a:txBody>
                    <a:bodyPr/>
                    <a:lstStyle/>
                    <a:p>
                      <a:pPr algn="ctr"/>
                      <a:r>
                        <a:rPr lang="en-US" sz="1800" dirty="0" smtClean="0"/>
                        <a:t>0</a:t>
                      </a:r>
                      <a:endParaRPr lang="en-US" sz="1800" dirty="0"/>
                    </a:p>
                  </a:txBody>
                  <a:tcPr marT="45727" marB="45727" anchor="ctr"/>
                </a:tc>
                <a:extLst>
                  <a:ext uri="{0D108BD9-81ED-4DB2-BD59-A6C34878D82A}">
                    <a16:rowId xmlns:a16="http://schemas.microsoft.com/office/drawing/2014/main" val="10004"/>
                  </a:ext>
                </a:extLst>
              </a:tr>
              <a:tr h="569049">
                <a:tc>
                  <a:txBody>
                    <a:bodyPr/>
                    <a:lstStyle/>
                    <a:p>
                      <a:pPr algn="ctr"/>
                      <a:r>
                        <a:rPr lang="en-US" sz="1800" dirty="0" smtClean="0"/>
                        <a:t>1</a:t>
                      </a:r>
                      <a:endParaRPr lang="en-US" sz="1800" dirty="0"/>
                    </a:p>
                  </a:txBody>
                  <a:tcPr marT="45727" marB="45727" anchor="ctr"/>
                </a:tc>
                <a:tc>
                  <a:txBody>
                    <a:bodyPr/>
                    <a:lstStyle/>
                    <a:p>
                      <a:pPr algn="ctr"/>
                      <a:r>
                        <a:rPr lang="en-US" sz="1800" dirty="0" smtClean="0"/>
                        <a:t>1</a:t>
                      </a:r>
                      <a:endParaRPr lang="en-US" sz="1800" dirty="0"/>
                    </a:p>
                  </a:txBody>
                  <a:tcPr marT="45727" marB="45727" anchor="ctr"/>
                </a:tc>
                <a:tc>
                  <a:txBody>
                    <a:bodyPr/>
                    <a:lstStyle/>
                    <a:p>
                      <a:pPr algn="ctr"/>
                      <a:r>
                        <a:rPr lang="en-US" sz="1800" dirty="0" smtClean="0"/>
                        <a:t>0</a:t>
                      </a:r>
                      <a:endParaRPr lang="en-US" sz="1800" dirty="0"/>
                    </a:p>
                  </a:txBody>
                  <a:tcPr marT="45727" marB="45727" anchor="ctr"/>
                </a:tc>
                <a:tc>
                  <a:txBody>
                    <a:bodyPr/>
                    <a:lstStyle/>
                    <a:p>
                      <a:pPr algn="ctr"/>
                      <a:r>
                        <a:rPr lang="en-US" sz="1800" dirty="0" smtClean="0"/>
                        <a:t>0</a:t>
                      </a:r>
                      <a:endParaRPr lang="en-US" sz="1800" baseline="-25000" dirty="0"/>
                    </a:p>
                  </a:txBody>
                  <a:tcPr marT="45727" marB="45727" anchor="ctr"/>
                </a:tc>
                <a:tc>
                  <a:txBody>
                    <a:bodyPr/>
                    <a:lstStyle/>
                    <a:p>
                      <a:pPr algn="ctr"/>
                      <a:r>
                        <a:rPr lang="en-US" sz="1800" dirty="0" smtClean="0"/>
                        <a:t>0</a:t>
                      </a:r>
                      <a:endParaRPr lang="en-US" sz="1800" dirty="0"/>
                    </a:p>
                  </a:txBody>
                  <a:tcPr marT="45727" marB="45727"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1</a:t>
                      </a:r>
                      <a:endParaRPr lang="en-US" sz="1800" dirty="0"/>
                    </a:p>
                  </a:txBody>
                  <a:tcPr marT="45727" marB="45727" anchor="ctr"/>
                </a:tc>
                <a:tc>
                  <a:txBody>
                    <a:bodyPr/>
                    <a:lstStyle/>
                    <a:p>
                      <a:pPr algn="ctr"/>
                      <a:r>
                        <a:rPr lang="en-US" sz="1800" dirty="0" smtClean="0"/>
                        <a:t>0</a:t>
                      </a:r>
                      <a:endParaRPr lang="en-US" sz="1800" dirty="0"/>
                    </a:p>
                  </a:txBody>
                  <a:tcPr marT="45727" marB="45727" anchor="ctr"/>
                </a:tc>
                <a:extLst>
                  <a:ext uri="{0D108BD9-81ED-4DB2-BD59-A6C34878D82A}">
                    <a16:rowId xmlns:a16="http://schemas.microsoft.com/office/drawing/2014/main" val="10005"/>
                  </a:ext>
                </a:extLst>
              </a:tr>
              <a:tr h="569049">
                <a:tc>
                  <a:txBody>
                    <a:bodyPr/>
                    <a:lstStyle/>
                    <a:p>
                      <a:pPr algn="ctr"/>
                      <a:r>
                        <a:rPr lang="en-US" sz="1800" dirty="0" smtClean="0"/>
                        <a:t>1</a:t>
                      </a:r>
                      <a:endParaRPr lang="en-US" sz="1800" dirty="0"/>
                    </a:p>
                  </a:txBody>
                  <a:tcPr marT="45727" marB="45727" anchor="ctr"/>
                </a:tc>
                <a:tc>
                  <a:txBody>
                    <a:bodyPr/>
                    <a:lstStyle/>
                    <a:p>
                      <a:pPr algn="ctr"/>
                      <a:r>
                        <a:rPr lang="en-US" sz="1800" dirty="0" smtClean="0"/>
                        <a:t>1</a:t>
                      </a:r>
                      <a:endParaRPr lang="en-US" sz="1800" dirty="0"/>
                    </a:p>
                  </a:txBody>
                  <a:tcPr marT="45727" marB="45727" anchor="ctr"/>
                </a:tc>
                <a:tc>
                  <a:txBody>
                    <a:bodyPr/>
                    <a:lstStyle/>
                    <a:p>
                      <a:pPr algn="ctr"/>
                      <a:r>
                        <a:rPr lang="en-US" sz="1800" dirty="0" smtClean="0"/>
                        <a:t>1</a:t>
                      </a:r>
                      <a:endParaRPr lang="en-US" sz="1800" dirty="0"/>
                    </a:p>
                  </a:txBody>
                  <a:tcPr marT="45727" marB="45727" anchor="ctr"/>
                </a:tc>
                <a:tc>
                  <a:txBody>
                    <a:bodyPr/>
                    <a:lstStyle/>
                    <a:p>
                      <a:pPr algn="ctr"/>
                      <a:r>
                        <a:rPr lang="en-US" sz="1800" dirty="0" smtClean="0"/>
                        <a:t>0</a:t>
                      </a:r>
                      <a:endParaRPr lang="en-US" sz="1800" dirty="0"/>
                    </a:p>
                  </a:txBody>
                  <a:tcPr marT="45727" marB="45727" anchor="ctr"/>
                </a:tc>
                <a:tc>
                  <a:txBody>
                    <a:bodyPr/>
                    <a:lstStyle/>
                    <a:p>
                      <a:pPr algn="ctr"/>
                      <a:r>
                        <a:rPr lang="en-US" sz="1800" dirty="0" smtClean="0"/>
                        <a:t>0</a:t>
                      </a:r>
                      <a:endParaRPr lang="en-US" sz="1800" dirty="0"/>
                    </a:p>
                  </a:txBody>
                  <a:tcPr marT="45727" marB="45727" anchor="ctr"/>
                </a:tc>
                <a:tc>
                  <a:txBody>
                    <a:bodyPr/>
                    <a:lstStyle/>
                    <a:p>
                      <a:pPr algn="ctr"/>
                      <a:r>
                        <a:rPr lang="en-US" sz="1800" dirty="0" smtClean="0"/>
                        <a:t>0</a:t>
                      </a:r>
                      <a:endParaRPr lang="en-US" sz="1800" dirty="0"/>
                    </a:p>
                  </a:txBody>
                  <a:tcPr marT="45727" marB="45727" anchor="ctr"/>
                </a:tc>
                <a:tc>
                  <a:txBody>
                    <a:bodyPr/>
                    <a:lstStyle/>
                    <a:p>
                      <a:pPr algn="ctr"/>
                      <a:r>
                        <a:rPr lang="en-US" sz="1800" dirty="0" smtClean="0"/>
                        <a:t>1</a:t>
                      </a:r>
                      <a:endParaRPr lang="en-US" sz="1800" dirty="0"/>
                    </a:p>
                  </a:txBody>
                  <a:tcPr marT="45727" marB="45727"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5485287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Title 1"/>
          <p:cNvSpPr>
            <a:spLocks noGrp="1"/>
          </p:cNvSpPr>
          <p:nvPr>
            <p:ph type="title"/>
          </p:nvPr>
        </p:nvSpPr>
        <p:spPr>
          <a:xfrm>
            <a:off x="381000" y="152400"/>
            <a:ext cx="8229600" cy="563563"/>
          </a:xfrm>
        </p:spPr>
        <p:txBody>
          <a:bodyPr>
            <a:normAutofit fontScale="90000"/>
          </a:bodyPr>
          <a:lstStyle/>
          <a:p>
            <a:pPr eaLnBrk="1" fontAlgn="auto" hangingPunct="1">
              <a:spcAft>
                <a:spcPts val="0"/>
              </a:spcAft>
              <a:defRPr/>
            </a:pPr>
            <a:r>
              <a:rPr lang="en-US" sz="3200" b="1" dirty="0" smtClean="0">
                <a:solidFill>
                  <a:schemeClr val="accent2">
                    <a:lumMod val="50000"/>
                  </a:schemeClr>
                </a:solidFill>
              </a:rPr>
              <a:t>De-multiplexer as Decoder</a:t>
            </a:r>
          </a:p>
        </p:txBody>
      </p:sp>
      <p:sp>
        <p:nvSpPr>
          <p:cNvPr id="224259"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B9D6D68C-D866-45FD-93D6-F08C544D3E11}" type="datetime2">
              <a:rPr lang="en-US" altLang="en-US" smtClean="0">
                <a:solidFill>
                  <a:schemeClr val="tx2"/>
                </a:solidFill>
              </a:rPr>
              <a:pPr/>
              <a:t>Tuesday, March 10, 2026</a:t>
            </a:fld>
            <a:endParaRPr lang="en-US" altLang="en-US" smtClean="0">
              <a:solidFill>
                <a:schemeClr val="tx2"/>
              </a:solidFill>
            </a:endParaRPr>
          </a:p>
        </p:txBody>
      </p:sp>
      <p:sp>
        <p:nvSpPr>
          <p:cNvPr id="22426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sp>
        <p:nvSpPr>
          <p:cNvPr id="224261" name="Content Placeholder 2"/>
          <p:cNvSpPr>
            <a:spLocks noGrp="1"/>
          </p:cNvSpPr>
          <p:nvPr>
            <p:ph sz="quarter" idx="1"/>
          </p:nvPr>
        </p:nvSpPr>
        <p:spPr/>
        <p:txBody>
          <a:bodyPr/>
          <a:lstStyle/>
          <a:p>
            <a:pPr algn="just" eaLnBrk="1" hangingPunct="1">
              <a:buFont typeface="Wingdings" panose="05000000000000000000" pitchFamily="2" charset="2"/>
              <a:buChar char="ü"/>
            </a:pPr>
            <a:r>
              <a:rPr lang="en-US" altLang="en-US" smtClean="0"/>
              <a:t>It is possible to operate a de-multiplexer as a decoder.</a:t>
            </a:r>
          </a:p>
          <a:p>
            <a:pPr algn="just" eaLnBrk="1" hangingPunct="1">
              <a:buFont typeface="Wingdings" panose="05000000000000000000" pitchFamily="2" charset="2"/>
              <a:buChar char="ü"/>
            </a:pPr>
            <a:r>
              <a:rPr lang="en-US" altLang="en-US" smtClean="0"/>
              <a:t>Let us consider an example of 1:4 de-mux can be used as 2:4 decoder</a:t>
            </a:r>
          </a:p>
          <a:p>
            <a:pPr algn="just" eaLnBrk="1" hangingPunct="1">
              <a:buFont typeface="Wingdings" panose="05000000000000000000" pitchFamily="2" charset="2"/>
              <a:buChar char="ü"/>
            </a:pPr>
            <a:endParaRPr lang="en-US" altLang="en-US" smtClean="0"/>
          </a:p>
        </p:txBody>
      </p:sp>
      <p:cxnSp>
        <p:nvCxnSpPr>
          <p:cNvPr id="7" name="Straight Connector 6"/>
          <p:cNvCxnSpPr/>
          <p:nvPr/>
        </p:nvCxnSpPr>
        <p:spPr>
          <a:xfrm>
            <a:off x="304800" y="10668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851725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Title 1"/>
          <p:cNvSpPr>
            <a:spLocks noGrp="1"/>
          </p:cNvSpPr>
          <p:nvPr>
            <p:ph type="title"/>
          </p:nvPr>
        </p:nvSpPr>
        <p:spPr>
          <a:xfrm>
            <a:off x="381000" y="152400"/>
            <a:ext cx="8229600" cy="563563"/>
          </a:xfrm>
        </p:spPr>
        <p:txBody>
          <a:bodyPr>
            <a:normAutofit fontScale="90000"/>
          </a:bodyPr>
          <a:lstStyle/>
          <a:p>
            <a:pPr eaLnBrk="1" fontAlgn="auto" hangingPunct="1">
              <a:spcAft>
                <a:spcPts val="0"/>
              </a:spcAft>
              <a:defRPr/>
            </a:pPr>
            <a:r>
              <a:rPr lang="en-US" sz="3200" b="1" dirty="0" smtClean="0">
                <a:solidFill>
                  <a:schemeClr val="accent2">
                    <a:lumMod val="50000"/>
                  </a:schemeClr>
                </a:solidFill>
              </a:rPr>
              <a:t>1:4 De-multiplexer as 2:4 Decoder</a:t>
            </a:r>
          </a:p>
        </p:txBody>
      </p:sp>
      <p:sp>
        <p:nvSpPr>
          <p:cNvPr id="225283"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3621FE06-52BE-40C6-B04E-E57E30CE52DA}" type="datetime2">
              <a:rPr lang="en-US" altLang="en-US" smtClean="0">
                <a:solidFill>
                  <a:schemeClr val="tx2"/>
                </a:solidFill>
              </a:rPr>
              <a:pPr/>
              <a:t>Tuesday, March 10, 2026</a:t>
            </a:fld>
            <a:endParaRPr lang="en-US" altLang="en-US" smtClean="0">
              <a:solidFill>
                <a:schemeClr val="tx2"/>
              </a:solidFill>
            </a:endParaRPr>
          </a:p>
        </p:txBody>
      </p:sp>
      <p:sp>
        <p:nvSpPr>
          <p:cNvPr id="22528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cxnSp>
        <p:nvCxnSpPr>
          <p:cNvPr id="7" name="Straight Connector 6"/>
          <p:cNvCxnSpPr/>
          <p:nvPr/>
        </p:nvCxnSpPr>
        <p:spPr>
          <a:xfrm>
            <a:off x="304800" y="10668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1492250" y="2030413"/>
            <a:ext cx="1600200" cy="133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10" name="Straight Arrow Connector 9"/>
          <p:cNvCxnSpPr/>
          <p:nvPr/>
        </p:nvCxnSpPr>
        <p:spPr>
          <a:xfrm>
            <a:off x="3092450" y="2830513"/>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914400" y="3162300"/>
            <a:ext cx="57785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2743200" y="3338513"/>
            <a:ext cx="0" cy="419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5290" name="TextBox 12"/>
          <p:cNvSpPr txBox="1">
            <a:spLocks noChangeArrowheads="1"/>
          </p:cNvSpPr>
          <p:nvPr/>
        </p:nvSpPr>
        <p:spPr bwMode="auto">
          <a:xfrm>
            <a:off x="1660525" y="3973513"/>
            <a:ext cx="1279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Select Lines</a:t>
            </a:r>
          </a:p>
        </p:txBody>
      </p:sp>
      <p:sp>
        <p:nvSpPr>
          <p:cNvPr id="225291" name="TextBox 13"/>
          <p:cNvSpPr txBox="1">
            <a:spLocks noChangeArrowheads="1"/>
          </p:cNvSpPr>
          <p:nvPr/>
        </p:nvSpPr>
        <p:spPr bwMode="auto">
          <a:xfrm>
            <a:off x="1752600" y="2297113"/>
            <a:ext cx="10318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1:4</a:t>
            </a:r>
          </a:p>
          <a:p>
            <a:pPr algn="ctr" eaLnBrk="1" hangingPunct="1"/>
            <a:r>
              <a:rPr lang="en-US" altLang="en-US" b="1"/>
              <a:t>De-mux</a:t>
            </a:r>
          </a:p>
        </p:txBody>
      </p:sp>
      <p:sp>
        <p:nvSpPr>
          <p:cNvPr id="225292" name="TextBox 14"/>
          <p:cNvSpPr txBox="1">
            <a:spLocks noChangeArrowheads="1"/>
          </p:cNvSpPr>
          <p:nvPr/>
        </p:nvSpPr>
        <p:spPr bwMode="auto">
          <a:xfrm>
            <a:off x="541338" y="2982913"/>
            <a:ext cx="2968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a:t>
            </a:r>
          </a:p>
        </p:txBody>
      </p:sp>
      <p:sp>
        <p:nvSpPr>
          <p:cNvPr id="225293" name="TextBox 15"/>
          <p:cNvSpPr txBox="1">
            <a:spLocks noChangeArrowheads="1"/>
          </p:cNvSpPr>
          <p:nvPr/>
        </p:nvSpPr>
        <p:spPr bwMode="auto">
          <a:xfrm>
            <a:off x="323850" y="3352800"/>
            <a:ext cx="8191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Enable</a:t>
            </a:r>
          </a:p>
          <a:p>
            <a:pPr eaLnBrk="1" hangingPunct="1"/>
            <a:r>
              <a:rPr lang="en-US" altLang="en-US"/>
              <a:t> Input</a:t>
            </a:r>
          </a:p>
        </p:txBody>
      </p:sp>
      <p:sp>
        <p:nvSpPr>
          <p:cNvPr id="225294" name="TextBox 16"/>
          <p:cNvSpPr txBox="1">
            <a:spLocks noChangeArrowheads="1"/>
          </p:cNvSpPr>
          <p:nvPr/>
        </p:nvSpPr>
        <p:spPr bwMode="auto">
          <a:xfrm>
            <a:off x="3587750" y="19923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0</a:t>
            </a:r>
          </a:p>
        </p:txBody>
      </p:sp>
      <p:sp>
        <p:nvSpPr>
          <p:cNvPr id="225295" name="TextBox 17"/>
          <p:cNvSpPr txBox="1">
            <a:spLocks noChangeArrowheads="1"/>
          </p:cNvSpPr>
          <p:nvPr/>
        </p:nvSpPr>
        <p:spPr bwMode="auto">
          <a:xfrm>
            <a:off x="3581400" y="22971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a:t>
            </a:r>
          </a:p>
        </p:txBody>
      </p:sp>
      <p:sp>
        <p:nvSpPr>
          <p:cNvPr id="225296" name="TextBox 18"/>
          <p:cNvSpPr txBox="1">
            <a:spLocks noChangeArrowheads="1"/>
          </p:cNvSpPr>
          <p:nvPr/>
        </p:nvSpPr>
        <p:spPr bwMode="auto">
          <a:xfrm>
            <a:off x="1588" y="2336800"/>
            <a:ext cx="6842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Data</a:t>
            </a:r>
          </a:p>
          <a:p>
            <a:pPr eaLnBrk="1" hangingPunct="1"/>
            <a:r>
              <a:rPr lang="en-US" altLang="en-US"/>
              <a:t>Input</a:t>
            </a:r>
          </a:p>
        </p:txBody>
      </p:sp>
      <p:cxnSp>
        <p:nvCxnSpPr>
          <p:cNvPr id="20" name="Straight Arrow Connector 19"/>
          <p:cNvCxnSpPr/>
          <p:nvPr/>
        </p:nvCxnSpPr>
        <p:spPr>
          <a:xfrm>
            <a:off x="3086100" y="2220913"/>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914400" y="2689225"/>
            <a:ext cx="57785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5299" name="TextBox 21"/>
          <p:cNvSpPr txBox="1">
            <a:spLocks noChangeArrowheads="1"/>
          </p:cNvSpPr>
          <p:nvPr/>
        </p:nvSpPr>
        <p:spPr bwMode="auto">
          <a:xfrm>
            <a:off x="609600" y="2220913"/>
            <a:ext cx="442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in</a:t>
            </a:r>
          </a:p>
        </p:txBody>
      </p:sp>
      <p:cxnSp>
        <p:nvCxnSpPr>
          <p:cNvPr id="23" name="Straight Arrow Connector 22"/>
          <p:cNvCxnSpPr/>
          <p:nvPr/>
        </p:nvCxnSpPr>
        <p:spPr>
          <a:xfrm flipV="1">
            <a:off x="1905000" y="3363913"/>
            <a:ext cx="0" cy="419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5301" name="TextBox 23"/>
          <p:cNvSpPr txBox="1">
            <a:spLocks noChangeArrowheads="1"/>
          </p:cNvSpPr>
          <p:nvPr/>
        </p:nvSpPr>
        <p:spPr bwMode="auto">
          <a:xfrm>
            <a:off x="2597150" y="37449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0</a:t>
            </a:r>
          </a:p>
        </p:txBody>
      </p:sp>
      <p:sp>
        <p:nvSpPr>
          <p:cNvPr id="225302" name="TextBox 24"/>
          <p:cNvSpPr txBox="1">
            <a:spLocks noChangeArrowheads="1"/>
          </p:cNvSpPr>
          <p:nvPr/>
        </p:nvSpPr>
        <p:spPr bwMode="auto">
          <a:xfrm>
            <a:off x="1758950" y="37449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1</a:t>
            </a:r>
          </a:p>
        </p:txBody>
      </p:sp>
      <p:cxnSp>
        <p:nvCxnSpPr>
          <p:cNvPr id="26" name="Straight Arrow Connector 25"/>
          <p:cNvCxnSpPr/>
          <p:nvPr/>
        </p:nvCxnSpPr>
        <p:spPr>
          <a:xfrm>
            <a:off x="3092450" y="2525713"/>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3097213" y="307975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5305" name="TextBox 27"/>
          <p:cNvSpPr txBox="1">
            <a:spLocks noChangeArrowheads="1"/>
          </p:cNvSpPr>
          <p:nvPr/>
        </p:nvSpPr>
        <p:spPr bwMode="auto">
          <a:xfrm>
            <a:off x="3587750" y="2614613"/>
            <a:ext cx="374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2</a:t>
            </a:r>
          </a:p>
        </p:txBody>
      </p:sp>
      <p:sp>
        <p:nvSpPr>
          <p:cNvPr id="225306" name="TextBox 28"/>
          <p:cNvSpPr txBox="1">
            <a:spLocks noChangeArrowheads="1"/>
          </p:cNvSpPr>
          <p:nvPr/>
        </p:nvSpPr>
        <p:spPr bwMode="auto">
          <a:xfrm>
            <a:off x="3581400" y="2843213"/>
            <a:ext cx="374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3</a:t>
            </a:r>
          </a:p>
        </p:txBody>
      </p:sp>
      <p:sp>
        <p:nvSpPr>
          <p:cNvPr id="30" name="Rectangle 29"/>
          <p:cNvSpPr/>
          <p:nvPr/>
        </p:nvSpPr>
        <p:spPr>
          <a:xfrm>
            <a:off x="6457950" y="2019300"/>
            <a:ext cx="1600200" cy="133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31" name="Straight Arrow Connector 30"/>
          <p:cNvCxnSpPr/>
          <p:nvPr/>
        </p:nvCxnSpPr>
        <p:spPr>
          <a:xfrm>
            <a:off x="8064500" y="31242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7175500" y="3352800"/>
            <a:ext cx="0" cy="5588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5310" name="TextBox 32"/>
          <p:cNvSpPr txBox="1">
            <a:spLocks noChangeArrowheads="1"/>
          </p:cNvSpPr>
          <p:nvPr/>
        </p:nvSpPr>
        <p:spPr bwMode="auto">
          <a:xfrm>
            <a:off x="6724650" y="2286000"/>
            <a:ext cx="10302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1:4</a:t>
            </a:r>
          </a:p>
          <a:p>
            <a:pPr algn="ctr" eaLnBrk="1" hangingPunct="1"/>
            <a:r>
              <a:rPr lang="en-US" altLang="en-US" b="1"/>
              <a:t>De-mux</a:t>
            </a:r>
          </a:p>
        </p:txBody>
      </p:sp>
      <p:sp>
        <p:nvSpPr>
          <p:cNvPr id="225311" name="TextBox 33"/>
          <p:cNvSpPr txBox="1">
            <a:spLocks noChangeArrowheads="1"/>
          </p:cNvSpPr>
          <p:nvPr/>
        </p:nvSpPr>
        <p:spPr bwMode="auto">
          <a:xfrm>
            <a:off x="6726238" y="3440113"/>
            <a:ext cx="2968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a:t>
            </a:r>
          </a:p>
        </p:txBody>
      </p:sp>
      <p:sp>
        <p:nvSpPr>
          <p:cNvPr id="225312" name="TextBox 34"/>
          <p:cNvSpPr txBox="1">
            <a:spLocks noChangeArrowheads="1"/>
          </p:cNvSpPr>
          <p:nvPr/>
        </p:nvSpPr>
        <p:spPr bwMode="auto">
          <a:xfrm>
            <a:off x="7194550" y="3468688"/>
            <a:ext cx="8191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Enable</a:t>
            </a:r>
          </a:p>
          <a:p>
            <a:pPr eaLnBrk="1" hangingPunct="1"/>
            <a:r>
              <a:rPr lang="en-US" altLang="en-US"/>
              <a:t> Input</a:t>
            </a:r>
          </a:p>
        </p:txBody>
      </p:sp>
      <p:sp>
        <p:nvSpPr>
          <p:cNvPr id="225313" name="TextBox 35"/>
          <p:cNvSpPr txBox="1">
            <a:spLocks noChangeArrowheads="1"/>
          </p:cNvSpPr>
          <p:nvPr/>
        </p:nvSpPr>
        <p:spPr bwMode="auto">
          <a:xfrm>
            <a:off x="8528050" y="19812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0</a:t>
            </a:r>
          </a:p>
        </p:txBody>
      </p:sp>
      <p:sp>
        <p:nvSpPr>
          <p:cNvPr id="225314" name="TextBox 36"/>
          <p:cNvSpPr txBox="1">
            <a:spLocks noChangeArrowheads="1"/>
          </p:cNvSpPr>
          <p:nvPr/>
        </p:nvSpPr>
        <p:spPr bwMode="auto">
          <a:xfrm>
            <a:off x="8553450" y="25908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2</a:t>
            </a:r>
          </a:p>
        </p:txBody>
      </p:sp>
      <p:sp>
        <p:nvSpPr>
          <p:cNvPr id="225315" name="TextBox 37"/>
          <p:cNvSpPr txBox="1">
            <a:spLocks noChangeArrowheads="1"/>
          </p:cNvSpPr>
          <p:nvPr/>
        </p:nvSpPr>
        <p:spPr bwMode="auto">
          <a:xfrm>
            <a:off x="4724400" y="2401888"/>
            <a:ext cx="774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Inputs</a:t>
            </a:r>
          </a:p>
        </p:txBody>
      </p:sp>
      <p:cxnSp>
        <p:nvCxnSpPr>
          <p:cNvPr id="39" name="Straight Arrow Connector 38"/>
          <p:cNvCxnSpPr/>
          <p:nvPr/>
        </p:nvCxnSpPr>
        <p:spPr>
          <a:xfrm>
            <a:off x="8058150" y="22098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5880100" y="2362200"/>
            <a:ext cx="57785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5318" name="TextBox 40"/>
          <p:cNvSpPr txBox="1">
            <a:spLocks noChangeArrowheads="1"/>
          </p:cNvSpPr>
          <p:nvPr/>
        </p:nvSpPr>
        <p:spPr bwMode="auto">
          <a:xfrm>
            <a:off x="5410200" y="2133600"/>
            <a:ext cx="317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A</a:t>
            </a:r>
            <a:endParaRPr lang="en-US" altLang="en-US" baseline="-25000"/>
          </a:p>
        </p:txBody>
      </p:sp>
      <p:cxnSp>
        <p:nvCxnSpPr>
          <p:cNvPr id="42" name="Straight Arrow Connector 41"/>
          <p:cNvCxnSpPr/>
          <p:nvPr/>
        </p:nvCxnSpPr>
        <p:spPr>
          <a:xfrm>
            <a:off x="5880100" y="2895600"/>
            <a:ext cx="57785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5320" name="TextBox 42"/>
          <p:cNvSpPr txBox="1">
            <a:spLocks noChangeArrowheads="1"/>
          </p:cNvSpPr>
          <p:nvPr/>
        </p:nvSpPr>
        <p:spPr bwMode="auto">
          <a:xfrm>
            <a:off x="5422900" y="2678113"/>
            <a:ext cx="317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B</a:t>
            </a:r>
            <a:endParaRPr lang="en-US" altLang="en-US" baseline="-25000"/>
          </a:p>
        </p:txBody>
      </p:sp>
      <p:cxnSp>
        <p:nvCxnSpPr>
          <p:cNvPr id="44" name="Straight Arrow Connector 43"/>
          <p:cNvCxnSpPr/>
          <p:nvPr/>
        </p:nvCxnSpPr>
        <p:spPr>
          <a:xfrm>
            <a:off x="8051800" y="28194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8051800" y="2514600"/>
            <a:ext cx="4953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5323" name="TextBox 45"/>
          <p:cNvSpPr txBox="1">
            <a:spLocks noChangeArrowheads="1"/>
          </p:cNvSpPr>
          <p:nvPr/>
        </p:nvSpPr>
        <p:spPr bwMode="auto">
          <a:xfrm>
            <a:off x="8547100" y="2297113"/>
            <a:ext cx="3762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a:t>
            </a:r>
          </a:p>
        </p:txBody>
      </p:sp>
      <p:sp>
        <p:nvSpPr>
          <p:cNvPr id="225324" name="TextBox 46"/>
          <p:cNvSpPr txBox="1">
            <a:spLocks noChangeArrowheads="1"/>
          </p:cNvSpPr>
          <p:nvPr/>
        </p:nvSpPr>
        <p:spPr bwMode="auto">
          <a:xfrm>
            <a:off x="8547100" y="2895600"/>
            <a:ext cx="376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3</a:t>
            </a:r>
          </a:p>
        </p:txBody>
      </p:sp>
      <p:sp>
        <p:nvSpPr>
          <p:cNvPr id="225325" name="TextBox 47"/>
          <p:cNvSpPr txBox="1">
            <a:spLocks noChangeArrowheads="1"/>
          </p:cNvSpPr>
          <p:nvPr/>
        </p:nvSpPr>
        <p:spPr bwMode="auto">
          <a:xfrm>
            <a:off x="6407150" y="21336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1</a:t>
            </a:r>
          </a:p>
        </p:txBody>
      </p:sp>
      <p:sp>
        <p:nvSpPr>
          <p:cNvPr id="225326" name="TextBox 48"/>
          <p:cNvSpPr txBox="1">
            <a:spLocks noChangeArrowheads="1"/>
          </p:cNvSpPr>
          <p:nvPr/>
        </p:nvSpPr>
        <p:spPr bwMode="auto">
          <a:xfrm>
            <a:off x="6407150" y="26670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0</a:t>
            </a:r>
          </a:p>
        </p:txBody>
      </p:sp>
      <p:cxnSp>
        <p:nvCxnSpPr>
          <p:cNvPr id="50" name="Straight Arrow Connector 49"/>
          <p:cNvCxnSpPr/>
          <p:nvPr/>
        </p:nvCxnSpPr>
        <p:spPr>
          <a:xfrm>
            <a:off x="7162800" y="1524000"/>
            <a:ext cx="0" cy="4572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5328" name="TextBox 51"/>
          <p:cNvSpPr txBox="1">
            <a:spLocks noChangeArrowheads="1"/>
          </p:cNvSpPr>
          <p:nvPr/>
        </p:nvSpPr>
        <p:spPr bwMode="auto">
          <a:xfrm>
            <a:off x="6934200" y="1992313"/>
            <a:ext cx="442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in</a:t>
            </a:r>
          </a:p>
        </p:txBody>
      </p:sp>
      <p:sp>
        <p:nvSpPr>
          <p:cNvPr id="225329" name="TextBox 52"/>
          <p:cNvSpPr txBox="1">
            <a:spLocks noChangeArrowheads="1"/>
          </p:cNvSpPr>
          <p:nvPr/>
        </p:nvSpPr>
        <p:spPr bwMode="auto">
          <a:xfrm>
            <a:off x="6948488" y="1066800"/>
            <a:ext cx="4365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V</a:t>
            </a:r>
            <a:r>
              <a:rPr lang="en-US" altLang="en-US" baseline="-25000"/>
              <a:t>cc</a:t>
            </a:r>
          </a:p>
        </p:txBody>
      </p:sp>
      <p:sp>
        <p:nvSpPr>
          <p:cNvPr id="225330" name="TextBox 53"/>
          <p:cNvSpPr txBox="1">
            <a:spLocks noChangeArrowheads="1"/>
          </p:cNvSpPr>
          <p:nvPr/>
        </p:nvSpPr>
        <p:spPr bwMode="auto">
          <a:xfrm>
            <a:off x="1219200" y="4800600"/>
            <a:ext cx="2012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b="1"/>
              <a:t>1: 4 De-multiplexer</a:t>
            </a:r>
          </a:p>
        </p:txBody>
      </p:sp>
      <p:sp>
        <p:nvSpPr>
          <p:cNvPr id="225331" name="TextBox 54"/>
          <p:cNvSpPr txBox="1">
            <a:spLocks noChangeArrowheads="1"/>
          </p:cNvSpPr>
          <p:nvPr/>
        </p:nvSpPr>
        <p:spPr bwMode="auto">
          <a:xfrm>
            <a:off x="5486400" y="4735513"/>
            <a:ext cx="3475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b="1"/>
              <a:t>1: 4 De-multiplexer as 2:4 Decoder</a:t>
            </a:r>
          </a:p>
        </p:txBody>
      </p:sp>
    </p:spTree>
    <p:extLst>
      <p:ext uri="{BB962C8B-B14F-4D97-AF65-F5344CB8AC3E}">
        <p14:creationId xmlns:p14="http://schemas.microsoft.com/office/powerpoint/2010/main" val="214023888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Title 1"/>
          <p:cNvSpPr>
            <a:spLocks noGrp="1"/>
          </p:cNvSpPr>
          <p:nvPr>
            <p:ph type="title"/>
          </p:nvPr>
        </p:nvSpPr>
        <p:spPr>
          <a:xfrm>
            <a:off x="381000" y="152400"/>
            <a:ext cx="8458200" cy="563563"/>
          </a:xfrm>
        </p:spPr>
        <p:txBody>
          <a:bodyPr>
            <a:normAutofit fontScale="90000"/>
          </a:bodyPr>
          <a:lstStyle/>
          <a:p>
            <a:pPr eaLnBrk="1" fontAlgn="auto" hangingPunct="1">
              <a:spcAft>
                <a:spcPts val="0"/>
              </a:spcAft>
              <a:defRPr/>
            </a:pPr>
            <a:r>
              <a:rPr lang="en-US" sz="3200" b="1" dirty="0" smtClean="0">
                <a:solidFill>
                  <a:schemeClr val="accent2">
                    <a:lumMod val="50000"/>
                  </a:schemeClr>
                </a:solidFill>
              </a:rPr>
              <a:t>Realization of Boolean expression using De-</a:t>
            </a:r>
            <a:r>
              <a:rPr lang="en-US" sz="3200" b="1" dirty="0" err="1" smtClean="0">
                <a:solidFill>
                  <a:schemeClr val="accent2">
                    <a:lumMod val="50000"/>
                  </a:schemeClr>
                </a:solidFill>
              </a:rPr>
              <a:t>mux</a:t>
            </a:r>
            <a:r>
              <a:rPr lang="en-US" sz="3200" b="1" dirty="0" smtClean="0">
                <a:solidFill>
                  <a:schemeClr val="accent2">
                    <a:lumMod val="50000"/>
                  </a:schemeClr>
                </a:solidFill>
              </a:rPr>
              <a:t> </a:t>
            </a:r>
          </a:p>
        </p:txBody>
      </p:sp>
      <p:sp>
        <p:nvSpPr>
          <p:cNvPr id="226307"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2FBA5E6A-92AD-4F77-96D5-33F80C9026A4}" type="datetime2">
              <a:rPr lang="en-US" altLang="en-US" smtClean="0">
                <a:solidFill>
                  <a:schemeClr val="tx2"/>
                </a:solidFill>
              </a:rPr>
              <a:pPr/>
              <a:t>Tuesday, March 10, 2026</a:t>
            </a:fld>
            <a:endParaRPr lang="en-US" altLang="en-US" smtClean="0">
              <a:solidFill>
                <a:schemeClr val="tx2"/>
              </a:solidFill>
            </a:endParaRPr>
          </a:p>
        </p:txBody>
      </p:sp>
      <p:sp>
        <p:nvSpPr>
          <p:cNvPr id="22630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sp>
        <p:nvSpPr>
          <p:cNvPr id="226309" name="Content Placeholder 2"/>
          <p:cNvSpPr>
            <a:spLocks noGrp="1"/>
          </p:cNvSpPr>
          <p:nvPr>
            <p:ph sz="quarter" idx="1"/>
          </p:nvPr>
        </p:nvSpPr>
        <p:spPr/>
        <p:txBody>
          <a:bodyPr/>
          <a:lstStyle/>
          <a:p>
            <a:pPr algn="just" eaLnBrk="1" hangingPunct="1">
              <a:buFont typeface="Wingdings" panose="05000000000000000000" pitchFamily="2" charset="2"/>
              <a:buChar char="ü"/>
            </a:pPr>
            <a:r>
              <a:rPr lang="en-US" altLang="en-US" smtClean="0"/>
              <a:t>We can implement any Boolean expression using de-multiplexers.</a:t>
            </a:r>
          </a:p>
          <a:p>
            <a:pPr algn="just" eaLnBrk="1" hangingPunct="1">
              <a:buFont typeface="Wingdings" panose="05000000000000000000" pitchFamily="2" charset="2"/>
              <a:buChar char="ü"/>
            </a:pPr>
            <a:r>
              <a:rPr lang="en-US" altLang="en-US" smtClean="0"/>
              <a:t>It reduces circuit complexity.</a:t>
            </a:r>
          </a:p>
          <a:p>
            <a:pPr algn="just" eaLnBrk="1" hangingPunct="1">
              <a:buFont typeface="Wingdings" panose="05000000000000000000" pitchFamily="2" charset="2"/>
              <a:buChar char="ü"/>
            </a:pPr>
            <a:r>
              <a:rPr lang="en-US" altLang="en-US" smtClean="0"/>
              <a:t>It does not require any simplification</a:t>
            </a:r>
          </a:p>
        </p:txBody>
      </p:sp>
      <p:cxnSp>
        <p:nvCxnSpPr>
          <p:cNvPr id="7" name="Straight Connector 6"/>
          <p:cNvCxnSpPr/>
          <p:nvPr/>
        </p:nvCxnSpPr>
        <p:spPr>
          <a:xfrm>
            <a:off x="304800" y="10668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266525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Title 1"/>
          <p:cNvSpPr>
            <a:spLocks noGrp="1"/>
          </p:cNvSpPr>
          <p:nvPr>
            <p:ph type="title"/>
          </p:nvPr>
        </p:nvSpPr>
        <p:spPr>
          <a:xfrm>
            <a:off x="381000" y="0"/>
            <a:ext cx="8229600" cy="563563"/>
          </a:xfrm>
        </p:spPr>
        <p:txBody>
          <a:bodyPr>
            <a:normAutofit fontScale="90000"/>
          </a:bodyPr>
          <a:lstStyle/>
          <a:p>
            <a:pPr eaLnBrk="1" fontAlgn="auto" hangingPunct="1">
              <a:spcAft>
                <a:spcPts val="0"/>
              </a:spcAft>
              <a:defRPr/>
            </a:pPr>
            <a:r>
              <a:rPr lang="en-US" sz="3200" b="1" dirty="0" smtClean="0">
                <a:solidFill>
                  <a:schemeClr val="accent2">
                    <a:lumMod val="50000"/>
                  </a:schemeClr>
                </a:solidFill>
              </a:rPr>
              <a:t>Example 1</a:t>
            </a:r>
          </a:p>
        </p:txBody>
      </p:sp>
      <p:sp>
        <p:nvSpPr>
          <p:cNvPr id="11264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26AE41E5-8C56-478C-A1C3-7700699A6A87}" type="datetime2">
              <a:rPr lang="en-US" altLang="en-US" smtClean="0">
                <a:solidFill>
                  <a:schemeClr val="tx2"/>
                </a:solidFill>
              </a:rPr>
              <a:pPr/>
              <a:t>Tuesday, March 10, 2026</a:t>
            </a:fld>
            <a:endParaRPr lang="en-US" altLang="en-US" smtClean="0">
              <a:solidFill>
                <a:schemeClr val="tx2"/>
              </a:solidFill>
            </a:endParaRPr>
          </a:p>
        </p:txBody>
      </p:sp>
      <p:sp>
        <p:nvSpPr>
          <p:cNvPr id="11264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sp>
        <p:nvSpPr>
          <p:cNvPr id="112646" name="Content Placeholder 2"/>
          <p:cNvSpPr>
            <a:spLocks noGrp="1"/>
          </p:cNvSpPr>
          <p:nvPr>
            <p:ph sz="quarter" idx="1"/>
          </p:nvPr>
        </p:nvSpPr>
        <p:spPr>
          <a:xfrm>
            <a:off x="457200" y="2590800"/>
            <a:ext cx="8229600" cy="3352800"/>
          </a:xfrm>
        </p:spPr>
        <p:txBody>
          <a:bodyPr/>
          <a:lstStyle/>
          <a:p>
            <a:pPr algn="just" eaLnBrk="1" hangingPunct="1">
              <a:buFont typeface="Wingdings" panose="05000000000000000000" pitchFamily="2" charset="2"/>
              <a:buChar char="ü"/>
            </a:pPr>
            <a:r>
              <a:rPr lang="en-US" altLang="en-US" smtClean="0"/>
              <a:t>Since there are three variables, therefore a de-multiplexer with three select input is required i.e. 1:8 de-multiplexer is required</a:t>
            </a:r>
          </a:p>
          <a:p>
            <a:pPr algn="just" eaLnBrk="1" hangingPunct="1">
              <a:buFont typeface="Wingdings" panose="05000000000000000000" pitchFamily="2" charset="2"/>
              <a:buChar char="ü"/>
            </a:pPr>
            <a:r>
              <a:rPr lang="en-US" altLang="en-US" smtClean="0"/>
              <a:t>The 1:8 de-multiplexer is configured as below to implement given Boolean expression</a:t>
            </a:r>
          </a:p>
        </p:txBody>
      </p:sp>
      <p:cxnSp>
        <p:nvCxnSpPr>
          <p:cNvPr id="7" name="Straight Connector 6"/>
          <p:cNvCxnSpPr/>
          <p:nvPr/>
        </p:nvCxnSpPr>
        <p:spPr>
          <a:xfrm>
            <a:off x="304800" y="7620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12648" name="TextBox 7"/>
          <p:cNvSpPr txBox="1">
            <a:spLocks noChangeArrowheads="1"/>
          </p:cNvSpPr>
          <p:nvPr/>
        </p:nvSpPr>
        <p:spPr bwMode="auto">
          <a:xfrm>
            <a:off x="304800" y="909638"/>
            <a:ext cx="78946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400"/>
              <a:t>Implement following Boolean expression using de-multiplexer</a:t>
            </a:r>
          </a:p>
        </p:txBody>
      </p:sp>
      <p:graphicFrame>
        <p:nvGraphicFramePr>
          <p:cNvPr id="112642" name="Object 8"/>
          <p:cNvGraphicFramePr>
            <a:graphicFrameLocks noChangeAspect="1"/>
          </p:cNvGraphicFramePr>
          <p:nvPr/>
        </p:nvGraphicFramePr>
        <p:xfrm>
          <a:off x="2895600" y="1728788"/>
          <a:ext cx="3352800" cy="328612"/>
        </p:xfrm>
        <a:graphic>
          <a:graphicData uri="http://schemas.openxmlformats.org/presentationml/2006/ole">
            <mc:AlternateContent xmlns:mc="http://schemas.openxmlformats.org/markup-compatibility/2006">
              <mc:Choice xmlns:v="urn:schemas-microsoft-com:vml" Requires="v">
                <p:oleObj spid="_x0000_s1032" name="Equation" r:id="rId3" imgW="1638000" imgH="203040" progId="Equation.DSMT4">
                  <p:embed/>
                </p:oleObj>
              </mc:Choice>
              <mc:Fallback>
                <p:oleObj name="Equation" r:id="rId3" imgW="1638000" imgH="203040" progId="Equation.DSMT4">
                  <p:embed/>
                  <p:pic>
                    <p:nvPicPr>
                      <p:cNvPr id="112642"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1728788"/>
                        <a:ext cx="335280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03115487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Title 1"/>
          <p:cNvSpPr>
            <a:spLocks noGrp="1"/>
          </p:cNvSpPr>
          <p:nvPr>
            <p:ph type="title"/>
          </p:nvPr>
        </p:nvSpPr>
        <p:spPr>
          <a:xfrm>
            <a:off x="381000" y="0"/>
            <a:ext cx="8229600" cy="563563"/>
          </a:xfrm>
        </p:spPr>
        <p:txBody>
          <a:bodyPr>
            <a:normAutofit fontScale="90000"/>
          </a:bodyPr>
          <a:lstStyle/>
          <a:p>
            <a:pPr eaLnBrk="1" fontAlgn="auto" hangingPunct="1">
              <a:spcAft>
                <a:spcPts val="0"/>
              </a:spcAft>
              <a:defRPr/>
            </a:pPr>
            <a:r>
              <a:rPr lang="en-US" sz="3200" b="1" dirty="0" smtClean="0">
                <a:solidFill>
                  <a:schemeClr val="accent2">
                    <a:lumMod val="50000"/>
                  </a:schemeClr>
                </a:solidFill>
              </a:rPr>
              <a:t>Example 1                                                  </a:t>
            </a:r>
            <a:r>
              <a:rPr lang="en-US" sz="2400" b="1" dirty="0" smtClean="0">
                <a:solidFill>
                  <a:schemeClr val="accent2">
                    <a:lumMod val="50000"/>
                  </a:schemeClr>
                </a:solidFill>
              </a:rPr>
              <a:t>continue…..</a:t>
            </a:r>
            <a:endParaRPr lang="en-US" sz="3200" b="1" dirty="0" smtClean="0">
              <a:solidFill>
                <a:schemeClr val="accent2">
                  <a:lumMod val="50000"/>
                </a:schemeClr>
              </a:solidFill>
            </a:endParaRPr>
          </a:p>
        </p:txBody>
      </p:sp>
      <p:sp>
        <p:nvSpPr>
          <p:cNvPr id="113668"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D4B7B614-16AD-436F-A426-47F9BD1C1FF1}" type="datetime2">
              <a:rPr lang="en-US" altLang="en-US" smtClean="0">
                <a:solidFill>
                  <a:schemeClr val="tx2"/>
                </a:solidFill>
              </a:rPr>
              <a:pPr/>
              <a:t>Tuesday, March 10, 2026</a:t>
            </a:fld>
            <a:endParaRPr lang="en-US" altLang="en-US" smtClean="0">
              <a:solidFill>
                <a:schemeClr val="tx2"/>
              </a:solidFill>
            </a:endParaRPr>
          </a:p>
        </p:txBody>
      </p:sp>
      <p:sp>
        <p:nvSpPr>
          <p:cNvPr id="113669" name="Footer Placeholder 4"/>
          <p:cNvSpPr>
            <a:spLocks noGrp="1"/>
          </p:cNvSpPr>
          <p:nvPr>
            <p:ph type="ftr" sz="quarter" idx="11"/>
          </p:nvPr>
        </p:nvSpPr>
        <p:spPr bwMode="auto">
          <a:xfrm>
            <a:off x="3124200" y="6340475"/>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cxnSp>
        <p:nvCxnSpPr>
          <p:cNvPr id="7" name="Straight Connector 6"/>
          <p:cNvCxnSpPr/>
          <p:nvPr/>
        </p:nvCxnSpPr>
        <p:spPr>
          <a:xfrm>
            <a:off x="304800" y="7620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13666" name="Object 8"/>
          <p:cNvGraphicFramePr>
            <a:graphicFrameLocks noChangeAspect="1"/>
          </p:cNvGraphicFramePr>
          <p:nvPr/>
        </p:nvGraphicFramePr>
        <p:xfrm>
          <a:off x="5562600" y="914400"/>
          <a:ext cx="3352800" cy="328613"/>
        </p:xfrm>
        <a:graphic>
          <a:graphicData uri="http://schemas.openxmlformats.org/presentationml/2006/ole">
            <mc:AlternateContent xmlns:mc="http://schemas.openxmlformats.org/markup-compatibility/2006">
              <mc:Choice xmlns:v="urn:schemas-microsoft-com:vml" Requires="v">
                <p:oleObj spid="_x0000_s2056" name="Equation" r:id="rId3" imgW="1638000" imgH="203040" progId="Equation.DSMT4">
                  <p:embed/>
                </p:oleObj>
              </mc:Choice>
              <mc:Fallback>
                <p:oleObj name="Equation" r:id="rId3" imgW="1638000" imgH="203040" progId="Equation.DSMT4">
                  <p:embed/>
                  <p:pic>
                    <p:nvPicPr>
                      <p:cNvPr id="113666"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600" y="914400"/>
                        <a:ext cx="335280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6" name="Straight Connector 45"/>
          <p:cNvCxnSpPr/>
          <p:nvPr/>
        </p:nvCxnSpPr>
        <p:spPr>
          <a:xfrm flipV="1">
            <a:off x="2055813" y="2438400"/>
            <a:ext cx="0" cy="7175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3672" name="TextBox 64"/>
          <p:cNvSpPr txBox="1">
            <a:spLocks noChangeArrowheads="1"/>
          </p:cNvSpPr>
          <p:nvPr/>
        </p:nvSpPr>
        <p:spPr bwMode="auto">
          <a:xfrm>
            <a:off x="1781175" y="1993900"/>
            <a:ext cx="5508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+V</a:t>
            </a:r>
            <a:r>
              <a:rPr lang="en-US" altLang="en-US" baseline="-25000"/>
              <a:t>cc</a:t>
            </a:r>
          </a:p>
        </p:txBody>
      </p:sp>
      <p:sp>
        <p:nvSpPr>
          <p:cNvPr id="48" name="Rectangle 47"/>
          <p:cNvSpPr/>
          <p:nvPr/>
        </p:nvSpPr>
        <p:spPr>
          <a:xfrm>
            <a:off x="2633663" y="2106613"/>
            <a:ext cx="1600200" cy="2324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50" name="Straight Arrow Connector 49"/>
          <p:cNvCxnSpPr/>
          <p:nvPr/>
        </p:nvCxnSpPr>
        <p:spPr>
          <a:xfrm>
            <a:off x="2055813" y="4203700"/>
            <a:ext cx="57785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flipV="1">
            <a:off x="3884613" y="4430713"/>
            <a:ext cx="0" cy="419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3676" name="TextBox 53"/>
          <p:cNvSpPr txBox="1">
            <a:spLocks noChangeArrowheads="1"/>
          </p:cNvSpPr>
          <p:nvPr/>
        </p:nvSpPr>
        <p:spPr bwMode="auto">
          <a:xfrm>
            <a:off x="2894013" y="2946400"/>
            <a:ext cx="10318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1:8</a:t>
            </a:r>
          </a:p>
          <a:p>
            <a:pPr algn="ctr" eaLnBrk="1" hangingPunct="1"/>
            <a:r>
              <a:rPr lang="en-US" altLang="en-US" b="1"/>
              <a:t>De-mux</a:t>
            </a:r>
          </a:p>
        </p:txBody>
      </p:sp>
      <p:sp>
        <p:nvSpPr>
          <p:cNvPr id="113677" name="TextBox 54"/>
          <p:cNvSpPr txBox="1">
            <a:spLocks noChangeArrowheads="1"/>
          </p:cNvSpPr>
          <p:nvPr/>
        </p:nvSpPr>
        <p:spPr bwMode="auto">
          <a:xfrm>
            <a:off x="1682750" y="4025900"/>
            <a:ext cx="2968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a:t>
            </a:r>
          </a:p>
        </p:txBody>
      </p:sp>
      <p:sp>
        <p:nvSpPr>
          <p:cNvPr id="113678" name="TextBox 55"/>
          <p:cNvSpPr txBox="1">
            <a:spLocks noChangeArrowheads="1"/>
          </p:cNvSpPr>
          <p:nvPr/>
        </p:nvSpPr>
        <p:spPr bwMode="auto">
          <a:xfrm>
            <a:off x="1465263" y="4394200"/>
            <a:ext cx="8191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Enable</a:t>
            </a:r>
          </a:p>
          <a:p>
            <a:pPr eaLnBrk="1" hangingPunct="1"/>
            <a:r>
              <a:rPr lang="en-US" altLang="en-US"/>
              <a:t> Input</a:t>
            </a:r>
          </a:p>
        </p:txBody>
      </p:sp>
      <p:sp>
        <p:nvSpPr>
          <p:cNvPr id="113679" name="TextBox 65"/>
          <p:cNvSpPr txBox="1">
            <a:spLocks noChangeArrowheads="1"/>
          </p:cNvSpPr>
          <p:nvPr/>
        </p:nvSpPr>
        <p:spPr bwMode="auto">
          <a:xfrm>
            <a:off x="3890963" y="20685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0</a:t>
            </a:r>
          </a:p>
        </p:txBody>
      </p:sp>
      <p:sp>
        <p:nvSpPr>
          <p:cNvPr id="113680" name="TextBox 66"/>
          <p:cNvSpPr txBox="1">
            <a:spLocks noChangeArrowheads="1"/>
          </p:cNvSpPr>
          <p:nvPr/>
        </p:nvSpPr>
        <p:spPr bwMode="auto">
          <a:xfrm>
            <a:off x="3884613" y="2373313"/>
            <a:ext cx="3762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a:t>
            </a:r>
          </a:p>
        </p:txBody>
      </p:sp>
      <p:sp>
        <p:nvSpPr>
          <p:cNvPr id="113681" name="TextBox 67"/>
          <p:cNvSpPr txBox="1">
            <a:spLocks noChangeArrowheads="1"/>
          </p:cNvSpPr>
          <p:nvPr/>
        </p:nvSpPr>
        <p:spPr bwMode="auto">
          <a:xfrm>
            <a:off x="1143000" y="2794000"/>
            <a:ext cx="6842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Data</a:t>
            </a:r>
          </a:p>
          <a:p>
            <a:pPr eaLnBrk="1" hangingPunct="1"/>
            <a:r>
              <a:rPr lang="en-US" altLang="en-US"/>
              <a:t>Input</a:t>
            </a:r>
          </a:p>
        </p:txBody>
      </p:sp>
      <p:cxnSp>
        <p:nvCxnSpPr>
          <p:cNvPr id="70" name="Straight Arrow Connector 69"/>
          <p:cNvCxnSpPr/>
          <p:nvPr/>
        </p:nvCxnSpPr>
        <p:spPr>
          <a:xfrm>
            <a:off x="2055813" y="3146425"/>
            <a:ext cx="57785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3683" name="TextBox 70"/>
          <p:cNvSpPr txBox="1">
            <a:spLocks noChangeArrowheads="1"/>
          </p:cNvSpPr>
          <p:nvPr/>
        </p:nvSpPr>
        <p:spPr bwMode="auto">
          <a:xfrm>
            <a:off x="2603500" y="2995613"/>
            <a:ext cx="4429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in</a:t>
            </a:r>
          </a:p>
        </p:txBody>
      </p:sp>
      <p:cxnSp>
        <p:nvCxnSpPr>
          <p:cNvPr id="72" name="Straight Arrow Connector 71"/>
          <p:cNvCxnSpPr/>
          <p:nvPr/>
        </p:nvCxnSpPr>
        <p:spPr>
          <a:xfrm flipV="1">
            <a:off x="3046413" y="4430713"/>
            <a:ext cx="0" cy="419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3685" name="TextBox 72"/>
          <p:cNvSpPr txBox="1">
            <a:spLocks noChangeArrowheads="1"/>
          </p:cNvSpPr>
          <p:nvPr/>
        </p:nvSpPr>
        <p:spPr bwMode="auto">
          <a:xfrm>
            <a:off x="3662363" y="39735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0</a:t>
            </a:r>
          </a:p>
        </p:txBody>
      </p:sp>
      <p:sp>
        <p:nvSpPr>
          <p:cNvPr id="113686" name="TextBox 73"/>
          <p:cNvSpPr txBox="1">
            <a:spLocks noChangeArrowheads="1"/>
          </p:cNvSpPr>
          <p:nvPr/>
        </p:nvSpPr>
        <p:spPr bwMode="auto">
          <a:xfrm>
            <a:off x="3205163" y="3986213"/>
            <a:ext cx="374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1</a:t>
            </a:r>
          </a:p>
        </p:txBody>
      </p:sp>
      <p:sp>
        <p:nvSpPr>
          <p:cNvPr id="113687" name="TextBox 76"/>
          <p:cNvSpPr txBox="1">
            <a:spLocks noChangeArrowheads="1"/>
          </p:cNvSpPr>
          <p:nvPr/>
        </p:nvSpPr>
        <p:spPr bwMode="auto">
          <a:xfrm>
            <a:off x="3890963" y="2690813"/>
            <a:ext cx="374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2</a:t>
            </a:r>
          </a:p>
        </p:txBody>
      </p:sp>
      <p:sp>
        <p:nvSpPr>
          <p:cNvPr id="113688" name="TextBox 77"/>
          <p:cNvSpPr txBox="1">
            <a:spLocks noChangeArrowheads="1"/>
          </p:cNvSpPr>
          <p:nvPr/>
        </p:nvSpPr>
        <p:spPr bwMode="auto">
          <a:xfrm>
            <a:off x="3884613" y="2919413"/>
            <a:ext cx="3762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3</a:t>
            </a:r>
          </a:p>
        </p:txBody>
      </p:sp>
      <p:sp>
        <p:nvSpPr>
          <p:cNvPr id="113689" name="TextBox 79"/>
          <p:cNvSpPr txBox="1">
            <a:spLocks noChangeArrowheads="1"/>
          </p:cNvSpPr>
          <p:nvPr/>
        </p:nvSpPr>
        <p:spPr bwMode="auto">
          <a:xfrm>
            <a:off x="3890963" y="31353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4</a:t>
            </a:r>
          </a:p>
        </p:txBody>
      </p:sp>
      <p:sp>
        <p:nvSpPr>
          <p:cNvPr id="113690" name="TextBox 80"/>
          <p:cNvSpPr txBox="1">
            <a:spLocks noChangeArrowheads="1"/>
          </p:cNvSpPr>
          <p:nvPr/>
        </p:nvSpPr>
        <p:spPr bwMode="auto">
          <a:xfrm>
            <a:off x="3884613" y="3440113"/>
            <a:ext cx="3762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5</a:t>
            </a:r>
          </a:p>
        </p:txBody>
      </p:sp>
      <p:sp>
        <p:nvSpPr>
          <p:cNvPr id="113691" name="TextBox 84"/>
          <p:cNvSpPr txBox="1">
            <a:spLocks noChangeArrowheads="1"/>
          </p:cNvSpPr>
          <p:nvPr/>
        </p:nvSpPr>
        <p:spPr bwMode="auto">
          <a:xfrm>
            <a:off x="3890963" y="3757613"/>
            <a:ext cx="374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6</a:t>
            </a:r>
          </a:p>
        </p:txBody>
      </p:sp>
      <p:sp>
        <p:nvSpPr>
          <p:cNvPr id="113692" name="TextBox 85"/>
          <p:cNvSpPr txBox="1">
            <a:spLocks noChangeArrowheads="1"/>
          </p:cNvSpPr>
          <p:nvPr/>
        </p:nvSpPr>
        <p:spPr bwMode="auto">
          <a:xfrm>
            <a:off x="3884613" y="3986213"/>
            <a:ext cx="3762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7</a:t>
            </a:r>
          </a:p>
        </p:txBody>
      </p:sp>
      <p:cxnSp>
        <p:nvCxnSpPr>
          <p:cNvPr id="87" name="Straight Arrow Connector 86"/>
          <p:cNvCxnSpPr/>
          <p:nvPr/>
        </p:nvCxnSpPr>
        <p:spPr>
          <a:xfrm flipV="1">
            <a:off x="3427413" y="4430713"/>
            <a:ext cx="0" cy="419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3694" name="TextBox 87"/>
          <p:cNvSpPr txBox="1">
            <a:spLocks noChangeArrowheads="1"/>
          </p:cNvSpPr>
          <p:nvPr/>
        </p:nvSpPr>
        <p:spPr bwMode="auto">
          <a:xfrm>
            <a:off x="2817813" y="3973513"/>
            <a:ext cx="3762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2</a:t>
            </a:r>
          </a:p>
        </p:txBody>
      </p:sp>
      <p:sp>
        <p:nvSpPr>
          <p:cNvPr id="113695" name="TextBox 88"/>
          <p:cNvSpPr txBox="1">
            <a:spLocks noChangeArrowheads="1"/>
          </p:cNvSpPr>
          <p:nvPr/>
        </p:nvSpPr>
        <p:spPr bwMode="auto">
          <a:xfrm>
            <a:off x="2881313" y="4887913"/>
            <a:ext cx="317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A</a:t>
            </a:r>
          </a:p>
        </p:txBody>
      </p:sp>
      <p:sp>
        <p:nvSpPr>
          <p:cNvPr id="113696" name="TextBox 89"/>
          <p:cNvSpPr txBox="1">
            <a:spLocks noChangeArrowheads="1"/>
          </p:cNvSpPr>
          <p:nvPr/>
        </p:nvSpPr>
        <p:spPr bwMode="auto">
          <a:xfrm>
            <a:off x="3262313" y="4887913"/>
            <a:ext cx="317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B</a:t>
            </a:r>
          </a:p>
        </p:txBody>
      </p:sp>
      <p:sp>
        <p:nvSpPr>
          <p:cNvPr id="113697" name="TextBox 90"/>
          <p:cNvSpPr txBox="1">
            <a:spLocks noChangeArrowheads="1"/>
          </p:cNvSpPr>
          <p:nvPr/>
        </p:nvSpPr>
        <p:spPr bwMode="auto">
          <a:xfrm>
            <a:off x="3719513" y="4887913"/>
            <a:ext cx="317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C</a:t>
            </a:r>
          </a:p>
        </p:txBody>
      </p:sp>
      <p:grpSp>
        <p:nvGrpSpPr>
          <p:cNvPr id="113698" name="Group 65"/>
          <p:cNvGrpSpPr>
            <a:grpSpLocks/>
          </p:cNvGrpSpPr>
          <p:nvPr/>
        </p:nvGrpSpPr>
        <p:grpSpPr bwMode="auto">
          <a:xfrm>
            <a:off x="5867400" y="2438400"/>
            <a:ext cx="1828800" cy="1390650"/>
            <a:chOff x="3257550" y="1824114"/>
            <a:chExt cx="3448050" cy="1452486"/>
          </a:xfrm>
        </p:grpSpPr>
        <p:sp>
          <p:nvSpPr>
            <p:cNvPr id="93" name="Arc 92"/>
            <p:cNvSpPr/>
            <p:nvPr/>
          </p:nvSpPr>
          <p:spPr bwMode="auto">
            <a:xfrm>
              <a:off x="4191397" y="1824114"/>
              <a:ext cx="532772" cy="1452486"/>
            </a:xfrm>
            <a:prstGeom prst="arc">
              <a:avLst>
                <a:gd name="adj1" fmla="val 16200000"/>
                <a:gd name="adj2" fmla="val 5317088"/>
              </a:avLst>
            </a:prstGeom>
            <a:noFill/>
            <a:ln w="25400" cap="flat" cmpd="sng" algn="ctr">
              <a:solidFill>
                <a:schemeClr val="tx1"/>
              </a:solidFill>
              <a:prstDash val="solid"/>
              <a:miter lim="800000"/>
              <a:headEnd type="none" w="med" len="med"/>
              <a:tailEnd type="none" w="med" len="med"/>
            </a:ln>
            <a:effectLst/>
          </p:spPr>
          <p:txBody>
            <a:bodyPr wrap="none"/>
            <a:lstStyle/>
            <a:p>
              <a:pPr eaLnBrk="1" fontAlgn="auto" hangingPunct="1">
                <a:spcBef>
                  <a:spcPts val="0"/>
                </a:spcBef>
                <a:spcAft>
                  <a:spcPts val="0"/>
                </a:spcAft>
                <a:defRPr/>
              </a:pPr>
              <a:endParaRPr lang="en-US">
                <a:latin typeface="+mn-lt"/>
              </a:endParaRPr>
            </a:p>
          </p:txBody>
        </p:sp>
        <p:sp>
          <p:nvSpPr>
            <p:cNvPr id="94" name="Arc 93"/>
            <p:cNvSpPr/>
            <p:nvPr/>
          </p:nvSpPr>
          <p:spPr bwMode="auto">
            <a:xfrm>
              <a:off x="3257550" y="1824114"/>
              <a:ext cx="2400465" cy="1452486"/>
            </a:xfrm>
            <a:prstGeom prst="arc">
              <a:avLst>
                <a:gd name="adj1" fmla="val 16200000"/>
                <a:gd name="adj2" fmla="val 5340452"/>
              </a:avLst>
            </a:prstGeom>
            <a:noFill/>
            <a:ln w="25400" cap="flat" cmpd="sng" algn="ctr">
              <a:solidFill>
                <a:schemeClr val="tx1"/>
              </a:solidFill>
              <a:prstDash val="solid"/>
              <a:miter lim="800000"/>
              <a:headEnd type="none" w="med" len="med"/>
              <a:tailEnd type="none" w="med" len="med"/>
            </a:ln>
            <a:effectLst/>
          </p:spPr>
          <p:txBody>
            <a:bodyPr wrap="none"/>
            <a:lstStyle/>
            <a:p>
              <a:pPr eaLnBrk="1" fontAlgn="auto" hangingPunct="1">
                <a:spcBef>
                  <a:spcPts val="0"/>
                </a:spcBef>
                <a:spcAft>
                  <a:spcPts val="0"/>
                </a:spcAft>
                <a:defRPr/>
              </a:pPr>
              <a:endParaRPr lang="en-US">
                <a:latin typeface="+mn-lt"/>
              </a:endParaRPr>
            </a:p>
          </p:txBody>
        </p:sp>
        <p:cxnSp>
          <p:nvCxnSpPr>
            <p:cNvPr id="113716" name="Straight Connector 94"/>
            <p:cNvCxnSpPr>
              <a:cxnSpLocks noChangeShapeType="1"/>
            </p:cNvCxnSpPr>
            <p:nvPr/>
          </p:nvCxnSpPr>
          <p:spPr bwMode="auto">
            <a:xfrm>
              <a:off x="3581400" y="2133600"/>
              <a:ext cx="1066800"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3717" name="Straight Connector 95"/>
            <p:cNvCxnSpPr>
              <a:cxnSpLocks noChangeShapeType="1"/>
            </p:cNvCxnSpPr>
            <p:nvPr/>
          </p:nvCxnSpPr>
          <p:spPr bwMode="auto">
            <a:xfrm>
              <a:off x="3581400" y="3018092"/>
              <a:ext cx="1066801"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3718" name="Straight Connector 96"/>
            <p:cNvCxnSpPr>
              <a:cxnSpLocks noChangeShapeType="1"/>
            </p:cNvCxnSpPr>
            <p:nvPr/>
          </p:nvCxnSpPr>
          <p:spPr bwMode="auto">
            <a:xfrm>
              <a:off x="5638800" y="2514600"/>
              <a:ext cx="1066800"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grpSp>
      <p:cxnSp>
        <p:nvCxnSpPr>
          <p:cNvPr id="113699" name="Straight Connector 97"/>
          <p:cNvCxnSpPr>
            <a:cxnSpLocks noChangeShapeType="1"/>
          </p:cNvCxnSpPr>
          <p:nvPr/>
        </p:nvCxnSpPr>
        <p:spPr bwMode="auto">
          <a:xfrm>
            <a:off x="5638800" y="2971800"/>
            <a:ext cx="1022350"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3700" name="Straight Connector 98"/>
          <p:cNvCxnSpPr>
            <a:cxnSpLocks noChangeShapeType="1"/>
          </p:cNvCxnSpPr>
          <p:nvPr/>
        </p:nvCxnSpPr>
        <p:spPr bwMode="auto">
          <a:xfrm flipV="1">
            <a:off x="5638800" y="3276600"/>
            <a:ext cx="1022350" cy="11113"/>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3701" name="Straight Connector 99"/>
          <p:cNvCxnSpPr>
            <a:cxnSpLocks noChangeShapeType="1"/>
          </p:cNvCxnSpPr>
          <p:nvPr/>
        </p:nvCxnSpPr>
        <p:spPr bwMode="auto">
          <a:xfrm>
            <a:off x="4233863" y="3117850"/>
            <a:ext cx="1404937"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3702" name="Straight Connector 100"/>
          <p:cNvCxnSpPr>
            <a:cxnSpLocks noChangeShapeType="1"/>
          </p:cNvCxnSpPr>
          <p:nvPr/>
        </p:nvCxnSpPr>
        <p:spPr bwMode="auto">
          <a:xfrm>
            <a:off x="4233863" y="2286000"/>
            <a:ext cx="1804987"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3703" name="Straight Connector 101"/>
          <p:cNvCxnSpPr>
            <a:cxnSpLocks noChangeShapeType="1"/>
          </p:cNvCxnSpPr>
          <p:nvPr/>
        </p:nvCxnSpPr>
        <p:spPr bwMode="auto">
          <a:xfrm>
            <a:off x="4233863" y="3657600"/>
            <a:ext cx="1404937"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3704" name="Straight Connector 102"/>
          <p:cNvCxnSpPr>
            <a:cxnSpLocks noChangeShapeType="1"/>
          </p:cNvCxnSpPr>
          <p:nvPr/>
        </p:nvCxnSpPr>
        <p:spPr bwMode="auto">
          <a:xfrm>
            <a:off x="4233863" y="3962400"/>
            <a:ext cx="1822450" cy="3175"/>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05" name="Straight Connector 104"/>
          <p:cNvCxnSpPr/>
          <p:nvPr/>
        </p:nvCxnSpPr>
        <p:spPr>
          <a:xfrm flipV="1">
            <a:off x="6056313" y="2286000"/>
            <a:ext cx="0" cy="44926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V="1">
            <a:off x="6038850" y="3576638"/>
            <a:ext cx="17463" cy="3889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V="1">
            <a:off x="5653088" y="3284538"/>
            <a:ext cx="0" cy="37306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flipV="1">
            <a:off x="5638800" y="2971800"/>
            <a:ext cx="14288" cy="1460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709" name="Straight Connector 114"/>
          <p:cNvCxnSpPr>
            <a:cxnSpLocks noChangeShapeType="1"/>
          </p:cNvCxnSpPr>
          <p:nvPr/>
        </p:nvCxnSpPr>
        <p:spPr bwMode="auto">
          <a:xfrm>
            <a:off x="4233863" y="2590800"/>
            <a:ext cx="500062"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3710" name="Straight Connector 116"/>
          <p:cNvCxnSpPr>
            <a:cxnSpLocks noChangeShapeType="1"/>
          </p:cNvCxnSpPr>
          <p:nvPr/>
        </p:nvCxnSpPr>
        <p:spPr bwMode="auto">
          <a:xfrm>
            <a:off x="4224338" y="2895600"/>
            <a:ext cx="500062"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3711" name="Straight Connector 117"/>
          <p:cNvCxnSpPr>
            <a:cxnSpLocks noChangeShapeType="1"/>
          </p:cNvCxnSpPr>
          <p:nvPr/>
        </p:nvCxnSpPr>
        <p:spPr bwMode="auto">
          <a:xfrm>
            <a:off x="4224338" y="3352800"/>
            <a:ext cx="500062"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3712" name="Straight Connector 118"/>
          <p:cNvCxnSpPr>
            <a:cxnSpLocks noChangeShapeType="1"/>
          </p:cNvCxnSpPr>
          <p:nvPr/>
        </p:nvCxnSpPr>
        <p:spPr bwMode="auto">
          <a:xfrm>
            <a:off x="4224338" y="4191000"/>
            <a:ext cx="500062"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sp>
        <p:nvSpPr>
          <p:cNvPr id="113713" name="TextBox 119"/>
          <p:cNvSpPr txBox="1">
            <a:spLocks noChangeArrowheads="1"/>
          </p:cNvSpPr>
          <p:nvPr/>
        </p:nvSpPr>
        <p:spPr bwMode="auto">
          <a:xfrm>
            <a:off x="7835900" y="2895600"/>
            <a:ext cx="2968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p>
        </p:txBody>
      </p:sp>
    </p:spTree>
    <p:extLst>
      <p:ext uri="{BB962C8B-B14F-4D97-AF65-F5344CB8AC3E}">
        <p14:creationId xmlns:p14="http://schemas.microsoft.com/office/powerpoint/2010/main" val="86690300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Title 1"/>
          <p:cNvSpPr>
            <a:spLocks noGrp="1"/>
          </p:cNvSpPr>
          <p:nvPr>
            <p:ph type="title"/>
          </p:nvPr>
        </p:nvSpPr>
        <p:spPr>
          <a:xfrm>
            <a:off x="381000" y="0"/>
            <a:ext cx="8229600" cy="563563"/>
          </a:xfrm>
        </p:spPr>
        <p:txBody>
          <a:bodyPr>
            <a:normAutofit fontScale="90000"/>
          </a:bodyPr>
          <a:lstStyle/>
          <a:p>
            <a:pPr eaLnBrk="1" fontAlgn="auto" hangingPunct="1">
              <a:spcAft>
                <a:spcPts val="0"/>
              </a:spcAft>
              <a:defRPr/>
            </a:pPr>
            <a:r>
              <a:rPr lang="en-US" sz="3200" b="1" dirty="0" smtClean="0">
                <a:solidFill>
                  <a:schemeClr val="accent2">
                    <a:lumMod val="50000"/>
                  </a:schemeClr>
                </a:solidFill>
              </a:rPr>
              <a:t>Example 2</a:t>
            </a:r>
          </a:p>
        </p:txBody>
      </p:sp>
      <p:sp>
        <p:nvSpPr>
          <p:cNvPr id="114692"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A348C6AF-274A-49A7-92DF-AB724AD84F5C}" type="datetime2">
              <a:rPr lang="en-US" altLang="en-US" smtClean="0">
                <a:solidFill>
                  <a:schemeClr val="tx2"/>
                </a:solidFill>
              </a:rPr>
              <a:pPr/>
              <a:t>Tuesday, March 10, 2026</a:t>
            </a:fld>
            <a:endParaRPr lang="en-US" altLang="en-US" smtClean="0">
              <a:solidFill>
                <a:schemeClr val="tx2"/>
              </a:solidFill>
            </a:endParaRPr>
          </a:p>
        </p:txBody>
      </p:sp>
      <p:sp>
        <p:nvSpPr>
          <p:cNvPr id="11469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sp>
        <p:nvSpPr>
          <p:cNvPr id="114694" name="Content Placeholder 2"/>
          <p:cNvSpPr>
            <a:spLocks noGrp="1"/>
          </p:cNvSpPr>
          <p:nvPr>
            <p:ph sz="quarter" idx="1"/>
          </p:nvPr>
        </p:nvSpPr>
        <p:spPr>
          <a:xfrm>
            <a:off x="457200" y="2590800"/>
            <a:ext cx="8229600" cy="3352800"/>
          </a:xfrm>
        </p:spPr>
        <p:txBody>
          <a:bodyPr/>
          <a:lstStyle/>
          <a:p>
            <a:pPr algn="just" eaLnBrk="1" hangingPunct="1">
              <a:buFont typeface="Wingdings" panose="05000000000000000000" pitchFamily="2" charset="2"/>
              <a:buChar char="ü"/>
            </a:pPr>
            <a:r>
              <a:rPr lang="en-US" altLang="en-US" smtClean="0"/>
              <a:t>Since there are four variables, therefore a de-multiplexer with four select input is required i.e. 1:16 de-multiplexer is required</a:t>
            </a:r>
          </a:p>
          <a:p>
            <a:pPr algn="just" eaLnBrk="1" hangingPunct="1">
              <a:buFont typeface="Wingdings" panose="05000000000000000000" pitchFamily="2" charset="2"/>
              <a:buChar char="ü"/>
            </a:pPr>
            <a:r>
              <a:rPr lang="en-US" altLang="en-US" smtClean="0"/>
              <a:t>The 1:16 de-multiplexer is configured as below to implement given Boolean expression</a:t>
            </a:r>
          </a:p>
        </p:txBody>
      </p:sp>
      <p:cxnSp>
        <p:nvCxnSpPr>
          <p:cNvPr id="7" name="Straight Connector 6"/>
          <p:cNvCxnSpPr/>
          <p:nvPr/>
        </p:nvCxnSpPr>
        <p:spPr>
          <a:xfrm>
            <a:off x="304800" y="7620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14696" name="TextBox 7"/>
          <p:cNvSpPr txBox="1">
            <a:spLocks noChangeArrowheads="1"/>
          </p:cNvSpPr>
          <p:nvPr/>
        </p:nvSpPr>
        <p:spPr bwMode="auto">
          <a:xfrm>
            <a:off x="304800" y="909638"/>
            <a:ext cx="78946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400"/>
              <a:t>Implement following Boolean expression using de-multiplexer</a:t>
            </a:r>
          </a:p>
        </p:txBody>
      </p:sp>
      <p:graphicFrame>
        <p:nvGraphicFramePr>
          <p:cNvPr id="114690" name="Object 8"/>
          <p:cNvGraphicFramePr>
            <a:graphicFrameLocks noChangeAspect="1"/>
          </p:cNvGraphicFramePr>
          <p:nvPr/>
        </p:nvGraphicFramePr>
        <p:xfrm>
          <a:off x="2078038" y="1728788"/>
          <a:ext cx="4989512" cy="328612"/>
        </p:xfrm>
        <a:graphic>
          <a:graphicData uri="http://schemas.openxmlformats.org/presentationml/2006/ole">
            <mc:AlternateContent xmlns:mc="http://schemas.openxmlformats.org/markup-compatibility/2006">
              <mc:Choice xmlns:v="urn:schemas-microsoft-com:vml" Requires="v">
                <p:oleObj spid="_x0000_s3080" name="Equation" r:id="rId3" imgW="2438280" imgH="203040" progId="Equation.DSMT4">
                  <p:embed/>
                </p:oleObj>
              </mc:Choice>
              <mc:Fallback>
                <p:oleObj name="Equation" r:id="rId3" imgW="2438280" imgH="203040" progId="Equation.DSMT4">
                  <p:embed/>
                  <p:pic>
                    <p:nvPicPr>
                      <p:cNvPr id="11469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8038" y="1728788"/>
                        <a:ext cx="4989512"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17601792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Title 1"/>
          <p:cNvSpPr>
            <a:spLocks noGrp="1"/>
          </p:cNvSpPr>
          <p:nvPr>
            <p:ph type="title"/>
          </p:nvPr>
        </p:nvSpPr>
        <p:spPr>
          <a:xfrm>
            <a:off x="381000" y="0"/>
            <a:ext cx="8229600" cy="563563"/>
          </a:xfrm>
        </p:spPr>
        <p:txBody>
          <a:bodyPr>
            <a:normAutofit fontScale="90000"/>
          </a:bodyPr>
          <a:lstStyle/>
          <a:p>
            <a:pPr eaLnBrk="1" fontAlgn="auto" hangingPunct="1">
              <a:spcAft>
                <a:spcPts val="0"/>
              </a:spcAft>
              <a:defRPr/>
            </a:pPr>
            <a:r>
              <a:rPr lang="en-US" sz="3200" b="1" dirty="0" smtClean="0">
                <a:solidFill>
                  <a:schemeClr val="accent2">
                    <a:lumMod val="50000"/>
                  </a:schemeClr>
                </a:solidFill>
              </a:rPr>
              <a:t>Example 2                                                 </a:t>
            </a:r>
            <a:r>
              <a:rPr lang="en-US" b="1" dirty="0" smtClean="0">
                <a:solidFill>
                  <a:schemeClr val="accent2">
                    <a:lumMod val="50000"/>
                  </a:schemeClr>
                </a:solidFill>
              </a:rPr>
              <a:t> </a:t>
            </a:r>
            <a:r>
              <a:rPr lang="en-US" sz="2400" b="1" dirty="0" smtClean="0">
                <a:solidFill>
                  <a:schemeClr val="accent2">
                    <a:lumMod val="50000"/>
                  </a:schemeClr>
                </a:solidFill>
              </a:rPr>
              <a:t>continue…..</a:t>
            </a:r>
            <a:endParaRPr lang="en-US" sz="3200" b="1" dirty="0" smtClean="0">
              <a:solidFill>
                <a:schemeClr val="accent2">
                  <a:lumMod val="50000"/>
                </a:schemeClr>
              </a:solidFill>
            </a:endParaRPr>
          </a:p>
        </p:txBody>
      </p:sp>
      <p:sp>
        <p:nvSpPr>
          <p:cNvPr id="115716"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AC2EC816-6DD7-4E9D-B4E5-7E8F1F38D818}" type="datetime2">
              <a:rPr lang="en-US" altLang="en-US" smtClean="0">
                <a:solidFill>
                  <a:schemeClr val="tx2"/>
                </a:solidFill>
              </a:rPr>
              <a:pPr/>
              <a:t>Tuesday, March 10, 2026</a:t>
            </a:fld>
            <a:endParaRPr lang="en-US" altLang="en-US" smtClean="0">
              <a:solidFill>
                <a:schemeClr val="tx2"/>
              </a:solidFill>
            </a:endParaRPr>
          </a:p>
        </p:txBody>
      </p:sp>
      <p:sp>
        <p:nvSpPr>
          <p:cNvPr id="11571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cxnSp>
        <p:nvCxnSpPr>
          <p:cNvPr id="7" name="Straight Connector 6"/>
          <p:cNvCxnSpPr/>
          <p:nvPr/>
        </p:nvCxnSpPr>
        <p:spPr>
          <a:xfrm>
            <a:off x="304800" y="7620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15714" name="Object 8"/>
          <p:cNvGraphicFramePr>
            <a:graphicFrameLocks noChangeAspect="1"/>
          </p:cNvGraphicFramePr>
          <p:nvPr/>
        </p:nvGraphicFramePr>
        <p:xfrm>
          <a:off x="3733800" y="5919788"/>
          <a:ext cx="4989513" cy="328612"/>
        </p:xfrm>
        <a:graphic>
          <a:graphicData uri="http://schemas.openxmlformats.org/presentationml/2006/ole">
            <mc:AlternateContent xmlns:mc="http://schemas.openxmlformats.org/markup-compatibility/2006">
              <mc:Choice xmlns:v="urn:schemas-microsoft-com:vml" Requires="v">
                <p:oleObj spid="_x0000_s4104" name="Equation" r:id="rId3" imgW="2438280" imgH="203040" progId="Equation.DSMT4">
                  <p:embed/>
                </p:oleObj>
              </mc:Choice>
              <mc:Fallback>
                <p:oleObj name="Equation" r:id="rId3" imgW="2438280" imgH="203040" progId="Equation.DSMT4">
                  <p:embed/>
                  <p:pic>
                    <p:nvPicPr>
                      <p:cNvPr id="11571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5919788"/>
                        <a:ext cx="4989513"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62" name="Straight Connector 61"/>
          <p:cNvCxnSpPr/>
          <p:nvPr/>
        </p:nvCxnSpPr>
        <p:spPr>
          <a:xfrm flipV="1">
            <a:off x="1522413" y="2286000"/>
            <a:ext cx="0" cy="8953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5720" name="TextBox 87"/>
          <p:cNvSpPr txBox="1">
            <a:spLocks noChangeArrowheads="1"/>
          </p:cNvSpPr>
          <p:nvPr/>
        </p:nvSpPr>
        <p:spPr bwMode="auto">
          <a:xfrm>
            <a:off x="2187575" y="6096000"/>
            <a:ext cx="317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A</a:t>
            </a:r>
          </a:p>
        </p:txBody>
      </p:sp>
      <p:sp>
        <p:nvSpPr>
          <p:cNvPr id="115721" name="TextBox 88"/>
          <p:cNvSpPr txBox="1">
            <a:spLocks noChangeArrowheads="1"/>
          </p:cNvSpPr>
          <p:nvPr/>
        </p:nvSpPr>
        <p:spPr bwMode="auto">
          <a:xfrm>
            <a:off x="2505075" y="6096000"/>
            <a:ext cx="317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B</a:t>
            </a:r>
          </a:p>
        </p:txBody>
      </p:sp>
      <p:sp>
        <p:nvSpPr>
          <p:cNvPr id="115722" name="TextBox 89"/>
          <p:cNvSpPr txBox="1">
            <a:spLocks noChangeArrowheads="1"/>
          </p:cNvSpPr>
          <p:nvPr/>
        </p:nvSpPr>
        <p:spPr bwMode="auto">
          <a:xfrm>
            <a:off x="2809875" y="6096000"/>
            <a:ext cx="317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C</a:t>
            </a:r>
          </a:p>
        </p:txBody>
      </p:sp>
      <p:sp>
        <p:nvSpPr>
          <p:cNvPr id="115723" name="TextBox 90"/>
          <p:cNvSpPr txBox="1">
            <a:spLocks noChangeArrowheads="1"/>
          </p:cNvSpPr>
          <p:nvPr/>
        </p:nvSpPr>
        <p:spPr bwMode="auto">
          <a:xfrm>
            <a:off x="1219200" y="1839913"/>
            <a:ext cx="5508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+V</a:t>
            </a:r>
            <a:r>
              <a:rPr lang="en-US" altLang="en-US" baseline="-25000"/>
              <a:t>cc</a:t>
            </a:r>
          </a:p>
        </p:txBody>
      </p:sp>
      <p:sp>
        <p:nvSpPr>
          <p:cNvPr id="115724" name="TextBox 91"/>
          <p:cNvSpPr txBox="1">
            <a:spLocks noChangeArrowheads="1"/>
          </p:cNvSpPr>
          <p:nvPr/>
        </p:nvSpPr>
        <p:spPr bwMode="auto">
          <a:xfrm>
            <a:off x="3178175" y="6096000"/>
            <a:ext cx="327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p>
        </p:txBody>
      </p:sp>
      <p:sp>
        <p:nvSpPr>
          <p:cNvPr id="67" name="Rectangle 66"/>
          <p:cNvSpPr/>
          <p:nvPr/>
        </p:nvSpPr>
        <p:spPr>
          <a:xfrm>
            <a:off x="2100263" y="914400"/>
            <a:ext cx="1600200" cy="48006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69" name="Straight Arrow Connector 68"/>
          <p:cNvCxnSpPr/>
          <p:nvPr/>
        </p:nvCxnSpPr>
        <p:spPr>
          <a:xfrm>
            <a:off x="1522413" y="5411788"/>
            <a:ext cx="57785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flipV="1">
            <a:off x="3046413" y="5715000"/>
            <a:ext cx="0" cy="419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5728" name="TextBox 70"/>
          <p:cNvSpPr txBox="1">
            <a:spLocks noChangeArrowheads="1"/>
          </p:cNvSpPr>
          <p:nvPr/>
        </p:nvSpPr>
        <p:spPr bwMode="auto">
          <a:xfrm>
            <a:off x="2133600" y="2859088"/>
            <a:ext cx="10318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1:16</a:t>
            </a:r>
          </a:p>
          <a:p>
            <a:pPr algn="ctr" eaLnBrk="1" hangingPunct="1"/>
            <a:r>
              <a:rPr lang="en-US" altLang="en-US" b="1"/>
              <a:t>De-mux</a:t>
            </a:r>
          </a:p>
        </p:txBody>
      </p:sp>
      <p:sp>
        <p:nvSpPr>
          <p:cNvPr id="115729" name="TextBox 77"/>
          <p:cNvSpPr txBox="1">
            <a:spLocks noChangeArrowheads="1"/>
          </p:cNvSpPr>
          <p:nvPr/>
        </p:nvSpPr>
        <p:spPr bwMode="auto">
          <a:xfrm>
            <a:off x="1149350" y="5232400"/>
            <a:ext cx="2968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a:t>
            </a:r>
          </a:p>
        </p:txBody>
      </p:sp>
      <p:sp>
        <p:nvSpPr>
          <p:cNvPr id="115730" name="TextBox 78"/>
          <p:cNvSpPr txBox="1">
            <a:spLocks noChangeArrowheads="1"/>
          </p:cNvSpPr>
          <p:nvPr/>
        </p:nvSpPr>
        <p:spPr bwMode="auto">
          <a:xfrm>
            <a:off x="931863" y="5602288"/>
            <a:ext cx="8191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Enable</a:t>
            </a:r>
          </a:p>
          <a:p>
            <a:pPr eaLnBrk="1" hangingPunct="1"/>
            <a:r>
              <a:rPr lang="en-US" altLang="en-US"/>
              <a:t> Input</a:t>
            </a:r>
          </a:p>
        </p:txBody>
      </p:sp>
      <p:sp>
        <p:nvSpPr>
          <p:cNvPr id="115731" name="TextBox 79"/>
          <p:cNvSpPr txBox="1">
            <a:spLocks noChangeArrowheads="1"/>
          </p:cNvSpPr>
          <p:nvPr/>
        </p:nvSpPr>
        <p:spPr bwMode="auto">
          <a:xfrm>
            <a:off x="3276600" y="8382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0</a:t>
            </a:r>
          </a:p>
        </p:txBody>
      </p:sp>
      <p:sp>
        <p:nvSpPr>
          <p:cNvPr id="115732" name="TextBox 80"/>
          <p:cNvSpPr txBox="1">
            <a:spLocks noChangeArrowheads="1"/>
          </p:cNvSpPr>
          <p:nvPr/>
        </p:nvSpPr>
        <p:spPr bwMode="auto">
          <a:xfrm>
            <a:off x="609600" y="2859088"/>
            <a:ext cx="6842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Data</a:t>
            </a:r>
          </a:p>
          <a:p>
            <a:pPr eaLnBrk="1" hangingPunct="1"/>
            <a:r>
              <a:rPr lang="en-US" altLang="en-US"/>
              <a:t>Input</a:t>
            </a:r>
          </a:p>
        </p:txBody>
      </p:sp>
      <p:cxnSp>
        <p:nvCxnSpPr>
          <p:cNvPr id="83" name="Straight Arrow Connector 82"/>
          <p:cNvCxnSpPr/>
          <p:nvPr/>
        </p:nvCxnSpPr>
        <p:spPr>
          <a:xfrm>
            <a:off x="1522413" y="3211513"/>
            <a:ext cx="57785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5734" name="TextBox 83"/>
          <p:cNvSpPr txBox="1">
            <a:spLocks noChangeArrowheads="1"/>
          </p:cNvSpPr>
          <p:nvPr/>
        </p:nvSpPr>
        <p:spPr bwMode="auto">
          <a:xfrm>
            <a:off x="1309688" y="3276600"/>
            <a:ext cx="4429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in</a:t>
            </a:r>
          </a:p>
        </p:txBody>
      </p:sp>
      <p:cxnSp>
        <p:nvCxnSpPr>
          <p:cNvPr id="85" name="Straight Arrow Connector 84"/>
          <p:cNvCxnSpPr/>
          <p:nvPr/>
        </p:nvCxnSpPr>
        <p:spPr>
          <a:xfrm flipV="1">
            <a:off x="2360613" y="5715000"/>
            <a:ext cx="0" cy="419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5736" name="TextBox 85"/>
          <p:cNvSpPr txBox="1">
            <a:spLocks noChangeArrowheads="1"/>
          </p:cNvSpPr>
          <p:nvPr/>
        </p:nvSpPr>
        <p:spPr bwMode="auto">
          <a:xfrm>
            <a:off x="3198813" y="5334000"/>
            <a:ext cx="3762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0</a:t>
            </a:r>
          </a:p>
        </p:txBody>
      </p:sp>
      <p:sp>
        <p:nvSpPr>
          <p:cNvPr id="115737" name="TextBox 86"/>
          <p:cNvSpPr txBox="1">
            <a:spLocks noChangeArrowheads="1"/>
          </p:cNvSpPr>
          <p:nvPr/>
        </p:nvSpPr>
        <p:spPr bwMode="auto">
          <a:xfrm>
            <a:off x="2900363" y="53451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1</a:t>
            </a:r>
          </a:p>
        </p:txBody>
      </p:sp>
      <p:cxnSp>
        <p:nvCxnSpPr>
          <p:cNvPr id="94" name="Straight Arrow Connector 93"/>
          <p:cNvCxnSpPr/>
          <p:nvPr/>
        </p:nvCxnSpPr>
        <p:spPr>
          <a:xfrm flipV="1">
            <a:off x="2665413" y="5715000"/>
            <a:ext cx="0" cy="419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5739" name="TextBox 94"/>
          <p:cNvSpPr txBox="1">
            <a:spLocks noChangeArrowheads="1"/>
          </p:cNvSpPr>
          <p:nvPr/>
        </p:nvSpPr>
        <p:spPr bwMode="auto">
          <a:xfrm>
            <a:off x="2519363" y="53340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2</a:t>
            </a:r>
          </a:p>
        </p:txBody>
      </p:sp>
      <p:sp>
        <p:nvSpPr>
          <p:cNvPr id="115740" name="TextBox 108"/>
          <p:cNvSpPr txBox="1">
            <a:spLocks noChangeArrowheads="1"/>
          </p:cNvSpPr>
          <p:nvPr/>
        </p:nvSpPr>
        <p:spPr bwMode="auto">
          <a:xfrm>
            <a:off x="3276600" y="11430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a:t>
            </a:r>
          </a:p>
        </p:txBody>
      </p:sp>
      <p:sp>
        <p:nvSpPr>
          <p:cNvPr id="115741" name="TextBox 109"/>
          <p:cNvSpPr txBox="1">
            <a:spLocks noChangeArrowheads="1"/>
          </p:cNvSpPr>
          <p:nvPr/>
        </p:nvSpPr>
        <p:spPr bwMode="auto">
          <a:xfrm>
            <a:off x="3276600" y="14478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2</a:t>
            </a:r>
          </a:p>
        </p:txBody>
      </p:sp>
      <p:sp>
        <p:nvSpPr>
          <p:cNvPr id="115742" name="TextBox 110"/>
          <p:cNvSpPr txBox="1">
            <a:spLocks noChangeArrowheads="1"/>
          </p:cNvSpPr>
          <p:nvPr/>
        </p:nvSpPr>
        <p:spPr bwMode="auto">
          <a:xfrm>
            <a:off x="3276600" y="17637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3</a:t>
            </a:r>
          </a:p>
        </p:txBody>
      </p:sp>
      <p:sp>
        <p:nvSpPr>
          <p:cNvPr id="115743" name="TextBox 111"/>
          <p:cNvSpPr txBox="1">
            <a:spLocks noChangeArrowheads="1"/>
          </p:cNvSpPr>
          <p:nvPr/>
        </p:nvSpPr>
        <p:spPr bwMode="auto">
          <a:xfrm>
            <a:off x="3276600" y="20574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4</a:t>
            </a:r>
          </a:p>
        </p:txBody>
      </p:sp>
      <p:sp>
        <p:nvSpPr>
          <p:cNvPr id="115744" name="TextBox 112"/>
          <p:cNvSpPr txBox="1">
            <a:spLocks noChangeArrowheads="1"/>
          </p:cNvSpPr>
          <p:nvPr/>
        </p:nvSpPr>
        <p:spPr bwMode="auto">
          <a:xfrm>
            <a:off x="3276600" y="23622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5</a:t>
            </a:r>
          </a:p>
        </p:txBody>
      </p:sp>
      <p:sp>
        <p:nvSpPr>
          <p:cNvPr id="115745" name="TextBox 113"/>
          <p:cNvSpPr txBox="1">
            <a:spLocks noChangeArrowheads="1"/>
          </p:cNvSpPr>
          <p:nvPr/>
        </p:nvSpPr>
        <p:spPr bwMode="auto">
          <a:xfrm>
            <a:off x="3276600" y="25908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6</a:t>
            </a:r>
          </a:p>
        </p:txBody>
      </p:sp>
      <p:sp>
        <p:nvSpPr>
          <p:cNvPr id="115746" name="TextBox 114"/>
          <p:cNvSpPr txBox="1">
            <a:spLocks noChangeArrowheads="1"/>
          </p:cNvSpPr>
          <p:nvPr/>
        </p:nvSpPr>
        <p:spPr bwMode="auto">
          <a:xfrm>
            <a:off x="3276600" y="29067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7</a:t>
            </a:r>
          </a:p>
        </p:txBody>
      </p:sp>
      <p:sp>
        <p:nvSpPr>
          <p:cNvPr id="115747" name="TextBox 115"/>
          <p:cNvSpPr txBox="1">
            <a:spLocks noChangeArrowheads="1"/>
          </p:cNvSpPr>
          <p:nvPr/>
        </p:nvSpPr>
        <p:spPr bwMode="auto">
          <a:xfrm>
            <a:off x="3276600" y="32115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8</a:t>
            </a:r>
          </a:p>
        </p:txBody>
      </p:sp>
      <p:sp>
        <p:nvSpPr>
          <p:cNvPr id="115748" name="TextBox 116"/>
          <p:cNvSpPr txBox="1">
            <a:spLocks noChangeArrowheads="1"/>
          </p:cNvSpPr>
          <p:nvPr/>
        </p:nvSpPr>
        <p:spPr bwMode="auto">
          <a:xfrm>
            <a:off x="3276600" y="35052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9</a:t>
            </a:r>
          </a:p>
        </p:txBody>
      </p:sp>
      <p:sp>
        <p:nvSpPr>
          <p:cNvPr id="115749" name="TextBox 117"/>
          <p:cNvSpPr txBox="1">
            <a:spLocks noChangeArrowheads="1"/>
          </p:cNvSpPr>
          <p:nvPr/>
        </p:nvSpPr>
        <p:spPr bwMode="auto">
          <a:xfrm>
            <a:off x="3276600" y="3810000"/>
            <a:ext cx="454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10</a:t>
            </a:r>
          </a:p>
        </p:txBody>
      </p:sp>
      <p:sp>
        <p:nvSpPr>
          <p:cNvPr id="115750" name="TextBox 118"/>
          <p:cNvSpPr txBox="1">
            <a:spLocks noChangeArrowheads="1"/>
          </p:cNvSpPr>
          <p:nvPr/>
        </p:nvSpPr>
        <p:spPr bwMode="auto">
          <a:xfrm>
            <a:off x="3276600" y="4038600"/>
            <a:ext cx="454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11</a:t>
            </a:r>
          </a:p>
        </p:txBody>
      </p:sp>
      <p:sp>
        <p:nvSpPr>
          <p:cNvPr id="115751" name="TextBox 119"/>
          <p:cNvSpPr txBox="1">
            <a:spLocks noChangeArrowheads="1"/>
          </p:cNvSpPr>
          <p:nvPr/>
        </p:nvSpPr>
        <p:spPr bwMode="auto">
          <a:xfrm>
            <a:off x="3276600" y="4343400"/>
            <a:ext cx="454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12</a:t>
            </a:r>
          </a:p>
        </p:txBody>
      </p:sp>
      <p:sp>
        <p:nvSpPr>
          <p:cNvPr id="115752" name="TextBox 120"/>
          <p:cNvSpPr txBox="1">
            <a:spLocks noChangeArrowheads="1"/>
          </p:cNvSpPr>
          <p:nvPr/>
        </p:nvSpPr>
        <p:spPr bwMode="auto">
          <a:xfrm>
            <a:off x="3276600" y="4648200"/>
            <a:ext cx="454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13</a:t>
            </a:r>
          </a:p>
        </p:txBody>
      </p:sp>
      <p:sp>
        <p:nvSpPr>
          <p:cNvPr id="115753" name="TextBox 121"/>
          <p:cNvSpPr txBox="1">
            <a:spLocks noChangeArrowheads="1"/>
          </p:cNvSpPr>
          <p:nvPr/>
        </p:nvSpPr>
        <p:spPr bwMode="auto">
          <a:xfrm>
            <a:off x="3276600" y="4953000"/>
            <a:ext cx="454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14</a:t>
            </a:r>
          </a:p>
        </p:txBody>
      </p:sp>
      <p:sp>
        <p:nvSpPr>
          <p:cNvPr id="115754" name="TextBox 122"/>
          <p:cNvSpPr txBox="1">
            <a:spLocks noChangeArrowheads="1"/>
          </p:cNvSpPr>
          <p:nvPr/>
        </p:nvSpPr>
        <p:spPr bwMode="auto">
          <a:xfrm>
            <a:off x="3276600" y="5257800"/>
            <a:ext cx="454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15</a:t>
            </a:r>
          </a:p>
        </p:txBody>
      </p:sp>
      <p:cxnSp>
        <p:nvCxnSpPr>
          <p:cNvPr id="124" name="Straight Arrow Connector 123"/>
          <p:cNvCxnSpPr/>
          <p:nvPr/>
        </p:nvCxnSpPr>
        <p:spPr>
          <a:xfrm flipV="1">
            <a:off x="3351213" y="5715000"/>
            <a:ext cx="0" cy="419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5756" name="TextBox 124"/>
          <p:cNvSpPr txBox="1">
            <a:spLocks noChangeArrowheads="1"/>
          </p:cNvSpPr>
          <p:nvPr/>
        </p:nvSpPr>
        <p:spPr bwMode="auto">
          <a:xfrm>
            <a:off x="2214563" y="53340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S</a:t>
            </a:r>
            <a:r>
              <a:rPr lang="en-US" altLang="en-US" baseline="-25000"/>
              <a:t>3</a:t>
            </a:r>
          </a:p>
        </p:txBody>
      </p:sp>
      <p:grpSp>
        <p:nvGrpSpPr>
          <p:cNvPr id="115757" name="Group 65"/>
          <p:cNvGrpSpPr>
            <a:grpSpLocks/>
          </p:cNvGrpSpPr>
          <p:nvPr/>
        </p:nvGrpSpPr>
        <p:grpSpPr bwMode="auto">
          <a:xfrm>
            <a:off x="5181600" y="2068513"/>
            <a:ext cx="3048000" cy="2122487"/>
            <a:chOff x="3257550" y="1824114"/>
            <a:chExt cx="3448050" cy="1452486"/>
          </a:xfrm>
        </p:grpSpPr>
        <p:sp>
          <p:nvSpPr>
            <p:cNvPr id="127" name="Arc 126"/>
            <p:cNvSpPr/>
            <p:nvPr/>
          </p:nvSpPr>
          <p:spPr bwMode="auto">
            <a:xfrm>
              <a:off x="4191397" y="1824114"/>
              <a:ext cx="533371" cy="1452486"/>
            </a:xfrm>
            <a:prstGeom prst="arc">
              <a:avLst>
                <a:gd name="adj1" fmla="val 16200000"/>
                <a:gd name="adj2" fmla="val 5317088"/>
              </a:avLst>
            </a:prstGeom>
            <a:noFill/>
            <a:ln w="25400" cap="flat" cmpd="sng" algn="ctr">
              <a:solidFill>
                <a:schemeClr val="tx1"/>
              </a:solidFill>
              <a:prstDash val="solid"/>
              <a:miter lim="800000"/>
              <a:headEnd type="none" w="med" len="med"/>
              <a:tailEnd type="none" w="med" len="med"/>
            </a:ln>
            <a:effectLst/>
          </p:spPr>
          <p:txBody>
            <a:bodyPr wrap="none"/>
            <a:lstStyle/>
            <a:p>
              <a:pPr eaLnBrk="1" fontAlgn="auto" hangingPunct="1">
                <a:spcBef>
                  <a:spcPts val="0"/>
                </a:spcBef>
                <a:spcAft>
                  <a:spcPts val="0"/>
                </a:spcAft>
                <a:defRPr/>
              </a:pPr>
              <a:endParaRPr lang="en-US">
                <a:latin typeface="+mn-lt"/>
              </a:endParaRPr>
            </a:p>
          </p:txBody>
        </p:sp>
        <p:sp>
          <p:nvSpPr>
            <p:cNvPr id="128" name="Arc 127"/>
            <p:cNvSpPr/>
            <p:nvPr/>
          </p:nvSpPr>
          <p:spPr bwMode="auto">
            <a:xfrm>
              <a:off x="3257550" y="1824114"/>
              <a:ext cx="2401065" cy="1452486"/>
            </a:xfrm>
            <a:prstGeom prst="arc">
              <a:avLst>
                <a:gd name="adj1" fmla="val 16200000"/>
                <a:gd name="adj2" fmla="val 5340452"/>
              </a:avLst>
            </a:prstGeom>
            <a:noFill/>
            <a:ln w="25400" cap="flat" cmpd="sng" algn="ctr">
              <a:solidFill>
                <a:schemeClr val="tx1"/>
              </a:solidFill>
              <a:prstDash val="solid"/>
              <a:miter lim="800000"/>
              <a:headEnd type="none" w="med" len="med"/>
              <a:tailEnd type="none" w="med" len="med"/>
            </a:ln>
            <a:effectLst/>
          </p:spPr>
          <p:txBody>
            <a:bodyPr wrap="none"/>
            <a:lstStyle/>
            <a:p>
              <a:pPr eaLnBrk="1" fontAlgn="auto" hangingPunct="1">
                <a:spcBef>
                  <a:spcPts val="0"/>
                </a:spcBef>
                <a:spcAft>
                  <a:spcPts val="0"/>
                </a:spcAft>
                <a:defRPr/>
              </a:pPr>
              <a:endParaRPr lang="en-US">
                <a:latin typeface="+mn-lt"/>
              </a:endParaRPr>
            </a:p>
          </p:txBody>
        </p:sp>
        <p:cxnSp>
          <p:nvCxnSpPr>
            <p:cNvPr id="115791" name="Straight Connector 128"/>
            <p:cNvCxnSpPr>
              <a:cxnSpLocks noChangeShapeType="1"/>
            </p:cNvCxnSpPr>
            <p:nvPr/>
          </p:nvCxnSpPr>
          <p:spPr bwMode="auto">
            <a:xfrm>
              <a:off x="3429953" y="2133600"/>
              <a:ext cx="1239203"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5792" name="Straight Connector 129"/>
            <p:cNvCxnSpPr>
              <a:cxnSpLocks noChangeShapeType="1"/>
            </p:cNvCxnSpPr>
            <p:nvPr/>
          </p:nvCxnSpPr>
          <p:spPr bwMode="auto">
            <a:xfrm>
              <a:off x="3828573" y="3067961"/>
              <a:ext cx="819628"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5793" name="Straight Connector 130"/>
            <p:cNvCxnSpPr>
              <a:cxnSpLocks noChangeShapeType="1"/>
            </p:cNvCxnSpPr>
            <p:nvPr/>
          </p:nvCxnSpPr>
          <p:spPr bwMode="auto">
            <a:xfrm>
              <a:off x="5638800" y="2514600"/>
              <a:ext cx="1066800"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grpSp>
      <p:cxnSp>
        <p:nvCxnSpPr>
          <p:cNvPr id="115758" name="Straight Connector 131"/>
          <p:cNvCxnSpPr>
            <a:cxnSpLocks noChangeShapeType="1"/>
          </p:cNvCxnSpPr>
          <p:nvPr/>
        </p:nvCxnSpPr>
        <p:spPr bwMode="auto">
          <a:xfrm>
            <a:off x="5457825" y="2286000"/>
            <a:ext cx="942975"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5759" name="Straight Connector 132"/>
          <p:cNvCxnSpPr>
            <a:cxnSpLocks noChangeShapeType="1"/>
          </p:cNvCxnSpPr>
          <p:nvPr/>
        </p:nvCxnSpPr>
        <p:spPr bwMode="auto">
          <a:xfrm>
            <a:off x="5181600" y="2743200"/>
            <a:ext cx="1247775"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5760" name="Straight Connector 133"/>
          <p:cNvCxnSpPr>
            <a:cxnSpLocks noChangeShapeType="1"/>
          </p:cNvCxnSpPr>
          <p:nvPr/>
        </p:nvCxnSpPr>
        <p:spPr bwMode="auto">
          <a:xfrm>
            <a:off x="5181600" y="2974975"/>
            <a:ext cx="1296988"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5761" name="Straight Connector 134"/>
          <p:cNvCxnSpPr>
            <a:cxnSpLocks noChangeShapeType="1"/>
          </p:cNvCxnSpPr>
          <p:nvPr/>
        </p:nvCxnSpPr>
        <p:spPr bwMode="auto">
          <a:xfrm>
            <a:off x="5181600" y="3200400"/>
            <a:ext cx="1295400"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5762" name="Straight Connector 135"/>
          <p:cNvCxnSpPr>
            <a:cxnSpLocks noChangeShapeType="1"/>
          </p:cNvCxnSpPr>
          <p:nvPr/>
        </p:nvCxnSpPr>
        <p:spPr bwMode="auto">
          <a:xfrm>
            <a:off x="5257800" y="3429000"/>
            <a:ext cx="1219200" cy="9525"/>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5763" name="Straight Connector 136"/>
          <p:cNvCxnSpPr>
            <a:cxnSpLocks noChangeShapeType="1"/>
          </p:cNvCxnSpPr>
          <p:nvPr/>
        </p:nvCxnSpPr>
        <p:spPr bwMode="auto">
          <a:xfrm>
            <a:off x="5534025" y="3657600"/>
            <a:ext cx="942975"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5764" name="Straight Connector 137"/>
          <p:cNvCxnSpPr>
            <a:cxnSpLocks noChangeShapeType="1"/>
          </p:cNvCxnSpPr>
          <p:nvPr/>
        </p:nvCxnSpPr>
        <p:spPr bwMode="auto">
          <a:xfrm>
            <a:off x="3705225" y="1066800"/>
            <a:ext cx="1762125"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39" name="Straight Connector 138"/>
          <p:cNvCxnSpPr/>
          <p:nvPr/>
        </p:nvCxnSpPr>
        <p:spPr>
          <a:xfrm flipV="1">
            <a:off x="5457825" y="1066800"/>
            <a:ext cx="0" cy="12223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766" name="Straight Connector 139"/>
          <p:cNvCxnSpPr>
            <a:cxnSpLocks noChangeShapeType="1"/>
          </p:cNvCxnSpPr>
          <p:nvPr/>
        </p:nvCxnSpPr>
        <p:spPr bwMode="auto">
          <a:xfrm>
            <a:off x="3694113" y="1676400"/>
            <a:ext cx="1639887"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41" name="Straight Connector 140"/>
          <p:cNvCxnSpPr/>
          <p:nvPr/>
        </p:nvCxnSpPr>
        <p:spPr>
          <a:xfrm flipV="1">
            <a:off x="5334000" y="1676400"/>
            <a:ext cx="0" cy="838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768" name="Straight Connector 141"/>
          <p:cNvCxnSpPr>
            <a:cxnSpLocks noChangeShapeType="1"/>
          </p:cNvCxnSpPr>
          <p:nvPr/>
        </p:nvCxnSpPr>
        <p:spPr bwMode="auto">
          <a:xfrm>
            <a:off x="3694113" y="1981200"/>
            <a:ext cx="1487487"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43" name="Straight Connector 142"/>
          <p:cNvCxnSpPr/>
          <p:nvPr/>
        </p:nvCxnSpPr>
        <p:spPr>
          <a:xfrm flipV="1">
            <a:off x="5181600" y="1981200"/>
            <a:ext cx="0" cy="76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770" name="Straight Connector 145"/>
          <p:cNvCxnSpPr>
            <a:cxnSpLocks noChangeShapeType="1"/>
          </p:cNvCxnSpPr>
          <p:nvPr/>
        </p:nvCxnSpPr>
        <p:spPr bwMode="auto">
          <a:xfrm>
            <a:off x="3694113" y="2895600"/>
            <a:ext cx="1487487"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48" name="Straight Connector 147"/>
          <p:cNvCxnSpPr/>
          <p:nvPr/>
        </p:nvCxnSpPr>
        <p:spPr>
          <a:xfrm flipV="1">
            <a:off x="5181600" y="2895600"/>
            <a:ext cx="0" cy="793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772" name="Straight Connector 150"/>
          <p:cNvCxnSpPr>
            <a:cxnSpLocks noChangeShapeType="1"/>
          </p:cNvCxnSpPr>
          <p:nvPr/>
        </p:nvCxnSpPr>
        <p:spPr bwMode="auto">
          <a:xfrm>
            <a:off x="3694113" y="3429000"/>
            <a:ext cx="1487487"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53" name="Straight Connector 152"/>
          <p:cNvCxnSpPr/>
          <p:nvPr/>
        </p:nvCxnSpPr>
        <p:spPr>
          <a:xfrm flipV="1">
            <a:off x="5181600" y="3211513"/>
            <a:ext cx="0" cy="2174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774" name="Straight Connector 156"/>
          <p:cNvCxnSpPr>
            <a:cxnSpLocks noChangeShapeType="1"/>
          </p:cNvCxnSpPr>
          <p:nvPr/>
        </p:nvCxnSpPr>
        <p:spPr bwMode="auto">
          <a:xfrm>
            <a:off x="3694113" y="3733800"/>
            <a:ext cx="1563687"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58" name="Straight Connector 157"/>
          <p:cNvCxnSpPr/>
          <p:nvPr/>
        </p:nvCxnSpPr>
        <p:spPr>
          <a:xfrm flipV="1">
            <a:off x="5257800" y="3429000"/>
            <a:ext cx="0" cy="3048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776" name="Straight Connector 162"/>
          <p:cNvCxnSpPr>
            <a:cxnSpLocks noChangeShapeType="1"/>
          </p:cNvCxnSpPr>
          <p:nvPr/>
        </p:nvCxnSpPr>
        <p:spPr bwMode="auto">
          <a:xfrm>
            <a:off x="3694113" y="4648200"/>
            <a:ext cx="1839912"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5777" name="Straight Connector 163"/>
          <p:cNvCxnSpPr>
            <a:cxnSpLocks noChangeShapeType="1"/>
          </p:cNvCxnSpPr>
          <p:nvPr/>
        </p:nvCxnSpPr>
        <p:spPr bwMode="auto">
          <a:xfrm>
            <a:off x="3694113" y="5181600"/>
            <a:ext cx="1992312"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65" name="Straight Connector 164"/>
          <p:cNvCxnSpPr/>
          <p:nvPr/>
        </p:nvCxnSpPr>
        <p:spPr>
          <a:xfrm flipV="1">
            <a:off x="5534025" y="3654425"/>
            <a:ext cx="0" cy="9937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a:xfrm flipV="1">
            <a:off x="5686425" y="3883025"/>
            <a:ext cx="0" cy="12985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780" name="Straight Connector 172"/>
          <p:cNvCxnSpPr>
            <a:cxnSpLocks noChangeShapeType="1"/>
          </p:cNvCxnSpPr>
          <p:nvPr/>
        </p:nvCxnSpPr>
        <p:spPr bwMode="auto">
          <a:xfrm>
            <a:off x="3700463" y="1371600"/>
            <a:ext cx="466725"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5781" name="Straight Connector 174"/>
          <p:cNvCxnSpPr>
            <a:cxnSpLocks noChangeShapeType="1"/>
          </p:cNvCxnSpPr>
          <p:nvPr/>
        </p:nvCxnSpPr>
        <p:spPr bwMode="auto">
          <a:xfrm>
            <a:off x="3711575" y="2266950"/>
            <a:ext cx="465138"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5782" name="Straight Connector 175"/>
          <p:cNvCxnSpPr>
            <a:cxnSpLocks noChangeShapeType="1"/>
          </p:cNvCxnSpPr>
          <p:nvPr/>
        </p:nvCxnSpPr>
        <p:spPr bwMode="auto">
          <a:xfrm>
            <a:off x="3698875" y="2546350"/>
            <a:ext cx="466725"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5783" name="Straight Connector 176"/>
          <p:cNvCxnSpPr>
            <a:cxnSpLocks noChangeShapeType="1"/>
          </p:cNvCxnSpPr>
          <p:nvPr/>
        </p:nvCxnSpPr>
        <p:spPr bwMode="auto">
          <a:xfrm>
            <a:off x="3717925" y="3130550"/>
            <a:ext cx="465138"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5784" name="Straight Connector 177"/>
          <p:cNvCxnSpPr>
            <a:cxnSpLocks noChangeShapeType="1"/>
          </p:cNvCxnSpPr>
          <p:nvPr/>
        </p:nvCxnSpPr>
        <p:spPr bwMode="auto">
          <a:xfrm>
            <a:off x="3695700" y="4038600"/>
            <a:ext cx="466725"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5785" name="Straight Connector 178"/>
          <p:cNvCxnSpPr>
            <a:cxnSpLocks noChangeShapeType="1"/>
          </p:cNvCxnSpPr>
          <p:nvPr/>
        </p:nvCxnSpPr>
        <p:spPr bwMode="auto">
          <a:xfrm>
            <a:off x="3717925" y="4340225"/>
            <a:ext cx="465138"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5786" name="Straight Connector 179"/>
          <p:cNvCxnSpPr>
            <a:cxnSpLocks noChangeShapeType="1"/>
          </p:cNvCxnSpPr>
          <p:nvPr/>
        </p:nvCxnSpPr>
        <p:spPr bwMode="auto">
          <a:xfrm>
            <a:off x="3717925" y="4876800"/>
            <a:ext cx="465138"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15787" name="Straight Connector 180"/>
          <p:cNvCxnSpPr>
            <a:cxnSpLocks noChangeShapeType="1"/>
          </p:cNvCxnSpPr>
          <p:nvPr/>
        </p:nvCxnSpPr>
        <p:spPr bwMode="auto">
          <a:xfrm>
            <a:off x="3717925" y="5518150"/>
            <a:ext cx="465138" cy="0"/>
          </a:xfrm>
          <a:prstGeom prst="line">
            <a:avLst/>
          </a:prstGeom>
          <a:noFill/>
          <a:ln w="25400" algn="ctr">
            <a:solidFill>
              <a:schemeClr val="tx1"/>
            </a:solidFill>
            <a:miter lim="800000"/>
            <a:headEnd/>
            <a:tailEnd/>
          </a:ln>
          <a:extLst>
            <a:ext uri="{909E8E84-426E-40DD-AFC4-6F175D3DCCD1}">
              <a14:hiddenFill xmlns:a14="http://schemas.microsoft.com/office/drawing/2010/main">
                <a:noFill/>
              </a14:hiddenFill>
            </a:ext>
          </a:extLst>
        </p:spPr>
      </p:cxnSp>
      <p:sp>
        <p:nvSpPr>
          <p:cNvPr id="115788" name="TextBox 181"/>
          <p:cNvSpPr txBox="1">
            <a:spLocks noChangeArrowheads="1"/>
          </p:cNvSpPr>
          <p:nvPr/>
        </p:nvSpPr>
        <p:spPr bwMode="auto">
          <a:xfrm>
            <a:off x="8466138" y="2819400"/>
            <a:ext cx="2968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p>
        </p:txBody>
      </p:sp>
    </p:spTree>
    <p:extLst>
      <p:ext uri="{BB962C8B-B14F-4D97-AF65-F5344CB8AC3E}">
        <p14:creationId xmlns:p14="http://schemas.microsoft.com/office/powerpoint/2010/main" val="162070298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Title 1"/>
          <p:cNvSpPr>
            <a:spLocks noGrp="1"/>
          </p:cNvSpPr>
          <p:nvPr>
            <p:ph type="title"/>
          </p:nvPr>
        </p:nvSpPr>
        <p:spPr>
          <a:xfrm>
            <a:off x="457200" y="228600"/>
            <a:ext cx="8229600" cy="563563"/>
          </a:xfrm>
        </p:spPr>
        <p:txBody>
          <a:bodyPr>
            <a:normAutofit fontScale="90000"/>
          </a:bodyPr>
          <a:lstStyle/>
          <a:p>
            <a:pPr eaLnBrk="1" fontAlgn="auto" hangingPunct="1">
              <a:spcAft>
                <a:spcPts val="0"/>
              </a:spcAft>
              <a:defRPr/>
            </a:pPr>
            <a:r>
              <a:rPr lang="en-US" sz="3200" b="1" dirty="0" smtClean="0">
                <a:solidFill>
                  <a:schemeClr val="accent2">
                    <a:lumMod val="50000"/>
                  </a:schemeClr>
                </a:solidFill>
              </a:rPr>
              <a:t>Multiplexer ICs</a:t>
            </a:r>
          </a:p>
        </p:txBody>
      </p:sp>
      <p:sp>
        <p:nvSpPr>
          <p:cNvPr id="228355"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38E74696-1FFD-42B7-B858-666A4F4D6135}" type="datetime2">
              <a:rPr lang="en-US" altLang="en-US" smtClean="0">
                <a:solidFill>
                  <a:schemeClr val="tx2"/>
                </a:solidFill>
              </a:rPr>
              <a:pPr/>
              <a:t>Tuesday, March 10, 2026</a:t>
            </a:fld>
            <a:endParaRPr lang="en-US" altLang="en-US" smtClean="0">
              <a:solidFill>
                <a:schemeClr val="tx2"/>
              </a:solidFill>
            </a:endParaRPr>
          </a:p>
        </p:txBody>
      </p:sp>
      <p:sp>
        <p:nvSpPr>
          <p:cNvPr id="22835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graphicFrame>
        <p:nvGraphicFramePr>
          <p:cNvPr id="8" name="Content Placeholder 7"/>
          <p:cNvGraphicFramePr>
            <a:graphicFrameLocks noGrp="1"/>
          </p:cNvGraphicFramePr>
          <p:nvPr>
            <p:ph sz="quarter" idx="1"/>
          </p:nvPr>
        </p:nvGraphicFramePr>
        <p:xfrm>
          <a:off x="381000" y="1371600"/>
          <a:ext cx="8229600" cy="4724400"/>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590550">
                <a:tc>
                  <a:txBody>
                    <a:bodyPr/>
                    <a:lstStyle/>
                    <a:p>
                      <a:pPr algn="ctr"/>
                      <a:r>
                        <a:rPr lang="en-US" dirty="0" smtClean="0"/>
                        <a:t>IC Number</a:t>
                      </a:r>
                      <a:endParaRPr lang="en-US" dirty="0"/>
                    </a:p>
                  </a:txBody>
                  <a:tcPr anchor="ctr"/>
                </a:tc>
                <a:tc>
                  <a:txBody>
                    <a:bodyPr/>
                    <a:lstStyle/>
                    <a:p>
                      <a:pPr algn="ctr"/>
                      <a:r>
                        <a:rPr lang="en-US" dirty="0" smtClean="0"/>
                        <a:t>Description</a:t>
                      </a:r>
                      <a:endParaRPr lang="en-US" dirty="0"/>
                    </a:p>
                  </a:txBody>
                  <a:tcPr anchor="ctr"/>
                </a:tc>
                <a:tc>
                  <a:txBody>
                    <a:bodyPr/>
                    <a:lstStyle/>
                    <a:p>
                      <a:pPr algn="ctr"/>
                      <a:r>
                        <a:rPr lang="en-US" dirty="0" smtClean="0"/>
                        <a:t>Output</a:t>
                      </a:r>
                      <a:endParaRPr lang="en-US" dirty="0"/>
                    </a:p>
                  </a:txBody>
                  <a:tcPr anchor="ctr"/>
                </a:tc>
                <a:extLst>
                  <a:ext uri="{0D108BD9-81ED-4DB2-BD59-A6C34878D82A}">
                    <a16:rowId xmlns:a16="http://schemas.microsoft.com/office/drawing/2014/main" val="10000"/>
                  </a:ext>
                </a:extLst>
              </a:tr>
              <a:tr h="590550">
                <a:tc>
                  <a:txBody>
                    <a:bodyPr/>
                    <a:lstStyle/>
                    <a:p>
                      <a:pPr algn="ctr"/>
                      <a:r>
                        <a:rPr lang="en-US" dirty="0" smtClean="0"/>
                        <a:t>IC 74157</a:t>
                      </a:r>
                      <a:endParaRPr lang="en-US" dirty="0"/>
                    </a:p>
                  </a:txBody>
                  <a:tcPr anchor="ctr"/>
                </a:tc>
                <a:tc>
                  <a:txBody>
                    <a:bodyPr/>
                    <a:lstStyle/>
                    <a:p>
                      <a:pPr algn="ctr"/>
                      <a:r>
                        <a:rPr lang="en-US" dirty="0" smtClean="0"/>
                        <a:t>Quad 2:1 Mux</a:t>
                      </a:r>
                      <a:endParaRPr lang="en-US" dirty="0"/>
                    </a:p>
                  </a:txBody>
                  <a:tcPr anchor="ctr"/>
                </a:tc>
                <a:tc>
                  <a:txBody>
                    <a:bodyPr/>
                    <a:lstStyle/>
                    <a:p>
                      <a:pPr algn="ctr"/>
                      <a:r>
                        <a:rPr lang="en-US" dirty="0" smtClean="0"/>
                        <a:t>Same as input</a:t>
                      </a:r>
                      <a:endParaRPr lang="en-US" dirty="0"/>
                    </a:p>
                  </a:txBody>
                  <a:tcPr anchor="ctr"/>
                </a:tc>
                <a:extLst>
                  <a:ext uri="{0D108BD9-81ED-4DB2-BD59-A6C34878D82A}">
                    <a16:rowId xmlns:a16="http://schemas.microsoft.com/office/drawing/2014/main" val="10001"/>
                  </a:ext>
                </a:extLst>
              </a:tr>
              <a:tr h="590550">
                <a:tc>
                  <a:txBody>
                    <a:bodyPr/>
                    <a:lstStyle/>
                    <a:p>
                      <a:pPr algn="ctr"/>
                      <a:r>
                        <a:rPr lang="en-US" dirty="0" smtClean="0"/>
                        <a:t>IC 74158</a:t>
                      </a:r>
                      <a:endParaRPr lang="en-US" dirty="0"/>
                    </a:p>
                  </a:txBody>
                  <a:tcPr anchor="ctr"/>
                </a:tc>
                <a:tc>
                  <a:txBody>
                    <a:bodyPr/>
                    <a:lstStyle/>
                    <a:p>
                      <a:pPr algn="ctr"/>
                      <a:r>
                        <a:rPr lang="en-US" dirty="0" smtClean="0"/>
                        <a:t>Quad 2:1 Mux</a:t>
                      </a:r>
                      <a:endParaRPr lang="en-US" dirty="0"/>
                    </a:p>
                  </a:txBody>
                  <a:tcPr anchor="ctr"/>
                </a:tc>
                <a:tc>
                  <a:txBody>
                    <a:bodyPr/>
                    <a:lstStyle/>
                    <a:p>
                      <a:pPr algn="ctr"/>
                      <a:r>
                        <a:rPr lang="en-US" dirty="0" smtClean="0"/>
                        <a:t>Inverted Output</a:t>
                      </a:r>
                      <a:endParaRPr lang="en-US" dirty="0"/>
                    </a:p>
                  </a:txBody>
                  <a:tcPr anchor="ctr"/>
                </a:tc>
                <a:extLst>
                  <a:ext uri="{0D108BD9-81ED-4DB2-BD59-A6C34878D82A}">
                    <a16:rowId xmlns:a16="http://schemas.microsoft.com/office/drawing/2014/main" val="10002"/>
                  </a:ext>
                </a:extLst>
              </a:tr>
              <a:tr h="590550">
                <a:tc>
                  <a:txBody>
                    <a:bodyPr/>
                    <a:lstStyle/>
                    <a:p>
                      <a:pPr algn="ctr"/>
                      <a:r>
                        <a:rPr lang="en-US" dirty="0" smtClean="0"/>
                        <a:t>IC 74153</a:t>
                      </a:r>
                      <a:endParaRPr lang="en-US" dirty="0"/>
                    </a:p>
                  </a:txBody>
                  <a:tcPr anchor="ctr"/>
                </a:tc>
                <a:tc>
                  <a:txBody>
                    <a:bodyPr/>
                    <a:lstStyle/>
                    <a:p>
                      <a:pPr algn="ctr"/>
                      <a:r>
                        <a:rPr lang="en-US" dirty="0" smtClean="0"/>
                        <a:t>Dual 4:1 Mux</a:t>
                      </a:r>
                      <a:endParaRPr lang="en-US"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Same as input</a:t>
                      </a:r>
                      <a:endParaRPr lang="en-US" dirty="0"/>
                    </a:p>
                  </a:txBody>
                  <a:tcPr anchor="ctr"/>
                </a:tc>
                <a:extLst>
                  <a:ext uri="{0D108BD9-81ED-4DB2-BD59-A6C34878D82A}">
                    <a16:rowId xmlns:a16="http://schemas.microsoft.com/office/drawing/2014/main" val="10003"/>
                  </a:ext>
                </a:extLst>
              </a:tr>
              <a:tr h="590550">
                <a:tc>
                  <a:txBody>
                    <a:bodyPr/>
                    <a:lstStyle/>
                    <a:p>
                      <a:pPr algn="ctr"/>
                      <a:r>
                        <a:rPr lang="en-US" dirty="0" smtClean="0"/>
                        <a:t>IC 74352</a:t>
                      </a:r>
                      <a:endParaRPr lang="en-US" dirty="0"/>
                    </a:p>
                  </a:txBody>
                  <a:tcPr anchor="ctr"/>
                </a:tc>
                <a:tc>
                  <a:txBody>
                    <a:bodyPr/>
                    <a:lstStyle/>
                    <a:p>
                      <a:pPr algn="ctr"/>
                      <a:r>
                        <a:rPr lang="en-US" dirty="0" smtClean="0"/>
                        <a:t>Dual 4:1 Mux</a:t>
                      </a:r>
                      <a:endParaRPr lang="en-US" dirty="0"/>
                    </a:p>
                  </a:txBody>
                  <a:tcPr anchor="ctr"/>
                </a:tc>
                <a:tc>
                  <a:txBody>
                    <a:bodyPr/>
                    <a:lstStyle/>
                    <a:p>
                      <a:pPr algn="ctr"/>
                      <a:r>
                        <a:rPr lang="en-US" smtClean="0"/>
                        <a:t>Inverted Output</a:t>
                      </a:r>
                      <a:endParaRPr lang="en-US" dirty="0"/>
                    </a:p>
                  </a:txBody>
                  <a:tcPr anchor="ctr"/>
                </a:tc>
                <a:extLst>
                  <a:ext uri="{0D108BD9-81ED-4DB2-BD59-A6C34878D82A}">
                    <a16:rowId xmlns:a16="http://schemas.microsoft.com/office/drawing/2014/main" val="10004"/>
                  </a:ext>
                </a:extLst>
              </a:tr>
              <a:tr h="590550">
                <a:tc>
                  <a:txBody>
                    <a:bodyPr/>
                    <a:lstStyle/>
                    <a:p>
                      <a:pPr algn="ctr"/>
                      <a:r>
                        <a:rPr lang="en-US" dirty="0" smtClean="0"/>
                        <a:t>IC 74151</a:t>
                      </a:r>
                      <a:endParaRPr lang="en-US" dirty="0"/>
                    </a:p>
                  </a:txBody>
                  <a:tcPr anchor="ctr"/>
                </a:tc>
                <a:tc>
                  <a:txBody>
                    <a:bodyPr/>
                    <a:lstStyle/>
                    <a:p>
                      <a:pPr algn="ctr"/>
                      <a:r>
                        <a:rPr lang="en-US" dirty="0" smtClean="0"/>
                        <a:t>8:1 Mux</a:t>
                      </a:r>
                      <a:endParaRPr lang="en-US" dirty="0"/>
                    </a:p>
                  </a:txBody>
                  <a:tcPr anchor="ctr"/>
                </a:tc>
                <a:tc>
                  <a:txBody>
                    <a:bodyPr/>
                    <a:lstStyle/>
                    <a:p>
                      <a:pPr algn="ctr"/>
                      <a:r>
                        <a:rPr lang="en-US" smtClean="0"/>
                        <a:t>Inverted Output</a:t>
                      </a:r>
                      <a:endParaRPr lang="en-US" dirty="0"/>
                    </a:p>
                  </a:txBody>
                  <a:tcPr anchor="ctr"/>
                </a:tc>
                <a:extLst>
                  <a:ext uri="{0D108BD9-81ED-4DB2-BD59-A6C34878D82A}">
                    <a16:rowId xmlns:a16="http://schemas.microsoft.com/office/drawing/2014/main" val="10005"/>
                  </a:ext>
                </a:extLst>
              </a:tr>
              <a:tr h="590550">
                <a:tc>
                  <a:txBody>
                    <a:bodyPr/>
                    <a:lstStyle/>
                    <a:p>
                      <a:pPr algn="ctr"/>
                      <a:r>
                        <a:rPr lang="en-US" dirty="0" smtClean="0"/>
                        <a:t>IC 74152</a:t>
                      </a:r>
                      <a:endParaRPr lang="en-US" dirty="0"/>
                    </a:p>
                  </a:txBody>
                  <a:tcPr anchor="ctr"/>
                </a:tc>
                <a:tc>
                  <a:txBody>
                    <a:bodyPr/>
                    <a:lstStyle/>
                    <a:p>
                      <a:pPr algn="ctr"/>
                      <a:r>
                        <a:rPr lang="en-US" dirty="0" smtClean="0"/>
                        <a:t>8:1 Mux</a:t>
                      </a:r>
                      <a:endParaRPr lang="en-US" dirty="0"/>
                    </a:p>
                  </a:txBody>
                  <a:tcPr anchor="ctr"/>
                </a:tc>
                <a:tc>
                  <a:txBody>
                    <a:bodyPr/>
                    <a:lstStyle/>
                    <a:p>
                      <a:pPr algn="ctr"/>
                      <a:r>
                        <a:rPr lang="en-US" smtClean="0"/>
                        <a:t>Inverted Output</a:t>
                      </a:r>
                      <a:endParaRPr lang="en-US" dirty="0"/>
                    </a:p>
                  </a:txBody>
                  <a:tcPr anchor="ctr"/>
                </a:tc>
                <a:extLst>
                  <a:ext uri="{0D108BD9-81ED-4DB2-BD59-A6C34878D82A}">
                    <a16:rowId xmlns:a16="http://schemas.microsoft.com/office/drawing/2014/main" val="10006"/>
                  </a:ext>
                </a:extLst>
              </a:tr>
              <a:tr h="590550">
                <a:tc>
                  <a:txBody>
                    <a:bodyPr/>
                    <a:lstStyle/>
                    <a:p>
                      <a:pPr algn="ctr"/>
                      <a:r>
                        <a:rPr lang="en-US" dirty="0" smtClean="0"/>
                        <a:t>IC 74150</a:t>
                      </a:r>
                      <a:endParaRPr lang="en-US" dirty="0"/>
                    </a:p>
                  </a:txBody>
                  <a:tcPr anchor="ctr"/>
                </a:tc>
                <a:tc>
                  <a:txBody>
                    <a:bodyPr/>
                    <a:lstStyle/>
                    <a:p>
                      <a:pPr algn="ctr"/>
                      <a:r>
                        <a:rPr lang="en-US" dirty="0" smtClean="0"/>
                        <a:t>16:1 Mux</a:t>
                      </a:r>
                      <a:endParaRPr lang="en-US" dirty="0"/>
                    </a:p>
                  </a:txBody>
                  <a:tcPr anchor="ctr"/>
                </a:tc>
                <a:tc>
                  <a:txBody>
                    <a:bodyPr/>
                    <a:lstStyle/>
                    <a:p>
                      <a:pPr algn="ctr"/>
                      <a:r>
                        <a:rPr lang="en-US" dirty="0" smtClean="0"/>
                        <a:t>Inverted Output</a:t>
                      </a:r>
                      <a:endParaRPr lang="en-US" dirty="0"/>
                    </a:p>
                  </a:txBody>
                  <a:tcPr anchor="ctr"/>
                </a:tc>
                <a:extLst>
                  <a:ext uri="{0D108BD9-81ED-4DB2-BD59-A6C34878D82A}">
                    <a16:rowId xmlns:a16="http://schemas.microsoft.com/office/drawing/2014/main" val="10007"/>
                  </a:ext>
                </a:extLst>
              </a:tr>
            </a:tbl>
          </a:graphicData>
        </a:graphic>
      </p:graphicFrame>
      <p:cxnSp>
        <p:nvCxnSpPr>
          <p:cNvPr id="7" name="Straight Connector 6"/>
          <p:cNvCxnSpPr/>
          <p:nvPr/>
        </p:nvCxnSpPr>
        <p:spPr>
          <a:xfrm>
            <a:off x="304800" y="10668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408349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Title 1"/>
          <p:cNvSpPr>
            <a:spLocks noGrp="1"/>
          </p:cNvSpPr>
          <p:nvPr>
            <p:ph type="title"/>
          </p:nvPr>
        </p:nvSpPr>
        <p:spPr>
          <a:xfrm>
            <a:off x="457200" y="228600"/>
            <a:ext cx="8229600" cy="563563"/>
          </a:xfrm>
        </p:spPr>
        <p:txBody>
          <a:bodyPr>
            <a:normAutofit fontScale="90000"/>
          </a:bodyPr>
          <a:lstStyle/>
          <a:p>
            <a:pPr eaLnBrk="1" fontAlgn="auto" hangingPunct="1">
              <a:spcAft>
                <a:spcPts val="0"/>
              </a:spcAft>
              <a:defRPr/>
            </a:pPr>
            <a:r>
              <a:rPr lang="en-US" sz="3200" b="1" dirty="0" smtClean="0">
                <a:solidFill>
                  <a:schemeClr val="accent2">
                    <a:lumMod val="50000"/>
                  </a:schemeClr>
                </a:solidFill>
              </a:rPr>
              <a:t>De-multiplexer ICs</a:t>
            </a:r>
          </a:p>
        </p:txBody>
      </p:sp>
      <p:sp>
        <p:nvSpPr>
          <p:cNvPr id="230403"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59653180-0D31-4422-AF39-AC84E78F8B4B}" type="datetime2">
              <a:rPr lang="en-US" altLang="en-US" smtClean="0">
                <a:solidFill>
                  <a:schemeClr val="tx2"/>
                </a:solidFill>
              </a:rPr>
              <a:pPr/>
              <a:t>Tuesday, March 10, 2026</a:t>
            </a:fld>
            <a:endParaRPr lang="en-US" altLang="en-US" smtClean="0">
              <a:solidFill>
                <a:schemeClr val="tx2"/>
              </a:solidFill>
            </a:endParaRPr>
          </a:p>
        </p:txBody>
      </p:sp>
      <p:sp>
        <p:nvSpPr>
          <p:cNvPr id="23040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graphicFrame>
        <p:nvGraphicFramePr>
          <p:cNvPr id="8" name="Content Placeholder 7"/>
          <p:cNvGraphicFramePr>
            <a:graphicFrameLocks noGrp="1"/>
          </p:cNvGraphicFramePr>
          <p:nvPr>
            <p:ph sz="quarter" idx="1"/>
          </p:nvPr>
        </p:nvGraphicFramePr>
        <p:xfrm>
          <a:off x="381000" y="1371600"/>
          <a:ext cx="8153400" cy="4435474"/>
        </p:xfrm>
        <a:graphic>
          <a:graphicData uri="http://schemas.openxmlformats.org/drawingml/2006/table">
            <a:tbl>
              <a:tblPr firstRow="1" bandRow="1">
                <a:tableStyleId>{5C22544A-7EE6-4342-B048-85BDC9FD1C3A}</a:tableStyleId>
              </a:tblPr>
              <a:tblGrid>
                <a:gridCol w="2944283">
                  <a:extLst>
                    <a:ext uri="{9D8B030D-6E8A-4147-A177-3AD203B41FA5}">
                      <a16:colId xmlns:a16="http://schemas.microsoft.com/office/drawing/2014/main" val="20000"/>
                    </a:ext>
                  </a:extLst>
                </a:gridCol>
                <a:gridCol w="5209117">
                  <a:extLst>
                    <a:ext uri="{9D8B030D-6E8A-4147-A177-3AD203B41FA5}">
                      <a16:colId xmlns:a16="http://schemas.microsoft.com/office/drawing/2014/main" val="20001"/>
                    </a:ext>
                  </a:extLst>
                </a:gridCol>
              </a:tblGrid>
              <a:tr h="868804">
                <a:tc>
                  <a:txBody>
                    <a:bodyPr/>
                    <a:lstStyle/>
                    <a:p>
                      <a:pPr algn="ctr"/>
                      <a:r>
                        <a:rPr lang="en-US" sz="1800" dirty="0" smtClean="0"/>
                        <a:t>IC Number</a:t>
                      </a:r>
                      <a:endParaRPr lang="en-US" sz="1800" dirty="0"/>
                    </a:p>
                  </a:txBody>
                  <a:tcPr marT="45727" marB="45727" anchor="ctr"/>
                </a:tc>
                <a:tc>
                  <a:txBody>
                    <a:bodyPr/>
                    <a:lstStyle/>
                    <a:p>
                      <a:pPr algn="ctr"/>
                      <a:r>
                        <a:rPr lang="en-US" sz="1800" dirty="0" smtClean="0"/>
                        <a:t>Description</a:t>
                      </a:r>
                      <a:endParaRPr lang="en-US" sz="1800" dirty="0"/>
                    </a:p>
                  </a:txBody>
                  <a:tcPr marT="45727" marB="45727" anchor="ctr"/>
                </a:tc>
                <a:extLst>
                  <a:ext uri="{0D108BD9-81ED-4DB2-BD59-A6C34878D82A}">
                    <a16:rowId xmlns:a16="http://schemas.microsoft.com/office/drawing/2014/main" val="10000"/>
                  </a:ext>
                </a:extLst>
              </a:tr>
              <a:tr h="868804">
                <a:tc>
                  <a:txBody>
                    <a:bodyPr/>
                    <a:lstStyle/>
                    <a:p>
                      <a:pPr algn="ctr"/>
                      <a:r>
                        <a:rPr lang="en-US" sz="1800" dirty="0" smtClean="0"/>
                        <a:t>IC 74138</a:t>
                      </a:r>
                      <a:endParaRPr lang="en-US" sz="1800" dirty="0"/>
                    </a:p>
                  </a:txBody>
                  <a:tcPr marT="45727" marB="45727" anchor="ctr"/>
                </a:tc>
                <a:tc>
                  <a:txBody>
                    <a:bodyPr/>
                    <a:lstStyle/>
                    <a:p>
                      <a:pPr algn="ctr"/>
                      <a:r>
                        <a:rPr lang="en-US" sz="1800" dirty="0" smtClean="0"/>
                        <a:t>1:8 De-multiplexer</a:t>
                      </a:r>
                      <a:endParaRPr lang="en-US" sz="1800" dirty="0"/>
                    </a:p>
                  </a:txBody>
                  <a:tcPr marT="45727" marB="45727" anchor="ctr"/>
                </a:tc>
                <a:extLst>
                  <a:ext uri="{0D108BD9-81ED-4DB2-BD59-A6C34878D82A}">
                    <a16:rowId xmlns:a16="http://schemas.microsoft.com/office/drawing/2014/main" val="10001"/>
                  </a:ext>
                </a:extLst>
              </a:tr>
              <a:tr h="868804">
                <a:tc>
                  <a:txBody>
                    <a:bodyPr/>
                    <a:lstStyle/>
                    <a:p>
                      <a:pPr algn="ctr"/>
                      <a:r>
                        <a:rPr lang="en-US" sz="1800" dirty="0" smtClean="0"/>
                        <a:t>IC 74139</a:t>
                      </a:r>
                      <a:endParaRPr lang="en-US" sz="1800" dirty="0"/>
                    </a:p>
                  </a:txBody>
                  <a:tcPr marT="45727" marB="45727" anchor="ctr"/>
                </a:tc>
                <a:tc>
                  <a:txBody>
                    <a:bodyPr/>
                    <a:lstStyle/>
                    <a:p>
                      <a:pPr algn="ctr"/>
                      <a:r>
                        <a:rPr lang="en-US" sz="1800" dirty="0" smtClean="0"/>
                        <a:t>Dual 1:4 De-multiplexer</a:t>
                      </a:r>
                      <a:endParaRPr lang="en-US" sz="1800" dirty="0"/>
                    </a:p>
                  </a:txBody>
                  <a:tcPr marT="45727" marB="45727" anchor="ctr"/>
                </a:tc>
                <a:extLst>
                  <a:ext uri="{0D108BD9-81ED-4DB2-BD59-A6C34878D82A}">
                    <a16:rowId xmlns:a16="http://schemas.microsoft.com/office/drawing/2014/main" val="10002"/>
                  </a:ext>
                </a:extLst>
              </a:tr>
              <a:tr h="914531">
                <a:tc>
                  <a:txBody>
                    <a:bodyPr/>
                    <a:lstStyle/>
                    <a:p>
                      <a:pPr algn="ctr"/>
                      <a:r>
                        <a:rPr lang="en-US" sz="1800" dirty="0" smtClean="0"/>
                        <a:t>IC 74154</a:t>
                      </a:r>
                      <a:endParaRPr lang="en-US" sz="1800" dirty="0"/>
                    </a:p>
                  </a:txBody>
                  <a:tcPr marT="45727" marB="45727"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smtClean="0"/>
                    </a:p>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1:16 De-multiplexer</a:t>
                      </a:r>
                    </a:p>
                    <a:p>
                      <a:pPr algn="ctr"/>
                      <a:endParaRPr lang="en-US" sz="1800" dirty="0"/>
                    </a:p>
                  </a:txBody>
                  <a:tcPr marT="45727" marB="45727" anchor="ctr"/>
                </a:tc>
                <a:extLst>
                  <a:ext uri="{0D108BD9-81ED-4DB2-BD59-A6C34878D82A}">
                    <a16:rowId xmlns:a16="http://schemas.microsoft.com/office/drawing/2014/main" val="10003"/>
                  </a:ext>
                </a:extLst>
              </a:tr>
              <a:tr h="914531">
                <a:tc>
                  <a:txBody>
                    <a:bodyPr/>
                    <a:lstStyle/>
                    <a:p>
                      <a:pPr algn="ctr"/>
                      <a:r>
                        <a:rPr lang="en-US" sz="1800" dirty="0" smtClean="0"/>
                        <a:t>IC 74155</a:t>
                      </a:r>
                      <a:endParaRPr lang="en-US" sz="1800" dirty="0"/>
                    </a:p>
                  </a:txBody>
                  <a:tcPr marT="45727" marB="45727"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smtClean="0"/>
                    </a:p>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Dual 1:4 De-multiplexer</a:t>
                      </a:r>
                    </a:p>
                    <a:p>
                      <a:pPr algn="ctr"/>
                      <a:endParaRPr lang="en-US" sz="1800" dirty="0"/>
                    </a:p>
                  </a:txBody>
                  <a:tcPr marT="45727" marB="45727" anchor="ctr"/>
                </a:tc>
                <a:extLst>
                  <a:ext uri="{0D108BD9-81ED-4DB2-BD59-A6C34878D82A}">
                    <a16:rowId xmlns:a16="http://schemas.microsoft.com/office/drawing/2014/main" val="10004"/>
                  </a:ext>
                </a:extLst>
              </a:tr>
            </a:tbl>
          </a:graphicData>
        </a:graphic>
      </p:graphicFrame>
      <p:cxnSp>
        <p:nvCxnSpPr>
          <p:cNvPr id="7" name="Straight Connector 6"/>
          <p:cNvCxnSpPr/>
          <p:nvPr/>
        </p:nvCxnSpPr>
        <p:spPr>
          <a:xfrm>
            <a:off x="304800" y="10668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840794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Title 1"/>
          <p:cNvSpPr>
            <a:spLocks noGrp="1"/>
          </p:cNvSpPr>
          <p:nvPr>
            <p:ph type="title"/>
          </p:nvPr>
        </p:nvSpPr>
        <p:spPr>
          <a:xfrm>
            <a:off x="457200" y="228600"/>
            <a:ext cx="8229600" cy="563563"/>
          </a:xfrm>
        </p:spPr>
        <p:txBody>
          <a:bodyPr>
            <a:normAutofit fontScale="90000"/>
          </a:bodyPr>
          <a:lstStyle/>
          <a:p>
            <a:pPr algn="just" eaLnBrk="1" fontAlgn="auto" hangingPunct="1">
              <a:spcAft>
                <a:spcPts val="0"/>
              </a:spcAft>
              <a:defRPr/>
            </a:pPr>
            <a:r>
              <a:rPr lang="en-US" sz="3200" b="1" dirty="0" smtClean="0">
                <a:solidFill>
                  <a:schemeClr val="accent2">
                    <a:lumMod val="50000"/>
                  </a:schemeClr>
                </a:solidFill>
              </a:rPr>
              <a:t>Encoder</a:t>
            </a:r>
          </a:p>
        </p:txBody>
      </p:sp>
      <p:sp>
        <p:nvSpPr>
          <p:cNvPr id="235523"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D276DFDC-BB80-41E1-A3BD-BE0D2EE497C2}" type="datetime2">
              <a:rPr lang="en-US" altLang="en-US" smtClean="0">
                <a:solidFill>
                  <a:schemeClr val="tx2"/>
                </a:solidFill>
              </a:rPr>
              <a:pPr/>
              <a:t>Tuesday, March 10, 2026</a:t>
            </a:fld>
            <a:endParaRPr lang="en-US" altLang="en-US" smtClean="0">
              <a:solidFill>
                <a:schemeClr val="tx2"/>
              </a:solidFill>
            </a:endParaRPr>
          </a:p>
        </p:txBody>
      </p:sp>
      <p:sp>
        <p:nvSpPr>
          <p:cNvPr id="23552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sp>
        <p:nvSpPr>
          <p:cNvPr id="235525" name="Content Placeholder 2"/>
          <p:cNvSpPr>
            <a:spLocks noGrp="1"/>
          </p:cNvSpPr>
          <p:nvPr>
            <p:ph sz="quarter" idx="1"/>
          </p:nvPr>
        </p:nvSpPr>
        <p:spPr/>
        <p:txBody>
          <a:bodyPr>
            <a:normAutofit fontScale="92500"/>
          </a:bodyPr>
          <a:lstStyle/>
          <a:p>
            <a:pPr algn="just" eaLnBrk="1" hangingPunct="1">
              <a:buFont typeface="Wingdings" panose="05000000000000000000" pitchFamily="2" charset="2"/>
              <a:buChar char="ü"/>
            </a:pPr>
            <a:r>
              <a:rPr lang="en-US" altLang="en-US" smtClean="0"/>
              <a:t>Encoder is a combinational circuit which is designed to perform the inverse operation of decoder.</a:t>
            </a:r>
          </a:p>
          <a:p>
            <a:pPr algn="just" eaLnBrk="1" hangingPunct="1">
              <a:buFont typeface="Wingdings" panose="05000000000000000000" pitchFamily="2" charset="2"/>
              <a:buChar char="ü"/>
            </a:pPr>
            <a:r>
              <a:rPr lang="en-US" altLang="en-US" smtClean="0"/>
              <a:t>An encoder has ‘n’ number of input lines and ‘m’ number of output lines.</a:t>
            </a:r>
          </a:p>
          <a:p>
            <a:pPr algn="just" eaLnBrk="1" hangingPunct="1">
              <a:buFont typeface="Wingdings" panose="05000000000000000000" pitchFamily="2" charset="2"/>
              <a:buChar char="ü"/>
            </a:pPr>
            <a:r>
              <a:rPr lang="en-US" altLang="en-US" smtClean="0"/>
              <a:t>An encoder produces an m bit binary code corresponding to the digital input number.</a:t>
            </a:r>
          </a:p>
          <a:p>
            <a:pPr algn="just" eaLnBrk="1" hangingPunct="1">
              <a:buFont typeface="Wingdings" panose="05000000000000000000" pitchFamily="2" charset="2"/>
              <a:buChar char="ü"/>
            </a:pPr>
            <a:r>
              <a:rPr lang="en-US" altLang="en-US" smtClean="0"/>
              <a:t>The encoder accepts an n input digital word and converts it into m bit another digital word</a:t>
            </a:r>
          </a:p>
        </p:txBody>
      </p:sp>
      <p:cxnSp>
        <p:nvCxnSpPr>
          <p:cNvPr id="7" name="Straight Connector 6"/>
          <p:cNvCxnSpPr/>
          <p:nvPr/>
        </p:nvCxnSpPr>
        <p:spPr>
          <a:xfrm>
            <a:off x="304800" y="10668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245161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Title 1"/>
          <p:cNvSpPr>
            <a:spLocks noGrp="1"/>
          </p:cNvSpPr>
          <p:nvPr>
            <p:ph type="title"/>
          </p:nvPr>
        </p:nvSpPr>
        <p:spPr>
          <a:xfrm>
            <a:off x="457200" y="228600"/>
            <a:ext cx="8229600" cy="563563"/>
          </a:xfrm>
        </p:spPr>
        <p:txBody>
          <a:bodyPr>
            <a:normAutofit fontScale="90000"/>
          </a:bodyPr>
          <a:lstStyle/>
          <a:p>
            <a:pPr algn="just" eaLnBrk="1" fontAlgn="auto" hangingPunct="1">
              <a:spcAft>
                <a:spcPts val="0"/>
              </a:spcAft>
              <a:defRPr/>
            </a:pPr>
            <a:r>
              <a:rPr lang="en-US" sz="3200" b="1" dirty="0" smtClean="0">
                <a:solidFill>
                  <a:schemeClr val="accent2">
                    <a:lumMod val="50000"/>
                  </a:schemeClr>
                </a:solidFill>
              </a:rPr>
              <a:t>Encoder</a:t>
            </a:r>
          </a:p>
        </p:txBody>
      </p:sp>
      <p:sp>
        <p:nvSpPr>
          <p:cNvPr id="236547"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2E540143-F702-4A6C-889B-15BE36B6D379}" type="datetime2">
              <a:rPr lang="en-US" altLang="en-US" smtClean="0">
                <a:solidFill>
                  <a:schemeClr val="tx2"/>
                </a:solidFill>
              </a:rPr>
              <a:pPr/>
              <a:t>Tuesday, March 10, 2026</a:t>
            </a:fld>
            <a:endParaRPr lang="en-US" altLang="en-US" smtClean="0">
              <a:solidFill>
                <a:schemeClr val="tx2"/>
              </a:solidFill>
            </a:endParaRPr>
          </a:p>
        </p:txBody>
      </p:sp>
      <p:sp>
        <p:nvSpPr>
          <p:cNvPr id="23654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cxnSp>
        <p:nvCxnSpPr>
          <p:cNvPr id="7" name="Straight Connector 6"/>
          <p:cNvCxnSpPr/>
          <p:nvPr/>
        </p:nvCxnSpPr>
        <p:spPr>
          <a:xfrm>
            <a:off x="304800" y="10668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276600" y="2590800"/>
            <a:ext cx="2667000" cy="1828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10" name="Straight Connector 9"/>
          <p:cNvCxnSpPr/>
          <p:nvPr/>
        </p:nvCxnSpPr>
        <p:spPr>
          <a:xfrm>
            <a:off x="1905000" y="28194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905000" y="30480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905000" y="32766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905000" y="41910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6555" name="TextBox 13"/>
          <p:cNvSpPr txBox="1">
            <a:spLocks noChangeArrowheads="1"/>
          </p:cNvSpPr>
          <p:nvPr/>
        </p:nvSpPr>
        <p:spPr bwMode="auto">
          <a:xfrm>
            <a:off x="2362200" y="3284538"/>
            <a:ext cx="2397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b="1"/>
              <a:t>.</a:t>
            </a:r>
          </a:p>
          <a:p>
            <a:pPr eaLnBrk="1" hangingPunct="1"/>
            <a:r>
              <a:rPr lang="en-US" altLang="en-US" sz="1600" b="1"/>
              <a:t>.</a:t>
            </a:r>
          </a:p>
          <a:p>
            <a:pPr eaLnBrk="1" hangingPunct="1"/>
            <a:r>
              <a:rPr lang="en-US" altLang="en-US" sz="1600" b="1"/>
              <a:t>.</a:t>
            </a:r>
          </a:p>
        </p:txBody>
      </p:sp>
      <p:cxnSp>
        <p:nvCxnSpPr>
          <p:cNvPr id="15" name="Straight Connector 14"/>
          <p:cNvCxnSpPr/>
          <p:nvPr/>
        </p:nvCxnSpPr>
        <p:spPr>
          <a:xfrm>
            <a:off x="5943600" y="28194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943600" y="30480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5943600" y="32766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943600" y="41910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6560" name="TextBox 18"/>
          <p:cNvSpPr txBox="1">
            <a:spLocks noChangeArrowheads="1"/>
          </p:cNvSpPr>
          <p:nvPr/>
        </p:nvSpPr>
        <p:spPr bwMode="auto">
          <a:xfrm>
            <a:off x="6400800" y="3284538"/>
            <a:ext cx="2397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b="1"/>
              <a:t>.</a:t>
            </a:r>
          </a:p>
          <a:p>
            <a:pPr eaLnBrk="1" hangingPunct="1"/>
            <a:r>
              <a:rPr lang="en-US" altLang="en-US" sz="1600" b="1"/>
              <a:t>.</a:t>
            </a:r>
          </a:p>
          <a:p>
            <a:pPr eaLnBrk="1" hangingPunct="1"/>
            <a:r>
              <a:rPr lang="en-US" altLang="en-US" sz="1600" b="1"/>
              <a:t>.</a:t>
            </a:r>
          </a:p>
        </p:txBody>
      </p:sp>
      <p:sp>
        <p:nvSpPr>
          <p:cNvPr id="20" name="Left Brace 19"/>
          <p:cNvSpPr/>
          <p:nvPr/>
        </p:nvSpPr>
        <p:spPr>
          <a:xfrm>
            <a:off x="1333500" y="2667000"/>
            <a:ext cx="495300" cy="1676400"/>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21" name="Right Brace 20"/>
          <p:cNvSpPr/>
          <p:nvPr/>
        </p:nvSpPr>
        <p:spPr>
          <a:xfrm>
            <a:off x="7315200" y="2667000"/>
            <a:ext cx="457200" cy="1600200"/>
          </a:xfrm>
          <a:prstGeom prst="rightBrace">
            <a:avLst/>
          </a:prstGeom>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236563" name="TextBox 21"/>
          <p:cNvSpPr txBox="1">
            <a:spLocks noChangeArrowheads="1"/>
          </p:cNvSpPr>
          <p:nvPr/>
        </p:nvSpPr>
        <p:spPr bwMode="auto">
          <a:xfrm>
            <a:off x="304800" y="3163888"/>
            <a:ext cx="7699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t>‘n’</a:t>
            </a:r>
          </a:p>
          <a:p>
            <a:pPr algn="ctr" eaLnBrk="1" hangingPunct="1"/>
            <a:r>
              <a:rPr lang="en-US" altLang="en-US"/>
              <a:t>inputs</a:t>
            </a:r>
          </a:p>
        </p:txBody>
      </p:sp>
      <p:sp>
        <p:nvSpPr>
          <p:cNvPr id="236564" name="TextBox 22"/>
          <p:cNvSpPr txBox="1">
            <a:spLocks noChangeArrowheads="1"/>
          </p:cNvSpPr>
          <p:nvPr/>
        </p:nvSpPr>
        <p:spPr bwMode="auto">
          <a:xfrm>
            <a:off x="7767638" y="3124200"/>
            <a:ext cx="9159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t>‘m’</a:t>
            </a:r>
          </a:p>
          <a:p>
            <a:pPr algn="ctr" eaLnBrk="1" hangingPunct="1"/>
            <a:r>
              <a:rPr lang="en-US" altLang="en-US"/>
              <a:t>outputs</a:t>
            </a:r>
          </a:p>
        </p:txBody>
      </p:sp>
      <p:sp>
        <p:nvSpPr>
          <p:cNvPr id="236565" name="TextBox 23"/>
          <p:cNvSpPr txBox="1">
            <a:spLocks noChangeArrowheads="1"/>
          </p:cNvSpPr>
          <p:nvPr/>
        </p:nvSpPr>
        <p:spPr bwMode="auto">
          <a:xfrm>
            <a:off x="4151313" y="3287713"/>
            <a:ext cx="9540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Encoder</a:t>
            </a:r>
          </a:p>
        </p:txBody>
      </p:sp>
    </p:spTree>
    <p:extLst>
      <p:ext uri="{BB962C8B-B14F-4D97-AF65-F5344CB8AC3E}">
        <p14:creationId xmlns:p14="http://schemas.microsoft.com/office/powerpoint/2010/main" val="83549596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Title 1"/>
          <p:cNvSpPr>
            <a:spLocks noGrp="1"/>
          </p:cNvSpPr>
          <p:nvPr>
            <p:ph type="title"/>
          </p:nvPr>
        </p:nvSpPr>
        <p:spPr>
          <a:xfrm>
            <a:off x="457200" y="228600"/>
            <a:ext cx="8229600" cy="563563"/>
          </a:xfrm>
        </p:spPr>
        <p:txBody>
          <a:bodyPr>
            <a:normAutofit fontScale="90000"/>
          </a:bodyPr>
          <a:lstStyle/>
          <a:p>
            <a:pPr algn="just" eaLnBrk="1" fontAlgn="auto" hangingPunct="1">
              <a:spcAft>
                <a:spcPts val="0"/>
              </a:spcAft>
              <a:defRPr/>
            </a:pPr>
            <a:r>
              <a:rPr lang="en-US" sz="3200" b="1" dirty="0" smtClean="0">
                <a:solidFill>
                  <a:schemeClr val="accent2">
                    <a:lumMod val="50000"/>
                  </a:schemeClr>
                </a:solidFill>
              </a:rPr>
              <a:t>Types of Encoders</a:t>
            </a:r>
          </a:p>
        </p:txBody>
      </p:sp>
      <p:sp>
        <p:nvSpPr>
          <p:cNvPr id="237571"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52006F04-F3F0-4F1D-8561-4E4E9B2826FB}" type="datetime2">
              <a:rPr lang="en-US" altLang="en-US" smtClean="0">
                <a:solidFill>
                  <a:schemeClr val="tx2"/>
                </a:solidFill>
              </a:rPr>
              <a:pPr/>
              <a:t>Tuesday, March 10, 2026</a:t>
            </a:fld>
            <a:endParaRPr lang="en-US" altLang="en-US" smtClean="0">
              <a:solidFill>
                <a:schemeClr val="tx2"/>
              </a:solidFill>
            </a:endParaRPr>
          </a:p>
        </p:txBody>
      </p:sp>
      <p:sp>
        <p:nvSpPr>
          <p:cNvPr id="23757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sp>
        <p:nvSpPr>
          <p:cNvPr id="237573" name="Content Placeholder 2"/>
          <p:cNvSpPr>
            <a:spLocks noGrp="1"/>
          </p:cNvSpPr>
          <p:nvPr>
            <p:ph sz="quarter" idx="1"/>
          </p:nvPr>
        </p:nvSpPr>
        <p:spPr>
          <a:xfrm>
            <a:off x="457200" y="1219200"/>
            <a:ext cx="8229600" cy="4525963"/>
          </a:xfrm>
        </p:spPr>
        <p:txBody>
          <a:bodyPr/>
          <a:lstStyle/>
          <a:p>
            <a:pPr algn="just" eaLnBrk="1" hangingPunct="1">
              <a:lnSpc>
                <a:spcPct val="200000"/>
              </a:lnSpc>
              <a:buFont typeface="Wingdings" panose="05000000000000000000" pitchFamily="2" charset="2"/>
              <a:buChar char="ü"/>
            </a:pPr>
            <a:r>
              <a:rPr lang="en-US" altLang="en-US" smtClean="0"/>
              <a:t>Priority Encoder</a:t>
            </a:r>
          </a:p>
          <a:p>
            <a:pPr algn="just" eaLnBrk="1" hangingPunct="1">
              <a:lnSpc>
                <a:spcPct val="200000"/>
              </a:lnSpc>
              <a:buFont typeface="Wingdings" panose="05000000000000000000" pitchFamily="2" charset="2"/>
              <a:buChar char="ü"/>
            </a:pPr>
            <a:r>
              <a:rPr lang="en-US" altLang="en-US" smtClean="0"/>
              <a:t>Decimal to BCD Encoder</a:t>
            </a:r>
          </a:p>
          <a:p>
            <a:pPr algn="just" eaLnBrk="1" hangingPunct="1">
              <a:lnSpc>
                <a:spcPct val="200000"/>
              </a:lnSpc>
              <a:buFont typeface="Wingdings" panose="05000000000000000000" pitchFamily="2" charset="2"/>
              <a:buChar char="ü"/>
            </a:pPr>
            <a:r>
              <a:rPr lang="en-US" altLang="en-US" smtClean="0"/>
              <a:t>Octal to BCD Encoder</a:t>
            </a:r>
          </a:p>
          <a:p>
            <a:pPr algn="just" eaLnBrk="1" hangingPunct="1">
              <a:lnSpc>
                <a:spcPct val="200000"/>
              </a:lnSpc>
              <a:buFont typeface="Wingdings" panose="05000000000000000000" pitchFamily="2" charset="2"/>
              <a:buChar char="ü"/>
            </a:pPr>
            <a:r>
              <a:rPr lang="en-US" altLang="en-US" smtClean="0"/>
              <a:t>Hexadecimal to Binary Encoder</a:t>
            </a:r>
          </a:p>
        </p:txBody>
      </p:sp>
      <p:cxnSp>
        <p:nvCxnSpPr>
          <p:cNvPr id="7" name="Straight Connector 6"/>
          <p:cNvCxnSpPr/>
          <p:nvPr/>
        </p:nvCxnSpPr>
        <p:spPr>
          <a:xfrm>
            <a:off x="304800" y="10668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808553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Title 1"/>
          <p:cNvSpPr>
            <a:spLocks noGrp="1"/>
          </p:cNvSpPr>
          <p:nvPr>
            <p:ph type="title"/>
          </p:nvPr>
        </p:nvSpPr>
        <p:spPr>
          <a:xfrm>
            <a:off x="457200" y="228600"/>
            <a:ext cx="8229600" cy="563563"/>
          </a:xfrm>
        </p:spPr>
        <p:txBody>
          <a:bodyPr>
            <a:normAutofit fontScale="90000"/>
          </a:bodyPr>
          <a:lstStyle/>
          <a:p>
            <a:pPr algn="just" eaLnBrk="1" fontAlgn="auto" hangingPunct="1">
              <a:spcAft>
                <a:spcPts val="0"/>
              </a:spcAft>
              <a:defRPr/>
            </a:pPr>
            <a:r>
              <a:rPr lang="en-US" sz="3200" b="1" dirty="0" smtClean="0">
                <a:solidFill>
                  <a:schemeClr val="accent2">
                    <a:lumMod val="50000"/>
                  </a:schemeClr>
                </a:solidFill>
              </a:rPr>
              <a:t>Priority Encoder</a:t>
            </a:r>
          </a:p>
        </p:txBody>
      </p:sp>
      <p:sp>
        <p:nvSpPr>
          <p:cNvPr id="238595"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1D74646F-03B0-427B-A1AC-1BD9F4CAD513}" type="datetime2">
              <a:rPr lang="en-US" altLang="en-US" smtClean="0">
                <a:solidFill>
                  <a:schemeClr val="tx2"/>
                </a:solidFill>
              </a:rPr>
              <a:pPr/>
              <a:t>Tuesday, March 10, 2026</a:t>
            </a:fld>
            <a:endParaRPr lang="en-US" altLang="en-US" smtClean="0">
              <a:solidFill>
                <a:schemeClr val="tx2"/>
              </a:solidFill>
            </a:endParaRPr>
          </a:p>
        </p:txBody>
      </p:sp>
      <p:sp>
        <p:nvSpPr>
          <p:cNvPr id="23859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sp>
        <p:nvSpPr>
          <p:cNvPr id="238597" name="Content Placeholder 2"/>
          <p:cNvSpPr>
            <a:spLocks noGrp="1"/>
          </p:cNvSpPr>
          <p:nvPr>
            <p:ph sz="quarter" idx="1"/>
          </p:nvPr>
        </p:nvSpPr>
        <p:spPr>
          <a:xfrm>
            <a:off x="457200" y="1371600"/>
            <a:ext cx="8229600" cy="4525963"/>
          </a:xfrm>
        </p:spPr>
        <p:txBody>
          <a:bodyPr/>
          <a:lstStyle/>
          <a:p>
            <a:pPr algn="just" eaLnBrk="1" hangingPunct="1">
              <a:lnSpc>
                <a:spcPct val="150000"/>
              </a:lnSpc>
              <a:buFont typeface="Wingdings" panose="05000000000000000000" pitchFamily="2" charset="2"/>
              <a:buChar char="ü"/>
            </a:pPr>
            <a:r>
              <a:rPr lang="en-US" altLang="en-US" smtClean="0"/>
              <a:t>This is a special type of encoder.</a:t>
            </a:r>
          </a:p>
          <a:p>
            <a:pPr algn="just" eaLnBrk="1" hangingPunct="1">
              <a:lnSpc>
                <a:spcPct val="150000"/>
              </a:lnSpc>
              <a:buFont typeface="Wingdings" panose="05000000000000000000" pitchFamily="2" charset="2"/>
              <a:buChar char="ü"/>
            </a:pPr>
            <a:r>
              <a:rPr lang="en-US" altLang="en-US" smtClean="0"/>
              <a:t>Priorities are given to the input lines.</a:t>
            </a:r>
          </a:p>
          <a:p>
            <a:pPr algn="just" eaLnBrk="1" hangingPunct="1">
              <a:lnSpc>
                <a:spcPct val="150000"/>
              </a:lnSpc>
              <a:buFont typeface="Wingdings" panose="05000000000000000000" pitchFamily="2" charset="2"/>
              <a:buChar char="ü"/>
            </a:pPr>
            <a:r>
              <a:rPr lang="en-US" altLang="en-US" smtClean="0"/>
              <a:t>If two or more input lines are “1” at the same time, then the input line with highest priority will be considered.</a:t>
            </a:r>
          </a:p>
        </p:txBody>
      </p:sp>
      <p:cxnSp>
        <p:nvCxnSpPr>
          <p:cNvPr id="7" name="Straight Connector 6"/>
          <p:cNvCxnSpPr/>
          <p:nvPr/>
        </p:nvCxnSpPr>
        <p:spPr>
          <a:xfrm>
            <a:off x="304800" y="10668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22441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Title 1"/>
          <p:cNvSpPr>
            <a:spLocks noGrp="1"/>
          </p:cNvSpPr>
          <p:nvPr>
            <p:ph type="title"/>
          </p:nvPr>
        </p:nvSpPr>
        <p:spPr>
          <a:xfrm>
            <a:off x="228600" y="76200"/>
            <a:ext cx="8229600" cy="563563"/>
          </a:xfrm>
        </p:spPr>
        <p:txBody>
          <a:bodyPr>
            <a:normAutofit fontScale="90000"/>
          </a:bodyPr>
          <a:lstStyle/>
          <a:p>
            <a:pPr algn="just" eaLnBrk="1" fontAlgn="auto" hangingPunct="1">
              <a:spcAft>
                <a:spcPts val="0"/>
              </a:spcAft>
              <a:defRPr/>
            </a:pPr>
            <a:r>
              <a:rPr lang="en-US" sz="3200" b="1" dirty="0" smtClean="0">
                <a:solidFill>
                  <a:schemeClr val="accent2">
                    <a:lumMod val="50000"/>
                  </a:schemeClr>
                </a:solidFill>
              </a:rPr>
              <a:t>Priority Encoder 8:3</a:t>
            </a:r>
          </a:p>
        </p:txBody>
      </p:sp>
      <p:sp>
        <p:nvSpPr>
          <p:cNvPr id="239619"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5238E8DD-7458-41C0-832A-0C959F48EEBF}" type="datetime2">
              <a:rPr lang="en-US" altLang="en-US" smtClean="0">
                <a:solidFill>
                  <a:schemeClr val="tx2"/>
                </a:solidFill>
              </a:rPr>
              <a:pPr/>
              <a:t>Tuesday, March 10, 2026</a:t>
            </a:fld>
            <a:endParaRPr lang="en-US" altLang="en-US" smtClean="0">
              <a:solidFill>
                <a:schemeClr val="tx2"/>
              </a:solidFill>
            </a:endParaRPr>
          </a:p>
        </p:txBody>
      </p:sp>
      <p:sp>
        <p:nvSpPr>
          <p:cNvPr id="23962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cxnSp>
        <p:nvCxnSpPr>
          <p:cNvPr id="7" name="Straight Connector 6"/>
          <p:cNvCxnSpPr/>
          <p:nvPr/>
        </p:nvCxnSpPr>
        <p:spPr>
          <a:xfrm>
            <a:off x="304800" y="8382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276600" y="1828800"/>
            <a:ext cx="2667000" cy="2743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10" name="Straight Connector 9"/>
          <p:cNvCxnSpPr/>
          <p:nvPr/>
        </p:nvCxnSpPr>
        <p:spPr>
          <a:xfrm>
            <a:off x="1905000" y="22098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905000" y="25146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905000" y="28194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905000" y="31242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943600" y="25908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943600" y="30480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5943600" y="35052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9630" name="TextBox 21"/>
          <p:cNvSpPr txBox="1">
            <a:spLocks noChangeArrowheads="1"/>
          </p:cNvSpPr>
          <p:nvPr/>
        </p:nvSpPr>
        <p:spPr bwMode="auto">
          <a:xfrm>
            <a:off x="152400" y="2819400"/>
            <a:ext cx="7699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t>‘8’</a:t>
            </a:r>
          </a:p>
          <a:p>
            <a:pPr algn="ctr" eaLnBrk="1" hangingPunct="1"/>
            <a:r>
              <a:rPr lang="en-US" altLang="en-US"/>
              <a:t>inputs</a:t>
            </a:r>
          </a:p>
        </p:txBody>
      </p:sp>
      <p:sp>
        <p:nvSpPr>
          <p:cNvPr id="239631" name="TextBox 22"/>
          <p:cNvSpPr txBox="1">
            <a:spLocks noChangeArrowheads="1"/>
          </p:cNvSpPr>
          <p:nvPr/>
        </p:nvSpPr>
        <p:spPr bwMode="auto">
          <a:xfrm>
            <a:off x="7923213" y="2630488"/>
            <a:ext cx="9159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t>‘3’</a:t>
            </a:r>
          </a:p>
          <a:p>
            <a:pPr algn="ctr" eaLnBrk="1" hangingPunct="1"/>
            <a:r>
              <a:rPr lang="en-US" altLang="en-US"/>
              <a:t>outputs</a:t>
            </a:r>
          </a:p>
        </p:txBody>
      </p:sp>
      <p:sp>
        <p:nvSpPr>
          <p:cNvPr id="239632" name="TextBox 23"/>
          <p:cNvSpPr txBox="1">
            <a:spLocks noChangeArrowheads="1"/>
          </p:cNvSpPr>
          <p:nvPr/>
        </p:nvSpPr>
        <p:spPr bwMode="auto">
          <a:xfrm>
            <a:off x="4148138" y="2667000"/>
            <a:ext cx="9604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Priority</a:t>
            </a:r>
          </a:p>
          <a:p>
            <a:pPr algn="ctr" eaLnBrk="1" hangingPunct="1"/>
            <a:r>
              <a:rPr lang="en-US" altLang="en-US" b="1"/>
              <a:t>Encoder</a:t>
            </a:r>
          </a:p>
          <a:p>
            <a:pPr algn="ctr" eaLnBrk="1" hangingPunct="1"/>
            <a:r>
              <a:rPr lang="en-US" altLang="en-US" b="1"/>
              <a:t>8:3</a:t>
            </a:r>
          </a:p>
        </p:txBody>
      </p:sp>
      <p:cxnSp>
        <p:nvCxnSpPr>
          <p:cNvPr id="25" name="Straight Connector 24"/>
          <p:cNvCxnSpPr/>
          <p:nvPr/>
        </p:nvCxnSpPr>
        <p:spPr>
          <a:xfrm>
            <a:off x="1905000" y="34290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905000" y="37338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1905000" y="40386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1905000" y="43434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9637" name="TextBox 28"/>
          <p:cNvSpPr txBox="1">
            <a:spLocks noChangeArrowheads="1"/>
          </p:cNvSpPr>
          <p:nvPr/>
        </p:nvSpPr>
        <p:spPr bwMode="auto">
          <a:xfrm>
            <a:off x="7473950" y="23622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2</a:t>
            </a:r>
          </a:p>
        </p:txBody>
      </p:sp>
      <p:sp>
        <p:nvSpPr>
          <p:cNvPr id="239638" name="TextBox 29"/>
          <p:cNvSpPr txBox="1">
            <a:spLocks noChangeArrowheads="1"/>
          </p:cNvSpPr>
          <p:nvPr/>
        </p:nvSpPr>
        <p:spPr bwMode="auto">
          <a:xfrm>
            <a:off x="1422400" y="1992313"/>
            <a:ext cx="40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0</a:t>
            </a:r>
          </a:p>
        </p:txBody>
      </p:sp>
      <p:sp>
        <p:nvSpPr>
          <p:cNvPr id="239639" name="TextBox 30"/>
          <p:cNvSpPr txBox="1">
            <a:spLocks noChangeArrowheads="1"/>
          </p:cNvSpPr>
          <p:nvPr/>
        </p:nvSpPr>
        <p:spPr bwMode="auto">
          <a:xfrm>
            <a:off x="1422400" y="2286000"/>
            <a:ext cx="40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1</a:t>
            </a:r>
          </a:p>
        </p:txBody>
      </p:sp>
      <p:sp>
        <p:nvSpPr>
          <p:cNvPr id="239640" name="TextBox 31"/>
          <p:cNvSpPr txBox="1">
            <a:spLocks noChangeArrowheads="1"/>
          </p:cNvSpPr>
          <p:nvPr/>
        </p:nvSpPr>
        <p:spPr bwMode="auto">
          <a:xfrm>
            <a:off x="1422400" y="2601913"/>
            <a:ext cx="40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2</a:t>
            </a:r>
          </a:p>
        </p:txBody>
      </p:sp>
      <p:sp>
        <p:nvSpPr>
          <p:cNvPr id="239641" name="TextBox 32"/>
          <p:cNvSpPr txBox="1">
            <a:spLocks noChangeArrowheads="1"/>
          </p:cNvSpPr>
          <p:nvPr/>
        </p:nvSpPr>
        <p:spPr bwMode="auto">
          <a:xfrm>
            <a:off x="1422400" y="2906713"/>
            <a:ext cx="40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3</a:t>
            </a:r>
          </a:p>
        </p:txBody>
      </p:sp>
      <p:sp>
        <p:nvSpPr>
          <p:cNvPr id="239642" name="TextBox 33"/>
          <p:cNvSpPr txBox="1">
            <a:spLocks noChangeArrowheads="1"/>
          </p:cNvSpPr>
          <p:nvPr/>
        </p:nvSpPr>
        <p:spPr bwMode="auto">
          <a:xfrm>
            <a:off x="1422400" y="3211513"/>
            <a:ext cx="40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4</a:t>
            </a:r>
          </a:p>
        </p:txBody>
      </p:sp>
      <p:sp>
        <p:nvSpPr>
          <p:cNvPr id="239643" name="TextBox 34"/>
          <p:cNvSpPr txBox="1">
            <a:spLocks noChangeArrowheads="1"/>
          </p:cNvSpPr>
          <p:nvPr/>
        </p:nvSpPr>
        <p:spPr bwMode="auto">
          <a:xfrm>
            <a:off x="1422400" y="3516313"/>
            <a:ext cx="40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5</a:t>
            </a:r>
          </a:p>
        </p:txBody>
      </p:sp>
      <p:sp>
        <p:nvSpPr>
          <p:cNvPr id="239644" name="TextBox 35"/>
          <p:cNvSpPr txBox="1">
            <a:spLocks noChangeArrowheads="1"/>
          </p:cNvSpPr>
          <p:nvPr/>
        </p:nvSpPr>
        <p:spPr bwMode="auto">
          <a:xfrm>
            <a:off x="1422400" y="3821113"/>
            <a:ext cx="40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6</a:t>
            </a:r>
          </a:p>
        </p:txBody>
      </p:sp>
      <p:sp>
        <p:nvSpPr>
          <p:cNvPr id="239645" name="TextBox 36"/>
          <p:cNvSpPr txBox="1">
            <a:spLocks noChangeArrowheads="1"/>
          </p:cNvSpPr>
          <p:nvPr/>
        </p:nvSpPr>
        <p:spPr bwMode="auto">
          <a:xfrm>
            <a:off x="1422400" y="4125913"/>
            <a:ext cx="40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7</a:t>
            </a:r>
          </a:p>
        </p:txBody>
      </p:sp>
      <p:sp>
        <p:nvSpPr>
          <p:cNvPr id="239646" name="TextBox 37"/>
          <p:cNvSpPr txBox="1">
            <a:spLocks noChangeArrowheads="1"/>
          </p:cNvSpPr>
          <p:nvPr/>
        </p:nvSpPr>
        <p:spPr bwMode="auto">
          <a:xfrm>
            <a:off x="7473950" y="28305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1</a:t>
            </a:r>
          </a:p>
        </p:txBody>
      </p:sp>
      <p:sp>
        <p:nvSpPr>
          <p:cNvPr id="239647" name="TextBox 38"/>
          <p:cNvSpPr txBox="1">
            <a:spLocks noChangeArrowheads="1"/>
          </p:cNvSpPr>
          <p:nvPr/>
        </p:nvSpPr>
        <p:spPr bwMode="auto">
          <a:xfrm>
            <a:off x="7473950" y="32115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Y</a:t>
            </a:r>
            <a:r>
              <a:rPr lang="en-US" altLang="en-US" baseline="-25000"/>
              <a:t>0</a:t>
            </a:r>
          </a:p>
        </p:txBody>
      </p:sp>
      <p:cxnSp>
        <p:nvCxnSpPr>
          <p:cNvPr id="9" name="Straight Arrow Connector 8"/>
          <p:cNvCxnSpPr/>
          <p:nvPr/>
        </p:nvCxnSpPr>
        <p:spPr>
          <a:xfrm>
            <a:off x="2209800" y="1562100"/>
            <a:ext cx="0" cy="5715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V="1">
            <a:off x="2209800" y="4343400"/>
            <a:ext cx="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9650" name="TextBox 42"/>
          <p:cNvSpPr txBox="1">
            <a:spLocks noChangeArrowheads="1"/>
          </p:cNvSpPr>
          <p:nvPr/>
        </p:nvSpPr>
        <p:spPr bwMode="auto">
          <a:xfrm>
            <a:off x="1371600" y="1230313"/>
            <a:ext cx="16335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Highest Priority</a:t>
            </a:r>
          </a:p>
        </p:txBody>
      </p:sp>
      <p:sp>
        <p:nvSpPr>
          <p:cNvPr id="239651" name="TextBox 43"/>
          <p:cNvSpPr txBox="1">
            <a:spLocks noChangeArrowheads="1"/>
          </p:cNvSpPr>
          <p:nvPr/>
        </p:nvSpPr>
        <p:spPr bwMode="auto">
          <a:xfrm>
            <a:off x="1462088" y="5268913"/>
            <a:ext cx="15859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Lowest Priority</a:t>
            </a:r>
          </a:p>
        </p:txBody>
      </p:sp>
    </p:spTree>
    <p:extLst>
      <p:ext uri="{BB962C8B-B14F-4D97-AF65-F5344CB8AC3E}">
        <p14:creationId xmlns:p14="http://schemas.microsoft.com/office/powerpoint/2010/main" val="259301672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Title 1"/>
          <p:cNvSpPr>
            <a:spLocks noGrp="1"/>
          </p:cNvSpPr>
          <p:nvPr>
            <p:ph type="title"/>
          </p:nvPr>
        </p:nvSpPr>
        <p:spPr>
          <a:xfrm>
            <a:off x="228600" y="0"/>
            <a:ext cx="8229600" cy="563563"/>
          </a:xfrm>
        </p:spPr>
        <p:txBody>
          <a:bodyPr>
            <a:normAutofit fontScale="90000"/>
          </a:bodyPr>
          <a:lstStyle/>
          <a:p>
            <a:pPr algn="just" eaLnBrk="1" fontAlgn="auto" hangingPunct="1">
              <a:spcAft>
                <a:spcPts val="0"/>
              </a:spcAft>
              <a:defRPr/>
            </a:pPr>
            <a:r>
              <a:rPr lang="en-US" sz="3200" b="1" dirty="0" smtClean="0">
                <a:solidFill>
                  <a:schemeClr val="accent2">
                    <a:lumMod val="50000"/>
                  </a:schemeClr>
                </a:solidFill>
              </a:rPr>
              <a:t>Priority Encoder 8:3</a:t>
            </a:r>
          </a:p>
        </p:txBody>
      </p:sp>
      <p:sp>
        <p:nvSpPr>
          <p:cNvPr id="240643"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3AB80C1B-D83E-4ADB-952E-60D796907285}" type="datetime2">
              <a:rPr lang="en-US" altLang="en-US" smtClean="0">
                <a:solidFill>
                  <a:schemeClr val="tx2"/>
                </a:solidFill>
              </a:rPr>
              <a:pPr/>
              <a:t>Tuesday, March 10, 2026</a:t>
            </a:fld>
            <a:endParaRPr lang="en-US" altLang="en-US" smtClean="0">
              <a:solidFill>
                <a:schemeClr val="tx2"/>
              </a:solidFill>
            </a:endParaRPr>
          </a:p>
        </p:txBody>
      </p:sp>
      <p:sp>
        <p:nvSpPr>
          <p:cNvPr id="24064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cxnSp>
        <p:nvCxnSpPr>
          <p:cNvPr id="7" name="Straight Connector 6"/>
          <p:cNvCxnSpPr/>
          <p:nvPr/>
        </p:nvCxnSpPr>
        <p:spPr>
          <a:xfrm>
            <a:off x="304800" y="7620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8" name="Table 7"/>
          <p:cNvGraphicFramePr>
            <a:graphicFrameLocks noGrp="1"/>
          </p:cNvGraphicFramePr>
          <p:nvPr/>
        </p:nvGraphicFramePr>
        <p:xfrm>
          <a:off x="76200" y="1320800"/>
          <a:ext cx="9067795" cy="5461005"/>
        </p:xfrm>
        <a:graphic>
          <a:graphicData uri="http://schemas.openxmlformats.org/drawingml/2006/table">
            <a:tbl>
              <a:tblPr firstRow="1" bandRow="1">
                <a:tableStyleId>{5C22544A-7EE6-4342-B048-85BDC9FD1C3A}</a:tableStyleId>
              </a:tblPr>
              <a:tblGrid>
                <a:gridCol w="824345">
                  <a:extLst>
                    <a:ext uri="{9D8B030D-6E8A-4147-A177-3AD203B41FA5}">
                      <a16:colId xmlns:a16="http://schemas.microsoft.com/office/drawing/2014/main" val="20000"/>
                    </a:ext>
                  </a:extLst>
                </a:gridCol>
                <a:gridCol w="824345">
                  <a:extLst>
                    <a:ext uri="{9D8B030D-6E8A-4147-A177-3AD203B41FA5}">
                      <a16:colId xmlns:a16="http://schemas.microsoft.com/office/drawing/2014/main" val="20001"/>
                    </a:ext>
                  </a:extLst>
                </a:gridCol>
                <a:gridCol w="824345">
                  <a:extLst>
                    <a:ext uri="{9D8B030D-6E8A-4147-A177-3AD203B41FA5}">
                      <a16:colId xmlns:a16="http://schemas.microsoft.com/office/drawing/2014/main" val="20002"/>
                    </a:ext>
                  </a:extLst>
                </a:gridCol>
                <a:gridCol w="824345">
                  <a:extLst>
                    <a:ext uri="{9D8B030D-6E8A-4147-A177-3AD203B41FA5}">
                      <a16:colId xmlns:a16="http://schemas.microsoft.com/office/drawing/2014/main" val="20003"/>
                    </a:ext>
                  </a:extLst>
                </a:gridCol>
                <a:gridCol w="824345">
                  <a:extLst>
                    <a:ext uri="{9D8B030D-6E8A-4147-A177-3AD203B41FA5}">
                      <a16:colId xmlns:a16="http://schemas.microsoft.com/office/drawing/2014/main" val="20004"/>
                    </a:ext>
                  </a:extLst>
                </a:gridCol>
                <a:gridCol w="824345">
                  <a:extLst>
                    <a:ext uri="{9D8B030D-6E8A-4147-A177-3AD203B41FA5}">
                      <a16:colId xmlns:a16="http://schemas.microsoft.com/office/drawing/2014/main" val="20005"/>
                    </a:ext>
                  </a:extLst>
                </a:gridCol>
                <a:gridCol w="824345">
                  <a:extLst>
                    <a:ext uri="{9D8B030D-6E8A-4147-A177-3AD203B41FA5}">
                      <a16:colId xmlns:a16="http://schemas.microsoft.com/office/drawing/2014/main" val="20006"/>
                    </a:ext>
                  </a:extLst>
                </a:gridCol>
                <a:gridCol w="824345">
                  <a:extLst>
                    <a:ext uri="{9D8B030D-6E8A-4147-A177-3AD203B41FA5}">
                      <a16:colId xmlns:a16="http://schemas.microsoft.com/office/drawing/2014/main" val="20007"/>
                    </a:ext>
                  </a:extLst>
                </a:gridCol>
                <a:gridCol w="824345">
                  <a:extLst>
                    <a:ext uri="{9D8B030D-6E8A-4147-A177-3AD203B41FA5}">
                      <a16:colId xmlns:a16="http://schemas.microsoft.com/office/drawing/2014/main" val="20008"/>
                    </a:ext>
                  </a:extLst>
                </a:gridCol>
                <a:gridCol w="824345">
                  <a:extLst>
                    <a:ext uri="{9D8B030D-6E8A-4147-A177-3AD203B41FA5}">
                      <a16:colId xmlns:a16="http://schemas.microsoft.com/office/drawing/2014/main" val="20009"/>
                    </a:ext>
                  </a:extLst>
                </a:gridCol>
                <a:gridCol w="824345">
                  <a:extLst>
                    <a:ext uri="{9D8B030D-6E8A-4147-A177-3AD203B41FA5}">
                      <a16:colId xmlns:a16="http://schemas.microsoft.com/office/drawing/2014/main" val="20010"/>
                    </a:ext>
                  </a:extLst>
                </a:gridCol>
              </a:tblGrid>
              <a:tr h="496455">
                <a:tc gridSpan="8">
                  <a:txBody>
                    <a:bodyPr/>
                    <a:lstStyle/>
                    <a:p>
                      <a:pPr algn="ctr"/>
                      <a:r>
                        <a:rPr lang="en-US" sz="1800" dirty="0" smtClean="0"/>
                        <a:t>Inputs</a:t>
                      </a:r>
                      <a:endParaRPr lang="en-US" sz="1800" dirty="0"/>
                    </a:p>
                  </a:txBody>
                  <a:tcPr anchor="ct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800" dirty="0" smtClean="0"/>
                        <a:t>Outputs</a:t>
                      </a:r>
                      <a:endParaRPr lang="en-US" sz="1800" dirty="0"/>
                    </a:p>
                  </a:txBody>
                  <a:tcPr anchor="ct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496455">
                <a:tc>
                  <a:txBody>
                    <a:bodyPr/>
                    <a:lstStyle/>
                    <a:p>
                      <a:pPr algn="ctr"/>
                      <a:r>
                        <a:rPr lang="en-US" sz="1800" dirty="0" smtClean="0"/>
                        <a:t>D</a:t>
                      </a:r>
                      <a:r>
                        <a:rPr lang="en-US" sz="1800" baseline="-25000" dirty="0" smtClean="0"/>
                        <a:t>7</a:t>
                      </a:r>
                      <a:endParaRPr lang="en-US" sz="1800" baseline="-25000" dirty="0"/>
                    </a:p>
                  </a:txBody>
                  <a:tcPr anchor="ctr"/>
                </a:tc>
                <a:tc>
                  <a:txBody>
                    <a:bodyPr/>
                    <a:lstStyle/>
                    <a:p>
                      <a:pPr algn="ctr"/>
                      <a:r>
                        <a:rPr lang="en-US" sz="1800" dirty="0" smtClean="0"/>
                        <a:t>D</a:t>
                      </a:r>
                      <a:r>
                        <a:rPr lang="en-US" sz="1800" baseline="-25000" dirty="0" smtClean="0"/>
                        <a:t>6</a:t>
                      </a:r>
                      <a:endParaRPr lang="en-US" sz="1800" dirty="0"/>
                    </a:p>
                  </a:txBody>
                  <a:tcPr anchor="ctr"/>
                </a:tc>
                <a:tc>
                  <a:txBody>
                    <a:bodyPr/>
                    <a:lstStyle/>
                    <a:p>
                      <a:pPr algn="ctr"/>
                      <a:r>
                        <a:rPr lang="en-US" sz="1800" dirty="0" smtClean="0"/>
                        <a:t>D</a:t>
                      </a:r>
                      <a:r>
                        <a:rPr lang="en-US" sz="1800" baseline="-25000" dirty="0" smtClean="0"/>
                        <a:t>5</a:t>
                      </a:r>
                      <a:endParaRPr lang="en-US" sz="1800" dirty="0"/>
                    </a:p>
                  </a:txBody>
                  <a:tcPr anchor="ctr"/>
                </a:tc>
                <a:tc>
                  <a:txBody>
                    <a:bodyPr/>
                    <a:lstStyle/>
                    <a:p>
                      <a:pPr algn="ctr"/>
                      <a:r>
                        <a:rPr lang="en-US" sz="1800" dirty="0" smtClean="0"/>
                        <a:t>D</a:t>
                      </a:r>
                      <a:r>
                        <a:rPr lang="en-US" sz="1800" baseline="-25000" dirty="0" smtClean="0"/>
                        <a:t>4</a:t>
                      </a:r>
                      <a:endParaRPr lang="en-US" sz="1800" dirty="0"/>
                    </a:p>
                  </a:txBody>
                  <a:tcPr anchor="ctr"/>
                </a:tc>
                <a:tc>
                  <a:txBody>
                    <a:bodyPr/>
                    <a:lstStyle/>
                    <a:p>
                      <a:pPr algn="ctr"/>
                      <a:r>
                        <a:rPr lang="en-US" sz="1800" dirty="0" smtClean="0"/>
                        <a:t>D</a:t>
                      </a:r>
                      <a:r>
                        <a:rPr lang="en-US" sz="1800" baseline="-25000" dirty="0" smtClean="0"/>
                        <a:t>3</a:t>
                      </a:r>
                      <a:endParaRPr lang="en-US" sz="1800" dirty="0"/>
                    </a:p>
                  </a:txBody>
                  <a:tcPr anchor="ctr"/>
                </a:tc>
                <a:tc>
                  <a:txBody>
                    <a:bodyPr/>
                    <a:lstStyle/>
                    <a:p>
                      <a:pPr algn="ctr"/>
                      <a:r>
                        <a:rPr lang="en-US" sz="1800" dirty="0" smtClean="0"/>
                        <a:t>D</a:t>
                      </a:r>
                      <a:r>
                        <a:rPr lang="en-US" sz="1800" baseline="-25000" dirty="0" smtClean="0"/>
                        <a:t>2</a:t>
                      </a:r>
                      <a:endParaRPr lang="en-US" sz="1800" dirty="0"/>
                    </a:p>
                  </a:txBody>
                  <a:tcPr anchor="ctr"/>
                </a:tc>
                <a:tc>
                  <a:txBody>
                    <a:bodyPr/>
                    <a:lstStyle/>
                    <a:p>
                      <a:pPr algn="ctr"/>
                      <a:r>
                        <a:rPr lang="en-US" sz="1800" dirty="0" smtClean="0"/>
                        <a:t>D</a:t>
                      </a:r>
                      <a:r>
                        <a:rPr lang="en-US" sz="1800" baseline="-25000" dirty="0" smtClean="0"/>
                        <a:t>1</a:t>
                      </a:r>
                      <a:endParaRPr lang="en-US" sz="1800" dirty="0"/>
                    </a:p>
                  </a:txBody>
                  <a:tcPr anchor="ctr"/>
                </a:tc>
                <a:tc>
                  <a:txBody>
                    <a:bodyPr/>
                    <a:lstStyle/>
                    <a:p>
                      <a:pPr algn="ctr"/>
                      <a:r>
                        <a:rPr lang="en-US" sz="1800" dirty="0" smtClean="0"/>
                        <a:t>D</a:t>
                      </a:r>
                      <a:r>
                        <a:rPr lang="en-US" sz="1800" baseline="-25000" dirty="0" smtClean="0"/>
                        <a:t>0</a:t>
                      </a:r>
                      <a:endParaRPr lang="en-US" sz="1800" dirty="0"/>
                    </a:p>
                  </a:txBody>
                  <a:tcPr anchor="ctr"/>
                </a:tc>
                <a:tc>
                  <a:txBody>
                    <a:bodyPr/>
                    <a:lstStyle/>
                    <a:p>
                      <a:pPr algn="ctr"/>
                      <a:r>
                        <a:rPr lang="en-US" sz="1800" dirty="0" smtClean="0"/>
                        <a:t>Y</a:t>
                      </a:r>
                      <a:r>
                        <a:rPr lang="en-US" sz="1800" baseline="-25000" dirty="0" smtClean="0"/>
                        <a:t>2</a:t>
                      </a:r>
                      <a:endParaRPr lang="en-US" sz="1800" dirty="0"/>
                    </a:p>
                  </a:txBody>
                  <a:tcPr anchor="ctr"/>
                </a:tc>
                <a:tc>
                  <a:txBody>
                    <a:bodyPr/>
                    <a:lstStyle/>
                    <a:p>
                      <a:pPr algn="ctr"/>
                      <a:r>
                        <a:rPr lang="en-US" sz="1800" dirty="0" smtClean="0"/>
                        <a:t>Y</a:t>
                      </a:r>
                      <a:r>
                        <a:rPr lang="en-US" sz="1800" baseline="-25000" dirty="0" smtClean="0"/>
                        <a:t>1</a:t>
                      </a:r>
                      <a:endParaRPr lang="en-US" sz="1800" dirty="0"/>
                    </a:p>
                  </a:txBody>
                  <a:tcPr anchor="ctr"/>
                </a:tc>
                <a:tc>
                  <a:txBody>
                    <a:bodyPr/>
                    <a:lstStyle/>
                    <a:p>
                      <a:pPr algn="ctr"/>
                      <a:r>
                        <a:rPr lang="en-US" sz="1800" dirty="0" smtClean="0"/>
                        <a:t>Y</a:t>
                      </a:r>
                      <a:r>
                        <a:rPr lang="en-US" sz="1800" baseline="-25000" dirty="0" smtClean="0"/>
                        <a:t>0</a:t>
                      </a:r>
                      <a:endParaRPr lang="en-US" sz="1800" dirty="0"/>
                    </a:p>
                  </a:txBody>
                  <a:tcPr anchor="ctr"/>
                </a:tc>
                <a:extLst>
                  <a:ext uri="{0D108BD9-81ED-4DB2-BD59-A6C34878D82A}">
                    <a16:rowId xmlns:a16="http://schemas.microsoft.com/office/drawing/2014/main" val="10001"/>
                  </a:ext>
                </a:extLst>
              </a:tr>
              <a:tr h="496455">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extLst>
                  <a:ext uri="{0D108BD9-81ED-4DB2-BD59-A6C34878D82A}">
                    <a16:rowId xmlns:a16="http://schemas.microsoft.com/office/drawing/2014/main" val="10002"/>
                  </a:ext>
                </a:extLst>
              </a:tr>
              <a:tr h="496455">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1</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extLst>
                  <a:ext uri="{0D108BD9-81ED-4DB2-BD59-A6C34878D82A}">
                    <a16:rowId xmlns:a16="http://schemas.microsoft.com/office/drawing/2014/main" val="10003"/>
                  </a:ext>
                </a:extLst>
              </a:tr>
              <a:tr h="496455">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1</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1</a:t>
                      </a:r>
                      <a:endParaRPr lang="en-US" sz="1800" dirty="0"/>
                    </a:p>
                  </a:txBody>
                  <a:tcPr anchor="ctr"/>
                </a:tc>
                <a:extLst>
                  <a:ext uri="{0D108BD9-81ED-4DB2-BD59-A6C34878D82A}">
                    <a16:rowId xmlns:a16="http://schemas.microsoft.com/office/drawing/2014/main" val="10004"/>
                  </a:ext>
                </a:extLst>
              </a:tr>
              <a:tr h="496455">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1</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1</a:t>
                      </a:r>
                      <a:endParaRPr lang="en-US" sz="1800" dirty="0"/>
                    </a:p>
                  </a:txBody>
                  <a:tcPr anchor="ctr"/>
                </a:tc>
                <a:tc>
                  <a:txBody>
                    <a:bodyPr/>
                    <a:lstStyle/>
                    <a:p>
                      <a:pPr algn="ctr"/>
                      <a:r>
                        <a:rPr lang="en-US" sz="1800" dirty="0" smtClean="0"/>
                        <a:t>0</a:t>
                      </a:r>
                      <a:endParaRPr lang="en-US" sz="1800" dirty="0"/>
                    </a:p>
                  </a:txBody>
                  <a:tcPr anchor="ctr"/>
                </a:tc>
                <a:extLst>
                  <a:ext uri="{0D108BD9-81ED-4DB2-BD59-A6C34878D82A}">
                    <a16:rowId xmlns:a16="http://schemas.microsoft.com/office/drawing/2014/main" val="10005"/>
                  </a:ext>
                </a:extLst>
              </a:tr>
              <a:tr h="496455">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1</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1</a:t>
                      </a:r>
                      <a:endParaRPr lang="en-US" sz="1800" dirty="0"/>
                    </a:p>
                  </a:txBody>
                  <a:tcPr anchor="ctr"/>
                </a:tc>
                <a:tc>
                  <a:txBody>
                    <a:bodyPr/>
                    <a:lstStyle/>
                    <a:p>
                      <a:pPr algn="ctr"/>
                      <a:r>
                        <a:rPr lang="en-US" sz="1800" dirty="0" smtClean="0"/>
                        <a:t>1</a:t>
                      </a:r>
                      <a:endParaRPr lang="en-US" sz="1800" dirty="0"/>
                    </a:p>
                  </a:txBody>
                  <a:tcPr anchor="ctr"/>
                </a:tc>
                <a:extLst>
                  <a:ext uri="{0D108BD9-81ED-4DB2-BD59-A6C34878D82A}">
                    <a16:rowId xmlns:a16="http://schemas.microsoft.com/office/drawing/2014/main" val="10006"/>
                  </a:ext>
                </a:extLst>
              </a:tr>
              <a:tr h="496455">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1</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1</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extLst>
                  <a:ext uri="{0D108BD9-81ED-4DB2-BD59-A6C34878D82A}">
                    <a16:rowId xmlns:a16="http://schemas.microsoft.com/office/drawing/2014/main" val="10007"/>
                  </a:ext>
                </a:extLst>
              </a:tr>
              <a:tr h="496455">
                <a:tc>
                  <a:txBody>
                    <a:bodyPr/>
                    <a:lstStyle/>
                    <a:p>
                      <a:pPr algn="ctr"/>
                      <a:r>
                        <a:rPr lang="en-US" sz="1800" dirty="0" smtClean="0"/>
                        <a:t>0</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1</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1</a:t>
                      </a:r>
                      <a:endParaRPr lang="en-US" sz="1800" dirty="0"/>
                    </a:p>
                  </a:txBody>
                  <a:tcPr anchor="ctr"/>
                </a:tc>
                <a:tc>
                  <a:txBody>
                    <a:bodyPr/>
                    <a:lstStyle/>
                    <a:p>
                      <a:pPr algn="ctr"/>
                      <a:r>
                        <a:rPr lang="en-US" sz="1800" dirty="0" smtClean="0"/>
                        <a:t>0</a:t>
                      </a:r>
                      <a:endParaRPr lang="en-US" sz="1800" dirty="0"/>
                    </a:p>
                  </a:txBody>
                  <a:tcPr anchor="ctr"/>
                </a:tc>
                <a:tc>
                  <a:txBody>
                    <a:bodyPr/>
                    <a:lstStyle/>
                    <a:p>
                      <a:pPr algn="ctr"/>
                      <a:r>
                        <a:rPr lang="en-US" sz="1800" dirty="0" smtClean="0"/>
                        <a:t>1</a:t>
                      </a:r>
                      <a:endParaRPr lang="en-US" sz="1800" dirty="0"/>
                    </a:p>
                  </a:txBody>
                  <a:tcPr anchor="ctr"/>
                </a:tc>
                <a:extLst>
                  <a:ext uri="{0D108BD9-81ED-4DB2-BD59-A6C34878D82A}">
                    <a16:rowId xmlns:a16="http://schemas.microsoft.com/office/drawing/2014/main" val="10008"/>
                  </a:ext>
                </a:extLst>
              </a:tr>
              <a:tr h="496455">
                <a:tc>
                  <a:txBody>
                    <a:bodyPr/>
                    <a:lstStyle/>
                    <a:p>
                      <a:pPr algn="ctr"/>
                      <a:r>
                        <a:rPr lang="en-US" sz="1800" dirty="0" smtClean="0"/>
                        <a:t>0</a:t>
                      </a:r>
                      <a:endParaRPr lang="en-US" sz="1800" dirty="0"/>
                    </a:p>
                  </a:txBody>
                  <a:tcPr anchor="ctr"/>
                </a:tc>
                <a:tc>
                  <a:txBody>
                    <a:bodyPr/>
                    <a:lstStyle/>
                    <a:p>
                      <a:pPr algn="ctr"/>
                      <a:r>
                        <a:rPr lang="en-US" sz="1800" dirty="0" smtClean="0"/>
                        <a:t>1</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1</a:t>
                      </a:r>
                      <a:endParaRPr lang="en-US" sz="1800" dirty="0"/>
                    </a:p>
                  </a:txBody>
                  <a:tcPr anchor="ctr"/>
                </a:tc>
                <a:tc>
                  <a:txBody>
                    <a:bodyPr/>
                    <a:lstStyle/>
                    <a:p>
                      <a:pPr algn="ctr"/>
                      <a:r>
                        <a:rPr lang="en-US" sz="1800" dirty="0" smtClean="0"/>
                        <a:t>1</a:t>
                      </a:r>
                      <a:endParaRPr lang="en-US" sz="1800" dirty="0"/>
                    </a:p>
                  </a:txBody>
                  <a:tcPr anchor="ctr"/>
                </a:tc>
                <a:tc>
                  <a:txBody>
                    <a:bodyPr/>
                    <a:lstStyle/>
                    <a:p>
                      <a:pPr algn="ctr"/>
                      <a:r>
                        <a:rPr lang="en-US" sz="1800" dirty="0" smtClean="0"/>
                        <a:t>0</a:t>
                      </a:r>
                      <a:endParaRPr lang="en-US" sz="1800" dirty="0"/>
                    </a:p>
                  </a:txBody>
                  <a:tcPr anchor="ctr"/>
                </a:tc>
                <a:extLst>
                  <a:ext uri="{0D108BD9-81ED-4DB2-BD59-A6C34878D82A}">
                    <a16:rowId xmlns:a16="http://schemas.microsoft.com/office/drawing/2014/main" val="10009"/>
                  </a:ext>
                </a:extLst>
              </a:tr>
              <a:tr h="496455">
                <a:tc>
                  <a:txBody>
                    <a:bodyPr/>
                    <a:lstStyle/>
                    <a:p>
                      <a:pPr algn="ctr"/>
                      <a:r>
                        <a:rPr lang="en-US" sz="1800" dirty="0" smtClean="0"/>
                        <a:t>1</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X</a:t>
                      </a:r>
                      <a:endParaRPr lang="en-US" sz="1800" dirty="0"/>
                    </a:p>
                  </a:txBody>
                  <a:tcPr anchor="ctr"/>
                </a:tc>
                <a:tc>
                  <a:txBody>
                    <a:bodyPr/>
                    <a:lstStyle/>
                    <a:p>
                      <a:pPr algn="ctr"/>
                      <a:r>
                        <a:rPr lang="en-US" sz="1800" dirty="0" smtClean="0"/>
                        <a:t>1</a:t>
                      </a:r>
                      <a:endParaRPr lang="en-US" sz="1800" dirty="0"/>
                    </a:p>
                  </a:txBody>
                  <a:tcPr anchor="ctr"/>
                </a:tc>
                <a:tc>
                  <a:txBody>
                    <a:bodyPr/>
                    <a:lstStyle/>
                    <a:p>
                      <a:pPr algn="ctr"/>
                      <a:r>
                        <a:rPr lang="en-US" sz="1800" dirty="0" smtClean="0"/>
                        <a:t>1</a:t>
                      </a:r>
                      <a:endParaRPr lang="en-US" sz="1800" dirty="0"/>
                    </a:p>
                  </a:txBody>
                  <a:tcPr anchor="ctr"/>
                </a:tc>
                <a:tc>
                  <a:txBody>
                    <a:bodyPr/>
                    <a:lstStyle/>
                    <a:p>
                      <a:pPr algn="ctr"/>
                      <a:r>
                        <a:rPr lang="en-US" sz="1800" dirty="0" smtClean="0"/>
                        <a:t>1</a:t>
                      </a:r>
                      <a:endParaRPr lang="en-US" sz="1800" dirty="0"/>
                    </a:p>
                  </a:txBody>
                  <a:tcPr anchor="ctr"/>
                </a:tc>
                <a:extLst>
                  <a:ext uri="{0D108BD9-81ED-4DB2-BD59-A6C34878D82A}">
                    <a16:rowId xmlns:a16="http://schemas.microsoft.com/office/drawing/2014/main" val="10010"/>
                  </a:ext>
                </a:extLst>
              </a:tr>
            </a:tbl>
          </a:graphicData>
        </a:graphic>
      </p:graphicFrame>
      <p:sp>
        <p:nvSpPr>
          <p:cNvPr id="240783" name="TextBox 8"/>
          <p:cNvSpPr txBox="1">
            <a:spLocks noChangeArrowheads="1"/>
          </p:cNvSpPr>
          <p:nvPr/>
        </p:nvSpPr>
        <p:spPr bwMode="auto">
          <a:xfrm>
            <a:off x="149225" y="849313"/>
            <a:ext cx="14446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000" b="1"/>
              <a:t>Truth Table:</a:t>
            </a:r>
          </a:p>
        </p:txBody>
      </p:sp>
    </p:spTree>
    <p:extLst>
      <p:ext uri="{BB962C8B-B14F-4D97-AF65-F5344CB8AC3E}">
        <p14:creationId xmlns:p14="http://schemas.microsoft.com/office/powerpoint/2010/main" val="39024415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Title 1"/>
          <p:cNvSpPr>
            <a:spLocks noGrp="1"/>
          </p:cNvSpPr>
          <p:nvPr>
            <p:ph type="title"/>
          </p:nvPr>
        </p:nvSpPr>
        <p:spPr>
          <a:xfrm>
            <a:off x="304800" y="76200"/>
            <a:ext cx="8229600" cy="563563"/>
          </a:xfrm>
        </p:spPr>
        <p:txBody>
          <a:bodyPr>
            <a:normAutofit fontScale="90000"/>
          </a:bodyPr>
          <a:lstStyle/>
          <a:p>
            <a:pPr algn="just" eaLnBrk="1" fontAlgn="auto" hangingPunct="1">
              <a:spcAft>
                <a:spcPts val="0"/>
              </a:spcAft>
              <a:defRPr/>
            </a:pPr>
            <a:r>
              <a:rPr lang="en-US" sz="3200" b="1" dirty="0" smtClean="0">
                <a:solidFill>
                  <a:schemeClr val="accent2">
                    <a:lumMod val="50000"/>
                  </a:schemeClr>
                </a:solidFill>
              </a:rPr>
              <a:t>Decimal to BCD Encoder</a:t>
            </a:r>
          </a:p>
        </p:txBody>
      </p:sp>
      <p:sp>
        <p:nvSpPr>
          <p:cNvPr id="241667"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58837656-7945-4CC6-98C1-ABB93A6EA6D4}" type="datetime2">
              <a:rPr lang="en-US" altLang="en-US" smtClean="0">
                <a:solidFill>
                  <a:schemeClr val="tx2"/>
                </a:solidFill>
              </a:rPr>
              <a:pPr/>
              <a:t>Tuesday, March 10, 2026</a:t>
            </a:fld>
            <a:endParaRPr lang="en-US" altLang="en-US" smtClean="0">
              <a:solidFill>
                <a:schemeClr val="tx2"/>
              </a:solidFill>
            </a:endParaRPr>
          </a:p>
        </p:txBody>
      </p:sp>
      <p:sp>
        <p:nvSpPr>
          <p:cNvPr id="24166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cxnSp>
        <p:nvCxnSpPr>
          <p:cNvPr id="7" name="Straight Connector 6"/>
          <p:cNvCxnSpPr/>
          <p:nvPr/>
        </p:nvCxnSpPr>
        <p:spPr>
          <a:xfrm>
            <a:off x="304800" y="8382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276600" y="1828800"/>
            <a:ext cx="2667000" cy="3200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9" name="Straight Connector 8"/>
          <p:cNvCxnSpPr/>
          <p:nvPr/>
        </p:nvCxnSpPr>
        <p:spPr>
          <a:xfrm>
            <a:off x="1905000" y="22098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905000" y="25146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905000" y="28194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905000" y="31242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943600" y="25908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943600" y="30480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943600" y="35052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1678" name="TextBox 15"/>
          <p:cNvSpPr txBox="1">
            <a:spLocks noChangeArrowheads="1"/>
          </p:cNvSpPr>
          <p:nvPr/>
        </p:nvSpPr>
        <p:spPr bwMode="auto">
          <a:xfrm>
            <a:off x="373063" y="3240088"/>
            <a:ext cx="7699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t>‘9’</a:t>
            </a:r>
          </a:p>
          <a:p>
            <a:pPr algn="ctr" eaLnBrk="1" hangingPunct="1"/>
            <a:r>
              <a:rPr lang="en-US" altLang="en-US"/>
              <a:t>inputs</a:t>
            </a:r>
          </a:p>
        </p:txBody>
      </p:sp>
      <p:sp>
        <p:nvSpPr>
          <p:cNvPr id="241679" name="TextBox 16"/>
          <p:cNvSpPr txBox="1">
            <a:spLocks noChangeArrowheads="1"/>
          </p:cNvSpPr>
          <p:nvPr/>
        </p:nvSpPr>
        <p:spPr bwMode="auto">
          <a:xfrm>
            <a:off x="7923213" y="2935288"/>
            <a:ext cx="9159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t>‘BCD’</a:t>
            </a:r>
          </a:p>
          <a:p>
            <a:pPr algn="ctr" eaLnBrk="1" hangingPunct="1"/>
            <a:r>
              <a:rPr lang="en-US" altLang="en-US"/>
              <a:t>outputs</a:t>
            </a:r>
          </a:p>
        </p:txBody>
      </p:sp>
      <p:sp>
        <p:nvSpPr>
          <p:cNvPr id="241680" name="TextBox 17"/>
          <p:cNvSpPr txBox="1">
            <a:spLocks noChangeArrowheads="1"/>
          </p:cNvSpPr>
          <p:nvPr/>
        </p:nvSpPr>
        <p:spPr bwMode="auto">
          <a:xfrm>
            <a:off x="4024313" y="2895600"/>
            <a:ext cx="12096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t>Decimal to</a:t>
            </a:r>
          </a:p>
          <a:p>
            <a:pPr algn="ctr" eaLnBrk="1" hangingPunct="1"/>
            <a:r>
              <a:rPr lang="en-US" altLang="en-US" b="1"/>
              <a:t>BCD </a:t>
            </a:r>
          </a:p>
          <a:p>
            <a:pPr algn="ctr" eaLnBrk="1" hangingPunct="1"/>
            <a:r>
              <a:rPr lang="en-US" altLang="en-US" b="1"/>
              <a:t>Encoder</a:t>
            </a:r>
          </a:p>
        </p:txBody>
      </p:sp>
      <p:cxnSp>
        <p:nvCxnSpPr>
          <p:cNvPr id="19" name="Straight Connector 18"/>
          <p:cNvCxnSpPr/>
          <p:nvPr/>
        </p:nvCxnSpPr>
        <p:spPr>
          <a:xfrm>
            <a:off x="1905000" y="34290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905000" y="37338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905000" y="40386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905000" y="43434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1685" name="TextBox 22"/>
          <p:cNvSpPr txBox="1">
            <a:spLocks noChangeArrowheads="1"/>
          </p:cNvSpPr>
          <p:nvPr/>
        </p:nvSpPr>
        <p:spPr bwMode="auto">
          <a:xfrm>
            <a:off x="7473950" y="2362200"/>
            <a:ext cx="317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A</a:t>
            </a:r>
            <a:endParaRPr lang="en-US" altLang="en-US" baseline="-25000"/>
          </a:p>
        </p:txBody>
      </p:sp>
      <p:sp>
        <p:nvSpPr>
          <p:cNvPr id="241686" name="TextBox 24"/>
          <p:cNvSpPr txBox="1">
            <a:spLocks noChangeArrowheads="1"/>
          </p:cNvSpPr>
          <p:nvPr/>
        </p:nvSpPr>
        <p:spPr bwMode="auto">
          <a:xfrm>
            <a:off x="1371600" y="1981200"/>
            <a:ext cx="40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1</a:t>
            </a:r>
          </a:p>
        </p:txBody>
      </p:sp>
      <p:sp>
        <p:nvSpPr>
          <p:cNvPr id="241687" name="TextBox 25"/>
          <p:cNvSpPr txBox="1">
            <a:spLocks noChangeArrowheads="1"/>
          </p:cNvSpPr>
          <p:nvPr/>
        </p:nvSpPr>
        <p:spPr bwMode="auto">
          <a:xfrm>
            <a:off x="1371600" y="2297113"/>
            <a:ext cx="40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2</a:t>
            </a:r>
          </a:p>
        </p:txBody>
      </p:sp>
      <p:sp>
        <p:nvSpPr>
          <p:cNvPr id="241688" name="TextBox 26"/>
          <p:cNvSpPr txBox="1">
            <a:spLocks noChangeArrowheads="1"/>
          </p:cNvSpPr>
          <p:nvPr/>
        </p:nvSpPr>
        <p:spPr bwMode="auto">
          <a:xfrm>
            <a:off x="1371600" y="2601913"/>
            <a:ext cx="40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3</a:t>
            </a:r>
          </a:p>
        </p:txBody>
      </p:sp>
      <p:sp>
        <p:nvSpPr>
          <p:cNvPr id="241689" name="TextBox 27"/>
          <p:cNvSpPr txBox="1">
            <a:spLocks noChangeArrowheads="1"/>
          </p:cNvSpPr>
          <p:nvPr/>
        </p:nvSpPr>
        <p:spPr bwMode="auto">
          <a:xfrm>
            <a:off x="1371600" y="2906713"/>
            <a:ext cx="40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4</a:t>
            </a:r>
          </a:p>
        </p:txBody>
      </p:sp>
      <p:sp>
        <p:nvSpPr>
          <p:cNvPr id="241690" name="TextBox 28"/>
          <p:cNvSpPr txBox="1">
            <a:spLocks noChangeArrowheads="1"/>
          </p:cNvSpPr>
          <p:nvPr/>
        </p:nvSpPr>
        <p:spPr bwMode="auto">
          <a:xfrm>
            <a:off x="1371600" y="3211513"/>
            <a:ext cx="40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5</a:t>
            </a:r>
          </a:p>
        </p:txBody>
      </p:sp>
      <p:sp>
        <p:nvSpPr>
          <p:cNvPr id="241691" name="TextBox 29"/>
          <p:cNvSpPr txBox="1">
            <a:spLocks noChangeArrowheads="1"/>
          </p:cNvSpPr>
          <p:nvPr/>
        </p:nvSpPr>
        <p:spPr bwMode="auto">
          <a:xfrm>
            <a:off x="1371600" y="3516313"/>
            <a:ext cx="40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6</a:t>
            </a:r>
          </a:p>
        </p:txBody>
      </p:sp>
      <p:sp>
        <p:nvSpPr>
          <p:cNvPr id="241692" name="TextBox 30"/>
          <p:cNvSpPr txBox="1">
            <a:spLocks noChangeArrowheads="1"/>
          </p:cNvSpPr>
          <p:nvPr/>
        </p:nvSpPr>
        <p:spPr bwMode="auto">
          <a:xfrm>
            <a:off x="1371600" y="3821113"/>
            <a:ext cx="40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7</a:t>
            </a:r>
          </a:p>
        </p:txBody>
      </p:sp>
      <p:sp>
        <p:nvSpPr>
          <p:cNvPr id="241693" name="TextBox 31"/>
          <p:cNvSpPr txBox="1">
            <a:spLocks noChangeArrowheads="1"/>
          </p:cNvSpPr>
          <p:nvPr/>
        </p:nvSpPr>
        <p:spPr bwMode="auto">
          <a:xfrm>
            <a:off x="7473950" y="2830513"/>
            <a:ext cx="3095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B</a:t>
            </a:r>
            <a:endParaRPr lang="en-US" altLang="en-US" baseline="-25000"/>
          </a:p>
        </p:txBody>
      </p:sp>
      <p:sp>
        <p:nvSpPr>
          <p:cNvPr id="241694" name="TextBox 32"/>
          <p:cNvSpPr txBox="1">
            <a:spLocks noChangeArrowheads="1"/>
          </p:cNvSpPr>
          <p:nvPr/>
        </p:nvSpPr>
        <p:spPr bwMode="auto">
          <a:xfrm>
            <a:off x="7473950" y="3211513"/>
            <a:ext cx="3079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C</a:t>
            </a:r>
            <a:endParaRPr lang="en-US" altLang="en-US" baseline="-25000"/>
          </a:p>
        </p:txBody>
      </p:sp>
      <p:cxnSp>
        <p:nvCxnSpPr>
          <p:cNvPr id="38" name="Straight Connector 37"/>
          <p:cNvCxnSpPr/>
          <p:nvPr/>
        </p:nvCxnSpPr>
        <p:spPr>
          <a:xfrm>
            <a:off x="1905000" y="46482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1696" name="TextBox 38"/>
          <p:cNvSpPr txBox="1">
            <a:spLocks noChangeArrowheads="1"/>
          </p:cNvSpPr>
          <p:nvPr/>
        </p:nvSpPr>
        <p:spPr bwMode="auto">
          <a:xfrm>
            <a:off x="1371600" y="4114800"/>
            <a:ext cx="40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8</a:t>
            </a:r>
          </a:p>
        </p:txBody>
      </p:sp>
      <p:sp>
        <p:nvSpPr>
          <p:cNvPr id="241697" name="TextBox 39"/>
          <p:cNvSpPr txBox="1">
            <a:spLocks noChangeArrowheads="1"/>
          </p:cNvSpPr>
          <p:nvPr/>
        </p:nvSpPr>
        <p:spPr bwMode="auto">
          <a:xfrm>
            <a:off x="1371600" y="4430713"/>
            <a:ext cx="40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r>
              <a:rPr lang="en-US" altLang="en-US" baseline="-25000"/>
              <a:t>9</a:t>
            </a:r>
          </a:p>
        </p:txBody>
      </p:sp>
      <p:cxnSp>
        <p:nvCxnSpPr>
          <p:cNvPr id="41" name="Straight Connector 40"/>
          <p:cNvCxnSpPr/>
          <p:nvPr/>
        </p:nvCxnSpPr>
        <p:spPr>
          <a:xfrm>
            <a:off x="5943600" y="3962400"/>
            <a:ext cx="137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1699" name="TextBox 41"/>
          <p:cNvSpPr txBox="1">
            <a:spLocks noChangeArrowheads="1"/>
          </p:cNvSpPr>
          <p:nvPr/>
        </p:nvSpPr>
        <p:spPr bwMode="auto">
          <a:xfrm>
            <a:off x="7467600" y="3744913"/>
            <a:ext cx="3270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D</a:t>
            </a:r>
            <a:endParaRPr lang="en-US" altLang="en-US" baseline="-25000"/>
          </a:p>
        </p:txBody>
      </p:sp>
    </p:spTree>
    <p:extLst>
      <p:ext uri="{BB962C8B-B14F-4D97-AF65-F5344CB8AC3E}">
        <p14:creationId xmlns:p14="http://schemas.microsoft.com/office/powerpoint/2010/main" val="412176689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Title 1"/>
          <p:cNvSpPr>
            <a:spLocks noGrp="1"/>
          </p:cNvSpPr>
          <p:nvPr>
            <p:ph type="title"/>
          </p:nvPr>
        </p:nvSpPr>
        <p:spPr>
          <a:xfrm>
            <a:off x="228600" y="0"/>
            <a:ext cx="8229600" cy="563563"/>
          </a:xfrm>
        </p:spPr>
        <p:txBody>
          <a:bodyPr>
            <a:normAutofit fontScale="90000"/>
          </a:bodyPr>
          <a:lstStyle/>
          <a:p>
            <a:pPr algn="just" eaLnBrk="1" fontAlgn="auto" hangingPunct="1">
              <a:spcAft>
                <a:spcPts val="0"/>
              </a:spcAft>
              <a:defRPr/>
            </a:pPr>
            <a:r>
              <a:rPr lang="en-US" sz="3200" b="1" dirty="0" smtClean="0">
                <a:solidFill>
                  <a:schemeClr val="accent2">
                    <a:lumMod val="50000"/>
                  </a:schemeClr>
                </a:solidFill>
              </a:rPr>
              <a:t>Decimal to BCD Encoder</a:t>
            </a:r>
          </a:p>
        </p:txBody>
      </p:sp>
      <p:sp>
        <p:nvSpPr>
          <p:cNvPr id="242691"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06A90331-7A6C-4845-85B4-EB470AD6230C}" type="datetime2">
              <a:rPr lang="en-US" altLang="en-US" smtClean="0">
                <a:solidFill>
                  <a:schemeClr val="tx2"/>
                </a:solidFill>
              </a:rPr>
              <a:pPr/>
              <a:t>Tuesday, March 10, 2026</a:t>
            </a:fld>
            <a:endParaRPr lang="en-US" altLang="en-US" smtClean="0">
              <a:solidFill>
                <a:schemeClr val="tx2"/>
              </a:solidFill>
            </a:endParaRPr>
          </a:p>
        </p:txBody>
      </p:sp>
      <p:sp>
        <p:nvSpPr>
          <p:cNvPr id="24269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mtClean="0">
                <a:solidFill>
                  <a:schemeClr val="tx2"/>
                </a:solidFill>
              </a:rPr>
              <a:t>BCS                                      </a:t>
            </a:r>
          </a:p>
        </p:txBody>
      </p:sp>
      <p:cxnSp>
        <p:nvCxnSpPr>
          <p:cNvPr id="7" name="Straight Connector 6"/>
          <p:cNvCxnSpPr/>
          <p:nvPr/>
        </p:nvCxnSpPr>
        <p:spPr>
          <a:xfrm>
            <a:off x="304800" y="762000"/>
            <a:ext cx="8534400" cy="0"/>
          </a:xfrm>
          <a:prstGeom prst="line">
            <a:avLst/>
          </a:prstGeom>
          <a:ln w="508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8" name="Table 7"/>
          <p:cNvGraphicFramePr>
            <a:graphicFrameLocks noGrp="1"/>
          </p:cNvGraphicFramePr>
          <p:nvPr/>
        </p:nvGraphicFramePr>
        <p:xfrm>
          <a:off x="0" y="1249363"/>
          <a:ext cx="9144005" cy="4999032"/>
        </p:xfrm>
        <a:graphic>
          <a:graphicData uri="http://schemas.openxmlformats.org/drawingml/2006/table">
            <a:tbl>
              <a:tblPr firstRow="1" bandRow="1">
                <a:tableStyleId>{5C22544A-7EE6-4342-B048-85BDC9FD1C3A}</a:tableStyleId>
              </a:tblPr>
              <a:tblGrid>
                <a:gridCol w="703385">
                  <a:extLst>
                    <a:ext uri="{9D8B030D-6E8A-4147-A177-3AD203B41FA5}">
                      <a16:colId xmlns:a16="http://schemas.microsoft.com/office/drawing/2014/main" val="20000"/>
                    </a:ext>
                  </a:extLst>
                </a:gridCol>
                <a:gridCol w="703385">
                  <a:extLst>
                    <a:ext uri="{9D8B030D-6E8A-4147-A177-3AD203B41FA5}">
                      <a16:colId xmlns:a16="http://schemas.microsoft.com/office/drawing/2014/main" val="20001"/>
                    </a:ext>
                  </a:extLst>
                </a:gridCol>
                <a:gridCol w="703385">
                  <a:extLst>
                    <a:ext uri="{9D8B030D-6E8A-4147-A177-3AD203B41FA5}">
                      <a16:colId xmlns:a16="http://schemas.microsoft.com/office/drawing/2014/main" val="20002"/>
                    </a:ext>
                  </a:extLst>
                </a:gridCol>
                <a:gridCol w="703385">
                  <a:extLst>
                    <a:ext uri="{9D8B030D-6E8A-4147-A177-3AD203B41FA5}">
                      <a16:colId xmlns:a16="http://schemas.microsoft.com/office/drawing/2014/main" val="20003"/>
                    </a:ext>
                  </a:extLst>
                </a:gridCol>
                <a:gridCol w="703385">
                  <a:extLst>
                    <a:ext uri="{9D8B030D-6E8A-4147-A177-3AD203B41FA5}">
                      <a16:colId xmlns:a16="http://schemas.microsoft.com/office/drawing/2014/main" val="20004"/>
                    </a:ext>
                  </a:extLst>
                </a:gridCol>
                <a:gridCol w="703385">
                  <a:extLst>
                    <a:ext uri="{9D8B030D-6E8A-4147-A177-3AD203B41FA5}">
                      <a16:colId xmlns:a16="http://schemas.microsoft.com/office/drawing/2014/main" val="20005"/>
                    </a:ext>
                  </a:extLst>
                </a:gridCol>
                <a:gridCol w="703385">
                  <a:extLst>
                    <a:ext uri="{9D8B030D-6E8A-4147-A177-3AD203B41FA5}">
                      <a16:colId xmlns:a16="http://schemas.microsoft.com/office/drawing/2014/main" val="20006"/>
                    </a:ext>
                  </a:extLst>
                </a:gridCol>
                <a:gridCol w="703385">
                  <a:extLst>
                    <a:ext uri="{9D8B030D-6E8A-4147-A177-3AD203B41FA5}">
                      <a16:colId xmlns:a16="http://schemas.microsoft.com/office/drawing/2014/main" val="20007"/>
                    </a:ext>
                  </a:extLst>
                </a:gridCol>
                <a:gridCol w="703385">
                  <a:extLst>
                    <a:ext uri="{9D8B030D-6E8A-4147-A177-3AD203B41FA5}">
                      <a16:colId xmlns:a16="http://schemas.microsoft.com/office/drawing/2014/main" val="20008"/>
                    </a:ext>
                  </a:extLst>
                </a:gridCol>
                <a:gridCol w="703385">
                  <a:extLst>
                    <a:ext uri="{9D8B030D-6E8A-4147-A177-3AD203B41FA5}">
                      <a16:colId xmlns:a16="http://schemas.microsoft.com/office/drawing/2014/main" val="20009"/>
                    </a:ext>
                  </a:extLst>
                </a:gridCol>
                <a:gridCol w="703385">
                  <a:extLst>
                    <a:ext uri="{9D8B030D-6E8A-4147-A177-3AD203B41FA5}">
                      <a16:colId xmlns:a16="http://schemas.microsoft.com/office/drawing/2014/main" val="20010"/>
                    </a:ext>
                  </a:extLst>
                </a:gridCol>
                <a:gridCol w="703385">
                  <a:extLst>
                    <a:ext uri="{9D8B030D-6E8A-4147-A177-3AD203B41FA5}">
                      <a16:colId xmlns:a16="http://schemas.microsoft.com/office/drawing/2014/main" val="20011"/>
                    </a:ext>
                  </a:extLst>
                </a:gridCol>
                <a:gridCol w="703385">
                  <a:extLst>
                    <a:ext uri="{9D8B030D-6E8A-4147-A177-3AD203B41FA5}">
                      <a16:colId xmlns:a16="http://schemas.microsoft.com/office/drawing/2014/main" val="20012"/>
                    </a:ext>
                  </a:extLst>
                </a:gridCol>
              </a:tblGrid>
              <a:tr h="416586">
                <a:tc gridSpan="9">
                  <a:txBody>
                    <a:bodyPr/>
                    <a:lstStyle/>
                    <a:p>
                      <a:pPr algn="ctr"/>
                      <a:r>
                        <a:rPr lang="en-US" sz="1800" dirty="0" smtClean="0"/>
                        <a:t>Inputs</a:t>
                      </a:r>
                      <a:endParaRPr lang="en-US" sz="1800" dirty="0"/>
                    </a:p>
                  </a:txBody>
                  <a:tcPr marT="45726" marB="45726" anchor="ctr"/>
                </a:tc>
                <a:tc hMerge="1">
                  <a:txBody>
                    <a:bodyPr/>
                    <a:lstStyle/>
                    <a:p>
                      <a:endParaRPr lang="en-US" dirty="0"/>
                    </a:p>
                  </a:txBody>
                  <a:tcPr/>
                </a:tc>
                <a:tc hMerge="1">
                  <a:txBody>
                    <a:bodyPr/>
                    <a:lstStyle/>
                    <a:p>
                      <a:endParaRPr lang="en-US"/>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4">
                  <a:txBody>
                    <a:bodyPr/>
                    <a:lstStyle/>
                    <a:p>
                      <a:pPr algn="ctr"/>
                      <a:r>
                        <a:rPr lang="en-US" sz="1800" dirty="0" smtClean="0"/>
                        <a:t>Outputs</a:t>
                      </a:r>
                      <a:endParaRPr lang="en-US" sz="1800" dirty="0"/>
                    </a:p>
                  </a:txBody>
                  <a:tcPr marT="45726" marB="45726" anchor="ctr"/>
                </a:tc>
                <a:tc hMerge="1">
                  <a:txBody>
                    <a:bodyPr/>
                    <a:lstStyle/>
                    <a:p>
                      <a:endParaRPr lang="en-US" dirty="0"/>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00"/>
                  </a:ext>
                </a:extLst>
              </a:tr>
              <a:tr h="416586">
                <a:tc>
                  <a:txBody>
                    <a:bodyPr/>
                    <a:lstStyle/>
                    <a:p>
                      <a:pPr algn="ctr"/>
                      <a:r>
                        <a:rPr lang="en-US" sz="1800" dirty="0" smtClean="0"/>
                        <a:t>D</a:t>
                      </a:r>
                      <a:r>
                        <a:rPr lang="en-US" sz="1800" baseline="-25000" dirty="0" smtClean="0"/>
                        <a:t>9</a:t>
                      </a:r>
                      <a:endParaRPr lang="en-US" sz="1800" baseline="-25000" dirty="0"/>
                    </a:p>
                  </a:txBody>
                  <a:tcPr marT="45726" marB="45726" anchor="ctr"/>
                </a:tc>
                <a:tc>
                  <a:txBody>
                    <a:bodyPr/>
                    <a:lstStyle/>
                    <a:p>
                      <a:pPr algn="ctr"/>
                      <a:r>
                        <a:rPr lang="en-US" sz="1800" dirty="0" smtClean="0"/>
                        <a:t>D</a:t>
                      </a:r>
                      <a:r>
                        <a:rPr lang="en-US" sz="1800" baseline="-25000" dirty="0" smtClean="0"/>
                        <a:t>8</a:t>
                      </a:r>
                      <a:endParaRPr lang="en-US" sz="1800" dirty="0"/>
                    </a:p>
                  </a:txBody>
                  <a:tcPr marT="45726" marB="45726"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D</a:t>
                      </a:r>
                      <a:r>
                        <a:rPr lang="en-US" sz="1800" baseline="-25000" dirty="0" smtClean="0"/>
                        <a:t>7</a:t>
                      </a:r>
                      <a:endParaRPr lang="en-US" sz="1800" dirty="0"/>
                    </a:p>
                  </a:txBody>
                  <a:tcPr marT="45726" marB="45726" anchor="ctr"/>
                </a:tc>
                <a:tc>
                  <a:txBody>
                    <a:bodyPr/>
                    <a:lstStyle/>
                    <a:p>
                      <a:pPr algn="ctr"/>
                      <a:r>
                        <a:rPr lang="en-US" sz="1800" dirty="0" smtClean="0"/>
                        <a:t>D</a:t>
                      </a:r>
                      <a:r>
                        <a:rPr lang="en-US" sz="1800" baseline="-25000" dirty="0" smtClean="0"/>
                        <a:t>6</a:t>
                      </a:r>
                      <a:endParaRPr lang="en-US" sz="1800" dirty="0"/>
                    </a:p>
                  </a:txBody>
                  <a:tcPr marT="45726" marB="45726" anchor="ctr"/>
                </a:tc>
                <a:tc>
                  <a:txBody>
                    <a:bodyPr/>
                    <a:lstStyle/>
                    <a:p>
                      <a:pPr algn="ctr"/>
                      <a:r>
                        <a:rPr lang="en-US" sz="1800" dirty="0" smtClean="0"/>
                        <a:t>D</a:t>
                      </a:r>
                      <a:r>
                        <a:rPr lang="en-US" sz="1800" baseline="-25000" dirty="0" smtClean="0"/>
                        <a:t>5</a:t>
                      </a:r>
                      <a:endParaRPr lang="en-US" sz="1800" dirty="0"/>
                    </a:p>
                  </a:txBody>
                  <a:tcPr marT="45726" marB="45726" anchor="ctr"/>
                </a:tc>
                <a:tc>
                  <a:txBody>
                    <a:bodyPr/>
                    <a:lstStyle/>
                    <a:p>
                      <a:pPr algn="ctr"/>
                      <a:r>
                        <a:rPr lang="en-US" sz="1800" dirty="0" smtClean="0"/>
                        <a:t>D</a:t>
                      </a:r>
                      <a:r>
                        <a:rPr lang="en-US" sz="1800" baseline="-25000" dirty="0" smtClean="0"/>
                        <a:t>4</a:t>
                      </a:r>
                      <a:endParaRPr lang="en-US" sz="1800" dirty="0"/>
                    </a:p>
                  </a:txBody>
                  <a:tcPr marT="45726" marB="45726" anchor="ctr"/>
                </a:tc>
                <a:tc>
                  <a:txBody>
                    <a:bodyPr/>
                    <a:lstStyle/>
                    <a:p>
                      <a:pPr algn="ctr"/>
                      <a:r>
                        <a:rPr lang="en-US" sz="1800" dirty="0" smtClean="0"/>
                        <a:t>D</a:t>
                      </a:r>
                      <a:r>
                        <a:rPr lang="en-US" sz="1800" baseline="-25000" dirty="0" smtClean="0"/>
                        <a:t>3</a:t>
                      </a:r>
                      <a:endParaRPr lang="en-US" sz="1800" dirty="0"/>
                    </a:p>
                  </a:txBody>
                  <a:tcPr marT="45726" marB="45726" anchor="ctr"/>
                </a:tc>
                <a:tc>
                  <a:txBody>
                    <a:bodyPr/>
                    <a:lstStyle/>
                    <a:p>
                      <a:pPr algn="ctr"/>
                      <a:r>
                        <a:rPr lang="en-US" sz="1800" dirty="0" smtClean="0"/>
                        <a:t>D</a:t>
                      </a:r>
                      <a:r>
                        <a:rPr lang="en-US" sz="1800" baseline="-25000" dirty="0" smtClean="0"/>
                        <a:t>2</a:t>
                      </a:r>
                      <a:endParaRPr lang="en-US" sz="1800" dirty="0"/>
                    </a:p>
                  </a:txBody>
                  <a:tcPr marT="45726" marB="45726" anchor="ctr"/>
                </a:tc>
                <a:tc>
                  <a:txBody>
                    <a:bodyPr/>
                    <a:lstStyle/>
                    <a:p>
                      <a:pPr algn="ctr"/>
                      <a:r>
                        <a:rPr lang="en-US" sz="1800" dirty="0" smtClean="0"/>
                        <a:t>D</a:t>
                      </a:r>
                      <a:r>
                        <a:rPr lang="en-US" sz="1800" baseline="-25000" dirty="0" smtClean="0"/>
                        <a:t>1</a:t>
                      </a:r>
                      <a:endParaRPr lang="en-US" sz="1800" dirty="0"/>
                    </a:p>
                  </a:txBody>
                  <a:tcPr marT="45726" marB="45726" anchor="ctr"/>
                </a:tc>
                <a:tc>
                  <a:txBody>
                    <a:bodyPr/>
                    <a:lstStyle/>
                    <a:p>
                      <a:pPr algn="ctr"/>
                      <a:r>
                        <a:rPr lang="en-US" sz="1800" dirty="0" smtClean="0"/>
                        <a:t>D</a:t>
                      </a:r>
                      <a:endParaRPr lang="en-US" sz="1800" dirty="0"/>
                    </a:p>
                  </a:txBody>
                  <a:tcPr marT="45726" marB="45726" anchor="ctr"/>
                </a:tc>
                <a:tc>
                  <a:txBody>
                    <a:bodyPr/>
                    <a:lstStyle/>
                    <a:p>
                      <a:pPr algn="ctr"/>
                      <a:r>
                        <a:rPr lang="en-US" sz="1800" dirty="0" smtClean="0"/>
                        <a:t>C</a:t>
                      </a:r>
                      <a:endParaRPr lang="en-US" sz="1800" dirty="0"/>
                    </a:p>
                  </a:txBody>
                  <a:tcPr marT="45726" marB="45726" anchor="ctr"/>
                </a:tc>
                <a:tc>
                  <a:txBody>
                    <a:bodyPr/>
                    <a:lstStyle/>
                    <a:p>
                      <a:pPr algn="ctr"/>
                      <a:r>
                        <a:rPr lang="en-US" sz="1800" dirty="0" smtClean="0"/>
                        <a:t>B</a:t>
                      </a:r>
                      <a:endParaRPr lang="en-US" sz="1800" dirty="0"/>
                    </a:p>
                  </a:txBody>
                  <a:tcPr marT="45726" marB="45726" anchor="ctr"/>
                </a:tc>
                <a:tc>
                  <a:txBody>
                    <a:bodyPr/>
                    <a:lstStyle/>
                    <a:p>
                      <a:pPr algn="ctr"/>
                      <a:r>
                        <a:rPr lang="en-US" sz="1800" dirty="0" smtClean="0"/>
                        <a:t>A</a:t>
                      </a:r>
                      <a:endParaRPr lang="en-US" sz="1800" dirty="0"/>
                    </a:p>
                  </a:txBody>
                  <a:tcPr marT="45726" marB="45726" anchor="ctr"/>
                </a:tc>
                <a:extLst>
                  <a:ext uri="{0D108BD9-81ED-4DB2-BD59-A6C34878D82A}">
                    <a16:rowId xmlns:a16="http://schemas.microsoft.com/office/drawing/2014/main" val="10001"/>
                  </a:ext>
                </a:extLst>
              </a:tr>
              <a:tr h="416586">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extLst>
                  <a:ext uri="{0D108BD9-81ED-4DB2-BD59-A6C34878D82A}">
                    <a16:rowId xmlns:a16="http://schemas.microsoft.com/office/drawing/2014/main" val="10002"/>
                  </a:ext>
                </a:extLst>
              </a:tr>
              <a:tr h="416586">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1</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1</a:t>
                      </a:r>
                      <a:endParaRPr lang="en-US" sz="1800" dirty="0"/>
                    </a:p>
                  </a:txBody>
                  <a:tcPr marT="45726" marB="45726" anchor="ctr"/>
                </a:tc>
                <a:extLst>
                  <a:ext uri="{0D108BD9-81ED-4DB2-BD59-A6C34878D82A}">
                    <a16:rowId xmlns:a16="http://schemas.microsoft.com/office/drawing/2014/main" val="10003"/>
                  </a:ext>
                </a:extLst>
              </a:tr>
              <a:tr h="416586">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1</a:t>
                      </a:r>
                      <a:endParaRPr lang="en-US" sz="1800" dirty="0"/>
                    </a:p>
                  </a:txBody>
                  <a:tcPr marT="45726" marB="45726" anchor="ctr"/>
                </a:tc>
                <a:tc>
                  <a:txBody>
                    <a:bodyPr/>
                    <a:lstStyle/>
                    <a:p>
                      <a:pPr algn="ctr"/>
                      <a:r>
                        <a:rPr lang="en-US" sz="1800" smtClean="0"/>
                        <a:t>X</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1</a:t>
                      </a:r>
                      <a:endParaRPr lang="en-US" sz="1800" dirty="0"/>
                    </a:p>
                  </a:txBody>
                  <a:tcPr marT="45726" marB="45726" anchor="ctr"/>
                </a:tc>
                <a:tc>
                  <a:txBody>
                    <a:bodyPr/>
                    <a:lstStyle/>
                    <a:p>
                      <a:pPr algn="ctr"/>
                      <a:r>
                        <a:rPr lang="en-US" sz="1800" dirty="0" smtClean="0"/>
                        <a:t>0</a:t>
                      </a:r>
                      <a:endParaRPr lang="en-US" sz="1800" dirty="0"/>
                    </a:p>
                  </a:txBody>
                  <a:tcPr marT="45726" marB="45726" anchor="ctr"/>
                </a:tc>
                <a:extLst>
                  <a:ext uri="{0D108BD9-81ED-4DB2-BD59-A6C34878D82A}">
                    <a16:rowId xmlns:a16="http://schemas.microsoft.com/office/drawing/2014/main" val="10004"/>
                  </a:ext>
                </a:extLst>
              </a:tr>
              <a:tr h="416586">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1</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1</a:t>
                      </a:r>
                      <a:endParaRPr lang="en-US" sz="1800" dirty="0"/>
                    </a:p>
                  </a:txBody>
                  <a:tcPr marT="45726" marB="45726" anchor="ctr"/>
                </a:tc>
                <a:tc>
                  <a:txBody>
                    <a:bodyPr/>
                    <a:lstStyle/>
                    <a:p>
                      <a:pPr algn="ctr"/>
                      <a:r>
                        <a:rPr lang="en-US" sz="1800" dirty="0" smtClean="0"/>
                        <a:t>1</a:t>
                      </a:r>
                      <a:endParaRPr lang="en-US" sz="1800" dirty="0"/>
                    </a:p>
                  </a:txBody>
                  <a:tcPr marT="45726" marB="45726" anchor="ctr"/>
                </a:tc>
                <a:extLst>
                  <a:ext uri="{0D108BD9-81ED-4DB2-BD59-A6C34878D82A}">
                    <a16:rowId xmlns:a16="http://schemas.microsoft.com/office/drawing/2014/main" val="10005"/>
                  </a:ext>
                </a:extLst>
              </a:tr>
              <a:tr h="416586">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1</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1</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extLst>
                  <a:ext uri="{0D108BD9-81ED-4DB2-BD59-A6C34878D82A}">
                    <a16:rowId xmlns:a16="http://schemas.microsoft.com/office/drawing/2014/main" val="10006"/>
                  </a:ext>
                </a:extLst>
              </a:tr>
              <a:tr h="416586">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1</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1</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1</a:t>
                      </a:r>
                      <a:endParaRPr lang="en-US" sz="1800" dirty="0"/>
                    </a:p>
                  </a:txBody>
                  <a:tcPr marT="45726" marB="45726" anchor="ctr"/>
                </a:tc>
                <a:extLst>
                  <a:ext uri="{0D108BD9-81ED-4DB2-BD59-A6C34878D82A}">
                    <a16:rowId xmlns:a16="http://schemas.microsoft.com/office/drawing/2014/main" val="10007"/>
                  </a:ext>
                </a:extLst>
              </a:tr>
              <a:tr h="416586">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1</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1</a:t>
                      </a:r>
                      <a:endParaRPr lang="en-US" sz="1800" dirty="0"/>
                    </a:p>
                  </a:txBody>
                  <a:tcPr marT="45726" marB="45726" anchor="ctr"/>
                </a:tc>
                <a:tc>
                  <a:txBody>
                    <a:bodyPr/>
                    <a:lstStyle/>
                    <a:p>
                      <a:pPr algn="ctr"/>
                      <a:r>
                        <a:rPr lang="en-US" sz="1800" dirty="0" smtClean="0"/>
                        <a:t>1</a:t>
                      </a:r>
                      <a:endParaRPr lang="en-US" sz="1800" dirty="0"/>
                    </a:p>
                  </a:txBody>
                  <a:tcPr marT="45726" marB="45726" anchor="ctr"/>
                </a:tc>
                <a:tc>
                  <a:txBody>
                    <a:bodyPr/>
                    <a:lstStyle/>
                    <a:p>
                      <a:pPr algn="ctr"/>
                      <a:r>
                        <a:rPr lang="en-US" sz="1800" dirty="0" smtClean="0"/>
                        <a:t>0</a:t>
                      </a:r>
                      <a:endParaRPr lang="en-US" sz="1800" dirty="0"/>
                    </a:p>
                  </a:txBody>
                  <a:tcPr marT="45726" marB="45726" anchor="ctr"/>
                </a:tc>
                <a:extLst>
                  <a:ext uri="{0D108BD9-81ED-4DB2-BD59-A6C34878D82A}">
                    <a16:rowId xmlns:a16="http://schemas.microsoft.com/office/drawing/2014/main" val="10008"/>
                  </a:ext>
                </a:extLst>
              </a:tr>
              <a:tr h="416586">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1</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1</a:t>
                      </a:r>
                      <a:endParaRPr lang="en-US" sz="1800" dirty="0"/>
                    </a:p>
                  </a:txBody>
                  <a:tcPr marT="45726" marB="45726" anchor="ctr"/>
                </a:tc>
                <a:tc>
                  <a:txBody>
                    <a:bodyPr/>
                    <a:lstStyle/>
                    <a:p>
                      <a:pPr algn="ctr"/>
                      <a:r>
                        <a:rPr lang="en-US" sz="1800" dirty="0" smtClean="0"/>
                        <a:t>1</a:t>
                      </a:r>
                      <a:endParaRPr lang="en-US" sz="1800" dirty="0"/>
                    </a:p>
                  </a:txBody>
                  <a:tcPr marT="45726" marB="45726" anchor="ctr"/>
                </a:tc>
                <a:tc>
                  <a:txBody>
                    <a:bodyPr/>
                    <a:lstStyle/>
                    <a:p>
                      <a:pPr algn="ctr"/>
                      <a:r>
                        <a:rPr lang="en-US" sz="1800" dirty="0" smtClean="0"/>
                        <a:t>1</a:t>
                      </a:r>
                      <a:endParaRPr lang="en-US" sz="1800" dirty="0"/>
                    </a:p>
                  </a:txBody>
                  <a:tcPr marT="45726" marB="45726" anchor="ctr"/>
                </a:tc>
                <a:extLst>
                  <a:ext uri="{0D108BD9-81ED-4DB2-BD59-A6C34878D82A}">
                    <a16:rowId xmlns:a16="http://schemas.microsoft.com/office/drawing/2014/main" val="10009"/>
                  </a:ext>
                </a:extLst>
              </a:tr>
              <a:tr h="416586">
                <a:tc>
                  <a:txBody>
                    <a:bodyPr/>
                    <a:lstStyle/>
                    <a:p>
                      <a:pPr algn="ctr"/>
                      <a:r>
                        <a:rPr lang="en-US" sz="1800" dirty="0" smtClean="0"/>
                        <a:t>0</a:t>
                      </a:r>
                      <a:endParaRPr lang="en-US" sz="1800" dirty="0"/>
                    </a:p>
                  </a:txBody>
                  <a:tcPr marT="45726" marB="45726" anchor="ctr"/>
                </a:tc>
                <a:tc>
                  <a:txBody>
                    <a:bodyPr/>
                    <a:lstStyle/>
                    <a:p>
                      <a:pPr algn="ctr"/>
                      <a:r>
                        <a:rPr lang="en-US" sz="1800" dirty="0" smtClean="0"/>
                        <a:t>1</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1</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extLst>
                  <a:ext uri="{0D108BD9-81ED-4DB2-BD59-A6C34878D82A}">
                    <a16:rowId xmlns:a16="http://schemas.microsoft.com/office/drawing/2014/main" val="10010"/>
                  </a:ext>
                </a:extLst>
              </a:tr>
              <a:tr h="416586">
                <a:tc>
                  <a:txBody>
                    <a:bodyPr/>
                    <a:lstStyle/>
                    <a:p>
                      <a:pPr algn="ctr"/>
                      <a:r>
                        <a:rPr lang="en-US" sz="1800" dirty="0" smtClean="0"/>
                        <a:t>1</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X</a:t>
                      </a:r>
                      <a:endParaRPr lang="en-US" sz="1800" dirty="0"/>
                    </a:p>
                  </a:txBody>
                  <a:tcPr marT="45726" marB="45726" anchor="ctr"/>
                </a:tc>
                <a:tc>
                  <a:txBody>
                    <a:bodyPr/>
                    <a:lstStyle/>
                    <a:p>
                      <a:pPr algn="ctr"/>
                      <a:r>
                        <a:rPr lang="en-US" sz="1800" dirty="0" smtClean="0"/>
                        <a:t>1</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0</a:t>
                      </a:r>
                      <a:endParaRPr lang="en-US" sz="1800" dirty="0"/>
                    </a:p>
                  </a:txBody>
                  <a:tcPr marT="45726" marB="45726" anchor="ctr"/>
                </a:tc>
                <a:tc>
                  <a:txBody>
                    <a:bodyPr/>
                    <a:lstStyle/>
                    <a:p>
                      <a:pPr algn="ctr"/>
                      <a:r>
                        <a:rPr lang="en-US" sz="1800" dirty="0" smtClean="0"/>
                        <a:t>1</a:t>
                      </a:r>
                      <a:endParaRPr lang="en-US" sz="1800" dirty="0"/>
                    </a:p>
                  </a:txBody>
                  <a:tcPr marT="45726" marB="45726" anchor="ctr"/>
                </a:tc>
                <a:extLst>
                  <a:ext uri="{0D108BD9-81ED-4DB2-BD59-A6C34878D82A}">
                    <a16:rowId xmlns:a16="http://schemas.microsoft.com/office/drawing/2014/main" val="10011"/>
                  </a:ext>
                </a:extLst>
              </a:tr>
            </a:tbl>
          </a:graphicData>
        </a:graphic>
      </p:graphicFrame>
      <p:sp>
        <p:nvSpPr>
          <p:cNvPr id="242867" name="TextBox 8"/>
          <p:cNvSpPr txBox="1">
            <a:spLocks noChangeArrowheads="1"/>
          </p:cNvSpPr>
          <p:nvPr/>
        </p:nvSpPr>
        <p:spPr bwMode="auto">
          <a:xfrm>
            <a:off x="149225" y="849313"/>
            <a:ext cx="14446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000" b="1"/>
              <a:t>Truth Table:</a:t>
            </a:r>
          </a:p>
        </p:txBody>
      </p:sp>
    </p:spTree>
    <p:extLst>
      <p:ext uri="{BB962C8B-B14F-4D97-AF65-F5344CB8AC3E}">
        <p14:creationId xmlns:p14="http://schemas.microsoft.com/office/powerpoint/2010/main" val="216469807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Applications of Encoders</a:t>
            </a:r>
            <a:br>
              <a:rPr lang="en-IN" b="1" dirty="0"/>
            </a:br>
            <a:endParaRPr lang="en-IN" dirty="0"/>
          </a:p>
        </p:txBody>
      </p:sp>
      <p:sp>
        <p:nvSpPr>
          <p:cNvPr id="3" name="Text Placeholder 2"/>
          <p:cNvSpPr>
            <a:spLocks noGrp="1"/>
          </p:cNvSpPr>
          <p:nvPr>
            <p:ph type="body" idx="1"/>
          </p:nvPr>
        </p:nvSpPr>
        <p:spPr/>
        <p:txBody>
          <a:bodyPr>
            <a:normAutofit fontScale="92500" lnSpcReduction="20000"/>
          </a:bodyPr>
          <a:lstStyle/>
          <a:p>
            <a:r>
              <a:rPr lang="en-IN" b="1" dirty="0"/>
              <a:t>Multiplexers: </a:t>
            </a:r>
            <a:r>
              <a:rPr lang="en-IN" dirty="0"/>
              <a:t>Converts parallel data bus to serial data stream for transmission or vice versa.</a:t>
            </a:r>
          </a:p>
          <a:p>
            <a:r>
              <a:rPr lang="en-IN" b="1" dirty="0"/>
              <a:t>Communication Systems:</a:t>
            </a:r>
            <a:r>
              <a:rPr lang="en-IN" dirty="0"/>
              <a:t> Encodes digital signals for efficient transmission over limited bandwidth channels.</a:t>
            </a:r>
          </a:p>
          <a:p>
            <a:r>
              <a:rPr lang="en-IN" b="1" dirty="0"/>
              <a:t>Keyboards and Scanners: </a:t>
            </a:r>
            <a:r>
              <a:rPr lang="en-IN" dirty="0"/>
              <a:t>Encodes key presses/scan lines into digital format.</a:t>
            </a:r>
          </a:p>
          <a:p>
            <a:r>
              <a:rPr lang="en-IN" b="1" dirty="0"/>
              <a:t>Seven Segment Displays:</a:t>
            </a:r>
            <a:r>
              <a:rPr lang="en-IN" dirty="0"/>
              <a:t> Uses BCD encoders to display decimal numbers.</a:t>
            </a:r>
          </a:p>
          <a:p>
            <a:r>
              <a:rPr lang="en-IN" b="1" dirty="0"/>
              <a:t>Barcode Readers:</a:t>
            </a:r>
            <a:r>
              <a:rPr lang="en-IN" dirty="0"/>
              <a:t> Decodes barcodes scanned as varying reflectance into digital data format.</a:t>
            </a:r>
          </a:p>
          <a:p>
            <a:endParaRPr lang="en-IN" dirty="0"/>
          </a:p>
        </p:txBody>
      </p:sp>
    </p:spTree>
    <p:extLst>
      <p:ext uri="{BB962C8B-B14F-4D97-AF65-F5344CB8AC3E}">
        <p14:creationId xmlns:p14="http://schemas.microsoft.com/office/powerpoint/2010/main" val="14071452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Encoder and Decoder Basic concept Explained in hind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444" y="1226520"/>
            <a:ext cx="8519360" cy="4792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552256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95"/>
          <p:cNvSpPr txBox="1"/>
          <p:nvPr/>
        </p:nvSpPr>
        <p:spPr>
          <a:xfrm rot="-1793064">
            <a:off x="1703222" y="2146115"/>
            <a:ext cx="5983184" cy="110799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600" b="1" cap="none">
                <a:solidFill>
                  <a:schemeClr val="accent1"/>
                </a:solidFill>
                <a:latin typeface="Times New Roman"/>
                <a:ea typeface="Times New Roman"/>
                <a:cs typeface="Times New Roman"/>
                <a:sym typeface="Times New Roman"/>
              </a:rPr>
              <a:t>THANK YOU</a:t>
            </a:r>
            <a:endParaRPr sz="6600" b="1" cap="none">
              <a:solidFill>
                <a:schemeClr val="accent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9264</TotalTime>
  <Words>3172</Words>
  <Application>Microsoft Office PowerPoint</Application>
  <PresentationFormat>On-screen Show (4:3)</PresentationFormat>
  <Paragraphs>1268</Paragraphs>
  <Slides>77</Slides>
  <Notes>45</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77</vt:i4>
      </vt:variant>
    </vt:vector>
  </HeadingPairs>
  <TitlesOfParts>
    <vt:vector size="83" baseType="lpstr">
      <vt:lpstr>Arial</vt:lpstr>
      <vt:lpstr>Calibri</vt:lpstr>
      <vt:lpstr>Times New Roman</vt:lpstr>
      <vt:lpstr>Wingdings</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8:1 Multiplexer using 4:1 Multiplexer</vt:lpstr>
      <vt:lpstr>8:1 Multiplexer using 4:1 Multiplexer</vt:lpstr>
      <vt:lpstr>16:1 Multiplexer</vt:lpstr>
      <vt:lpstr>16:1 Multiplexer</vt:lpstr>
      <vt:lpstr>PowerPoint Presentation</vt:lpstr>
      <vt:lpstr>PowerPoint Presentation</vt:lpstr>
      <vt:lpstr>PowerPoint Presentation</vt:lpstr>
      <vt:lpstr>PowerPoint Presentation</vt:lpstr>
      <vt:lpstr>PowerPoint Presentation</vt:lpstr>
      <vt:lpstr>PowerPoint Presentation</vt:lpstr>
      <vt:lpstr>1: 8 De-multiplexer</vt:lpstr>
      <vt:lpstr>1: 8 De-multiplexer</vt:lpstr>
      <vt:lpstr>1: 16 De-multiplexer</vt:lpstr>
      <vt:lpstr>De-mux Tree</vt:lpstr>
      <vt:lpstr>1:4 De-mux using 1:2 De-mux</vt:lpstr>
      <vt:lpstr>1:16 De-mux using 1:4 De-mux</vt:lpstr>
      <vt:lpstr>PowerPoint Presentation</vt:lpstr>
      <vt:lpstr>PowerPoint Presentation</vt:lpstr>
      <vt:lpstr>74153 Multiplexer IC </vt:lpstr>
      <vt:lpstr>Decoder</vt:lpstr>
      <vt:lpstr>2:4 Decoder </vt:lpstr>
      <vt:lpstr>De-multiplexer as Decoder</vt:lpstr>
      <vt:lpstr>1:4 De-multiplexer as 2:4 Decoder</vt:lpstr>
      <vt:lpstr>Realization of Boolean expression using De-mux </vt:lpstr>
      <vt:lpstr>Example 1</vt:lpstr>
      <vt:lpstr>Example 1                                                  continue…..</vt:lpstr>
      <vt:lpstr>Example 2</vt:lpstr>
      <vt:lpstr>Example 2                                                  continue…..</vt:lpstr>
      <vt:lpstr>Multiplexer ICs</vt:lpstr>
      <vt:lpstr>De-multiplexer ICs</vt:lpstr>
      <vt:lpstr>Encoder</vt:lpstr>
      <vt:lpstr>Encoder</vt:lpstr>
      <vt:lpstr>Types of Encoders</vt:lpstr>
      <vt:lpstr>Priority Encoder</vt:lpstr>
      <vt:lpstr>Priority Encoder 8:3</vt:lpstr>
      <vt:lpstr>Priority Encoder 8:3</vt:lpstr>
      <vt:lpstr>Decimal to BCD Encoder</vt:lpstr>
      <vt:lpstr>Decimal to BCD Encoder</vt:lpstr>
      <vt:lpstr>Applications of Encoders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 Combinational Logic Circuits</dc:title>
  <dc:creator>pcp</dc:creator>
  <cp:lastModifiedBy>SIT FACULTY</cp:lastModifiedBy>
  <cp:revision>53</cp:revision>
  <dcterms:created xsi:type="dcterms:W3CDTF">2021-10-08T05:21:13Z</dcterms:created>
  <dcterms:modified xsi:type="dcterms:W3CDTF">2026-03-10T06:42:22Z</dcterms:modified>
</cp:coreProperties>
</file>