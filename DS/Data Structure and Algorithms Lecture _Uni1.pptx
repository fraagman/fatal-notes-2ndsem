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72"/>
  </p:notesMasterIdLst>
  <p:sldIdLst>
    <p:sldId id="256" r:id="rId2"/>
    <p:sldId id="257" r:id="rId3"/>
    <p:sldId id="341" r:id="rId4"/>
    <p:sldId id="258" r:id="rId5"/>
    <p:sldId id="344"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345" r:id="rId20"/>
    <p:sldId id="346" r:id="rId21"/>
    <p:sldId id="348" r:id="rId22"/>
    <p:sldId id="347" r:id="rId23"/>
    <p:sldId id="349" r:id="rId24"/>
    <p:sldId id="342" r:id="rId25"/>
    <p:sldId id="343" r:id="rId26"/>
    <p:sldId id="352" r:id="rId27"/>
    <p:sldId id="350" r:id="rId28"/>
    <p:sldId id="351" r:id="rId29"/>
    <p:sldId id="353" r:id="rId30"/>
    <p:sldId id="354" r:id="rId31"/>
    <p:sldId id="355" r:id="rId32"/>
    <p:sldId id="358" r:id="rId33"/>
    <p:sldId id="357" r:id="rId34"/>
    <p:sldId id="359" r:id="rId35"/>
    <p:sldId id="367" r:id="rId36"/>
    <p:sldId id="369" r:id="rId37"/>
    <p:sldId id="360" r:id="rId38"/>
    <p:sldId id="361" r:id="rId39"/>
    <p:sldId id="362" r:id="rId40"/>
    <p:sldId id="363" r:id="rId41"/>
    <p:sldId id="364" r:id="rId42"/>
    <p:sldId id="365" r:id="rId43"/>
    <p:sldId id="366" r:id="rId44"/>
    <p:sldId id="370" r:id="rId45"/>
    <p:sldId id="371" r:id="rId46"/>
    <p:sldId id="373" r:id="rId47"/>
    <p:sldId id="374" r:id="rId48"/>
    <p:sldId id="375" r:id="rId49"/>
    <p:sldId id="372" r:id="rId50"/>
    <p:sldId id="376" r:id="rId51"/>
    <p:sldId id="377" r:id="rId52"/>
    <p:sldId id="378" r:id="rId53"/>
    <p:sldId id="380" r:id="rId54"/>
    <p:sldId id="379" r:id="rId55"/>
    <p:sldId id="381" r:id="rId56"/>
    <p:sldId id="382" r:id="rId57"/>
    <p:sldId id="383" r:id="rId58"/>
    <p:sldId id="368" r:id="rId59"/>
    <p:sldId id="384" r:id="rId60"/>
    <p:sldId id="385" r:id="rId61"/>
    <p:sldId id="388" r:id="rId62"/>
    <p:sldId id="389" r:id="rId63"/>
    <p:sldId id="386" r:id="rId64"/>
    <p:sldId id="387" r:id="rId65"/>
    <p:sldId id="390" r:id="rId66"/>
    <p:sldId id="391" r:id="rId67"/>
    <p:sldId id="392" r:id="rId68"/>
    <p:sldId id="393" r:id="rId69"/>
    <p:sldId id="395" r:id="rId70"/>
    <p:sldId id="394" r:id="rId71"/>
  </p:sldIdLst>
  <p:sldSz cx="9144000" cy="5143500" type="screen16x9"/>
  <p:notesSz cx="6858000" cy="9144000"/>
  <p:embeddedFontLst>
    <p:embeddedFont>
      <p:font typeface="Calibri" panose="020F0502020204030204" pitchFamily="34" charset="0"/>
      <p:regular r:id="rId73"/>
      <p:bold r:id="rId74"/>
      <p:italic r:id="rId75"/>
      <p:boldItalic r:id="rId76"/>
    </p:embeddedFont>
    <p:embeddedFont>
      <p:font typeface="Constantia" panose="02030602050306030303" pitchFamily="18" charset="0"/>
      <p:regular r:id="rId77"/>
      <p:bold r:id="rId78"/>
      <p:italic r:id="rId79"/>
      <p:boldItalic r:id="rId80"/>
    </p:embeddedFont>
    <p:embeddedFont>
      <p:font typeface="Roboto" panose="020B0604020202020204" charset="0"/>
      <p:regular r:id="rId81"/>
      <p:bold r:id="rId82"/>
      <p:italic r:id="rId83"/>
      <p:boldItalic r:id="rId84"/>
    </p:embeddedFont>
    <p:embeddedFont>
      <p:font typeface="Helvetica Neue" panose="020B0604020202020204" charset="0"/>
      <p:regular r:id="rId85"/>
      <p:bold r:id="rId86"/>
      <p:italic r:id="rId87"/>
      <p:boldItalic r:id="rId8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68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2.fntdata"/><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font" Target="fonts/font11.fntdata"/><Relationship Id="rId88" Type="http://schemas.openxmlformats.org/officeDocument/2006/relationships/font" Target="fonts/font16.fnt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5.fntdata"/><Relationship Id="rId61" Type="http://schemas.openxmlformats.org/officeDocument/2006/relationships/slide" Target="slides/slide60.xml"/><Relationship Id="rId82" Type="http://schemas.openxmlformats.org/officeDocument/2006/relationships/font" Target="fonts/font10.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e95a067fd5_2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g2e95a067fd5_2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e95a067fd5_2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g2e95a067fd5_2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e95a067fd5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21" name="Google Shape;121;g2e95a067fd5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g2e95a067fd5_2_109:notes"/>
          <p:cNvSpPr txBox="1"/>
          <p:nvPr/>
        </p:nvSpPr>
        <p:spPr>
          <a:xfrm>
            <a:off x="1587"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1">
              <a:lnSpc>
                <a:spcPct val="100000"/>
              </a:lnSpc>
              <a:spcBef>
                <a:spcPts val="0"/>
              </a:spcBef>
              <a:spcAft>
                <a:spcPts val="0"/>
              </a:spcAft>
              <a:buClr>
                <a:srgbClr val="000000"/>
              </a:buClr>
              <a:buSzPts val="1200"/>
              <a:buFont typeface="Calibri"/>
              <a:buNone/>
            </a:pPr>
            <a:fld id="{00000000-1234-1234-1234-123412341234}" type="slidenum">
              <a:rPr lang="en" sz="1200" b="0" i="0" u="none">
                <a:solidFill>
                  <a:srgbClr val="000000"/>
                </a:solidFill>
                <a:latin typeface="Calibri"/>
                <a:ea typeface="Calibri"/>
                <a:cs typeface="Calibri"/>
                <a:sym typeface="Calibri"/>
              </a:rPr>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e95a067fd5_2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g2e95a067fd5_2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e95a067fd5_2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g2e95a067fd5_2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e95a067fd5_2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g2e95a067fd5_2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e95a067fd5_2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g2e95a067fd5_2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e95a067fd5_2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g2e95a067fd5_2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e95a067fd5_2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g2e95a067fd5_2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e95a067fd5_2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g2e95a067fd5_2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e95a067fd5_2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g2e95a067fd5_2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e95a067fd5_2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g2e95a067fd5_2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e95a067fd5_2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g2e95a067fd5_2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e95a067fd5_2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g2e95a067fd5_2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e95a067fd5_2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g2e95a067fd5_2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e95a067fd5_2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g2e95a067fd5_2_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5189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16391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a:off x="457200" y="528638"/>
            <a:ext cx="8229600" cy="857400"/>
          </a:xfrm>
          <a:prstGeom prst="rect">
            <a:avLst/>
          </a:prstGeom>
          <a:noFill/>
          <a:ln>
            <a:noFill/>
          </a:ln>
        </p:spPr>
        <p:txBody>
          <a:bodyPr spcFirstLastPara="1" wrap="square" lIns="0" tIns="45700" rIns="0" bIns="0" anchor="b" anchorCtr="0">
            <a:noAutofit/>
          </a:bodyPr>
          <a:lstStyle>
            <a:lvl1pPr lvl="0" algn="l" rtl="0">
              <a:spcBef>
                <a:spcPts val="0"/>
              </a:spcBef>
              <a:spcAft>
                <a:spcPts val="0"/>
              </a:spcAft>
              <a:buClr>
                <a:schemeClr val="dk2"/>
              </a:buClr>
              <a:buSzPts val="1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3" name="Google Shape;83;p13"/>
          <p:cNvSpPr txBox="1">
            <a:spLocks noGrp="1"/>
          </p:cNvSpPr>
          <p:nvPr>
            <p:ph type="body" idx="1"/>
          </p:nvPr>
        </p:nvSpPr>
        <p:spPr>
          <a:xfrm>
            <a:off x="457200" y="1451372"/>
            <a:ext cx="8229600" cy="3292200"/>
          </a:xfrm>
          <a:prstGeom prst="rect">
            <a:avLst/>
          </a:prstGeom>
          <a:noFill/>
          <a:ln>
            <a:noFill/>
          </a:ln>
        </p:spPr>
        <p:txBody>
          <a:bodyPr spcFirstLastPara="1" wrap="square" lIns="91425" tIns="45700" rIns="91425" bIns="45700" anchor="t" anchorCtr="0">
            <a:noAutofit/>
          </a:bodyPr>
          <a:lstStyle>
            <a:lvl1pPr marL="457200" lvl="0" indent="-337185" algn="l" rtl="0">
              <a:spcBef>
                <a:spcPts val="360"/>
              </a:spcBef>
              <a:spcAft>
                <a:spcPts val="0"/>
              </a:spcAft>
              <a:buSzPts val="1710"/>
              <a:buChar char="●"/>
              <a:defRPr/>
            </a:lvl1pPr>
            <a:lvl2pPr marL="914400" lvl="1" indent="-325755" algn="l" rtl="0">
              <a:spcBef>
                <a:spcPts val="1200"/>
              </a:spcBef>
              <a:spcAft>
                <a:spcPts val="0"/>
              </a:spcAft>
              <a:buSzPts val="1530"/>
              <a:buChar char="○"/>
              <a:defRPr/>
            </a:lvl2pPr>
            <a:lvl3pPr marL="1371600" lvl="2" indent="-308610" algn="l" rtl="0">
              <a:spcBef>
                <a:spcPts val="1200"/>
              </a:spcBef>
              <a:spcAft>
                <a:spcPts val="0"/>
              </a:spcAft>
              <a:buSzPts val="1260"/>
              <a:buChar char="■"/>
              <a:defRPr/>
            </a:lvl3pPr>
            <a:lvl4pPr marL="1828800" lvl="3" indent="-302894" algn="l" rtl="0">
              <a:spcBef>
                <a:spcPts val="1200"/>
              </a:spcBef>
              <a:spcAft>
                <a:spcPts val="0"/>
              </a:spcAft>
              <a:buSzPts val="1170"/>
              <a:buChar char="●"/>
              <a:defRPr/>
            </a:lvl4pPr>
            <a:lvl5pPr marL="2286000" lvl="4" indent="-302895" algn="l" rtl="0">
              <a:spcBef>
                <a:spcPts val="1200"/>
              </a:spcBef>
              <a:spcAft>
                <a:spcPts val="0"/>
              </a:spcAft>
              <a:buSzPts val="1170"/>
              <a:buChar char="○"/>
              <a:defRPr/>
            </a:lvl5pPr>
            <a:lvl6pPr marL="2743200" lvl="5" indent="-320039" algn="l" rtl="0">
              <a:spcBef>
                <a:spcPts val="1200"/>
              </a:spcBef>
              <a:spcAft>
                <a:spcPts val="0"/>
              </a:spcAft>
              <a:buSzPts val="1440"/>
              <a:buChar char="■"/>
              <a:defRPr/>
            </a:lvl6pPr>
            <a:lvl7pPr marL="3200400" lvl="6" indent="-320039" algn="l" rtl="0">
              <a:spcBef>
                <a:spcPts val="1200"/>
              </a:spcBef>
              <a:spcAft>
                <a:spcPts val="0"/>
              </a:spcAft>
              <a:buSzPts val="1440"/>
              <a:buChar char="●"/>
              <a:defRPr/>
            </a:lvl7pPr>
            <a:lvl8pPr marL="3657600" lvl="7" indent="-342900" algn="l" rtl="0">
              <a:spcBef>
                <a:spcPts val="1200"/>
              </a:spcBef>
              <a:spcAft>
                <a:spcPts val="0"/>
              </a:spcAft>
              <a:buSzPts val="1800"/>
              <a:buChar char="○"/>
              <a:defRPr/>
            </a:lvl8pPr>
            <a:lvl9pPr marL="4114800" lvl="8" indent="-342900" algn="l" rtl="0">
              <a:spcBef>
                <a:spcPts val="1200"/>
              </a:spcBef>
              <a:spcAft>
                <a:spcPts val="1200"/>
              </a:spcAft>
              <a:buSzPts val="1800"/>
              <a:buChar char="■"/>
              <a:defRPr/>
            </a:lvl9pPr>
          </a:lstStyle>
          <a:p>
            <a:endParaRPr/>
          </a:p>
        </p:txBody>
      </p:sp>
      <p:sp>
        <p:nvSpPr>
          <p:cNvPr id="84" name="Google Shape;84;p13"/>
          <p:cNvSpPr txBox="1">
            <a:spLocks noGrp="1"/>
          </p:cNvSpPr>
          <p:nvPr>
            <p:ph type="dt" idx="10"/>
          </p:nvPr>
        </p:nvSpPr>
        <p:spPr>
          <a:xfrm>
            <a:off x="457200" y="4767263"/>
            <a:ext cx="2133600" cy="273900"/>
          </a:xfrm>
          <a:prstGeom prst="rect">
            <a:avLst/>
          </a:prstGeom>
          <a:noFill/>
          <a:ln>
            <a:noFill/>
          </a:ln>
        </p:spPr>
        <p:txBody>
          <a:bodyPr spcFirstLastPara="1" wrap="square" lIns="0" tIns="0" rIns="0" bIns="0" anchor="b" anchorCtr="0">
            <a:noAutofit/>
          </a:bodyPr>
          <a:lstStyle>
            <a:lvl1pPr lvl="0" algn="l" rtl="1">
              <a:lnSpc>
                <a:spcPct val="100000"/>
              </a:lnSpc>
              <a:spcBef>
                <a:spcPts val="0"/>
              </a:spcBef>
              <a:spcAft>
                <a:spcPts val="0"/>
              </a:spcAft>
              <a:buSzPts val="1400"/>
              <a:buNone/>
              <a:defRPr sz="1200">
                <a:solidFill>
                  <a:srgbClr val="045C75"/>
                </a:solidFill>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endParaRPr/>
          </a:p>
        </p:txBody>
      </p:sp>
      <p:sp>
        <p:nvSpPr>
          <p:cNvPr id="85" name="Google Shape;85;p13"/>
          <p:cNvSpPr txBox="1">
            <a:spLocks noGrp="1"/>
          </p:cNvSpPr>
          <p:nvPr>
            <p:ph type="ftr" idx="11"/>
          </p:nvPr>
        </p:nvSpPr>
        <p:spPr>
          <a:xfrm>
            <a:off x="2667000" y="4767263"/>
            <a:ext cx="3352800" cy="273900"/>
          </a:xfrm>
          <a:prstGeom prst="rect">
            <a:avLst/>
          </a:prstGeom>
          <a:noFill/>
          <a:ln>
            <a:noFill/>
          </a:ln>
        </p:spPr>
        <p:txBody>
          <a:bodyPr spcFirstLastPara="1" wrap="square" lIns="0" tIns="0" rIns="0" bIns="0" anchor="b"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endParaRPr/>
          </a:p>
        </p:txBody>
      </p:sp>
      <p:sp>
        <p:nvSpPr>
          <p:cNvPr id="86" name="Google Shape;86;p13"/>
          <p:cNvSpPr txBox="1">
            <a:spLocks noGrp="1"/>
          </p:cNvSpPr>
          <p:nvPr>
            <p:ph type="sldNum" idx="12"/>
          </p:nvPr>
        </p:nvSpPr>
        <p:spPr>
          <a:xfrm>
            <a:off x="7924800" y="4767263"/>
            <a:ext cx="762000" cy="273900"/>
          </a:xfrm>
          <a:prstGeom prst="rect">
            <a:avLst/>
          </a:prstGeom>
          <a:noFill/>
          <a:ln>
            <a:noFill/>
          </a:ln>
        </p:spPr>
        <p:txBody>
          <a:bodyPr spcFirstLastPara="1" wrap="square" lIns="0" tIns="0" rIns="0" bIns="0" anchor="b" anchorCtr="0">
            <a:noAutofit/>
          </a:bodyPr>
          <a:lstStyle>
            <a:lvl1pPr marL="0" marR="0" lvl="0" indent="0" algn="r" rtl="1">
              <a:lnSpc>
                <a:spcPct val="100000"/>
              </a:lnSpc>
              <a:spcBef>
                <a:spcPts val="0"/>
              </a:spcBef>
              <a:spcAft>
                <a:spcPts val="0"/>
              </a:spcAft>
              <a:buClr>
                <a:srgbClr val="045C75"/>
              </a:buClr>
              <a:buSzPts val="1200"/>
              <a:buFont typeface="Arial"/>
              <a:buNone/>
              <a:defRPr sz="1200" b="0" i="0" u="none">
                <a:solidFill>
                  <a:srgbClr val="045C75"/>
                </a:solidFill>
                <a:latin typeface="Arial"/>
                <a:ea typeface="Arial"/>
                <a:cs typeface="Arial"/>
                <a:sym typeface="Arial"/>
              </a:defRPr>
            </a:lvl1pPr>
            <a:lvl2pPr marL="0" marR="0" lvl="1" indent="0" algn="r" rtl="1">
              <a:lnSpc>
                <a:spcPct val="100000"/>
              </a:lnSpc>
              <a:spcBef>
                <a:spcPts val="0"/>
              </a:spcBef>
              <a:spcAft>
                <a:spcPts val="0"/>
              </a:spcAft>
              <a:buClr>
                <a:srgbClr val="045C75"/>
              </a:buClr>
              <a:buSzPts val="1200"/>
              <a:buFont typeface="Arial"/>
              <a:buNone/>
              <a:defRPr sz="1200" b="0" i="0" u="none">
                <a:solidFill>
                  <a:srgbClr val="045C75"/>
                </a:solidFill>
                <a:latin typeface="Arial"/>
                <a:ea typeface="Arial"/>
                <a:cs typeface="Arial"/>
                <a:sym typeface="Arial"/>
              </a:defRPr>
            </a:lvl2pPr>
            <a:lvl3pPr marL="0" marR="0" lvl="2" indent="0" algn="r" rtl="1">
              <a:lnSpc>
                <a:spcPct val="100000"/>
              </a:lnSpc>
              <a:spcBef>
                <a:spcPts val="0"/>
              </a:spcBef>
              <a:spcAft>
                <a:spcPts val="0"/>
              </a:spcAft>
              <a:buClr>
                <a:srgbClr val="045C75"/>
              </a:buClr>
              <a:buSzPts val="1200"/>
              <a:buFont typeface="Arial"/>
              <a:buNone/>
              <a:defRPr sz="1200" b="0" i="0" u="none">
                <a:solidFill>
                  <a:srgbClr val="045C75"/>
                </a:solidFill>
                <a:latin typeface="Arial"/>
                <a:ea typeface="Arial"/>
                <a:cs typeface="Arial"/>
                <a:sym typeface="Arial"/>
              </a:defRPr>
            </a:lvl3pPr>
            <a:lvl4pPr marL="0" marR="0" lvl="3" indent="0" algn="r" rtl="1">
              <a:lnSpc>
                <a:spcPct val="100000"/>
              </a:lnSpc>
              <a:spcBef>
                <a:spcPts val="0"/>
              </a:spcBef>
              <a:spcAft>
                <a:spcPts val="0"/>
              </a:spcAft>
              <a:buClr>
                <a:srgbClr val="045C75"/>
              </a:buClr>
              <a:buSzPts val="1200"/>
              <a:buFont typeface="Arial"/>
              <a:buNone/>
              <a:defRPr sz="1200" b="0" i="0" u="none">
                <a:solidFill>
                  <a:srgbClr val="045C75"/>
                </a:solidFill>
                <a:latin typeface="Arial"/>
                <a:ea typeface="Arial"/>
                <a:cs typeface="Arial"/>
                <a:sym typeface="Arial"/>
              </a:defRPr>
            </a:lvl4pPr>
            <a:lvl5pPr marL="0" marR="0" lvl="4" indent="0" algn="r" rtl="1">
              <a:lnSpc>
                <a:spcPct val="100000"/>
              </a:lnSpc>
              <a:spcBef>
                <a:spcPts val="0"/>
              </a:spcBef>
              <a:spcAft>
                <a:spcPts val="0"/>
              </a:spcAft>
              <a:buClr>
                <a:srgbClr val="045C75"/>
              </a:buClr>
              <a:buSzPts val="1200"/>
              <a:buFont typeface="Arial"/>
              <a:buNone/>
              <a:defRPr sz="1200" b="0" i="0" u="none">
                <a:solidFill>
                  <a:srgbClr val="045C75"/>
                </a:solidFill>
                <a:latin typeface="Arial"/>
                <a:ea typeface="Arial"/>
                <a:cs typeface="Arial"/>
                <a:sym typeface="Arial"/>
              </a:defRPr>
            </a:lvl5pPr>
            <a:lvl6pPr marL="0" marR="0" lvl="5" indent="0" algn="r" rtl="1">
              <a:lnSpc>
                <a:spcPct val="100000"/>
              </a:lnSpc>
              <a:spcBef>
                <a:spcPts val="0"/>
              </a:spcBef>
              <a:spcAft>
                <a:spcPts val="0"/>
              </a:spcAft>
              <a:buClr>
                <a:srgbClr val="045C75"/>
              </a:buClr>
              <a:buSzPts val="1200"/>
              <a:buFont typeface="Arial"/>
              <a:buNone/>
              <a:defRPr sz="1200" b="0" i="0" u="none">
                <a:solidFill>
                  <a:srgbClr val="045C75"/>
                </a:solidFill>
                <a:latin typeface="Arial"/>
                <a:ea typeface="Arial"/>
                <a:cs typeface="Arial"/>
                <a:sym typeface="Arial"/>
              </a:defRPr>
            </a:lvl6pPr>
            <a:lvl7pPr marL="0" marR="0" lvl="6" indent="0" algn="r" rtl="1">
              <a:lnSpc>
                <a:spcPct val="100000"/>
              </a:lnSpc>
              <a:spcBef>
                <a:spcPts val="0"/>
              </a:spcBef>
              <a:spcAft>
                <a:spcPts val="0"/>
              </a:spcAft>
              <a:buClr>
                <a:srgbClr val="045C75"/>
              </a:buClr>
              <a:buSzPts val="1200"/>
              <a:buFont typeface="Arial"/>
              <a:buNone/>
              <a:defRPr sz="1200" b="0" i="0" u="none">
                <a:solidFill>
                  <a:srgbClr val="045C75"/>
                </a:solidFill>
                <a:latin typeface="Arial"/>
                <a:ea typeface="Arial"/>
                <a:cs typeface="Arial"/>
                <a:sym typeface="Arial"/>
              </a:defRPr>
            </a:lvl7pPr>
            <a:lvl8pPr marL="0" marR="0" lvl="7" indent="0" algn="r" rtl="1">
              <a:lnSpc>
                <a:spcPct val="100000"/>
              </a:lnSpc>
              <a:spcBef>
                <a:spcPts val="0"/>
              </a:spcBef>
              <a:spcAft>
                <a:spcPts val="0"/>
              </a:spcAft>
              <a:buClr>
                <a:srgbClr val="045C75"/>
              </a:buClr>
              <a:buSzPts val="1200"/>
              <a:buFont typeface="Arial"/>
              <a:buNone/>
              <a:defRPr sz="1200" b="0" i="0" u="none">
                <a:solidFill>
                  <a:srgbClr val="045C75"/>
                </a:solidFill>
                <a:latin typeface="Arial"/>
                <a:ea typeface="Arial"/>
                <a:cs typeface="Arial"/>
                <a:sym typeface="Arial"/>
              </a:defRPr>
            </a:lvl8pPr>
            <a:lvl9pPr marL="0" marR="0" lvl="8" indent="0" algn="r" rtl="1">
              <a:lnSpc>
                <a:spcPct val="100000"/>
              </a:lnSpc>
              <a:spcBef>
                <a:spcPts val="0"/>
              </a:spcBef>
              <a:spcAft>
                <a:spcPts val="0"/>
              </a:spcAft>
              <a:buClr>
                <a:srgbClr val="045C75"/>
              </a:buClr>
              <a:buSzPts val="1200"/>
              <a:buFont typeface="Arial"/>
              <a:buNone/>
              <a:defRPr sz="1200" b="0" i="0" u="none">
                <a:solidFill>
                  <a:srgbClr val="045C75"/>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en"/>
              <a:t>‹#›</a:t>
            </a:fld>
            <a:endParaRPr sz="1000">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hyperlink" Target="https://www.geeksforgeeks.org/linear-search/" TargetMode="Externa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hyperlink" Target="https://www.programiz.com/online-compiler/5K06KIwmo1mSN" TargetMode="Externa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hyperlink" Target="https://www.geeksforgeeks.org/introduction-to-divide-and-conquer-algorithm-data-structure-and-algorithm-tutorials/" TargetMode="Externa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hyperlink" Target="https://www.geeksforgeeks.org/divide-and-conquer-algorithm-introduction/" TargetMode="Externa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hyperlink" Target="https://www.geeksforgeeks.org/quicksort-using-random-pivoting/" TargetMode="External"/><Relationship Id="rId2" Type="http://schemas.openxmlformats.org/officeDocument/2006/relationships/hyperlink" Target="https://www.geeksforgeeks.org/implement-quicksort-with-first-element-as-pivot/" TargetMode="External"/><Relationship Id="rId1" Type="http://schemas.openxmlformats.org/officeDocument/2006/relationships/slideLayout" Target="../slideLayouts/slideLayout12.xml"/><Relationship Id="rId4" Type="http://schemas.openxmlformats.org/officeDocument/2006/relationships/hyperlink" Target="https://www.geeksforgeeks.org/kth-smallest-largest-element-in-unsorted-array-worst-case-linear-time/"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8"/>
          <p:cNvSpPr txBox="1">
            <a:spLocks noGrp="1"/>
          </p:cNvSpPr>
          <p:nvPr>
            <p:ph type="ctrTitle" idx="4294967295"/>
          </p:nvPr>
        </p:nvSpPr>
        <p:spPr>
          <a:xfrm>
            <a:off x="914400" y="342900"/>
            <a:ext cx="7772400" cy="2359819"/>
          </a:xfrm>
          <a:prstGeom prst="rect">
            <a:avLst/>
          </a:prstGeom>
          <a:noFill/>
          <a:ln>
            <a:noFill/>
          </a:ln>
        </p:spPr>
        <p:txBody>
          <a:bodyPr spcFirstLastPara="1" wrap="square" lIns="0" tIns="0" rIns="18275" bIns="0" anchor="b" anchorCtr="0">
            <a:normAutofit/>
          </a:bodyPr>
          <a:lstStyle/>
          <a:p>
            <a:pPr marL="0" marR="0" lvl="0" indent="0" algn="r" rtl="0">
              <a:lnSpc>
                <a:spcPct val="100000"/>
              </a:lnSpc>
              <a:spcBef>
                <a:spcPts val="0"/>
              </a:spcBef>
              <a:spcAft>
                <a:spcPts val="0"/>
              </a:spcAft>
              <a:buClr>
                <a:srgbClr val="4CE0EA"/>
              </a:buClr>
              <a:buSzPts val="5600"/>
              <a:buFont typeface="Calibri"/>
              <a:buNone/>
            </a:pPr>
            <a:r>
              <a:rPr lang="en" sz="5600" b="1" i="0" u="none" strike="noStrike" cap="none">
                <a:solidFill>
                  <a:srgbClr val="4CE0EA"/>
                </a:solidFill>
                <a:latin typeface="Calibri"/>
                <a:ea typeface="Calibri"/>
                <a:cs typeface="Calibri"/>
                <a:sym typeface="Calibri"/>
              </a:rPr>
              <a:t>Data Structure and Algorithms Lecture 1</a:t>
            </a:r>
            <a:endParaRPr sz="5600" b="1" i="0" u="none" strike="noStrike" cap="none">
              <a:solidFill>
                <a:srgbClr val="4CE0EA"/>
              </a:solidFill>
              <a:latin typeface="Calibri"/>
              <a:ea typeface="Calibri"/>
              <a:cs typeface="Calibri"/>
              <a:sym typeface="Calibri"/>
            </a:endParaRPr>
          </a:p>
        </p:txBody>
      </p:sp>
      <p:sp>
        <p:nvSpPr>
          <p:cNvPr id="112" name="Google Shape;112;p18"/>
          <p:cNvSpPr txBox="1">
            <a:spLocks noGrp="1"/>
          </p:cNvSpPr>
          <p:nvPr>
            <p:ph type="subTitle" idx="1"/>
          </p:nvPr>
        </p:nvSpPr>
        <p:spPr>
          <a:xfrm>
            <a:off x="533400" y="2421731"/>
            <a:ext cx="7854950" cy="1314450"/>
          </a:xfrm>
          <a:prstGeom prst="rect">
            <a:avLst/>
          </a:prstGeom>
          <a:noFill/>
          <a:ln>
            <a:noFill/>
          </a:ln>
        </p:spPr>
        <p:txBody>
          <a:bodyPr spcFirstLastPara="1" wrap="square" lIns="0" tIns="45700" rIns="18275" bIns="45700" anchor="t" anchorCtr="0">
            <a:noAutofit/>
          </a:bodyPr>
          <a:lstStyle/>
          <a:p>
            <a:pPr marL="0" lvl="0" indent="0" algn="r" rtl="0">
              <a:lnSpc>
                <a:spcPct val="100000"/>
              </a:lnSpc>
              <a:spcBef>
                <a:spcPts val="0"/>
              </a:spcBef>
              <a:spcAft>
                <a:spcPts val="0"/>
              </a:spcAft>
              <a:buSzPts val="2470"/>
              <a:buNone/>
            </a:pPr>
            <a:endParaRPr sz="2600" b="0" i="0" u="none">
              <a:solidFill>
                <a:schemeClr val="lt1"/>
              </a:solidFill>
              <a:latin typeface="Constantia"/>
              <a:ea typeface="Constantia"/>
              <a:cs typeface="Constantia"/>
              <a:sym typeface="Constantia"/>
            </a:endParaRPr>
          </a:p>
          <a:p>
            <a:pPr marL="0" lvl="0" indent="0" algn="r" rtl="0">
              <a:lnSpc>
                <a:spcPct val="100000"/>
              </a:lnSpc>
              <a:spcBef>
                <a:spcPts val="520"/>
              </a:spcBef>
              <a:spcAft>
                <a:spcPts val="0"/>
              </a:spcAft>
              <a:buSzPts val="2470"/>
              <a:buNone/>
            </a:pPr>
            <a:r>
              <a:rPr lang="en" sz="2600" b="0" i="0" u="none">
                <a:solidFill>
                  <a:schemeClr val="lt1"/>
                </a:solidFill>
                <a:latin typeface="Constantia"/>
                <a:ea typeface="Constantia"/>
                <a:cs typeface="Constantia"/>
                <a:sym typeface="Constantia"/>
              </a:rPr>
              <a:t>Lecture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title"/>
          </p:nvPr>
        </p:nvSpPr>
        <p:spPr>
          <a:xfrm>
            <a:off x="457200" y="205978"/>
            <a:ext cx="8229600" cy="594000"/>
          </a:xfrm>
          <a:prstGeom prst="rect">
            <a:avLst/>
          </a:prstGeom>
          <a:noFill/>
          <a:ln>
            <a:noFill/>
          </a:ln>
        </p:spPr>
        <p:txBody>
          <a:bodyPr spcFirstLastPara="1" wrap="square" lIns="0" tIns="45700" rIns="0" bIns="0" anchor="b" anchorCtr="0">
            <a:normAutofit fontScale="90000"/>
          </a:bodyPr>
          <a:lstStyle/>
          <a:p>
            <a:pPr marL="0" lvl="0" indent="0" algn="l" rtl="0">
              <a:lnSpc>
                <a:spcPct val="100000"/>
              </a:lnSpc>
              <a:spcBef>
                <a:spcPts val="0"/>
              </a:spcBef>
              <a:spcAft>
                <a:spcPts val="0"/>
              </a:spcAft>
              <a:buClr>
                <a:schemeClr val="dk2"/>
              </a:buClr>
              <a:buSzPct val="100000"/>
              <a:buFont typeface="Calibri"/>
              <a:buNone/>
            </a:pPr>
            <a:r>
              <a:rPr lang="en" sz="4500" b="0" i="0" u="none">
                <a:solidFill>
                  <a:schemeClr val="dk2"/>
                </a:solidFill>
                <a:latin typeface="Calibri"/>
                <a:ea typeface="Calibri"/>
                <a:cs typeface="Calibri"/>
                <a:sym typeface="Calibri"/>
              </a:rPr>
              <a:t>What is Data Structure?</a:t>
            </a:r>
            <a:endParaRPr/>
          </a:p>
        </p:txBody>
      </p:sp>
      <p:sp>
        <p:nvSpPr>
          <p:cNvPr id="118" name="Google Shape;118;p19"/>
          <p:cNvSpPr txBox="1">
            <a:spLocks noGrp="1"/>
          </p:cNvSpPr>
          <p:nvPr>
            <p:ph type="body" idx="1"/>
          </p:nvPr>
        </p:nvSpPr>
        <p:spPr>
          <a:xfrm>
            <a:off x="457200" y="857250"/>
            <a:ext cx="8229600" cy="3737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2800" b="0" i="0" u="none">
                <a:solidFill>
                  <a:schemeClr val="dk1"/>
                </a:solidFill>
                <a:latin typeface="Constantia"/>
                <a:ea typeface="Constantia"/>
                <a:cs typeface="Constantia"/>
                <a:sym typeface="Constantia"/>
              </a:rPr>
              <a:t>Data structure is a representation of data and the operations allowed on that data.</a:t>
            </a:r>
            <a:endParaRPr/>
          </a:p>
          <a:p>
            <a:pPr marL="273050" marR="0" lvl="0" indent="-104140" algn="l" rtl="0">
              <a:lnSpc>
                <a:spcPct val="100000"/>
              </a:lnSpc>
              <a:spcBef>
                <a:spcPts val="560"/>
              </a:spcBef>
              <a:spcAft>
                <a:spcPts val="0"/>
              </a:spcAft>
              <a:buClr>
                <a:srgbClr val="0BD0D9"/>
              </a:buClr>
              <a:buSzPts val="2660"/>
              <a:buFont typeface="Noto Sans Symbols"/>
              <a:buNone/>
            </a:pPr>
            <a:endParaRPr sz="2800" b="0" i="0" u="none">
              <a:solidFill>
                <a:schemeClr val="dk1"/>
              </a:solidFill>
              <a:latin typeface="Constantia"/>
              <a:ea typeface="Constantia"/>
              <a:cs typeface="Constantia"/>
              <a:sym typeface="Constantia"/>
            </a:endParaRPr>
          </a:p>
          <a:p>
            <a:pPr marL="342900" marR="0" lvl="1" indent="-342900" algn="l" rtl="0">
              <a:lnSpc>
                <a:spcPct val="100000"/>
              </a:lnSpc>
              <a:spcBef>
                <a:spcPts val="480"/>
              </a:spcBef>
              <a:spcAft>
                <a:spcPts val="0"/>
              </a:spcAft>
              <a:buClr>
                <a:schemeClr val="accent1"/>
              </a:buClr>
              <a:buSzPts val="2040"/>
              <a:buFont typeface="Noto Sans Symbols"/>
              <a:buChar char="●"/>
            </a:pPr>
            <a:r>
              <a:rPr lang="en" sz="2400" b="0" i="0" u="none" strike="noStrike" cap="none">
                <a:solidFill>
                  <a:schemeClr val="dk1"/>
                </a:solidFill>
                <a:latin typeface="Constantia"/>
                <a:ea typeface="Constantia"/>
                <a:cs typeface="Constantia"/>
                <a:sym typeface="Constantia"/>
              </a:rPr>
              <a:t>A data structure is a way to store and organize data in order to facilitate the access and modifications.</a:t>
            </a:r>
            <a:endParaRPr/>
          </a:p>
          <a:p>
            <a:pPr marL="342900" marR="0" lvl="1" indent="-213359" algn="l" rtl="0">
              <a:lnSpc>
                <a:spcPct val="100000"/>
              </a:lnSpc>
              <a:spcBef>
                <a:spcPts val="480"/>
              </a:spcBef>
              <a:spcAft>
                <a:spcPts val="0"/>
              </a:spcAft>
              <a:buClr>
                <a:schemeClr val="accent1"/>
              </a:buClr>
              <a:buSzPts val="2040"/>
              <a:buFont typeface="Noto Sans Symbols"/>
              <a:buNone/>
            </a:pPr>
            <a:endParaRPr sz="2400" b="0" i="0" u="none" strike="noStrike" cap="none">
              <a:solidFill>
                <a:schemeClr val="dk1"/>
              </a:solidFill>
              <a:latin typeface="Constantia"/>
              <a:ea typeface="Constantia"/>
              <a:cs typeface="Constantia"/>
              <a:sym typeface="Constantia"/>
            </a:endParaRPr>
          </a:p>
          <a:p>
            <a:pPr marL="342900" marR="0" lvl="1" indent="-342900" algn="l" rtl="0">
              <a:lnSpc>
                <a:spcPct val="100000"/>
              </a:lnSpc>
              <a:spcBef>
                <a:spcPts val="480"/>
              </a:spcBef>
              <a:spcAft>
                <a:spcPts val="0"/>
              </a:spcAft>
              <a:buClr>
                <a:schemeClr val="accent1"/>
              </a:buClr>
              <a:buSzPts val="2040"/>
              <a:buFont typeface="Noto Sans Symbols"/>
              <a:buChar char="●"/>
            </a:pPr>
            <a:r>
              <a:rPr lang="en" sz="2400" b="0" i="0" u="none" strike="noStrike" cap="none">
                <a:solidFill>
                  <a:schemeClr val="dk1"/>
                </a:solidFill>
                <a:latin typeface="Constantia"/>
                <a:ea typeface="Constantia"/>
                <a:cs typeface="Constantia"/>
                <a:sym typeface="Constantia"/>
              </a:rPr>
              <a:t>Data Structure are the method of representing of logical relationships between individual data elements related to the solution of a given problem.</a:t>
            </a:r>
            <a:endParaRPr/>
          </a:p>
          <a:p>
            <a:pPr marL="342900" marR="0" lvl="1" indent="-213359" algn="l" rtl="0">
              <a:lnSpc>
                <a:spcPct val="100000"/>
              </a:lnSpc>
              <a:spcBef>
                <a:spcPts val="480"/>
              </a:spcBef>
              <a:spcAft>
                <a:spcPts val="0"/>
              </a:spcAft>
              <a:buClr>
                <a:schemeClr val="accent1"/>
              </a:buClr>
              <a:buSzPts val="2040"/>
              <a:buFont typeface="Noto Sans Symbols"/>
              <a:buNone/>
            </a:pPr>
            <a:endParaRPr sz="2400" b="0" i="0" u="none" strike="noStrike" cap="none">
              <a:solidFill>
                <a:schemeClr val="dk1"/>
              </a:solidFill>
              <a:latin typeface="Constantia"/>
              <a:ea typeface="Constantia"/>
              <a:cs typeface="Constantia"/>
              <a:sym typeface="Constantia"/>
            </a:endParaRPr>
          </a:p>
          <a:p>
            <a:pPr marL="274320" marR="0" lvl="0" indent="-129540" algn="l" rtl="0">
              <a:spcBef>
                <a:spcPts val="480"/>
              </a:spcBef>
              <a:spcAft>
                <a:spcPts val="1200"/>
              </a:spcAft>
              <a:buClr>
                <a:schemeClr val="accent3"/>
              </a:buClr>
              <a:buSzPts val="2280"/>
              <a:buFont typeface="Noto Sans Symbols"/>
              <a:buNone/>
            </a:pPr>
            <a:endParaRPr sz="2400" b="0" i="0" u="none" strike="noStrike" cap="none">
              <a:solidFill>
                <a:schemeClr val="dk1"/>
              </a:solidFill>
              <a:latin typeface="Constantia"/>
              <a:ea typeface="Constantia"/>
              <a:cs typeface="Constantia"/>
              <a:sym typeface="Constant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28310" y="674120"/>
            <a:ext cx="6720278" cy="4069452"/>
          </a:xfrm>
          <a:prstGeom prst="rect">
            <a:avLst/>
          </a:prstGeom>
        </p:spPr>
      </p:pic>
      <p:sp>
        <p:nvSpPr>
          <p:cNvPr id="3" name="Text Placeholder 2"/>
          <p:cNvSpPr>
            <a:spLocks noGrp="1"/>
          </p:cNvSpPr>
          <p:nvPr>
            <p:ph type="body" idx="1"/>
          </p:nvPr>
        </p:nvSpPr>
        <p:spPr>
          <a:xfrm>
            <a:off x="457200" y="600701"/>
            <a:ext cx="8229600" cy="4142871"/>
          </a:xfrm>
        </p:spPr>
        <p:txBody>
          <a:bodyPr/>
          <a:lstStyle/>
          <a:p>
            <a:pPr marL="120015" indent="0">
              <a:buNone/>
            </a:pPr>
            <a:endParaRPr lang="en-IN" dirty="0"/>
          </a:p>
        </p:txBody>
      </p:sp>
    </p:spTree>
    <p:extLst>
      <p:ext uri="{BB962C8B-B14F-4D97-AF65-F5344CB8AC3E}">
        <p14:creationId xmlns:p14="http://schemas.microsoft.com/office/powerpoint/2010/main" val="815518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0"/>
          <p:cNvSpPr txBox="1">
            <a:spLocks noGrp="1"/>
          </p:cNvSpPr>
          <p:nvPr>
            <p:ph type="title"/>
          </p:nvPr>
        </p:nvSpPr>
        <p:spPr>
          <a:xfrm>
            <a:off x="457200" y="528638"/>
            <a:ext cx="8229600" cy="857250"/>
          </a:xfrm>
          <a:prstGeom prst="rect">
            <a:avLst/>
          </a:prstGeom>
          <a:noFill/>
          <a:ln>
            <a:noFill/>
          </a:ln>
        </p:spPr>
        <p:txBody>
          <a:bodyPr spcFirstLastPara="1" wrap="square" lIns="0" tIns="45700" rIns="0" bIns="0" anchor="b" anchorCtr="0">
            <a:noAutofit/>
          </a:bodyPr>
          <a:lstStyle/>
          <a:p>
            <a:pPr marL="0" lvl="0" indent="0" algn="l" rtl="0">
              <a:lnSpc>
                <a:spcPct val="100000"/>
              </a:lnSpc>
              <a:spcBef>
                <a:spcPts val="0"/>
              </a:spcBef>
              <a:spcAft>
                <a:spcPts val="0"/>
              </a:spcAft>
              <a:buClr>
                <a:schemeClr val="dk2"/>
              </a:buClr>
              <a:buSzPts val="5000"/>
              <a:buFont typeface="Calibri"/>
              <a:buNone/>
            </a:pPr>
            <a:r>
              <a:rPr lang="en" sz="5000" b="0" i="0" u="none">
                <a:solidFill>
                  <a:schemeClr val="dk2"/>
                </a:solidFill>
                <a:latin typeface="Calibri"/>
                <a:ea typeface="Calibri"/>
                <a:cs typeface="Calibri"/>
                <a:sym typeface="Calibri"/>
              </a:rPr>
              <a:t>Basic Data Structure</a:t>
            </a:r>
            <a:endParaRPr/>
          </a:p>
        </p:txBody>
      </p:sp>
      <p:sp>
        <p:nvSpPr>
          <p:cNvPr id="125" name="Google Shape;125;p20"/>
          <p:cNvSpPr txBox="1"/>
          <p:nvPr/>
        </p:nvSpPr>
        <p:spPr>
          <a:xfrm>
            <a:off x="2590800" y="1771650"/>
            <a:ext cx="2514600" cy="252413"/>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600"/>
              <a:buFont typeface="Arial"/>
              <a:buNone/>
            </a:pPr>
            <a:r>
              <a:rPr lang="en" sz="1600" b="0" i="0" u="none">
                <a:solidFill>
                  <a:schemeClr val="dk1"/>
                </a:solidFill>
                <a:latin typeface="Arial"/>
                <a:ea typeface="Arial"/>
                <a:cs typeface="Arial"/>
                <a:sym typeface="Arial"/>
              </a:rPr>
              <a:t>Basic Data Structures</a:t>
            </a:r>
            <a:endParaRPr/>
          </a:p>
        </p:txBody>
      </p:sp>
      <p:sp>
        <p:nvSpPr>
          <p:cNvPr id="126" name="Google Shape;126;p20"/>
          <p:cNvSpPr txBox="1"/>
          <p:nvPr/>
        </p:nvSpPr>
        <p:spPr>
          <a:xfrm>
            <a:off x="838200" y="2343150"/>
            <a:ext cx="2514600" cy="252413"/>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600"/>
              <a:buFont typeface="Arial"/>
              <a:buNone/>
            </a:pPr>
            <a:r>
              <a:rPr lang="en" sz="1600" b="0" i="0" u="none">
                <a:solidFill>
                  <a:schemeClr val="dk1"/>
                </a:solidFill>
                <a:latin typeface="Arial"/>
                <a:ea typeface="Arial"/>
                <a:cs typeface="Arial"/>
                <a:sym typeface="Arial"/>
              </a:rPr>
              <a:t>Linear Data Structures</a:t>
            </a:r>
            <a:endParaRPr/>
          </a:p>
        </p:txBody>
      </p:sp>
      <p:sp>
        <p:nvSpPr>
          <p:cNvPr id="127" name="Google Shape;127;p20"/>
          <p:cNvSpPr txBox="1"/>
          <p:nvPr/>
        </p:nvSpPr>
        <p:spPr>
          <a:xfrm>
            <a:off x="4876800" y="2376488"/>
            <a:ext cx="2971800" cy="252413"/>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600"/>
              <a:buFont typeface="Arial"/>
              <a:buNone/>
            </a:pPr>
            <a:r>
              <a:rPr lang="en" sz="1600" b="0" i="0" u="none">
                <a:solidFill>
                  <a:schemeClr val="dk1"/>
                </a:solidFill>
                <a:latin typeface="Arial"/>
                <a:ea typeface="Arial"/>
                <a:cs typeface="Arial"/>
                <a:sym typeface="Arial"/>
              </a:rPr>
              <a:t>Non-Linear Data Structures</a:t>
            </a:r>
            <a:endParaRPr/>
          </a:p>
        </p:txBody>
      </p:sp>
      <p:sp>
        <p:nvSpPr>
          <p:cNvPr id="128" name="Google Shape;128;p20"/>
          <p:cNvSpPr txBox="1"/>
          <p:nvPr/>
        </p:nvSpPr>
        <p:spPr>
          <a:xfrm>
            <a:off x="381000" y="2914650"/>
            <a:ext cx="838200" cy="252413"/>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600"/>
              <a:buFont typeface="Arial"/>
              <a:buNone/>
            </a:pPr>
            <a:r>
              <a:rPr lang="en" sz="1600" b="0" i="0" u="none">
                <a:solidFill>
                  <a:schemeClr val="dk1"/>
                </a:solidFill>
                <a:latin typeface="Arial"/>
                <a:ea typeface="Arial"/>
                <a:cs typeface="Arial"/>
                <a:sym typeface="Arial"/>
              </a:rPr>
              <a:t>Arrays</a:t>
            </a:r>
            <a:endParaRPr/>
          </a:p>
        </p:txBody>
      </p:sp>
      <p:sp>
        <p:nvSpPr>
          <p:cNvPr id="129" name="Google Shape;129;p20"/>
          <p:cNvSpPr txBox="1"/>
          <p:nvPr/>
        </p:nvSpPr>
        <p:spPr>
          <a:xfrm>
            <a:off x="1143000" y="2914650"/>
            <a:ext cx="1371600" cy="252413"/>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600"/>
              <a:buFont typeface="Arial"/>
              <a:buNone/>
            </a:pPr>
            <a:r>
              <a:rPr lang="en" sz="1600" b="0" i="0" u="none">
                <a:solidFill>
                  <a:schemeClr val="dk1"/>
                </a:solidFill>
                <a:latin typeface="Arial"/>
                <a:ea typeface="Arial"/>
                <a:cs typeface="Arial"/>
                <a:sym typeface="Arial"/>
              </a:rPr>
              <a:t>Linked Lists</a:t>
            </a:r>
            <a:endParaRPr/>
          </a:p>
        </p:txBody>
      </p:sp>
      <p:sp>
        <p:nvSpPr>
          <p:cNvPr id="130" name="Google Shape;130;p20"/>
          <p:cNvSpPr txBox="1"/>
          <p:nvPr/>
        </p:nvSpPr>
        <p:spPr>
          <a:xfrm>
            <a:off x="2362200" y="2914650"/>
            <a:ext cx="838200" cy="252413"/>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600"/>
              <a:buFont typeface="Arial"/>
              <a:buNone/>
            </a:pPr>
            <a:r>
              <a:rPr lang="en" sz="1600" b="0" i="0" u="none">
                <a:solidFill>
                  <a:schemeClr val="dk1"/>
                </a:solidFill>
                <a:latin typeface="Arial"/>
                <a:ea typeface="Arial"/>
                <a:cs typeface="Arial"/>
                <a:sym typeface="Arial"/>
              </a:rPr>
              <a:t>Stacks</a:t>
            </a:r>
            <a:endParaRPr/>
          </a:p>
        </p:txBody>
      </p:sp>
      <p:sp>
        <p:nvSpPr>
          <p:cNvPr id="131" name="Google Shape;131;p20"/>
          <p:cNvSpPr txBox="1"/>
          <p:nvPr/>
        </p:nvSpPr>
        <p:spPr>
          <a:xfrm>
            <a:off x="3124200" y="2914650"/>
            <a:ext cx="990600" cy="252413"/>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600"/>
              <a:buFont typeface="Arial"/>
              <a:buNone/>
            </a:pPr>
            <a:r>
              <a:rPr lang="en" sz="1600" b="0" i="0" u="none">
                <a:solidFill>
                  <a:schemeClr val="dk1"/>
                </a:solidFill>
                <a:latin typeface="Arial"/>
                <a:ea typeface="Arial"/>
                <a:cs typeface="Arial"/>
                <a:sym typeface="Arial"/>
              </a:rPr>
              <a:t>Queues</a:t>
            </a:r>
            <a:endParaRPr/>
          </a:p>
        </p:txBody>
      </p:sp>
      <p:sp>
        <p:nvSpPr>
          <p:cNvPr id="132" name="Google Shape;132;p20"/>
          <p:cNvSpPr txBox="1"/>
          <p:nvPr/>
        </p:nvSpPr>
        <p:spPr>
          <a:xfrm>
            <a:off x="4495800" y="2914650"/>
            <a:ext cx="838200" cy="252413"/>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600"/>
              <a:buFont typeface="Arial"/>
              <a:buNone/>
            </a:pPr>
            <a:r>
              <a:rPr lang="en" sz="1600" b="0" i="0" u="none">
                <a:solidFill>
                  <a:schemeClr val="dk1"/>
                </a:solidFill>
                <a:latin typeface="Arial"/>
                <a:ea typeface="Arial"/>
                <a:cs typeface="Arial"/>
                <a:sym typeface="Arial"/>
              </a:rPr>
              <a:t>Trees</a:t>
            </a:r>
            <a:endParaRPr/>
          </a:p>
        </p:txBody>
      </p:sp>
      <p:sp>
        <p:nvSpPr>
          <p:cNvPr id="133" name="Google Shape;133;p20"/>
          <p:cNvSpPr txBox="1"/>
          <p:nvPr/>
        </p:nvSpPr>
        <p:spPr>
          <a:xfrm>
            <a:off x="5791200" y="2914650"/>
            <a:ext cx="1143000" cy="252413"/>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600"/>
              <a:buFont typeface="Arial"/>
              <a:buNone/>
            </a:pPr>
            <a:r>
              <a:rPr lang="en" sz="1600" b="0" i="0" u="none">
                <a:solidFill>
                  <a:schemeClr val="dk1"/>
                </a:solidFill>
                <a:latin typeface="Arial"/>
                <a:ea typeface="Arial"/>
                <a:cs typeface="Arial"/>
                <a:sym typeface="Arial"/>
              </a:rPr>
              <a:t>Graphs</a:t>
            </a:r>
            <a:endParaRPr/>
          </a:p>
        </p:txBody>
      </p:sp>
      <p:sp>
        <p:nvSpPr>
          <p:cNvPr id="134" name="Google Shape;134;p20"/>
          <p:cNvSpPr txBox="1"/>
          <p:nvPr/>
        </p:nvSpPr>
        <p:spPr>
          <a:xfrm>
            <a:off x="7010400" y="2914650"/>
            <a:ext cx="1447800" cy="252413"/>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600"/>
              <a:buFont typeface="Arial"/>
              <a:buNone/>
            </a:pPr>
            <a:r>
              <a:rPr lang="en" sz="1600" b="0" i="0" u="none">
                <a:solidFill>
                  <a:schemeClr val="dk1"/>
                </a:solidFill>
                <a:latin typeface="Arial"/>
                <a:ea typeface="Arial"/>
                <a:cs typeface="Arial"/>
                <a:sym typeface="Arial"/>
              </a:rPr>
              <a:t>Hash Tables</a:t>
            </a:r>
            <a:endParaRPr/>
          </a:p>
        </p:txBody>
      </p:sp>
      <p:cxnSp>
        <p:nvCxnSpPr>
          <p:cNvPr id="135" name="Google Shape;135;p20"/>
          <p:cNvCxnSpPr/>
          <p:nvPr/>
        </p:nvCxnSpPr>
        <p:spPr>
          <a:xfrm>
            <a:off x="2209800" y="2171700"/>
            <a:ext cx="4114800" cy="0"/>
          </a:xfrm>
          <a:prstGeom prst="straightConnector1">
            <a:avLst/>
          </a:prstGeom>
          <a:noFill/>
          <a:ln w="9525" cap="flat" cmpd="sng">
            <a:solidFill>
              <a:schemeClr val="dk1"/>
            </a:solidFill>
            <a:prstDash val="solid"/>
            <a:miter lim="800000"/>
            <a:headEnd type="none" w="med" len="med"/>
            <a:tailEnd type="none" w="med" len="med"/>
          </a:ln>
        </p:spPr>
      </p:cxnSp>
      <p:cxnSp>
        <p:nvCxnSpPr>
          <p:cNvPr id="136" name="Google Shape;136;p20"/>
          <p:cNvCxnSpPr/>
          <p:nvPr/>
        </p:nvCxnSpPr>
        <p:spPr>
          <a:xfrm>
            <a:off x="6324600" y="2171700"/>
            <a:ext cx="0" cy="114300"/>
          </a:xfrm>
          <a:prstGeom prst="straightConnector1">
            <a:avLst/>
          </a:prstGeom>
          <a:noFill/>
          <a:ln w="9525" cap="flat" cmpd="sng">
            <a:solidFill>
              <a:schemeClr val="dk1"/>
            </a:solidFill>
            <a:prstDash val="solid"/>
            <a:miter lim="800000"/>
            <a:headEnd type="none" w="med" len="med"/>
            <a:tailEnd type="none" w="med" len="med"/>
          </a:ln>
        </p:spPr>
      </p:cxnSp>
      <p:cxnSp>
        <p:nvCxnSpPr>
          <p:cNvPr id="137" name="Google Shape;137;p20"/>
          <p:cNvCxnSpPr/>
          <p:nvPr/>
        </p:nvCxnSpPr>
        <p:spPr>
          <a:xfrm>
            <a:off x="2209800" y="2171700"/>
            <a:ext cx="0" cy="114300"/>
          </a:xfrm>
          <a:prstGeom prst="straightConnector1">
            <a:avLst/>
          </a:prstGeom>
          <a:noFill/>
          <a:ln w="9525" cap="flat" cmpd="sng">
            <a:solidFill>
              <a:schemeClr val="dk1"/>
            </a:solidFill>
            <a:prstDash val="solid"/>
            <a:miter lim="800000"/>
            <a:headEnd type="none" w="med" len="med"/>
            <a:tailEnd type="none" w="med" len="med"/>
          </a:ln>
        </p:spPr>
      </p:cxnSp>
      <p:cxnSp>
        <p:nvCxnSpPr>
          <p:cNvPr id="138" name="Google Shape;138;p20"/>
          <p:cNvCxnSpPr/>
          <p:nvPr/>
        </p:nvCxnSpPr>
        <p:spPr>
          <a:xfrm>
            <a:off x="3962400" y="2057400"/>
            <a:ext cx="0" cy="114300"/>
          </a:xfrm>
          <a:prstGeom prst="straightConnector1">
            <a:avLst/>
          </a:prstGeom>
          <a:noFill/>
          <a:ln w="9525" cap="flat" cmpd="sng">
            <a:solidFill>
              <a:schemeClr val="dk1"/>
            </a:solidFill>
            <a:prstDash val="solid"/>
            <a:miter lim="800000"/>
            <a:headEnd type="none" w="med" len="med"/>
            <a:tailEnd type="none" w="med" len="med"/>
          </a:ln>
        </p:spPr>
      </p:cxnSp>
      <p:cxnSp>
        <p:nvCxnSpPr>
          <p:cNvPr id="139" name="Google Shape;139;p20"/>
          <p:cNvCxnSpPr/>
          <p:nvPr/>
        </p:nvCxnSpPr>
        <p:spPr>
          <a:xfrm>
            <a:off x="762000" y="2743200"/>
            <a:ext cx="2819400" cy="0"/>
          </a:xfrm>
          <a:prstGeom prst="straightConnector1">
            <a:avLst/>
          </a:prstGeom>
          <a:noFill/>
          <a:ln w="9525" cap="flat" cmpd="sng">
            <a:solidFill>
              <a:schemeClr val="dk1"/>
            </a:solidFill>
            <a:prstDash val="solid"/>
            <a:miter lim="800000"/>
            <a:headEnd type="none" w="med" len="med"/>
            <a:tailEnd type="none" w="med" len="med"/>
          </a:ln>
        </p:spPr>
      </p:cxnSp>
      <p:cxnSp>
        <p:nvCxnSpPr>
          <p:cNvPr id="140" name="Google Shape;140;p20"/>
          <p:cNvCxnSpPr/>
          <p:nvPr/>
        </p:nvCxnSpPr>
        <p:spPr>
          <a:xfrm>
            <a:off x="2133600" y="2628900"/>
            <a:ext cx="0" cy="114300"/>
          </a:xfrm>
          <a:prstGeom prst="straightConnector1">
            <a:avLst/>
          </a:prstGeom>
          <a:noFill/>
          <a:ln w="9525" cap="flat" cmpd="sng">
            <a:solidFill>
              <a:schemeClr val="dk1"/>
            </a:solidFill>
            <a:prstDash val="solid"/>
            <a:miter lim="800000"/>
            <a:headEnd type="none" w="med" len="med"/>
            <a:tailEnd type="none" w="med" len="med"/>
          </a:ln>
        </p:spPr>
      </p:cxnSp>
      <p:cxnSp>
        <p:nvCxnSpPr>
          <p:cNvPr id="141" name="Google Shape;141;p20"/>
          <p:cNvCxnSpPr/>
          <p:nvPr/>
        </p:nvCxnSpPr>
        <p:spPr>
          <a:xfrm>
            <a:off x="1676400" y="2743200"/>
            <a:ext cx="0" cy="114300"/>
          </a:xfrm>
          <a:prstGeom prst="straightConnector1">
            <a:avLst/>
          </a:prstGeom>
          <a:noFill/>
          <a:ln w="9525" cap="flat" cmpd="sng">
            <a:solidFill>
              <a:schemeClr val="dk1"/>
            </a:solidFill>
            <a:prstDash val="solid"/>
            <a:miter lim="800000"/>
            <a:headEnd type="none" w="med" len="med"/>
            <a:tailEnd type="none" w="med" len="med"/>
          </a:ln>
        </p:spPr>
      </p:cxnSp>
      <p:cxnSp>
        <p:nvCxnSpPr>
          <p:cNvPr id="142" name="Google Shape;142;p20"/>
          <p:cNvCxnSpPr/>
          <p:nvPr/>
        </p:nvCxnSpPr>
        <p:spPr>
          <a:xfrm>
            <a:off x="2667000" y="2743200"/>
            <a:ext cx="0" cy="114300"/>
          </a:xfrm>
          <a:prstGeom prst="straightConnector1">
            <a:avLst/>
          </a:prstGeom>
          <a:noFill/>
          <a:ln w="9525" cap="flat" cmpd="sng">
            <a:solidFill>
              <a:schemeClr val="dk1"/>
            </a:solidFill>
            <a:prstDash val="solid"/>
            <a:miter lim="800000"/>
            <a:headEnd type="none" w="med" len="med"/>
            <a:tailEnd type="none" w="med" len="med"/>
          </a:ln>
        </p:spPr>
      </p:cxnSp>
      <p:cxnSp>
        <p:nvCxnSpPr>
          <p:cNvPr id="143" name="Google Shape;143;p20"/>
          <p:cNvCxnSpPr/>
          <p:nvPr/>
        </p:nvCxnSpPr>
        <p:spPr>
          <a:xfrm>
            <a:off x="762000" y="2743200"/>
            <a:ext cx="0" cy="114300"/>
          </a:xfrm>
          <a:prstGeom prst="straightConnector1">
            <a:avLst/>
          </a:prstGeom>
          <a:noFill/>
          <a:ln w="9525" cap="flat" cmpd="sng">
            <a:solidFill>
              <a:schemeClr val="dk1"/>
            </a:solidFill>
            <a:prstDash val="solid"/>
            <a:miter lim="800000"/>
            <a:headEnd type="none" w="med" len="med"/>
            <a:tailEnd type="none" w="med" len="med"/>
          </a:ln>
        </p:spPr>
      </p:cxnSp>
      <p:cxnSp>
        <p:nvCxnSpPr>
          <p:cNvPr id="144" name="Google Shape;144;p20"/>
          <p:cNvCxnSpPr/>
          <p:nvPr/>
        </p:nvCxnSpPr>
        <p:spPr>
          <a:xfrm>
            <a:off x="3581400" y="2743200"/>
            <a:ext cx="0" cy="114300"/>
          </a:xfrm>
          <a:prstGeom prst="straightConnector1">
            <a:avLst/>
          </a:prstGeom>
          <a:noFill/>
          <a:ln w="9525" cap="flat" cmpd="sng">
            <a:solidFill>
              <a:schemeClr val="dk1"/>
            </a:solidFill>
            <a:prstDash val="solid"/>
            <a:miter lim="800000"/>
            <a:headEnd type="none" w="med" len="med"/>
            <a:tailEnd type="none" w="med" len="med"/>
          </a:ln>
        </p:spPr>
      </p:cxnSp>
      <p:cxnSp>
        <p:nvCxnSpPr>
          <p:cNvPr id="145" name="Google Shape;145;p20"/>
          <p:cNvCxnSpPr/>
          <p:nvPr/>
        </p:nvCxnSpPr>
        <p:spPr>
          <a:xfrm>
            <a:off x="4876800" y="2743200"/>
            <a:ext cx="2819400" cy="0"/>
          </a:xfrm>
          <a:prstGeom prst="straightConnector1">
            <a:avLst/>
          </a:prstGeom>
          <a:noFill/>
          <a:ln w="9525" cap="flat" cmpd="sng">
            <a:solidFill>
              <a:schemeClr val="dk1"/>
            </a:solidFill>
            <a:prstDash val="solid"/>
            <a:miter lim="800000"/>
            <a:headEnd type="none" w="med" len="med"/>
            <a:tailEnd type="none" w="med" len="med"/>
          </a:ln>
        </p:spPr>
      </p:cxnSp>
      <p:cxnSp>
        <p:nvCxnSpPr>
          <p:cNvPr id="146" name="Google Shape;146;p20"/>
          <p:cNvCxnSpPr/>
          <p:nvPr/>
        </p:nvCxnSpPr>
        <p:spPr>
          <a:xfrm>
            <a:off x="6248400" y="2628900"/>
            <a:ext cx="0" cy="114300"/>
          </a:xfrm>
          <a:prstGeom prst="straightConnector1">
            <a:avLst/>
          </a:prstGeom>
          <a:noFill/>
          <a:ln w="9525" cap="flat" cmpd="sng">
            <a:solidFill>
              <a:schemeClr val="dk1"/>
            </a:solidFill>
            <a:prstDash val="solid"/>
            <a:miter lim="800000"/>
            <a:headEnd type="none" w="med" len="med"/>
            <a:tailEnd type="none" w="med" len="med"/>
          </a:ln>
        </p:spPr>
      </p:cxnSp>
      <p:cxnSp>
        <p:nvCxnSpPr>
          <p:cNvPr id="147" name="Google Shape;147;p20"/>
          <p:cNvCxnSpPr/>
          <p:nvPr/>
        </p:nvCxnSpPr>
        <p:spPr>
          <a:xfrm>
            <a:off x="6248400" y="2743200"/>
            <a:ext cx="0" cy="114300"/>
          </a:xfrm>
          <a:prstGeom prst="straightConnector1">
            <a:avLst/>
          </a:prstGeom>
          <a:noFill/>
          <a:ln w="9525" cap="flat" cmpd="sng">
            <a:solidFill>
              <a:schemeClr val="dk1"/>
            </a:solidFill>
            <a:prstDash val="solid"/>
            <a:miter lim="800000"/>
            <a:headEnd type="none" w="med" len="med"/>
            <a:tailEnd type="none" w="med" len="med"/>
          </a:ln>
        </p:spPr>
      </p:cxnSp>
      <p:cxnSp>
        <p:nvCxnSpPr>
          <p:cNvPr id="148" name="Google Shape;148;p20"/>
          <p:cNvCxnSpPr/>
          <p:nvPr/>
        </p:nvCxnSpPr>
        <p:spPr>
          <a:xfrm>
            <a:off x="4876800" y="2743200"/>
            <a:ext cx="0" cy="114300"/>
          </a:xfrm>
          <a:prstGeom prst="straightConnector1">
            <a:avLst/>
          </a:prstGeom>
          <a:noFill/>
          <a:ln w="9525" cap="flat" cmpd="sng">
            <a:solidFill>
              <a:schemeClr val="dk1"/>
            </a:solidFill>
            <a:prstDash val="solid"/>
            <a:miter lim="800000"/>
            <a:headEnd type="none" w="med" len="med"/>
            <a:tailEnd type="none" w="med" len="med"/>
          </a:ln>
        </p:spPr>
      </p:cxnSp>
      <p:cxnSp>
        <p:nvCxnSpPr>
          <p:cNvPr id="149" name="Google Shape;149;p20"/>
          <p:cNvCxnSpPr/>
          <p:nvPr/>
        </p:nvCxnSpPr>
        <p:spPr>
          <a:xfrm>
            <a:off x="7696200" y="2743200"/>
            <a:ext cx="0" cy="1143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680793" y="580677"/>
            <a:ext cx="7462039" cy="3824462"/>
          </a:xfrm>
          <a:prstGeom prst="rect">
            <a:avLst/>
          </a:prstGeom>
        </p:spPr>
      </p:pic>
    </p:spTree>
    <p:extLst>
      <p:ext uri="{BB962C8B-B14F-4D97-AF65-F5344CB8AC3E}">
        <p14:creationId xmlns:p14="http://schemas.microsoft.com/office/powerpoint/2010/main" val="3424097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1"/>
          <p:cNvSpPr txBox="1"/>
          <p:nvPr/>
        </p:nvSpPr>
        <p:spPr>
          <a:xfrm>
            <a:off x="838200" y="971550"/>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5" name="Google Shape;155;p21"/>
          <p:cNvSpPr txBox="1"/>
          <p:nvPr/>
        </p:nvSpPr>
        <p:spPr>
          <a:xfrm>
            <a:off x="1447800" y="971550"/>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6" name="Google Shape;156;p21"/>
          <p:cNvSpPr txBox="1"/>
          <p:nvPr/>
        </p:nvSpPr>
        <p:spPr>
          <a:xfrm>
            <a:off x="2057400" y="971550"/>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7" name="Google Shape;157;p21"/>
          <p:cNvSpPr txBox="1"/>
          <p:nvPr/>
        </p:nvSpPr>
        <p:spPr>
          <a:xfrm>
            <a:off x="2667000" y="971550"/>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8" name="Google Shape;158;p21"/>
          <p:cNvSpPr txBox="1"/>
          <p:nvPr/>
        </p:nvSpPr>
        <p:spPr>
          <a:xfrm>
            <a:off x="3276600" y="971550"/>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9" name="Google Shape;159;p21"/>
          <p:cNvSpPr txBox="1"/>
          <p:nvPr/>
        </p:nvSpPr>
        <p:spPr>
          <a:xfrm>
            <a:off x="3886200" y="971550"/>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60" name="Google Shape;160;p21"/>
          <p:cNvSpPr txBox="1"/>
          <p:nvPr/>
        </p:nvSpPr>
        <p:spPr>
          <a:xfrm>
            <a:off x="4495800" y="971550"/>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61" name="Google Shape;161;p21"/>
          <p:cNvSpPr txBox="1"/>
          <p:nvPr/>
        </p:nvSpPr>
        <p:spPr>
          <a:xfrm>
            <a:off x="5105400" y="971550"/>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62" name="Google Shape;162;p21"/>
          <p:cNvSpPr txBox="1"/>
          <p:nvPr/>
        </p:nvSpPr>
        <p:spPr>
          <a:xfrm>
            <a:off x="5715000" y="971550"/>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63" name="Google Shape;163;p21"/>
          <p:cNvSpPr txBox="1"/>
          <p:nvPr/>
        </p:nvSpPr>
        <p:spPr>
          <a:xfrm>
            <a:off x="6324600" y="971550"/>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64" name="Google Shape;164;p21"/>
          <p:cNvSpPr txBox="1"/>
          <p:nvPr/>
        </p:nvSpPr>
        <p:spPr>
          <a:xfrm>
            <a:off x="6934200" y="971550"/>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65" name="Google Shape;165;p21"/>
          <p:cNvSpPr txBox="1"/>
          <p:nvPr/>
        </p:nvSpPr>
        <p:spPr>
          <a:xfrm>
            <a:off x="838200" y="1912144"/>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66" name="Google Shape;166;p21"/>
          <p:cNvCxnSpPr/>
          <p:nvPr/>
        </p:nvCxnSpPr>
        <p:spPr>
          <a:xfrm>
            <a:off x="1447800" y="2140744"/>
            <a:ext cx="381000" cy="0"/>
          </a:xfrm>
          <a:prstGeom prst="straightConnector1">
            <a:avLst/>
          </a:prstGeom>
          <a:noFill/>
          <a:ln w="9525" cap="flat" cmpd="sng">
            <a:solidFill>
              <a:schemeClr val="dk1"/>
            </a:solidFill>
            <a:prstDash val="solid"/>
            <a:miter lim="800000"/>
            <a:headEnd type="none" w="med" len="med"/>
            <a:tailEnd type="triangle" w="med" len="med"/>
          </a:ln>
        </p:spPr>
      </p:cxnSp>
      <p:sp>
        <p:nvSpPr>
          <p:cNvPr id="167" name="Google Shape;167;p21"/>
          <p:cNvSpPr txBox="1"/>
          <p:nvPr/>
        </p:nvSpPr>
        <p:spPr>
          <a:xfrm>
            <a:off x="1828800" y="1912144"/>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68" name="Google Shape;168;p21"/>
          <p:cNvCxnSpPr/>
          <p:nvPr/>
        </p:nvCxnSpPr>
        <p:spPr>
          <a:xfrm>
            <a:off x="2438400" y="2140744"/>
            <a:ext cx="381000" cy="0"/>
          </a:xfrm>
          <a:prstGeom prst="straightConnector1">
            <a:avLst/>
          </a:prstGeom>
          <a:noFill/>
          <a:ln w="9525" cap="flat" cmpd="sng">
            <a:solidFill>
              <a:schemeClr val="dk1"/>
            </a:solidFill>
            <a:prstDash val="solid"/>
            <a:miter lim="800000"/>
            <a:headEnd type="none" w="med" len="med"/>
            <a:tailEnd type="triangle" w="med" len="med"/>
          </a:ln>
        </p:spPr>
      </p:cxnSp>
      <p:sp>
        <p:nvSpPr>
          <p:cNvPr id="169" name="Google Shape;169;p21"/>
          <p:cNvSpPr txBox="1"/>
          <p:nvPr/>
        </p:nvSpPr>
        <p:spPr>
          <a:xfrm>
            <a:off x="2819400" y="1912144"/>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70" name="Google Shape;170;p21"/>
          <p:cNvCxnSpPr/>
          <p:nvPr/>
        </p:nvCxnSpPr>
        <p:spPr>
          <a:xfrm>
            <a:off x="3429000" y="2140744"/>
            <a:ext cx="381000" cy="0"/>
          </a:xfrm>
          <a:prstGeom prst="straightConnector1">
            <a:avLst/>
          </a:prstGeom>
          <a:noFill/>
          <a:ln w="9525" cap="flat" cmpd="sng">
            <a:solidFill>
              <a:schemeClr val="dk1"/>
            </a:solidFill>
            <a:prstDash val="solid"/>
            <a:miter lim="800000"/>
            <a:headEnd type="none" w="med" len="med"/>
            <a:tailEnd type="triangle" w="med" len="med"/>
          </a:ln>
        </p:spPr>
      </p:cxnSp>
      <p:sp>
        <p:nvSpPr>
          <p:cNvPr id="171" name="Google Shape;171;p21"/>
          <p:cNvSpPr txBox="1"/>
          <p:nvPr/>
        </p:nvSpPr>
        <p:spPr>
          <a:xfrm>
            <a:off x="3810000" y="1912144"/>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72" name="Google Shape;172;p21"/>
          <p:cNvCxnSpPr/>
          <p:nvPr/>
        </p:nvCxnSpPr>
        <p:spPr>
          <a:xfrm>
            <a:off x="4419600" y="2140744"/>
            <a:ext cx="381000" cy="0"/>
          </a:xfrm>
          <a:prstGeom prst="straightConnector1">
            <a:avLst/>
          </a:prstGeom>
          <a:noFill/>
          <a:ln w="9525" cap="flat" cmpd="sng">
            <a:solidFill>
              <a:schemeClr val="dk1"/>
            </a:solidFill>
            <a:prstDash val="solid"/>
            <a:miter lim="800000"/>
            <a:headEnd type="none" w="med" len="med"/>
            <a:tailEnd type="triangle" w="med" len="med"/>
          </a:ln>
        </p:spPr>
      </p:cxnSp>
      <p:sp>
        <p:nvSpPr>
          <p:cNvPr id="173" name="Google Shape;173;p21"/>
          <p:cNvSpPr txBox="1"/>
          <p:nvPr/>
        </p:nvSpPr>
        <p:spPr>
          <a:xfrm>
            <a:off x="4800600" y="1912144"/>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74" name="Google Shape;174;p21"/>
          <p:cNvCxnSpPr/>
          <p:nvPr/>
        </p:nvCxnSpPr>
        <p:spPr>
          <a:xfrm>
            <a:off x="5410200" y="2140744"/>
            <a:ext cx="381000" cy="0"/>
          </a:xfrm>
          <a:prstGeom prst="straightConnector1">
            <a:avLst/>
          </a:prstGeom>
          <a:noFill/>
          <a:ln w="9525" cap="flat" cmpd="sng">
            <a:solidFill>
              <a:schemeClr val="dk1"/>
            </a:solidFill>
            <a:prstDash val="solid"/>
            <a:miter lim="800000"/>
            <a:headEnd type="none" w="med" len="med"/>
            <a:tailEnd type="triangle" w="med" len="med"/>
          </a:ln>
        </p:spPr>
      </p:cxnSp>
      <p:sp>
        <p:nvSpPr>
          <p:cNvPr id="175" name="Google Shape;175;p21"/>
          <p:cNvSpPr txBox="1"/>
          <p:nvPr/>
        </p:nvSpPr>
        <p:spPr>
          <a:xfrm>
            <a:off x="5791200" y="1912144"/>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76" name="Google Shape;176;p21"/>
          <p:cNvCxnSpPr/>
          <p:nvPr/>
        </p:nvCxnSpPr>
        <p:spPr>
          <a:xfrm>
            <a:off x="6400800" y="2140744"/>
            <a:ext cx="381000" cy="0"/>
          </a:xfrm>
          <a:prstGeom prst="straightConnector1">
            <a:avLst/>
          </a:prstGeom>
          <a:noFill/>
          <a:ln w="9525" cap="flat" cmpd="sng">
            <a:solidFill>
              <a:schemeClr val="dk1"/>
            </a:solidFill>
            <a:prstDash val="solid"/>
            <a:miter lim="800000"/>
            <a:headEnd type="none" w="med" len="med"/>
            <a:tailEnd type="triangle" w="med" len="med"/>
          </a:ln>
        </p:spPr>
      </p:cxnSp>
      <p:sp>
        <p:nvSpPr>
          <p:cNvPr id="177" name="Google Shape;177;p21"/>
          <p:cNvSpPr txBox="1"/>
          <p:nvPr/>
        </p:nvSpPr>
        <p:spPr>
          <a:xfrm>
            <a:off x="6781800" y="1912144"/>
            <a:ext cx="609600" cy="40005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8" name="Google Shape;178;p21"/>
          <p:cNvSpPr/>
          <p:nvPr/>
        </p:nvSpPr>
        <p:spPr>
          <a:xfrm>
            <a:off x="1447800" y="3086100"/>
            <a:ext cx="304800" cy="228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79" name="Google Shape;179;p21"/>
          <p:cNvSpPr/>
          <p:nvPr/>
        </p:nvSpPr>
        <p:spPr>
          <a:xfrm>
            <a:off x="990600" y="3486150"/>
            <a:ext cx="304800" cy="228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0" name="Google Shape;180;p21"/>
          <p:cNvSpPr/>
          <p:nvPr/>
        </p:nvSpPr>
        <p:spPr>
          <a:xfrm>
            <a:off x="533400" y="3886200"/>
            <a:ext cx="304800" cy="228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81" name="Google Shape;181;p21"/>
          <p:cNvCxnSpPr/>
          <p:nvPr/>
        </p:nvCxnSpPr>
        <p:spPr>
          <a:xfrm flipH="1">
            <a:off x="1219200" y="3257550"/>
            <a:ext cx="304800" cy="285750"/>
          </a:xfrm>
          <a:prstGeom prst="straightConnector1">
            <a:avLst/>
          </a:prstGeom>
          <a:noFill/>
          <a:ln w="9525" cap="flat" cmpd="sng">
            <a:solidFill>
              <a:schemeClr val="dk1"/>
            </a:solidFill>
            <a:prstDash val="solid"/>
            <a:miter lim="800000"/>
            <a:headEnd type="none" w="med" len="med"/>
            <a:tailEnd type="none" w="med" len="med"/>
          </a:ln>
        </p:spPr>
      </p:cxnSp>
      <p:cxnSp>
        <p:nvCxnSpPr>
          <p:cNvPr id="182" name="Google Shape;182;p21"/>
          <p:cNvCxnSpPr/>
          <p:nvPr/>
        </p:nvCxnSpPr>
        <p:spPr>
          <a:xfrm flipH="1">
            <a:off x="762000" y="3714750"/>
            <a:ext cx="304800" cy="228600"/>
          </a:xfrm>
          <a:prstGeom prst="straightConnector1">
            <a:avLst/>
          </a:prstGeom>
          <a:noFill/>
          <a:ln w="9525" cap="flat" cmpd="sng">
            <a:solidFill>
              <a:schemeClr val="dk1"/>
            </a:solidFill>
            <a:prstDash val="solid"/>
            <a:miter lim="800000"/>
            <a:headEnd type="none" w="med" len="med"/>
            <a:tailEnd type="none" w="med" len="med"/>
          </a:ln>
        </p:spPr>
      </p:cxnSp>
      <p:sp>
        <p:nvSpPr>
          <p:cNvPr id="183" name="Google Shape;183;p21"/>
          <p:cNvSpPr/>
          <p:nvPr/>
        </p:nvSpPr>
        <p:spPr>
          <a:xfrm>
            <a:off x="1905000" y="3486150"/>
            <a:ext cx="304800" cy="228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4" name="Google Shape;184;p21"/>
          <p:cNvSpPr/>
          <p:nvPr/>
        </p:nvSpPr>
        <p:spPr>
          <a:xfrm>
            <a:off x="2362200" y="3886200"/>
            <a:ext cx="304800" cy="228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85" name="Google Shape;185;p21"/>
          <p:cNvCxnSpPr/>
          <p:nvPr/>
        </p:nvCxnSpPr>
        <p:spPr>
          <a:xfrm>
            <a:off x="1676400" y="3257550"/>
            <a:ext cx="304800" cy="228600"/>
          </a:xfrm>
          <a:prstGeom prst="straightConnector1">
            <a:avLst/>
          </a:prstGeom>
          <a:noFill/>
          <a:ln w="9525" cap="flat" cmpd="sng">
            <a:solidFill>
              <a:schemeClr val="dk1"/>
            </a:solidFill>
            <a:prstDash val="solid"/>
            <a:miter lim="800000"/>
            <a:headEnd type="none" w="med" len="med"/>
            <a:tailEnd type="none" w="med" len="med"/>
          </a:ln>
        </p:spPr>
      </p:cxnSp>
      <p:cxnSp>
        <p:nvCxnSpPr>
          <p:cNvPr id="186" name="Google Shape;186;p21"/>
          <p:cNvCxnSpPr/>
          <p:nvPr/>
        </p:nvCxnSpPr>
        <p:spPr>
          <a:xfrm>
            <a:off x="2209800" y="3657600"/>
            <a:ext cx="228600" cy="285900"/>
          </a:xfrm>
          <a:prstGeom prst="straightConnector1">
            <a:avLst/>
          </a:prstGeom>
          <a:noFill/>
          <a:ln w="9525" cap="flat" cmpd="sng">
            <a:solidFill>
              <a:schemeClr val="dk1"/>
            </a:solidFill>
            <a:prstDash val="solid"/>
            <a:miter lim="800000"/>
            <a:headEnd type="none" w="med" len="med"/>
            <a:tailEnd type="none" w="med" len="med"/>
          </a:ln>
        </p:spPr>
      </p:cxnSp>
      <p:sp>
        <p:nvSpPr>
          <p:cNvPr id="187" name="Google Shape;187;p21"/>
          <p:cNvSpPr/>
          <p:nvPr/>
        </p:nvSpPr>
        <p:spPr>
          <a:xfrm>
            <a:off x="1219200" y="3943350"/>
            <a:ext cx="304800" cy="228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88" name="Google Shape;188;p21"/>
          <p:cNvCxnSpPr/>
          <p:nvPr/>
        </p:nvCxnSpPr>
        <p:spPr>
          <a:xfrm>
            <a:off x="1219200" y="3714750"/>
            <a:ext cx="152400" cy="228600"/>
          </a:xfrm>
          <a:prstGeom prst="straightConnector1">
            <a:avLst/>
          </a:prstGeom>
          <a:noFill/>
          <a:ln w="9525" cap="flat" cmpd="sng">
            <a:solidFill>
              <a:schemeClr val="dk1"/>
            </a:solidFill>
            <a:prstDash val="solid"/>
            <a:miter lim="800000"/>
            <a:headEnd type="none" w="med" len="med"/>
            <a:tailEnd type="none" w="med" len="med"/>
          </a:ln>
        </p:spPr>
      </p:cxnSp>
      <p:sp>
        <p:nvSpPr>
          <p:cNvPr id="189" name="Google Shape;189;p21"/>
          <p:cNvSpPr/>
          <p:nvPr/>
        </p:nvSpPr>
        <p:spPr>
          <a:xfrm>
            <a:off x="3657600" y="3283744"/>
            <a:ext cx="2362200" cy="628650"/>
          </a:xfrm>
          <a:prstGeom prst="flowChartMagneticDrum">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90" name="Google Shape;190;p21"/>
          <p:cNvCxnSpPr/>
          <p:nvPr/>
        </p:nvCxnSpPr>
        <p:spPr>
          <a:xfrm>
            <a:off x="3124200" y="3626644"/>
            <a:ext cx="838200" cy="0"/>
          </a:xfrm>
          <a:prstGeom prst="straightConnector1">
            <a:avLst/>
          </a:prstGeom>
          <a:noFill/>
          <a:ln w="9525" cap="flat" cmpd="sng">
            <a:solidFill>
              <a:schemeClr val="dk1"/>
            </a:solidFill>
            <a:prstDash val="solid"/>
            <a:miter lim="800000"/>
            <a:headEnd type="none" w="med" len="med"/>
            <a:tailEnd type="triangle" w="med" len="med"/>
          </a:ln>
        </p:spPr>
      </p:cxnSp>
      <p:cxnSp>
        <p:nvCxnSpPr>
          <p:cNvPr id="191" name="Google Shape;191;p21"/>
          <p:cNvCxnSpPr/>
          <p:nvPr/>
        </p:nvCxnSpPr>
        <p:spPr>
          <a:xfrm>
            <a:off x="5638800" y="3626644"/>
            <a:ext cx="914400" cy="0"/>
          </a:xfrm>
          <a:prstGeom prst="straightConnector1">
            <a:avLst/>
          </a:prstGeom>
          <a:noFill/>
          <a:ln w="9525" cap="flat" cmpd="sng">
            <a:solidFill>
              <a:schemeClr val="dk1"/>
            </a:solidFill>
            <a:prstDash val="solid"/>
            <a:miter lim="800000"/>
            <a:headEnd type="none" w="med" len="med"/>
            <a:tailEnd type="triangle" w="med" len="med"/>
          </a:ln>
        </p:spPr>
      </p:cxnSp>
      <p:sp>
        <p:nvSpPr>
          <p:cNvPr id="192" name="Google Shape;192;p21"/>
          <p:cNvSpPr/>
          <p:nvPr/>
        </p:nvSpPr>
        <p:spPr>
          <a:xfrm>
            <a:off x="7010400" y="3283744"/>
            <a:ext cx="1219200" cy="1028700"/>
          </a:xfrm>
          <a:prstGeom prst="flowChartMagneticDisk">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93" name="Google Shape;193;p21"/>
          <p:cNvSpPr/>
          <p:nvPr/>
        </p:nvSpPr>
        <p:spPr>
          <a:xfrm>
            <a:off x="6705600" y="2978944"/>
            <a:ext cx="723900" cy="476250"/>
          </a:xfrm>
          <a:custGeom>
            <a:avLst/>
            <a:gdLst/>
            <a:ahLst/>
            <a:cxnLst/>
            <a:rect l="l" t="t" r="r" b="b"/>
            <a:pathLst>
              <a:path w="456" h="400" extrusionOk="0">
                <a:moveTo>
                  <a:pt x="0" y="16"/>
                </a:moveTo>
                <a:cubicBezTo>
                  <a:pt x="156" y="8"/>
                  <a:pt x="312" y="0"/>
                  <a:pt x="384" y="64"/>
                </a:cubicBezTo>
                <a:cubicBezTo>
                  <a:pt x="456" y="128"/>
                  <a:pt x="424" y="344"/>
                  <a:pt x="432" y="40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94" name="Google Shape;194;p21"/>
          <p:cNvSpPr/>
          <p:nvPr/>
        </p:nvSpPr>
        <p:spPr>
          <a:xfrm>
            <a:off x="7670800" y="3171825"/>
            <a:ext cx="711200" cy="542925"/>
          </a:xfrm>
          <a:custGeom>
            <a:avLst/>
            <a:gdLst/>
            <a:ahLst/>
            <a:cxnLst/>
            <a:rect l="l" t="t" r="r" b="b"/>
            <a:pathLst>
              <a:path w="448" h="456" extrusionOk="0">
                <a:moveTo>
                  <a:pt x="64" y="456"/>
                </a:moveTo>
                <a:cubicBezTo>
                  <a:pt x="32" y="300"/>
                  <a:pt x="0" y="144"/>
                  <a:pt x="64" y="72"/>
                </a:cubicBezTo>
                <a:cubicBezTo>
                  <a:pt x="128" y="0"/>
                  <a:pt x="384" y="32"/>
                  <a:pt x="448" y="24"/>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95" name="Google Shape;195;p21"/>
          <p:cNvSpPr txBox="1"/>
          <p:nvPr/>
        </p:nvSpPr>
        <p:spPr>
          <a:xfrm>
            <a:off x="7680325" y="1002506"/>
            <a:ext cx="809625" cy="342900"/>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2400"/>
              <a:buFont typeface="Times New Roman"/>
              <a:buNone/>
            </a:pPr>
            <a:r>
              <a:rPr lang="en" sz="2400" b="0" i="0" u="none">
                <a:solidFill>
                  <a:schemeClr val="dk1"/>
                </a:solidFill>
                <a:latin typeface="Times New Roman"/>
                <a:ea typeface="Times New Roman"/>
                <a:cs typeface="Times New Roman"/>
                <a:sym typeface="Times New Roman"/>
              </a:rPr>
              <a:t>array</a:t>
            </a:r>
            <a:endParaRPr/>
          </a:p>
        </p:txBody>
      </p:sp>
      <p:sp>
        <p:nvSpPr>
          <p:cNvPr id="196" name="Google Shape;196;p21"/>
          <p:cNvSpPr txBox="1"/>
          <p:nvPr/>
        </p:nvSpPr>
        <p:spPr>
          <a:xfrm>
            <a:off x="7527925" y="1885950"/>
            <a:ext cx="1493837" cy="342900"/>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2400"/>
              <a:buFont typeface="Times New Roman"/>
              <a:buNone/>
            </a:pPr>
            <a:r>
              <a:rPr lang="en" sz="2400" b="0" i="0" u="none">
                <a:solidFill>
                  <a:schemeClr val="dk1"/>
                </a:solidFill>
                <a:latin typeface="Times New Roman"/>
                <a:ea typeface="Times New Roman"/>
                <a:cs typeface="Times New Roman"/>
                <a:sym typeface="Times New Roman"/>
              </a:rPr>
              <a:t>Linked list</a:t>
            </a:r>
            <a:endParaRPr/>
          </a:p>
        </p:txBody>
      </p:sp>
      <p:sp>
        <p:nvSpPr>
          <p:cNvPr id="197" name="Google Shape;197;p21"/>
          <p:cNvSpPr txBox="1"/>
          <p:nvPr/>
        </p:nvSpPr>
        <p:spPr>
          <a:xfrm>
            <a:off x="1431925" y="4202906"/>
            <a:ext cx="639762" cy="342900"/>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2400"/>
              <a:buFont typeface="Times New Roman"/>
              <a:buNone/>
            </a:pPr>
            <a:r>
              <a:rPr lang="en" sz="2400" b="0" i="0" u="none">
                <a:solidFill>
                  <a:schemeClr val="dk1"/>
                </a:solidFill>
                <a:latin typeface="Times New Roman"/>
                <a:ea typeface="Times New Roman"/>
                <a:cs typeface="Times New Roman"/>
                <a:sym typeface="Times New Roman"/>
              </a:rPr>
              <a:t>tree</a:t>
            </a:r>
            <a:endParaRPr/>
          </a:p>
        </p:txBody>
      </p:sp>
      <p:sp>
        <p:nvSpPr>
          <p:cNvPr id="198" name="Google Shape;198;p21"/>
          <p:cNvSpPr txBox="1"/>
          <p:nvPr/>
        </p:nvSpPr>
        <p:spPr>
          <a:xfrm>
            <a:off x="4098925" y="4000500"/>
            <a:ext cx="911225" cy="342900"/>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2400"/>
              <a:buFont typeface="Times New Roman"/>
              <a:buNone/>
            </a:pPr>
            <a:r>
              <a:rPr lang="en" sz="2400" b="0" i="0" u="none">
                <a:solidFill>
                  <a:schemeClr val="dk1"/>
                </a:solidFill>
                <a:latin typeface="Times New Roman"/>
                <a:ea typeface="Times New Roman"/>
                <a:cs typeface="Times New Roman"/>
                <a:sym typeface="Times New Roman"/>
              </a:rPr>
              <a:t>queue</a:t>
            </a:r>
            <a:endParaRPr/>
          </a:p>
        </p:txBody>
      </p:sp>
      <p:sp>
        <p:nvSpPr>
          <p:cNvPr id="199" name="Google Shape;199;p21"/>
          <p:cNvSpPr txBox="1"/>
          <p:nvPr/>
        </p:nvSpPr>
        <p:spPr>
          <a:xfrm>
            <a:off x="6994525" y="4229100"/>
            <a:ext cx="809625" cy="342900"/>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2400"/>
              <a:buFont typeface="Times New Roman"/>
              <a:buNone/>
            </a:pPr>
            <a:r>
              <a:rPr lang="en" sz="2400" b="0" i="0" u="none">
                <a:solidFill>
                  <a:schemeClr val="dk1"/>
                </a:solidFill>
                <a:latin typeface="Times New Roman"/>
                <a:ea typeface="Times New Roman"/>
                <a:cs typeface="Times New Roman"/>
                <a:sym typeface="Times New Roman"/>
              </a:rPr>
              <a:t>stack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2"/>
          <p:cNvSpPr txBox="1">
            <a:spLocks noGrp="1"/>
          </p:cNvSpPr>
          <p:nvPr>
            <p:ph type="title"/>
          </p:nvPr>
        </p:nvSpPr>
        <p:spPr>
          <a:xfrm>
            <a:off x="457200" y="205978"/>
            <a:ext cx="8229600" cy="537000"/>
          </a:xfrm>
          <a:prstGeom prst="rect">
            <a:avLst/>
          </a:prstGeom>
          <a:noFill/>
          <a:ln>
            <a:noFill/>
          </a:ln>
        </p:spPr>
        <p:txBody>
          <a:bodyPr spcFirstLastPara="1" wrap="square" lIns="0" tIns="45700" rIns="0" bIns="0" anchor="b" anchorCtr="0">
            <a:normAutofit fontScale="90000"/>
          </a:bodyPr>
          <a:lstStyle/>
          <a:p>
            <a:pPr marL="0" lvl="0" indent="0" algn="l" rtl="0">
              <a:lnSpc>
                <a:spcPct val="100000"/>
              </a:lnSpc>
              <a:spcBef>
                <a:spcPts val="0"/>
              </a:spcBef>
              <a:spcAft>
                <a:spcPts val="0"/>
              </a:spcAft>
              <a:buClr>
                <a:schemeClr val="dk2"/>
              </a:buClr>
              <a:buSzPct val="100000"/>
              <a:buFont typeface="Calibri"/>
              <a:buNone/>
            </a:pPr>
            <a:r>
              <a:rPr lang="en" sz="4500" b="0" i="0" u="none">
                <a:solidFill>
                  <a:schemeClr val="dk2"/>
                </a:solidFill>
                <a:latin typeface="Calibri"/>
                <a:ea typeface="Calibri"/>
                <a:cs typeface="Calibri"/>
                <a:sym typeface="Calibri"/>
              </a:rPr>
              <a:t>Types of Data Structure</a:t>
            </a:r>
            <a:endParaRPr/>
          </a:p>
        </p:txBody>
      </p:sp>
      <p:sp>
        <p:nvSpPr>
          <p:cNvPr id="205" name="Google Shape;205;p22"/>
          <p:cNvSpPr txBox="1">
            <a:spLocks noGrp="1"/>
          </p:cNvSpPr>
          <p:nvPr>
            <p:ph type="body" idx="1"/>
          </p:nvPr>
        </p:nvSpPr>
        <p:spPr>
          <a:xfrm>
            <a:off x="457200" y="857250"/>
            <a:ext cx="8229600" cy="3737400"/>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BD0D9"/>
              </a:buClr>
              <a:buSzPts val="2280"/>
              <a:buFont typeface="Noto Sans Symbols"/>
              <a:buChar char="⚫"/>
            </a:pPr>
            <a:r>
              <a:rPr lang="en" sz="2400" b="0" i="0" u="sng">
                <a:solidFill>
                  <a:schemeClr val="dk1"/>
                </a:solidFill>
                <a:latin typeface="Constantia"/>
                <a:ea typeface="Constantia"/>
                <a:cs typeface="Constantia"/>
                <a:sym typeface="Constantia"/>
              </a:rPr>
              <a:t>Linear</a:t>
            </a:r>
            <a:r>
              <a:rPr lang="en" sz="2400" b="0" i="0" u="none">
                <a:solidFill>
                  <a:schemeClr val="dk1"/>
                </a:solidFill>
                <a:latin typeface="Constantia"/>
                <a:ea typeface="Constantia"/>
                <a:cs typeface="Constantia"/>
                <a:sym typeface="Constantia"/>
              </a:rPr>
              <a:t>: In Linear data structure, values are arrange in linear fashion.</a:t>
            </a:r>
            <a:endParaRPr/>
          </a:p>
          <a:p>
            <a:pPr marL="639762" marR="0" lvl="1" indent="-246062" algn="l" rtl="0">
              <a:lnSpc>
                <a:spcPct val="100000"/>
              </a:lnSpc>
              <a:spcBef>
                <a:spcPts val="480"/>
              </a:spcBef>
              <a:spcAft>
                <a:spcPts val="0"/>
              </a:spcAft>
              <a:buClr>
                <a:schemeClr val="accent1"/>
              </a:buClr>
              <a:buSzPts val="2040"/>
              <a:buFont typeface="Noto Sans Symbols"/>
              <a:buChar char="⚫"/>
            </a:pPr>
            <a:r>
              <a:rPr lang="en" sz="2400" b="0" i="0" u="none" strike="noStrike" cap="none">
                <a:solidFill>
                  <a:schemeClr val="dk1"/>
                </a:solidFill>
                <a:latin typeface="Constantia"/>
                <a:ea typeface="Constantia"/>
                <a:cs typeface="Constantia"/>
                <a:sym typeface="Constantia"/>
              </a:rPr>
              <a:t>Array: Fixed-size</a:t>
            </a:r>
            <a:endParaRPr/>
          </a:p>
          <a:p>
            <a:pPr marL="639762" marR="0" lvl="1" indent="-246062" algn="l" rtl="0">
              <a:lnSpc>
                <a:spcPct val="100000"/>
              </a:lnSpc>
              <a:spcBef>
                <a:spcPts val="480"/>
              </a:spcBef>
              <a:spcAft>
                <a:spcPts val="0"/>
              </a:spcAft>
              <a:buClr>
                <a:schemeClr val="accent1"/>
              </a:buClr>
              <a:buSzPts val="2040"/>
              <a:buFont typeface="Noto Sans Symbols"/>
              <a:buChar char="⚫"/>
            </a:pPr>
            <a:r>
              <a:rPr lang="en" sz="2400" b="0" i="0" u="none" strike="noStrike" cap="none">
                <a:solidFill>
                  <a:schemeClr val="dk1"/>
                </a:solidFill>
                <a:latin typeface="Constantia"/>
                <a:ea typeface="Constantia"/>
                <a:cs typeface="Constantia"/>
                <a:sym typeface="Constantia"/>
              </a:rPr>
              <a:t>Linked-list: Variable-size</a:t>
            </a:r>
            <a:endParaRPr/>
          </a:p>
          <a:p>
            <a:pPr marL="639762" marR="0" lvl="1" indent="-246062" algn="l" rtl="0">
              <a:lnSpc>
                <a:spcPct val="100000"/>
              </a:lnSpc>
              <a:spcBef>
                <a:spcPts val="480"/>
              </a:spcBef>
              <a:spcAft>
                <a:spcPts val="0"/>
              </a:spcAft>
              <a:buClr>
                <a:schemeClr val="accent1"/>
              </a:buClr>
              <a:buSzPts val="2040"/>
              <a:buFont typeface="Noto Sans Symbols"/>
              <a:buChar char="⚫"/>
            </a:pPr>
            <a:r>
              <a:rPr lang="en" sz="2400" b="0" i="0" u="none" strike="noStrike" cap="none">
                <a:solidFill>
                  <a:schemeClr val="dk1"/>
                </a:solidFill>
                <a:latin typeface="Constantia"/>
                <a:ea typeface="Constantia"/>
                <a:cs typeface="Constantia"/>
                <a:sym typeface="Constantia"/>
              </a:rPr>
              <a:t>Stack: Add to top and remove from top</a:t>
            </a:r>
            <a:endParaRPr/>
          </a:p>
          <a:p>
            <a:pPr marL="639762" marR="0" lvl="1" indent="-246062" algn="l" rtl="0">
              <a:lnSpc>
                <a:spcPct val="100000"/>
              </a:lnSpc>
              <a:spcBef>
                <a:spcPts val="480"/>
              </a:spcBef>
              <a:spcAft>
                <a:spcPts val="0"/>
              </a:spcAft>
              <a:buClr>
                <a:schemeClr val="accent1"/>
              </a:buClr>
              <a:buSzPts val="2040"/>
              <a:buFont typeface="Noto Sans Symbols"/>
              <a:buChar char="⚫"/>
            </a:pPr>
            <a:r>
              <a:rPr lang="en" sz="2400" b="0" i="0" u="none" strike="noStrike" cap="none">
                <a:solidFill>
                  <a:schemeClr val="dk1"/>
                </a:solidFill>
                <a:latin typeface="Constantia"/>
                <a:ea typeface="Constantia"/>
                <a:cs typeface="Constantia"/>
                <a:sym typeface="Constantia"/>
              </a:rPr>
              <a:t>Queue: Add to back and remove from front</a:t>
            </a:r>
            <a:endParaRPr/>
          </a:p>
          <a:p>
            <a:pPr marL="639762" marR="0" lvl="1" indent="-246062" algn="l" rtl="0">
              <a:lnSpc>
                <a:spcPct val="100000"/>
              </a:lnSpc>
              <a:spcBef>
                <a:spcPts val="480"/>
              </a:spcBef>
              <a:spcAft>
                <a:spcPts val="0"/>
              </a:spcAft>
              <a:buClr>
                <a:schemeClr val="accent1"/>
              </a:buClr>
              <a:buSzPts val="2040"/>
              <a:buFont typeface="Noto Sans Symbols"/>
              <a:buChar char="⚫"/>
            </a:pPr>
            <a:r>
              <a:rPr lang="en" sz="2400" b="0" i="0" u="none" strike="noStrike" cap="none">
                <a:solidFill>
                  <a:schemeClr val="dk1"/>
                </a:solidFill>
                <a:latin typeface="Constantia"/>
                <a:ea typeface="Constantia"/>
                <a:cs typeface="Constantia"/>
                <a:sym typeface="Constantia"/>
              </a:rPr>
              <a:t>Priority queue: Add anywhere, remove the highest priority</a:t>
            </a:r>
            <a:endParaRPr/>
          </a:p>
          <a:p>
            <a:pPr marL="639762" marR="0" lvl="1" indent="-246062" algn="l" rtl="0">
              <a:lnSpc>
                <a:spcPct val="100000"/>
              </a:lnSpc>
              <a:spcBef>
                <a:spcPts val="480"/>
              </a:spcBef>
              <a:spcAft>
                <a:spcPts val="0"/>
              </a:spcAft>
              <a:buClr>
                <a:schemeClr val="accent1"/>
              </a:buClr>
              <a:buSzPts val="2040"/>
              <a:buFont typeface="Noto Sans Symbols"/>
              <a:buNone/>
            </a:pPr>
            <a:endParaRPr sz="2400" b="0" i="0" u="none" strike="noStrike" cap="none">
              <a:solidFill>
                <a:schemeClr val="dk1"/>
              </a:solidFill>
              <a:latin typeface="Constantia"/>
              <a:ea typeface="Constantia"/>
              <a:cs typeface="Constantia"/>
              <a:sym typeface="Constantia"/>
            </a:endParaRPr>
          </a:p>
          <a:p>
            <a:pPr marL="274320" marR="0" lvl="0" indent="-129540" algn="l" rtl="0">
              <a:spcBef>
                <a:spcPts val="480"/>
              </a:spcBef>
              <a:spcAft>
                <a:spcPts val="1200"/>
              </a:spcAft>
              <a:buClr>
                <a:schemeClr val="accent3"/>
              </a:buClr>
              <a:buSzPts val="2280"/>
              <a:buFont typeface="Noto Sans Symbols"/>
              <a:buNone/>
            </a:pPr>
            <a:endParaRPr sz="2400" b="0" i="0" u="none" strike="noStrike" cap="none">
              <a:solidFill>
                <a:schemeClr val="dk1"/>
              </a:solidFill>
              <a:latin typeface="Constantia"/>
              <a:ea typeface="Constantia"/>
              <a:cs typeface="Constantia"/>
              <a:sym typeface="Constant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3"/>
          <p:cNvSpPr txBox="1">
            <a:spLocks noGrp="1"/>
          </p:cNvSpPr>
          <p:nvPr>
            <p:ph type="title"/>
          </p:nvPr>
        </p:nvSpPr>
        <p:spPr>
          <a:xfrm>
            <a:off x="457200" y="528638"/>
            <a:ext cx="8229600" cy="857250"/>
          </a:xfrm>
          <a:prstGeom prst="rect">
            <a:avLst/>
          </a:prstGeom>
          <a:noFill/>
          <a:ln>
            <a:noFill/>
          </a:ln>
        </p:spPr>
        <p:txBody>
          <a:bodyPr spcFirstLastPara="1" wrap="square" lIns="0" tIns="45700" rIns="0" bIns="0" anchor="b" anchorCtr="0">
            <a:noAutofit/>
          </a:bodyPr>
          <a:lstStyle/>
          <a:p>
            <a:pPr marL="0" lvl="0" indent="0" algn="l" rtl="0">
              <a:lnSpc>
                <a:spcPct val="100000"/>
              </a:lnSpc>
              <a:spcBef>
                <a:spcPts val="0"/>
              </a:spcBef>
              <a:spcAft>
                <a:spcPts val="0"/>
              </a:spcAft>
              <a:buClr>
                <a:schemeClr val="dk2"/>
              </a:buClr>
              <a:buSzPts val="5000"/>
              <a:buFont typeface="Calibri"/>
              <a:buNone/>
            </a:pPr>
            <a:r>
              <a:rPr lang="en" sz="5000" b="0" i="0" u="none">
                <a:solidFill>
                  <a:schemeClr val="dk2"/>
                </a:solidFill>
                <a:latin typeface="Calibri"/>
                <a:ea typeface="Calibri"/>
                <a:cs typeface="Calibri"/>
                <a:sym typeface="Calibri"/>
              </a:rPr>
              <a:t>Types of Data Structure</a:t>
            </a:r>
            <a:endParaRPr/>
          </a:p>
        </p:txBody>
      </p:sp>
      <p:sp>
        <p:nvSpPr>
          <p:cNvPr id="211" name="Google Shape;211;p23"/>
          <p:cNvSpPr txBox="1">
            <a:spLocks noGrp="1"/>
          </p:cNvSpPr>
          <p:nvPr>
            <p:ph type="body" idx="1"/>
          </p:nvPr>
        </p:nvSpPr>
        <p:spPr>
          <a:xfrm>
            <a:off x="457200" y="1451371"/>
            <a:ext cx="8229600" cy="3292078"/>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BD0D9"/>
              </a:buClr>
              <a:buSzPts val="2280"/>
              <a:buFont typeface="Noto Sans Symbols"/>
              <a:buChar char="⚫"/>
            </a:pPr>
            <a:r>
              <a:rPr lang="en" sz="2400" b="0" i="0" u="sng">
                <a:solidFill>
                  <a:schemeClr val="dk1"/>
                </a:solidFill>
                <a:latin typeface="Constantia"/>
                <a:ea typeface="Constantia"/>
                <a:cs typeface="Constantia"/>
                <a:sym typeface="Constantia"/>
              </a:rPr>
              <a:t>Non-Linear: </a:t>
            </a:r>
            <a:r>
              <a:rPr lang="en" sz="2400" b="0" i="0" u="none">
                <a:solidFill>
                  <a:schemeClr val="dk1"/>
                </a:solidFill>
                <a:latin typeface="Constantia"/>
                <a:ea typeface="Constantia"/>
                <a:cs typeface="Constantia"/>
                <a:sym typeface="Constantia"/>
              </a:rPr>
              <a:t>The data values in this structure are not arranged in order</a:t>
            </a:r>
            <a:r>
              <a:rPr lang="en" sz="2600" b="0" i="0" u="none">
                <a:solidFill>
                  <a:schemeClr val="dk1"/>
                </a:solidFill>
                <a:latin typeface="Constantia"/>
                <a:ea typeface="Constantia"/>
                <a:cs typeface="Constantia"/>
                <a:sym typeface="Constantia"/>
              </a:rPr>
              <a:t>.</a:t>
            </a:r>
            <a:endParaRPr/>
          </a:p>
          <a:p>
            <a:pPr marL="639762" marR="0" lvl="1" indent="-246062" algn="l" rtl="0">
              <a:lnSpc>
                <a:spcPct val="100000"/>
              </a:lnSpc>
              <a:spcBef>
                <a:spcPts val="400"/>
              </a:spcBef>
              <a:spcAft>
                <a:spcPts val="0"/>
              </a:spcAft>
              <a:buClr>
                <a:schemeClr val="accent1"/>
              </a:buClr>
              <a:buSzPts val="1700"/>
              <a:buFont typeface="Noto Sans Symbols"/>
              <a:buChar char="⚫"/>
            </a:pPr>
            <a:r>
              <a:rPr lang="en" sz="2000" b="0" i="0" u="none" strike="noStrike" cap="none">
                <a:solidFill>
                  <a:schemeClr val="dk1"/>
                </a:solidFill>
                <a:latin typeface="Constantia"/>
                <a:ea typeface="Constantia"/>
                <a:cs typeface="Constantia"/>
                <a:sym typeface="Constantia"/>
              </a:rPr>
              <a:t>Hash tables: Unordered lists which use a ‘hash function’ to insert and search</a:t>
            </a:r>
            <a:endParaRPr/>
          </a:p>
          <a:p>
            <a:pPr marL="639762" marR="0" lvl="1" indent="-246062" algn="l" rtl="0">
              <a:lnSpc>
                <a:spcPct val="100000"/>
              </a:lnSpc>
              <a:spcBef>
                <a:spcPts val="400"/>
              </a:spcBef>
              <a:spcAft>
                <a:spcPts val="0"/>
              </a:spcAft>
              <a:buClr>
                <a:schemeClr val="accent1"/>
              </a:buClr>
              <a:buSzPts val="1700"/>
              <a:buFont typeface="Noto Sans Symbols"/>
              <a:buChar char="⚫"/>
            </a:pPr>
            <a:r>
              <a:rPr lang="en" sz="2000" b="0" i="0" u="none" strike="noStrike" cap="none">
                <a:solidFill>
                  <a:schemeClr val="dk1"/>
                </a:solidFill>
                <a:latin typeface="Constantia"/>
                <a:ea typeface="Constantia"/>
                <a:cs typeface="Constantia"/>
                <a:sym typeface="Constantia"/>
              </a:rPr>
              <a:t>Tree: Data is organized in branches.</a:t>
            </a:r>
            <a:endParaRPr/>
          </a:p>
          <a:p>
            <a:pPr marL="639762" marR="0" lvl="1" indent="-246062" algn="l" rtl="0">
              <a:lnSpc>
                <a:spcPct val="100000"/>
              </a:lnSpc>
              <a:spcBef>
                <a:spcPts val="400"/>
              </a:spcBef>
              <a:spcAft>
                <a:spcPts val="0"/>
              </a:spcAft>
              <a:buClr>
                <a:schemeClr val="accent1"/>
              </a:buClr>
              <a:buSzPts val="1700"/>
              <a:buFont typeface="Noto Sans Symbols"/>
              <a:buChar char="⚫"/>
            </a:pPr>
            <a:r>
              <a:rPr lang="en" sz="2000" b="0" i="0" u="none" strike="noStrike" cap="none">
                <a:solidFill>
                  <a:schemeClr val="dk1"/>
                </a:solidFill>
                <a:latin typeface="Constantia"/>
                <a:ea typeface="Constantia"/>
                <a:cs typeface="Constantia"/>
                <a:sym typeface="Constantia"/>
              </a:rPr>
              <a:t>Graph: A more general branching structure, with less strict connection conditions than for a tree</a:t>
            </a:r>
            <a:endParaRPr/>
          </a:p>
          <a:p>
            <a:pPr marL="639762" marR="0" lvl="1" indent="-116522" algn="l" rtl="0">
              <a:lnSpc>
                <a:spcPct val="100000"/>
              </a:lnSpc>
              <a:spcBef>
                <a:spcPts val="480"/>
              </a:spcBef>
              <a:spcAft>
                <a:spcPts val="0"/>
              </a:spcAft>
              <a:buClr>
                <a:schemeClr val="accent1"/>
              </a:buClr>
              <a:buSzPts val="2040"/>
              <a:buFont typeface="Noto Sans Symbols"/>
              <a:buNone/>
            </a:pPr>
            <a:endParaRPr sz="2400" b="0" i="0" u="none" strike="noStrike" cap="none">
              <a:solidFill>
                <a:schemeClr val="dk1"/>
              </a:solidFill>
              <a:latin typeface="Constantia"/>
              <a:ea typeface="Constantia"/>
              <a:cs typeface="Constantia"/>
              <a:sym typeface="Constantia"/>
            </a:endParaRPr>
          </a:p>
          <a:p>
            <a:pPr marL="274320" marR="0" lvl="0" indent="-129540" algn="l" rtl="0">
              <a:spcBef>
                <a:spcPts val="480"/>
              </a:spcBef>
              <a:spcAft>
                <a:spcPts val="1200"/>
              </a:spcAft>
              <a:buClr>
                <a:schemeClr val="accent3"/>
              </a:buClr>
              <a:buSzPts val="2280"/>
              <a:buFont typeface="Noto Sans Symbols"/>
              <a:buNone/>
            </a:pPr>
            <a:endParaRPr sz="2400" b="0" i="0" u="none" strike="noStrike" cap="none">
              <a:solidFill>
                <a:schemeClr val="dk1"/>
              </a:solidFill>
              <a:latin typeface="Constantia"/>
              <a:ea typeface="Constantia"/>
              <a:cs typeface="Constantia"/>
              <a:sym typeface="Constant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4"/>
          <p:cNvSpPr txBox="1">
            <a:spLocks noGrp="1"/>
          </p:cNvSpPr>
          <p:nvPr>
            <p:ph type="title"/>
          </p:nvPr>
        </p:nvSpPr>
        <p:spPr>
          <a:xfrm>
            <a:off x="457200" y="205978"/>
            <a:ext cx="8229600" cy="536972"/>
          </a:xfrm>
          <a:prstGeom prst="rect">
            <a:avLst/>
          </a:prstGeom>
          <a:noFill/>
          <a:ln>
            <a:noFill/>
          </a:ln>
        </p:spPr>
        <p:txBody>
          <a:bodyPr spcFirstLastPara="1" wrap="square" lIns="0" tIns="45700" rIns="0" bIns="0" anchor="b" anchorCtr="0">
            <a:noAutofit/>
          </a:bodyPr>
          <a:lstStyle/>
          <a:p>
            <a:pPr marL="0" lvl="0" indent="0" algn="l" rtl="0">
              <a:lnSpc>
                <a:spcPct val="100000"/>
              </a:lnSpc>
              <a:spcBef>
                <a:spcPts val="0"/>
              </a:spcBef>
              <a:spcAft>
                <a:spcPts val="0"/>
              </a:spcAft>
              <a:buClr>
                <a:schemeClr val="dk2"/>
              </a:buClr>
              <a:buSzPts val="5000"/>
              <a:buFont typeface="Calibri"/>
              <a:buNone/>
            </a:pPr>
            <a:r>
              <a:rPr lang="en" sz="4100" b="0" i="0" u="none">
                <a:solidFill>
                  <a:schemeClr val="dk2"/>
                </a:solidFill>
                <a:latin typeface="Calibri"/>
                <a:ea typeface="Calibri"/>
                <a:cs typeface="Calibri"/>
                <a:sym typeface="Calibri"/>
              </a:rPr>
              <a:t>Abstract Data Type and Data Structure</a:t>
            </a:r>
            <a:endParaRPr sz="4100"/>
          </a:p>
        </p:txBody>
      </p:sp>
      <p:sp>
        <p:nvSpPr>
          <p:cNvPr id="217" name="Google Shape;217;p24"/>
          <p:cNvSpPr txBox="1">
            <a:spLocks noGrp="1"/>
          </p:cNvSpPr>
          <p:nvPr>
            <p:ph type="body" idx="1"/>
          </p:nvPr>
        </p:nvSpPr>
        <p:spPr>
          <a:xfrm>
            <a:off x="457200" y="800100"/>
            <a:ext cx="8229600" cy="4775700"/>
          </a:xfrm>
          <a:prstGeom prst="rect">
            <a:avLst/>
          </a:prstGeom>
          <a:noFill/>
          <a:ln>
            <a:noFill/>
          </a:ln>
        </p:spPr>
        <p:txBody>
          <a:bodyPr spcFirstLastPara="1" wrap="square" lIns="91425" tIns="45700" rIns="91425" bIns="45700" anchor="t" anchorCtr="0">
            <a:noAutofit/>
          </a:bodyPr>
          <a:lstStyle/>
          <a:p>
            <a:pPr marL="273050" marR="0" lvl="0" indent="-242570" algn="l" rtl="0">
              <a:lnSpc>
                <a:spcPct val="100000"/>
              </a:lnSpc>
              <a:spcBef>
                <a:spcPts val="0"/>
              </a:spcBef>
              <a:spcAft>
                <a:spcPts val="0"/>
              </a:spcAft>
              <a:buClr>
                <a:srgbClr val="0BD0D9"/>
              </a:buClr>
              <a:buSzPts val="1800"/>
              <a:buFont typeface="Noto Sans Symbols"/>
              <a:buChar char="⚫"/>
            </a:pPr>
            <a:r>
              <a:rPr lang="en" b="0" i="0" u="none">
                <a:solidFill>
                  <a:schemeClr val="dk1"/>
                </a:solidFill>
                <a:latin typeface="Constantia"/>
                <a:ea typeface="Constantia"/>
                <a:cs typeface="Constantia"/>
                <a:sym typeface="Constantia"/>
              </a:rPr>
              <a:t>Definition:-</a:t>
            </a:r>
            <a:endParaRPr/>
          </a:p>
          <a:p>
            <a:pPr marL="639762" marR="0" lvl="1" indent="-252412" algn="l" rtl="0">
              <a:lnSpc>
                <a:spcPct val="100000"/>
              </a:lnSpc>
              <a:spcBef>
                <a:spcPts val="400"/>
              </a:spcBef>
              <a:spcAft>
                <a:spcPts val="0"/>
              </a:spcAft>
              <a:buClr>
                <a:schemeClr val="accent1"/>
              </a:buClr>
              <a:buSzPts val="1800"/>
              <a:buFont typeface="Noto Sans Symbols"/>
              <a:buChar char="⚫"/>
            </a:pPr>
            <a:r>
              <a:rPr lang="en" sz="1800" b="0" i="1" u="none" strike="noStrike" cap="none">
                <a:solidFill>
                  <a:schemeClr val="dk1"/>
                </a:solidFill>
                <a:latin typeface="Constantia"/>
                <a:ea typeface="Constantia"/>
                <a:cs typeface="Constantia"/>
                <a:sym typeface="Constantia"/>
              </a:rPr>
              <a:t>Abstract Data Types</a:t>
            </a:r>
            <a:endParaRPr sz="1800"/>
          </a:p>
          <a:p>
            <a:pPr marL="639762" marR="0" lvl="1" indent="-252412" algn="l" rtl="0">
              <a:lnSpc>
                <a:spcPct val="100000"/>
              </a:lnSpc>
              <a:spcBef>
                <a:spcPts val="400"/>
              </a:spcBef>
              <a:spcAft>
                <a:spcPts val="0"/>
              </a:spcAft>
              <a:buClr>
                <a:schemeClr val="accent1"/>
              </a:buClr>
              <a:buSzPts val="1800"/>
              <a:buFont typeface="Noto Sans Symbols"/>
              <a:buChar char="⚫"/>
            </a:pPr>
            <a:r>
              <a:rPr lang="en" sz="1800" b="0" i="0" u="none" strike="noStrike" cap="none">
                <a:solidFill>
                  <a:schemeClr val="dk1"/>
                </a:solidFill>
                <a:latin typeface="Constantia"/>
                <a:ea typeface="Constantia"/>
                <a:cs typeface="Constantia"/>
                <a:sym typeface="Constantia"/>
              </a:rPr>
              <a:t>An ADT is a collection of data</a:t>
            </a:r>
            <a:r>
              <a:rPr lang="en" sz="1800" i="1">
                <a:solidFill>
                  <a:schemeClr val="dk1"/>
                </a:solidFill>
                <a:latin typeface="Constantia"/>
                <a:ea typeface="Constantia"/>
                <a:cs typeface="Constantia"/>
                <a:sym typeface="Constantia"/>
              </a:rPr>
              <a:t> (ADTs)</a:t>
            </a:r>
            <a:r>
              <a:rPr lang="en" sz="1800">
                <a:solidFill>
                  <a:schemeClr val="dk1"/>
                </a:solidFill>
                <a:latin typeface="Constantia"/>
                <a:ea typeface="Constantia"/>
                <a:cs typeface="Constantia"/>
                <a:sym typeface="Constantia"/>
              </a:rPr>
              <a:t> stores data and allow various operations on the data to access and change it.</a:t>
            </a:r>
            <a:endParaRPr sz="1800"/>
          </a:p>
          <a:p>
            <a:pPr marL="639762" marR="0" lvl="1" indent="-252412" algn="l" rtl="0">
              <a:lnSpc>
                <a:spcPct val="100000"/>
              </a:lnSpc>
              <a:spcBef>
                <a:spcPts val="400"/>
              </a:spcBef>
              <a:spcAft>
                <a:spcPts val="0"/>
              </a:spcAft>
              <a:buClr>
                <a:schemeClr val="accent1"/>
              </a:buClr>
              <a:buSzPts val="1800"/>
              <a:buFont typeface="Noto Sans Symbols"/>
              <a:buChar char="⚫"/>
            </a:pPr>
            <a:r>
              <a:rPr lang="en" sz="1800">
                <a:solidFill>
                  <a:schemeClr val="dk1"/>
                </a:solidFill>
                <a:latin typeface="Constantia"/>
                <a:ea typeface="Constantia"/>
                <a:cs typeface="Constantia"/>
                <a:sym typeface="Constantia"/>
              </a:rPr>
              <a:t>A mathematical model, together with various operations defined on the model</a:t>
            </a:r>
            <a:r>
              <a:rPr lang="en" sz="1800" b="0" i="0" u="none" strike="noStrike" cap="none">
                <a:solidFill>
                  <a:schemeClr val="dk1"/>
                </a:solidFill>
                <a:latin typeface="Constantia"/>
                <a:ea typeface="Constantia"/>
                <a:cs typeface="Constantia"/>
                <a:sym typeface="Constantia"/>
              </a:rPr>
              <a:t> and associated operations for manipulating that data</a:t>
            </a:r>
            <a:endParaRPr sz="1800"/>
          </a:p>
          <a:p>
            <a:pPr marL="273050" marR="0" lvl="0" indent="-128270" algn="l" rtl="0">
              <a:lnSpc>
                <a:spcPct val="100000"/>
              </a:lnSpc>
              <a:spcBef>
                <a:spcPts val="480"/>
              </a:spcBef>
              <a:spcAft>
                <a:spcPts val="0"/>
              </a:spcAft>
              <a:buClr>
                <a:srgbClr val="0BD0D9"/>
              </a:buClr>
              <a:buSzPts val="2280"/>
              <a:buFont typeface="Noto Sans Symbols"/>
              <a:buNone/>
            </a:pPr>
            <a:endParaRPr b="0" i="0" u="none">
              <a:solidFill>
                <a:schemeClr val="dk1"/>
              </a:solidFill>
              <a:latin typeface="Constantia"/>
              <a:ea typeface="Constantia"/>
              <a:cs typeface="Constantia"/>
              <a:sym typeface="Constantia"/>
            </a:endParaRPr>
          </a:p>
          <a:p>
            <a:pPr marL="273050" marR="0" lvl="0" indent="-242570" algn="l" rtl="0">
              <a:lnSpc>
                <a:spcPct val="80000"/>
              </a:lnSpc>
              <a:spcBef>
                <a:spcPts val="480"/>
              </a:spcBef>
              <a:spcAft>
                <a:spcPts val="0"/>
              </a:spcAft>
              <a:buClr>
                <a:srgbClr val="0BD0D9"/>
              </a:buClr>
              <a:buSzPts val="1800"/>
              <a:buFont typeface="Noto Sans Symbols"/>
              <a:buChar char="⚫"/>
            </a:pPr>
            <a:r>
              <a:rPr lang="en" b="0" i="0" u="none">
                <a:solidFill>
                  <a:schemeClr val="dk1"/>
                </a:solidFill>
                <a:latin typeface="Constantia"/>
                <a:ea typeface="Constantia"/>
                <a:cs typeface="Constantia"/>
                <a:sym typeface="Constantia"/>
              </a:rPr>
              <a:t>Data Structures</a:t>
            </a:r>
            <a:endParaRPr/>
          </a:p>
          <a:p>
            <a:pPr marL="639762" marR="0" lvl="1" indent="-252412" algn="l" rtl="0">
              <a:lnSpc>
                <a:spcPct val="80000"/>
              </a:lnSpc>
              <a:spcBef>
                <a:spcPts val="400"/>
              </a:spcBef>
              <a:spcAft>
                <a:spcPts val="0"/>
              </a:spcAft>
              <a:buClr>
                <a:schemeClr val="accent1"/>
              </a:buClr>
              <a:buSzPts val="1800"/>
              <a:buFont typeface="Noto Sans Symbols"/>
              <a:buChar char="⚫"/>
            </a:pPr>
            <a:r>
              <a:rPr lang="en" sz="1800" b="0" i="0" u="none" strike="noStrike" cap="none">
                <a:solidFill>
                  <a:schemeClr val="dk1"/>
                </a:solidFill>
                <a:latin typeface="Constantia"/>
                <a:ea typeface="Constantia"/>
                <a:cs typeface="Constantia"/>
                <a:sym typeface="Constantia"/>
              </a:rPr>
              <a:t>Physical implementation of an ADT</a:t>
            </a:r>
            <a:endParaRPr sz="1800"/>
          </a:p>
          <a:p>
            <a:pPr marL="639762" marR="0" lvl="1" indent="-252412" algn="l" rtl="0">
              <a:lnSpc>
                <a:spcPct val="80000"/>
              </a:lnSpc>
              <a:spcBef>
                <a:spcPts val="400"/>
              </a:spcBef>
              <a:spcAft>
                <a:spcPts val="0"/>
              </a:spcAft>
              <a:buClr>
                <a:schemeClr val="accent1"/>
              </a:buClr>
              <a:buSzPts val="1800"/>
              <a:buFont typeface="Noto Sans Symbols"/>
              <a:buChar char="⚫"/>
            </a:pPr>
            <a:r>
              <a:rPr lang="en" sz="1800" b="0" i="0" u="none" strike="noStrike" cap="none">
                <a:solidFill>
                  <a:schemeClr val="dk1"/>
                </a:solidFill>
                <a:latin typeface="Constantia"/>
                <a:ea typeface="Constantia"/>
                <a:cs typeface="Constantia"/>
                <a:sym typeface="Constantia"/>
              </a:rPr>
              <a:t>data structures used in implementations are provided in a language </a:t>
            </a:r>
            <a:r>
              <a:rPr lang="en" sz="1800" b="0" i="1" u="none" strike="noStrike" cap="none">
                <a:solidFill>
                  <a:schemeClr val="dk1"/>
                </a:solidFill>
                <a:latin typeface="Times New Roman"/>
                <a:ea typeface="Times New Roman"/>
                <a:cs typeface="Times New Roman"/>
                <a:sym typeface="Times New Roman"/>
              </a:rPr>
              <a:t>(primitive </a:t>
            </a:r>
            <a:r>
              <a:rPr lang="en" sz="1800" b="0" i="0" u="none" strike="noStrike" cap="none">
                <a:solidFill>
                  <a:schemeClr val="dk1"/>
                </a:solidFill>
                <a:latin typeface="Times New Roman"/>
                <a:ea typeface="Times New Roman"/>
                <a:cs typeface="Times New Roman"/>
                <a:sym typeface="Times New Roman"/>
              </a:rPr>
              <a:t>or</a:t>
            </a:r>
            <a:r>
              <a:rPr lang="en" sz="1800" b="0" i="1" u="none" strike="noStrike" cap="none">
                <a:solidFill>
                  <a:schemeClr val="dk1"/>
                </a:solidFill>
                <a:latin typeface="Times New Roman"/>
                <a:ea typeface="Times New Roman"/>
                <a:cs typeface="Times New Roman"/>
                <a:sym typeface="Times New Roman"/>
              </a:rPr>
              <a:t> built-in)</a:t>
            </a:r>
            <a:r>
              <a:rPr lang="en" sz="1800" b="0" i="0" u="none" strike="noStrike" cap="none">
                <a:solidFill>
                  <a:schemeClr val="dk1"/>
                </a:solidFill>
                <a:latin typeface="Times New Roman"/>
                <a:ea typeface="Times New Roman"/>
                <a:cs typeface="Times New Roman"/>
                <a:sym typeface="Times New Roman"/>
              </a:rPr>
              <a:t> </a:t>
            </a:r>
            <a:r>
              <a:rPr lang="en" sz="1800" b="0" i="0" u="none" strike="noStrike" cap="none">
                <a:solidFill>
                  <a:schemeClr val="dk1"/>
                </a:solidFill>
                <a:latin typeface="Constantia"/>
                <a:ea typeface="Constantia"/>
                <a:cs typeface="Constantia"/>
                <a:sym typeface="Constantia"/>
              </a:rPr>
              <a:t>or are built from the language constructs </a:t>
            </a:r>
            <a:r>
              <a:rPr lang="en" sz="1800" b="0" i="1" u="none" strike="noStrike" cap="none">
                <a:solidFill>
                  <a:schemeClr val="dk1"/>
                </a:solidFill>
                <a:latin typeface="Times New Roman"/>
                <a:ea typeface="Times New Roman"/>
                <a:cs typeface="Times New Roman"/>
                <a:sym typeface="Times New Roman"/>
              </a:rPr>
              <a:t>(user-defined)</a:t>
            </a:r>
            <a:endParaRPr sz="1800"/>
          </a:p>
          <a:p>
            <a:pPr marL="639762" marR="0" lvl="1" indent="-252412" algn="l" rtl="0">
              <a:lnSpc>
                <a:spcPct val="80000"/>
              </a:lnSpc>
              <a:spcBef>
                <a:spcPts val="400"/>
              </a:spcBef>
              <a:spcAft>
                <a:spcPts val="0"/>
              </a:spcAft>
              <a:buClr>
                <a:schemeClr val="accent1"/>
              </a:buClr>
              <a:buSzPts val="1800"/>
              <a:buFont typeface="Noto Sans Symbols"/>
              <a:buChar char="⚫"/>
            </a:pPr>
            <a:r>
              <a:rPr lang="en" sz="1800" b="0" i="0" u="none" strike="noStrike" cap="none">
                <a:solidFill>
                  <a:schemeClr val="dk1"/>
                </a:solidFill>
                <a:latin typeface="Helvetica Neue"/>
                <a:ea typeface="Helvetica Neue"/>
                <a:cs typeface="Helvetica Neue"/>
                <a:sym typeface="Helvetica Neue"/>
              </a:rPr>
              <a:t>Each operation associated with the ADT is implemented by one or more subroutines in the implementation</a:t>
            </a:r>
            <a:endParaRPr sz="1800"/>
          </a:p>
          <a:p>
            <a:pPr marL="273050" marR="0" lvl="0" indent="-128270" algn="l" rtl="0">
              <a:lnSpc>
                <a:spcPct val="100000"/>
              </a:lnSpc>
              <a:spcBef>
                <a:spcPts val="480"/>
              </a:spcBef>
              <a:spcAft>
                <a:spcPts val="0"/>
              </a:spcAft>
              <a:buClr>
                <a:srgbClr val="0BD0D9"/>
              </a:buClr>
              <a:buSzPts val="2280"/>
              <a:buFont typeface="Noto Sans Symbols"/>
              <a:buNone/>
            </a:pPr>
            <a:endParaRPr b="0" i="0" u="none">
              <a:solidFill>
                <a:schemeClr val="dk1"/>
              </a:solidFill>
              <a:latin typeface="Constantia"/>
              <a:ea typeface="Constantia"/>
              <a:cs typeface="Constantia"/>
              <a:sym typeface="Constantia"/>
            </a:endParaRPr>
          </a:p>
          <a:p>
            <a:pPr marL="274320" marR="0" lvl="0" indent="-129540" algn="l" rtl="0">
              <a:spcBef>
                <a:spcPts val="480"/>
              </a:spcBef>
              <a:spcAft>
                <a:spcPts val="1200"/>
              </a:spcAft>
              <a:buClr>
                <a:schemeClr val="accent3"/>
              </a:buClr>
              <a:buSzPts val="2280"/>
              <a:buFont typeface="Noto Sans Symbols"/>
              <a:buNone/>
            </a:pPr>
            <a:endParaRPr sz="2400" b="0" i="0" u="none">
              <a:solidFill>
                <a:schemeClr val="dk1"/>
              </a:solidFill>
              <a:latin typeface="Constantia"/>
              <a:ea typeface="Constantia"/>
              <a:cs typeface="Constantia"/>
              <a:sym typeface="Constant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5"/>
          <p:cNvSpPr txBox="1">
            <a:spLocks noGrp="1"/>
          </p:cNvSpPr>
          <p:nvPr>
            <p:ph type="title"/>
          </p:nvPr>
        </p:nvSpPr>
        <p:spPr>
          <a:xfrm>
            <a:off x="457200" y="528638"/>
            <a:ext cx="8229600" cy="857250"/>
          </a:xfrm>
          <a:prstGeom prst="rect">
            <a:avLst/>
          </a:prstGeom>
          <a:noFill/>
          <a:ln>
            <a:noFill/>
          </a:ln>
        </p:spPr>
        <p:txBody>
          <a:bodyPr spcFirstLastPara="1" wrap="square" lIns="0" tIns="45700" rIns="0" bIns="0" anchor="b" anchorCtr="0">
            <a:noAutofit/>
          </a:bodyPr>
          <a:lstStyle/>
          <a:p>
            <a:pPr marL="0" lvl="0" indent="0" algn="l" rtl="0">
              <a:lnSpc>
                <a:spcPct val="100000"/>
              </a:lnSpc>
              <a:spcBef>
                <a:spcPts val="0"/>
              </a:spcBef>
              <a:spcAft>
                <a:spcPts val="0"/>
              </a:spcAft>
              <a:buClr>
                <a:schemeClr val="dk2"/>
              </a:buClr>
              <a:buSzPts val="5000"/>
              <a:buFont typeface="Calibri"/>
              <a:buNone/>
            </a:pPr>
            <a:r>
              <a:rPr lang="en" sz="5000" b="0" i="0" u="none">
                <a:solidFill>
                  <a:schemeClr val="dk2"/>
                </a:solidFill>
                <a:latin typeface="Calibri"/>
                <a:ea typeface="Calibri"/>
                <a:cs typeface="Calibri"/>
                <a:sym typeface="Calibri"/>
              </a:rPr>
              <a:t>Type of Data Structures</a:t>
            </a:r>
            <a:endParaRPr/>
          </a:p>
        </p:txBody>
      </p:sp>
      <p:sp>
        <p:nvSpPr>
          <p:cNvPr id="223" name="Google Shape;223;p25"/>
          <p:cNvSpPr txBox="1">
            <a:spLocks noGrp="1"/>
          </p:cNvSpPr>
          <p:nvPr>
            <p:ph type="body" idx="1"/>
          </p:nvPr>
        </p:nvSpPr>
        <p:spPr>
          <a:xfrm>
            <a:off x="457200" y="1451371"/>
            <a:ext cx="8229600" cy="3292078"/>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BD0D9"/>
              </a:buClr>
              <a:buSzPts val="2280"/>
              <a:buFont typeface="Noto Sans Symbols"/>
              <a:buChar char="⚫"/>
            </a:pPr>
            <a:r>
              <a:rPr lang="en" sz="2400" b="0" i="0" u="none">
                <a:solidFill>
                  <a:schemeClr val="dk1"/>
                </a:solidFill>
                <a:latin typeface="Constantia"/>
                <a:ea typeface="Constantia"/>
                <a:cs typeface="Constantia"/>
                <a:sym typeface="Constantia"/>
              </a:rPr>
              <a:t>Homogenous: In this type of data structures, values of the same types of data are stored.</a:t>
            </a:r>
            <a:endParaRPr/>
          </a:p>
          <a:p>
            <a:pPr marL="639762" marR="0" lvl="1" indent="-246062" algn="l" rtl="0">
              <a:lnSpc>
                <a:spcPct val="100000"/>
              </a:lnSpc>
              <a:spcBef>
                <a:spcPts val="480"/>
              </a:spcBef>
              <a:spcAft>
                <a:spcPts val="0"/>
              </a:spcAft>
              <a:buClr>
                <a:schemeClr val="accent1"/>
              </a:buClr>
              <a:buSzPts val="2040"/>
              <a:buFont typeface="Noto Sans Symbols"/>
              <a:buChar char="⚫"/>
            </a:pPr>
            <a:r>
              <a:rPr lang="en" sz="2400" b="0" i="0" u="none" strike="noStrike" cap="none">
                <a:solidFill>
                  <a:schemeClr val="dk1"/>
                </a:solidFill>
                <a:latin typeface="Constantia"/>
                <a:ea typeface="Constantia"/>
                <a:cs typeface="Constantia"/>
                <a:sym typeface="Constantia"/>
              </a:rPr>
              <a:t>Array </a:t>
            </a:r>
            <a:endParaRPr/>
          </a:p>
          <a:p>
            <a:pPr marL="273050" marR="0" lvl="0" indent="-128270" algn="l" rtl="0">
              <a:lnSpc>
                <a:spcPct val="100000"/>
              </a:lnSpc>
              <a:spcBef>
                <a:spcPts val="480"/>
              </a:spcBef>
              <a:spcAft>
                <a:spcPts val="0"/>
              </a:spcAft>
              <a:buClr>
                <a:srgbClr val="0BD0D9"/>
              </a:buClr>
              <a:buSzPts val="2280"/>
              <a:buFont typeface="Noto Sans Symbols"/>
              <a:buNone/>
            </a:pPr>
            <a:endParaRPr sz="2400" b="0" i="0" u="none">
              <a:solidFill>
                <a:schemeClr val="dk1"/>
              </a:solidFill>
              <a:latin typeface="Constantia"/>
              <a:ea typeface="Constantia"/>
              <a:cs typeface="Constantia"/>
              <a:sym typeface="Constantia"/>
            </a:endParaRPr>
          </a:p>
          <a:p>
            <a:pPr marL="273050" marR="0" lvl="0" indent="-273050" algn="l" rtl="0">
              <a:lnSpc>
                <a:spcPct val="100000"/>
              </a:lnSpc>
              <a:spcBef>
                <a:spcPts val="480"/>
              </a:spcBef>
              <a:spcAft>
                <a:spcPts val="0"/>
              </a:spcAft>
              <a:buClr>
                <a:srgbClr val="0BD0D9"/>
              </a:buClr>
              <a:buSzPts val="2280"/>
              <a:buFont typeface="Noto Sans Symbols"/>
              <a:buChar char="⚫"/>
            </a:pPr>
            <a:r>
              <a:rPr lang="en" sz="2400" b="0" i="0" u="none">
                <a:solidFill>
                  <a:schemeClr val="dk1"/>
                </a:solidFill>
                <a:latin typeface="Constantia"/>
                <a:ea typeface="Constantia"/>
                <a:cs typeface="Constantia"/>
                <a:sym typeface="Constantia"/>
              </a:rPr>
              <a:t>Non-Homogenous: In this type of data structures, data values of different types are grouped and stored.</a:t>
            </a:r>
            <a:endParaRPr/>
          </a:p>
          <a:p>
            <a:pPr marL="639762" marR="0" lvl="1" indent="-246062" algn="l" rtl="0">
              <a:lnSpc>
                <a:spcPct val="100000"/>
              </a:lnSpc>
              <a:spcBef>
                <a:spcPts val="480"/>
              </a:spcBef>
              <a:spcAft>
                <a:spcPts val="0"/>
              </a:spcAft>
              <a:buClr>
                <a:schemeClr val="accent1"/>
              </a:buClr>
              <a:buSzPts val="2040"/>
              <a:buFont typeface="Noto Sans Symbols"/>
              <a:buChar char="⚫"/>
            </a:pPr>
            <a:r>
              <a:rPr lang="en" sz="2400" b="0" i="0" u="none" strike="noStrike" cap="none">
                <a:solidFill>
                  <a:schemeClr val="dk1"/>
                </a:solidFill>
                <a:latin typeface="Constantia"/>
                <a:ea typeface="Constantia"/>
                <a:cs typeface="Constantia"/>
                <a:sym typeface="Constantia"/>
              </a:rPr>
              <a:t>Structures</a:t>
            </a:r>
            <a:endParaRPr/>
          </a:p>
          <a:p>
            <a:pPr marL="639762" marR="0" lvl="1" indent="-246062" algn="l" rtl="0">
              <a:lnSpc>
                <a:spcPct val="100000"/>
              </a:lnSpc>
              <a:spcBef>
                <a:spcPts val="480"/>
              </a:spcBef>
              <a:spcAft>
                <a:spcPts val="0"/>
              </a:spcAft>
              <a:buClr>
                <a:schemeClr val="accent1"/>
              </a:buClr>
              <a:buSzPts val="2040"/>
              <a:buFont typeface="Noto Sans Symbols"/>
              <a:buChar char="⚫"/>
            </a:pPr>
            <a:r>
              <a:rPr lang="en" sz="2400" b="0" i="0" u="none" strike="noStrike" cap="none">
                <a:solidFill>
                  <a:schemeClr val="dk1"/>
                </a:solidFill>
                <a:latin typeface="Constantia"/>
                <a:ea typeface="Constantia"/>
                <a:cs typeface="Constantia"/>
                <a:sym typeface="Constantia"/>
              </a:rPr>
              <a:t>Classes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6"/>
          <p:cNvSpPr txBox="1">
            <a:spLocks noGrp="1"/>
          </p:cNvSpPr>
          <p:nvPr>
            <p:ph type="title"/>
          </p:nvPr>
        </p:nvSpPr>
        <p:spPr>
          <a:xfrm>
            <a:off x="457200" y="528638"/>
            <a:ext cx="8229600" cy="857250"/>
          </a:xfrm>
          <a:prstGeom prst="rect">
            <a:avLst/>
          </a:prstGeom>
          <a:noFill/>
          <a:ln>
            <a:noFill/>
          </a:ln>
        </p:spPr>
        <p:txBody>
          <a:bodyPr spcFirstLastPara="1" wrap="square" lIns="0" tIns="45700" rIns="0" bIns="0" anchor="b" anchorCtr="0">
            <a:noAutofit/>
          </a:bodyPr>
          <a:lstStyle/>
          <a:p>
            <a:pPr marL="0" lvl="0" indent="0" algn="l" rtl="0">
              <a:lnSpc>
                <a:spcPct val="100000"/>
              </a:lnSpc>
              <a:spcBef>
                <a:spcPts val="0"/>
              </a:spcBef>
              <a:spcAft>
                <a:spcPts val="0"/>
              </a:spcAft>
              <a:buClr>
                <a:schemeClr val="dk2"/>
              </a:buClr>
              <a:buSzPts val="5000"/>
              <a:buFont typeface="Calibri"/>
              <a:buNone/>
            </a:pPr>
            <a:r>
              <a:rPr lang="en" sz="5000" b="0" i="0" u="none">
                <a:solidFill>
                  <a:schemeClr val="dk2"/>
                </a:solidFill>
                <a:latin typeface="Calibri"/>
                <a:ea typeface="Calibri"/>
                <a:cs typeface="Calibri"/>
                <a:sym typeface="Calibri"/>
              </a:rPr>
              <a:t>Selection of Data Structure</a:t>
            </a:r>
            <a:endParaRPr/>
          </a:p>
        </p:txBody>
      </p:sp>
      <p:sp>
        <p:nvSpPr>
          <p:cNvPr id="229" name="Google Shape;229;p26"/>
          <p:cNvSpPr txBox="1">
            <a:spLocks noGrp="1"/>
          </p:cNvSpPr>
          <p:nvPr>
            <p:ph type="body" idx="1"/>
          </p:nvPr>
        </p:nvSpPr>
        <p:spPr>
          <a:xfrm>
            <a:off x="457200" y="1451371"/>
            <a:ext cx="8229600" cy="3292078"/>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BD0D9"/>
              </a:buClr>
              <a:buSzPts val="2660"/>
              <a:buFont typeface="Noto Sans Symbols"/>
              <a:buChar char="⚫"/>
            </a:pPr>
            <a:r>
              <a:rPr lang="en" sz="2800" b="0" i="0" u="none">
                <a:solidFill>
                  <a:schemeClr val="dk1"/>
                </a:solidFill>
                <a:latin typeface="Constantia"/>
                <a:ea typeface="Constantia"/>
                <a:cs typeface="Constantia"/>
                <a:sym typeface="Constantia"/>
              </a:rPr>
              <a:t>The choice of particular data model depends on two consideration:</a:t>
            </a:r>
            <a:endParaRPr/>
          </a:p>
          <a:p>
            <a:pPr marL="639762" marR="0" lvl="1" indent="-246061" algn="l" rtl="0">
              <a:lnSpc>
                <a:spcPct val="100000"/>
              </a:lnSpc>
              <a:spcBef>
                <a:spcPts val="460"/>
              </a:spcBef>
              <a:spcAft>
                <a:spcPts val="0"/>
              </a:spcAft>
              <a:buClr>
                <a:schemeClr val="accent1"/>
              </a:buClr>
              <a:buSzPts val="1955"/>
              <a:buFont typeface="Noto Sans Symbols"/>
              <a:buChar char="⚫"/>
            </a:pPr>
            <a:r>
              <a:rPr lang="en" sz="2300" b="0" i="0" u="none" strike="noStrike" cap="none">
                <a:solidFill>
                  <a:schemeClr val="dk1"/>
                </a:solidFill>
                <a:latin typeface="Constantia"/>
                <a:ea typeface="Constantia"/>
                <a:cs typeface="Constantia"/>
                <a:sym typeface="Constantia"/>
              </a:rPr>
              <a:t>It must be rich enough in structure to represent the relationship between data elements </a:t>
            </a:r>
            <a:endParaRPr/>
          </a:p>
          <a:p>
            <a:pPr marL="639762" marR="0" lvl="1" indent="-246061" algn="l" rtl="0">
              <a:lnSpc>
                <a:spcPct val="100000"/>
              </a:lnSpc>
              <a:spcBef>
                <a:spcPts val="460"/>
              </a:spcBef>
              <a:spcAft>
                <a:spcPts val="0"/>
              </a:spcAft>
              <a:buClr>
                <a:schemeClr val="accent1"/>
              </a:buClr>
              <a:buSzPts val="1955"/>
              <a:buFont typeface="Noto Sans Symbols"/>
              <a:buChar char="⚫"/>
            </a:pPr>
            <a:r>
              <a:rPr lang="en" sz="2300" b="0" i="0" u="none" strike="noStrike" cap="none">
                <a:solidFill>
                  <a:schemeClr val="dk1"/>
                </a:solidFill>
                <a:latin typeface="Constantia"/>
                <a:ea typeface="Constantia"/>
                <a:cs typeface="Constantia"/>
                <a:sym typeface="Constantia"/>
              </a:rPr>
              <a:t>The structure should be simple enough that one can effectively process the data when necessary</a:t>
            </a:r>
            <a:endParaRPr/>
          </a:p>
          <a:p>
            <a:pPr marL="274320" marR="0" lvl="0" indent="-135572" algn="l" rtl="0">
              <a:spcBef>
                <a:spcPts val="460"/>
              </a:spcBef>
              <a:spcAft>
                <a:spcPts val="1200"/>
              </a:spcAft>
              <a:buClr>
                <a:schemeClr val="accent3"/>
              </a:buClr>
              <a:buSzPts val="2185"/>
              <a:buFont typeface="Noto Sans Symbols"/>
              <a:buNone/>
            </a:pPr>
            <a:endParaRPr sz="2300" b="0" i="0" u="none" strike="noStrike" cap="none">
              <a:solidFill>
                <a:schemeClr val="dk1"/>
              </a:solidFill>
              <a:latin typeface="Constantia"/>
              <a:ea typeface="Constantia"/>
              <a:cs typeface="Constantia"/>
              <a:sym typeface="Constant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7"/>
          <p:cNvSpPr txBox="1">
            <a:spLocks noGrp="1"/>
          </p:cNvSpPr>
          <p:nvPr>
            <p:ph type="title"/>
          </p:nvPr>
        </p:nvSpPr>
        <p:spPr>
          <a:xfrm>
            <a:off x="457200" y="528638"/>
            <a:ext cx="8229600" cy="857250"/>
          </a:xfrm>
          <a:prstGeom prst="rect">
            <a:avLst/>
          </a:prstGeom>
          <a:noFill/>
          <a:ln>
            <a:noFill/>
          </a:ln>
        </p:spPr>
        <p:txBody>
          <a:bodyPr spcFirstLastPara="1" wrap="square" lIns="0" tIns="45700" rIns="0" bIns="0" anchor="b" anchorCtr="0">
            <a:noAutofit/>
          </a:bodyPr>
          <a:lstStyle/>
          <a:p>
            <a:pPr marL="0" lvl="0" indent="0" algn="l" rtl="0">
              <a:lnSpc>
                <a:spcPct val="100000"/>
              </a:lnSpc>
              <a:spcBef>
                <a:spcPts val="0"/>
              </a:spcBef>
              <a:spcAft>
                <a:spcPts val="0"/>
              </a:spcAft>
              <a:buClr>
                <a:schemeClr val="dk2"/>
              </a:buClr>
              <a:buSzPts val="5000"/>
              <a:buFont typeface="Calibri"/>
              <a:buNone/>
            </a:pPr>
            <a:r>
              <a:rPr lang="en" sz="5000" b="0" i="0" u="none">
                <a:solidFill>
                  <a:schemeClr val="dk2"/>
                </a:solidFill>
                <a:latin typeface="Calibri"/>
                <a:ea typeface="Calibri"/>
                <a:cs typeface="Calibri"/>
                <a:sym typeface="Calibri"/>
              </a:rPr>
              <a:t>Abstract Data Type</a:t>
            </a:r>
            <a:endParaRPr/>
          </a:p>
        </p:txBody>
      </p:sp>
      <p:sp>
        <p:nvSpPr>
          <p:cNvPr id="235" name="Google Shape;235;p27"/>
          <p:cNvSpPr txBox="1">
            <a:spLocks noGrp="1"/>
          </p:cNvSpPr>
          <p:nvPr>
            <p:ph type="body" idx="1"/>
          </p:nvPr>
        </p:nvSpPr>
        <p:spPr>
          <a:xfrm>
            <a:off x="457200" y="1451371"/>
            <a:ext cx="8229600" cy="3292078"/>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BD0D9"/>
              </a:buClr>
              <a:buSzPts val="2280"/>
              <a:buFont typeface="Noto Sans Symbols"/>
              <a:buChar char="⚫"/>
            </a:pPr>
            <a:r>
              <a:rPr lang="en" sz="2400" b="0" i="0" u="none">
                <a:solidFill>
                  <a:schemeClr val="dk1"/>
                </a:solidFill>
                <a:latin typeface="Constantia"/>
                <a:ea typeface="Constantia"/>
                <a:cs typeface="Constantia"/>
                <a:sym typeface="Constantia"/>
              </a:rPr>
              <a:t>ADTs support </a:t>
            </a:r>
            <a:r>
              <a:rPr lang="en" sz="2400" b="0" i="1" u="none">
                <a:solidFill>
                  <a:schemeClr val="dk1"/>
                </a:solidFill>
                <a:latin typeface="Constantia"/>
                <a:ea typeface="Constantia"/>
                <a:cs typeface="Constantia"/>
                <a:sym typeface="Constantia"/>
              </a:rPr>
              <a:t>abstraction</a:t>
            </a:r>
            <a:r>
              <a:rPr lang="en" sz="2400" b="0" i="0" u="none">
                <a:solidFill>
                  <a:schemeClr val="dk1"/>
                </a:solidFill>
                <a:latin typeface="Constantia"/>
                <a:ea typeface="Constantia"/>
                <a:cs typeface="Constantia"/>
                <a:sym typeface="Constantia"/>
              </a:rPr>
              <a:t>, </a:t>
            </a:r>
            <a:r>
              <a:rPr lang="en" sz="2400" b="0" i="1" u="none">
                <a:solidFill>
                  <a:schemeClr val="dk1"/>
                </a:solidFill>
                <a:latin typeface="Constantia"/>
                <a:ea typeface="Constantia"/>
                <a:cs typeface="Constantia"/>
                <a:sym typeface="Constantia"/>
              </a:rPr>
              <a:t>encapsulation</a:t>
            </a:r>
            <a:r>
              <a:rPr lang="en" sz="2400" b="0" i="0" u="none">
                <a:solidFill>
                  <a:schemeClr val="dk1"/>
                </a:solidFill>
                <a:latin typeface="Constantia"/>
                <a:ea typeface="Constantia"/>
                <a:cs typeface="Constantia"/>
                <a:sym typeface="Constantia"/>
              </a:rPr>
              <a:t>, and </a:t>
            </a:r>
            <a:r>
              <a:rPr lang="en" sz="2400" b="0" i="1" u="none">
                <a:solidFill>
                  <a:schemeClr val="dk1"/>
                </a:solidFill>
                <a:latin typeface="Constantia"/>
                <a:ea typeface="Constantia"/>
                <a:cs typeface="Constantia"/>
                <a:sym typeface="Constantia"/>
              </a:rPr>
              <a:t>information hiding</a:t>
            </a:r>
            <a:r>
              <a:rPr lang="en" sz="2400" b="0" i="0" u="none">
                <a:solidFill>
                  <a:schemeClr val="dk1"/>
                </a:solidFill>
                <a:latin typeface="Constantia"/>
                <a:ea typeface="Constantia"/>
                <a:cs typeface="Constantia"/>
                <a:sym typeface="Constantia"/>
              </a:rPr>
              <a:t>.</a:t>
            </a:r>
            <a:endParaRPr/>
          </a:p>
          <a:p>
            <a:pPr marL="273050" marR="0" lvl="0" indent="-128270" algn="l" rtl="0">
              <a:lnSpc>
                <a:spcPct val="100000"/>
              </a:lnSpc>
              <a:spcBef>
                <a:spcPts val="480"/>
              </a:spcBef>
              <a:spcAft>
                <a:spcPts val="0"/>
              </a:spcAft>
              <a:buClr>
                <a:srgbClr val="0BD0D9"/>
              </a:buClr>
              <a:buSzPts val="2280"/>
              <a:buFont typeface="Noto Sans Symbols"/>
              <a:buNone/>
            </a:pPr>
            <a:endParaRPr sz="2400" b="0" i="0" u="none">
              <a:solidFill>
                <a:schemeClr val="dk1"/>
              </a:solidFill>
              <a:latin typeface="Constantia"/>
              <a:ea typeface="Constantia"/>
              <a:cs typeface="Constantia"/>
              <a:sym typeface="Constantia"/>
            </a:endParaRPr>
          </a:p>
          <a:p>
            <a:pPr marL="273050" marR="0" lvl="0" indent="-273050" algn="l" rtl="0">
              <a:lnSpc>
                <a:spcPct val="100000"/>
              </a:lnSpc>
              <a:spcBef>
                <a:spcPts val="480"/>
              </a:spcBef>
              <a:spcAft>
                <a:spcPts val="0"/>
              </a:spcAft>
              <a:buClr>
                <a:srgbClr val="0BD0D9"/>
              </a:buClr>
              <a:buSzPts val="2280"/>
              <a:buFont typeface="Noto Sans Symbols"/>
              <a:buChar char="⚫"/>
            </a:pPr>
            <a:r>
              <a:rPr lang="en" sz="2400" b="0" i="1" u="none">
                <a:solidFill>
                  <a:schemeClr val="dk1"/>
                </a:solidFill>
                <a:latin typeface="Constantia"/>
                <a:ea typeface="Constantia"/>
                <a:cs typeface="Constantia"/>
                <a:sym typeface="Constantia"/>
              </a:rPr>
              <a:t>Abstraction</a:t>
            </a:r>
            <a:r>
              <a:rPr lang="en" sz="2400" b="0" i="0" u="none">
                <a:solidFill>
                  <a:schemeClr val="dk1"/>
                </a:solidFill>
                <a:latin typeface="Constantia"/>
                <a:ea typeface="Constantia"/>
                <a:cs typeface="Constantia"/>
                <a:sym typeface="Constantia"/>
              </a:rPr>
              <a:t> is the structuring of a  problem into well-defined entities by defining their data and operations.</a:t>
            </a:r>
            <a:endParaRPr/>
          </a:p>
          <a:p>
            <a:pPr marL="273050" marR="0" lvl="0" indent="-128270" algn="l" rtl="0">
              <a:lnSpc>
                <a:spcPct val="100000"/>
              </a:lnSpc>
              <a:spcBef>
                <a:spcPts val="480"/>
              </a:spcBef>
              <a:spcAft>
                <a:spcPts val="0"/>
              </a:spcAft>
              <a:buClr>
                <a:srgbClr val="0BD0D9"/>
              </a:buClr>
              <a:buSzPts val="2280"/>
              <a:buFont typeface="Noto Sans Symbols"/>
              <a:buNone/>
            </a:pPr>
            <a:endParaRPr sz="2400" b="0" i="0" u="none">
              <a:solidFill>
                <a:schemeClr val="dk1"/>
              </a:solidFill>
              <a:latin typeface="Constantia"/>
              <a:ea typeface="Constantia"/>
              <a:cs typeface="Constantia"/>
              <a:sym typeface="Constantia"/>
            </a:endParaRPr>
          </a:p>
          <a:p>
            <a:pPr marL="273050" marR="0" lvl="0" indent="-273050" algn="l" rtl="0">
              <a:lnSpc>
                <a:spcPct val="100000"/>
              </a:lnSpc>
              <a:spcBef>
                <a:spcPts val="480"/>
              </a:spcBef>
              <a:spcAft>
                <a:spcPts val="0"/>
              </a:spcAft>
              <a:buClr>
                <a:srgbClr val="0BD0D9"/>
              </a:buClr>
              <a:buSzPts val="2280"/>
              <a:buFont typeface="Noto Sans Symbols"/>
              <a:buChar char="⚫"/>
            </a:pPr>
            <a:r>
              <a:rPr lang="en" sz="2400" b="0" i="0" u="none">
                <a:solidFill>
                  <a:schemeClr val="dk1"/>
                </a:solidFill>
                <a:latin typeface="Constantia"/>
                <a:ea typeface="Constantia"/>
                <a:cs typeface="Constantia"/>
                <a:sym typeface="Constantia"/>
              </a:rPr>
              <a:t>The principle of hiding the used data structure and to only provide a well-defined interface is known as </a:t>
            </a:r>
            <a:r>
              <a:rPr lang="en" sz="2400" b="0" i="1" u="none">
                <a:solidFill>
                  <a:schemeClr val="dk1"/>
                </a:solidFill>
                <a:latin typeface="Constantia"/>
                <a:ea typeface="Constantia"/>
                <a:cs typeface="Constantia"/>
                <a:sym typeface="Constantia"/>
              </a:rPr>
              <a:t>encapsulation.</a:t>
            </a:r>
            <a:endParaRPr/>
          </a:p>
          <a:p>
            <a:pPr marL="274320" marR="0" lvl="0" indent="-129540" algn="l" rtl="0">
              <a:spcBef>
                <a:spcPts val="480"/>
              </a:spcBef>
              <a:spcAft>
                <a:spcPts val="1200"/>
              </a:spcAft>
              <a:buClr>
                <a:schemeClr val="accent3"/>
              </a:buClr>
              <a:buSzPts val="2280"/>
              <a:buFont typeface="Noto Sans Symbols"/>
              <a:buNone/>
            </a:pPr>
            <a:endParaRPr sz="2400" b="0" i="1" u="none">
              <a:solidFill>
                <a:schemeClr val="dk1"/>
              </a:solidFill>
              <a:latin typeface="Constantia"/>
              <a:ea typeface="Constantia"/>
              <a:cs typeface="Constantia"/>
              <a:sym typeface="Constant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8"/>
          <p:cNvSpPr txBox="1">
            <a:spLocks noGrp="1"/>
          </p:cNvSpPr>
          <p:nvPr>
            <p:ph type="title"/>
          </p:nvPr>
        </p:nvSpPr>
        <p:spPr>
          <a:xfrm>
            <a:off x="457200" y="528638"/>
            <a:ext cx="8229600" cy="857250"/>
          </a:xfrm>
          <a:prstGeom prst="rect">
            <a:avLst/>
          </a:prstGeom>
          <a:noFill/>
          <a:ln>
            <a:noFill/>
          </a:ln>
        </p:spPr>
        <p:txBody>
          <a:bodyPr spcFirstLastPara="1" wrap="square" lIns="0" tIns="45700" rIns="0" bIns="0" anchor="b" anchorCtr="0">
            <a:noAutofit/>
          </a:bodyPr>
          <a:lstStyle/>
          <a:p>
            <a:pPr marL="0" lvl="0" indent="0" algn="l" rtl="0">
              <a:lnSpc>
                <a:spcPct val="100000"/>
              </a:lnSpc>
              <a:spcBef>
                <a:spcPts val="0"/>
              </a:spcBef>
              <a:spcAft>
                <a:spcPts val="0"/>
              </a:spcAft>
              <a:buClr>
                <a:schemeClr val="dk2"/>
              </a:buClr>
              <a:buSzPts val="5000"/>
              <a:buFont typeface="Calibri"/>
              <a:buNone/>
            </a:pPr>
            <a:r>
              <a:rPr lang="en" sz="5000" b="0" i="0" u="none">
                <a:solidFill>
                  <a:schemeClr val="dk2"/>
                </a:solidFill>
                <a:latin typeface="Calibri"/>
                <a:ea typeface="Calibri"/>
                <a:cs typeface="Calibri"/>
                <a:sym typeface="Calibri"/>
              </a:rPr>
              <a:t>The Core Operations of ADT</a:t>
            </a:r>
            <a:endParaRPr/>
          </a:p>
        </p:txBody>
      </p:sp>
      <p:sp>
        <p:nvSpPr>
          <p:cNvPr id="241" name="Google Shape;241;p28"/>
          <p:cNvSpPr txBox="1">
            <a:spLocks noGrp="1"/>
          </p:cNvSpPr>
          <p:nvPr>
            <p:ph type="body" idx="1"/>
          </p:nvPr>
        </p:nvSpPr>
        <p:spPr>
          <a:xfrm>
            <a:off x="457200" y="1451371"/>
            <a:ext cx="8229600" cy="3292078"/>
          </a:xfrm>
          <a:prstGeom prst="rect">
            <a:avLst/>
          </a:prstGeom>
          <a:noFill/>
          <a:ln>
            <a:noFill/>
          </a:ln>
        </p:spPr>
        <p:txBody>
          <a:bodyPr spcFirstLastPara="1" wrap="square" lIns="91425" tIns="45700" rIns="91425" bIns="45700" anchor="t" anchorCtr="0">
            <a:noAutofit/>
          </a:bodyPr>
          <a:lstStyle/>
          <a:p>
            <a:pPr marL="273050" marR="0" lvl="0" indent="-234950" algn="l" rtl="0">
              <a:lnSpc>
                <a:spcPct val="100000"/>
              </a:lnSpc>
              <a:spcBef>
                <a:spcPts val="0"/>
              </a:spcBef>
              <a:spcAft>
                <a:spcPts val="0"/>
              </a:spcAft>
              <a:buClr>
                <a:srgbClr val="0BD0D9"/>
              </a:buClr>
              <a:buSzPts val="2060"/>
              <a:buFont typeface="Noto Sans Symbols"/>
              <a:buChar char="⚫"/>
            </a:pPr>
            <a:r>
              <a:rPr lang="en" sz="2200" b="0" i="0" u="none">
                <a:solidFill>
                  <a:schemeClr val="dk1"/>
                </a:solidFill>
                <a:latin typeface="Constantia"/>
                <a:ea typeface="Constantia"/>
                <a:cs typeface="Constantia"/>
                <a:sym typeface="Constantia"/>
              </a:rPr>
              <a:t>Every Collection ADT should provide a way to:</a:t>
            </a:r>
            <a:endParaRPr sz="1200"/>
          </a:p>
          <a:p>
            <a:pPr marL="639762" marR="0" lvl="1" indent="-207962" algn="l" rtl="0">
              <a:lnSpc>
                <a:spcPct val="100000"/>
              </a:lnSpc>
              <a:spcBef>
                <a:spcPts val="480"/>
              </a:spcBef>
              <a:spcAft>
                <a:spcPts val="0"/>
              </a:spcAft>
              <a:buClr>
                <a:schemeClr val="accent1"/>
              </a:buClr>
              <a:buSzPts val="1440"/>
              <a:buFont typeface="Noto Sans Symbols"/>
              <a:buChar char="⚫"/>
            </a:pPr>
            <a:r>
              <a:rPr lang="en" sz="1800" b="0" i="0" u="none" strike="noStrike" cap="none">
                <a:solidFill>
                  <a:schemeClr val="dk1"/>
                </a:solidFill>
                <a:latin typeface="Constantia"/>
                <a:ea typeface="Constantia"/>
                <a:cs typeface="Constantia"/>
                <a:sym typeface="Constantia"/>
              </a:rPr>
              <a:t>add an item</a:t>
            </a:r>
            <a:endParaRPr sz="800"/>
          </a:p>
          <a:p>
            <a:pPr marL="639762" marR="0" lvl="1" indent="-207962" algn="l" rtl="0">
              <a:lnSpc>
                <a:spcPct val="100000"/>
              </a:lnSpc>
              <a:spcBef>
                <a:spcPts val="480"/>
              </a:spcBef>
              <a:spcAft>
                <a:spcPts val="0"/>
              </a:spcAft>
              <a:buClr>
                <a:schemeClr val="accent1"/>
              </a:buClr>
              <a:buSzPts val="1440"/>
              <a:buFont typeface="Noto Sans Symbols"/>
              <a:buChar char="⚫"/>
            </a:pPr>
            <a:r>
              <a:rPr lang="en" sz="1800" b="0" i="0" u="none" strike="noStrike" cap="none">
                <a:solidFill>
                  <a:schemeClr val="dk1"/>
                </a:solidFill>
                <a:latin typeface="Constantia"/>
                <a:ea typeface="Constantia"/>
                <a:cs typeface="Constantia"/>
                <a:sym typeface="Constantia"/>
              </a:rPr>
              <a:t>remove an item</a:t>
            </a:r>
            <a:endParaRPr sz="800"/>
          </a:p>
          <a:p>
            <a:pPr marL="639762" marR="0" lvl="1" indent="-207962" algn="l" rtl="0">
              <a:lnSpc>
                <a:spcPct val="100000"/>
              </a:lnSpc>
              <a:spcBef>
                <a:spcPts val="480"/>
              </a:spcBef>
              <a:spcAft>
                <a:spcPts val="0"/>
              </a:spcAft>
              <a:buClr>
                <a:schemeClr val="accent1"/>
              </a:buClr>
              <a:buSzPts val="1440"/>
              <a:buFont typeface="Noto Sans Symbols"/>
              <a:buChar char="⚫"/>
            </a:pPr>
            <a:r>
              <a:rPr lang="en" sz="1800" b="0" i="0" u="none" strike="noStrike" cap="none">
                <a:solidFill>
                  <a:schemeClr val="dk1"/>
                </a:solidFill>
                <a:latin typeface="Constantia"/>
                <a:ea typeface="Constantia"/>
                <a:cs typeface="Constantia"/>
                <a:sym typeface="Constantia"/>
              </a:rPr>
              <a:t>find, retrieve, or access an item</a:t>
            </a:r>
            <a:endParaRPr sz="800"/>
          </a:p>
          <a:p>
            <a:pPr marL="639762" marR="0" lvl="1" indent="-116522" algn="l" rtl="0">
              <a:lnSpc>
                <a:spcPct val="100000"/>
              </a:lnSpc>
              <a:spcBef>
                <a:spcPts val="480"/>
              </a:spcBef>
              <a:spcAft>
                <a:spcPts val="0"/>
              </a:spcAft>
              <a:buClr>
                <a:schemeClr val="accent1"/>
              </a:buClr>
              <a:buSzPts val="2040"/>
              <a:buFont typeface="Noto Sans Symbols"/>
              <a:buNone/>
            </a:pPr>
            <a:endParaRPr sz="1800" b="0" i="0" u="none" strike="noStrike" cap="none">
              <a:solidFill>
                <a:schemeClr val="dk1"/>
              </a:solidFill>
              <a:latin typeface="Constantia"/>
              <a:ea typeface="Constantia"/>
              <a:cs typeface="Constantia"/>
              <a:sym typeface="Constantia"/>
            </a:endParaRPr>
          </a:p>
          <a:p>
            <a:pPr marL="273050" marR="0" lvl="0" indent="-234950" algn="l" rtl="0">
              <a:lnSpc>
                <a:spcPct val="100000"/>
              </a:lnSpc>
              <a:spcBef>
                <a:spcPts val="560"/>
              </a:spcBef>
              <a:spcAft>
                <a:spcPts val="0"/>
              </a:spcAft>
              <a:buClr>
                <a:srgbClr val="0BD0D9"/>
              </a:buClr>
              <a:buSzPts val="2060"/>
              <a:buFont typeface="Noto Sans Symbols"/>
              <a:buChar char="⚫"/>
            </a:pPr>
            <a:r>
              <a:rPr lang="en" sz="2200" b="0" i="0" u="none">
                <a:solidFill>
                  <a:schemeClr val="dk1"/>
                </a:solidFill>
                <a:latin typeface="Constantia"/>
                <a:ea typeface="Constantia"/>
                <a:cs typeface="Constantia"/>
                <a:sym typeface="Constantia"/>
              </a:rPr>
              <a:t>Many, many more possibilities</a:t>
            </a:r>
            <a:endParaRPr sz="1200"/>
          </a:p>
          <a:p>
            <a:pPr marL="639762" marR="0" lvl="1" indent="-207962" algn="l" rtl="0">
              <a:lnSpc>
                <a:spcPct val="100000"/>
              </a:lnSpc>
              <a:spcBef>
                <a:spcPts val="480"/>
              </a:spcBef>
              <a:spcAft>
                <a:spcPts val="0"/>
              </a:spcAft>
              <a:buClr>
                <a:schemeClr val="accent1"/>
              </a:buClr>
              <a:buSzPts val="1440"/>
              <a:buFont typeface="Noto Sans Symbols"/>
              <a:buChar char="⚫"/>
            </a:pPr>
            <a:r>
              <a:rPr lang="en" sz="1800" b="0" i="0" u="none" strike="noStrike" cap="none">
                <a:solidFill>
                  <a:schemeClr val="dk1"/>
                </a:solidFill>
                <a:latin typeface="Constantia"/>
                <a:ea typeface="Constantia"/>
                <a:cs typeface="Constantia"/>
                <a:sym typeface="Constantia"/>
              </a:rPr>
              <a:t>is the collection empty</a:t>
            </a:r>
            <a:endParaRPr sz="800"/>
          </a:p>
          <a:p>
            <a:pPr marL="639762" marR="0" lvl="1" indent="-207962" algn="l" rtl="0">
              <a:lnSpc>
                <a:spcPct val="100000"/>
              </a:lnSpc>
              <a:spcBef>
                <a:spcPts val="480"/>
              </a:spcBef>
              <a:spcAft>
                <a:spcPts val="0"/>
              </a:spcAft>
              <a:buClr>
                <a:schemeClr val="accent1"/>
              </a:buClr>
              <a:buSzPts val="1440"/>
              <a:buFont typeface="Noto Sans Symbols"/>
              <a:buChar char="⚫"/>
            </a:pPr>
            <a:r>
              <a:rPr lang="en" sz="1800" b="0" i="0" u="none" strike="noStrike" cap="none">
                <a:solidFill>
                  <a:schemeClr val="dk1"/>
                </a:solidFill>
                <a:latin typeface="Constantia"/>
                <a:ea typeface="Constantia"/>
                <a:cs typeface="Constantia"/>
                <a:sym typeface="Constantia"/>
              </a:rPr>
              <a:t>make the collection empty</a:t>
            </a:r>
            <a:endParaRPr sz="800"/>
          </a:p>
          <a:p>
            <a:pPr marL="639762" marR="0" lvl="1" indent="-207962" algn="l" rtl="0">
              <a:lnSpc>
                <a:spcPct val="100000"/>
              </a:lnSpc>
              <a:spcBef>
                <a:spcPts val="480"/>
              </a:spcBef>
              <a:spcAft>
                <a:spcPts val="0"/>
              </a:spcAft>
              <a:buClr>
                <a:schemeClr val="accent1"/>
              </a:buClr>
              <a:buSzPts val="1440"/>
              <a:buFont typeface="Noto Sans Symbols"/>
              <a:buChar char="⚫"/>
            </a:pPr>
            <a:r>
              <a:rPr lang="en" sz="1800" b="0" i="0" u="none" strike="noStrike" cap="none">
                <a:solidFill>
                  <a:schemeClr val="dk1"/>
                </a:solidFill>
                <a:latin typeface="Constantia"/>
                <a:ea typeface="Constantia"/>
                <a:cs typeface="Constantia"/>
                <a:sym typeface="Constantia"/>
              </a:rPr>
              <a:t>give me a sub set of the collection</a:t>
            </a:r>
            <a:endParaRPr sz="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9"/>
          <p:cNvSpPr txBox="1">
            <a:spLocks noGrp="1"/>
          </p:cNvSpPr>
          <p:nvPr>
            <p:ph type="body" idx="1"/>
          </p:nvPr>
        </p:nvSpPr>
        <p:spPr>
          <a:xfrm>
            <a:off x="457200" y="1451371"/>
            <a:ext cx="8229600" cy="3292078"/>
          </a:xfrm>
          <a:prstGeom prst="rect">
            <a:avLst/>
          </a:prstGeom>
          <a:noFill/>
          <a:ln>
            <a:noFill/>
          </a:ln>
        </p:spPr>
        <p:txBody>
          <a:bodyPr spcFirstLastPara="1" wrap="square" lIns="91425" tIns="45700" rIns="91425" bIns="45700" anchor="t" anchorCtr="0">
            <a:noAutofit/>
          </a:bodyPr>
          <a:lstStyle/>
          <a:p>
            <a:pPr marL="342900" marR="0" lvl="1" indent="-213359" algn="l" rtl="0">
              <a:lnSpc>
                <a:spcPct val="100000"/>
              </a:lnSpc>
              <a:spcBef>
                <a:spcPts val="0"/>
              </a:spcBef>
              <a:spcAft>
                <a:spcPts val="0"/>
              </a:spcAft>
              <a:buClr>
                <a:schemeClr val="accent1"/>
              </a:buClr>
              <a:buSzPts val="2040"/>
              <a:buFont typeface="Noto Sans Symbols"/>
              <a:buNone/>
            </a:pPr>
            <a:endParaRPr sz="2400" b="0" i="0" u="none" strike="noStrike" cap="none" dirty="0">
              <a:solidFill>
                <a:schemeClr val="dk1"/>
              </a:solidFill>
              <a:latin typeface="Constantia"/>
              <a:ea typeface="Constantia"/>
              <a:cs typeface="Constantia"/>
              <a:sym typeface="Constantia"/>
            </a:endParaRPr>
          </a:p>
          <a:p>
            <a:pPr marL="342900" marR="0" lvl="1" indent="-213359" algn="l" rtl="0">
              <a:lnSpc>
                <a:spcPct val="100000"/>
              </a:lnSpc>
              <a:spcBef>
                <a:spcPts val="480"/>
              </a:spcBef>
              <a:spcAft>
                <a:spcPts val="0"/>
              </a:spcAft>
              <a:buClr>
                <a:schemeClr val="accent1"/>
              </a:buClr>
              <a:buSzPts val="2040"/>
              <a:buFont typeface="Noto Sans Symbols"/>
              <a:buNone/>
            </a:pPr>
            <a:endParaRPr sz="2400" b="0" i="0" u="none" strike="noStrike" cap="none" dirty="0">
              <a:solidFill>
                <a:schemeClr val="dk1"/>
              </a:solidFill>
              <a:latin typeface="Constantia"/>
              <a:ea typeface="Constantia"/>
              <a:cs typeface="Constantia"/>
              <a:sym typeface="Constantia"/>
            </a:endParaRPr>
          </a:p>
          <a:p>
            <a:pPr marL="342900" marR="0" lvl="1" indent="-342900" algn="l" rtl="0">
              <a:lnSpc>
                <a:spcPct val="100000"/>
              </a:lnSpc>
              <a:spcBef>
                <a:spcPts val="480"/>
              </a:spcBef>
              <a:spcAft>
                <a:spcPts val="0"/>
              </a:spcAft>
              <a:buClr>
                <a:schemeClr val="accent1"/>
              </a:buClr>
              <a:buSzPts val="2040"/>
              <a:buFont typeface="Noto Sans Symbols"/>
              <a:buChar char="●"/>
            </a:pPr>
            <a:r>
              <a:rPr lang="en" sz="2400" b="0" i="0" u="none" strike="noStrike" cap="none" dirty="0">
                <a:solidFill>
                  <a:schemeClr val="dk1"/>
                </a:solidFill>
                <a:latin typeface="Constantia"/>
                <a:ea typeface="Constantia"/>
                <a:cs typeface="Constantia"/>
                <a:sym typeface="Constantia"/>
              </a:rPr>
              <a:t>No single data structure works well for all purposes, and so it is important to know the   strengths and limitations of several of them</a:t>
            </a:r>
            <a:endParaRPr dirty="0"/>
          </a:p>
          <a:p>
            <a:pPr marL="274320" marR="0" lvl="0" indent="-129540" algn="l" rtl="0">
              <a:spcBef>
                <a:spcPts val="480"/>
              </a:spcBef>
              <a:spcAft>
                <a:spcPts val="1200"/>
              </a:spcAft>
              <a:buClr>
                <a:schemeClr val="accent3"/>
              </a:buClr>
              <a:buSzPts val="2280"/>
              <a:buFont typeface="Noto Sans Symbols"/>
              <a:buNone/>
            </a:pPr>
            <a:endParaRPr sz="2400" b="0" i="0" u="none" strike="noStrike" cap="none" dirty="0">
              <a:solidFill>
                <a:schemeClr val="dk1"/>
              </a:solidFill>
              <a:latin typeface="Constantia"/>
              <a:ea typeface="Constantia"/>
              <a:cs typeface="Constantia"/>
              <a:sym typeface="Constant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0"/>
          <p:cNvSpPr txBox="1">
            <a:spLocks noGrp="1"/>
          </p:cNvSpPr>
          <p:nvPr>
            <p:ph type="title"/>
          </p:nvPr>
        </p:nvSpPr>
        <p:spPr>
          <a:xfrm>
            <a:off x="276425" y="411113"/>
            <a:ext cx="8229600" cy="857400"/>
          </a:xfrm>
          <a:prstGeom prst="rect">
            <a:avLst/>
          </a:prstGeom>
          <a:noFill/>
          <a:ln>
            <a:noFill/>
          </a:ln>
        </p:spPr>
        <p:txBody>
          <a:bodyPr spcFirstLastPara="1" wrap="square" lIns="0" tIns="45700" rIns="0" bIns="0" anchor="b" anchorCtr="0">
            <a:noAutofit/>
          </a:bodyPr>
          <a:lstStyle/>
          <a:p>
            <a:pPr marL="0" lvl="0" indent="0" algn="l" rtl="0">
              <a:lnSpc>
                <a:spcPct val="100000"/>
              </a:lnSpc>
              <a:spcBef>
                <a:spcPts val="0"/>
              </a:spcBef>
              <a:spcAft>
                <a:spcPts val="0"/>
              </a:spcAft>
              <a:buClr>
                <a:schemeClr val="dk2"/>
              </a:buClr>
              <a:buSzPts val="5000"/>
              <a:buFont typeface="Calibri"/>
              <a:buNone/>
            </a:pPr>
            <a:r>
              <a:rPr lang="en" sz="5000" b="0" i="0" u="none">
                <a:solidFill>
                  <a:schemeClr val="dk2"/>
                </a:solidFill>
                <a:latin typeface="Calibri"/>
                <a:ea typeface="Calibri"/>
                <a:cs typeface="Calibri"/>
                <a:sym typeface="Calibri"/>
              </a:rPr>
              <a:t>Stacks</a:t>
            </a:r>
            <a:endParaRPr/>
          </a:p>
        </p:txBody>
      </p:sp>
      <p:sp>
        <p:nvSpPr>
          <p:cNvPr id="252" name="Google Shape;252;p30"/>
          <p:cNvSpPr txBox="1">
            <a:spLocks noGrp="1"/>
          </p:cNvSpPr>
          <p:nvPr>
            <p:ph type="body" idx="1"/>
          </p:nvPr>
        </p:nvSpPr>
        <p:spPr>
          <a:xfrm>
            <a:off x="457200" y="1451371"/>
            <a:ext cx="8229600" cy="3292078"/>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BD0D9"/>
              </a:buClr>
              <a:buSzPts val="2470"/>
              <a:buFont typeface="Noto Sans Symbols"/>
              <a:buChar char="⚫"/>
            </a:pPr>
            <a:r>
              <a:rPr lang="en" sz="2600" b="0" i="0" u="none">
                <a:solidFill>
                  <a:schemeClr val="dk1"/>
                </a:solidFill>
                <a:latin typeface="Constantia"/>
                <a:ea typeface="Constantia"/>
                <a:cs typeface="Constantia"/>
                <a:sym typeface="Constantia"/>
              </a:rPr>
              <a:t>Collection with access only to the last element inserted</a:t>
            </a:r>
            <a:endParaRPr/>
          </a:p>
          <a:p>
            <a:pPr marL="273050" marR="0" lvl="0" indent="-273050" algn="l" rtl="0">
              <a:lnSpc>
                <a:spcPct val="100000"/>
              </a:lnSpc>
              <a:spcBef>
                <a:spcPts val="520"/>
              </a:spcBef>
              <a:spcAft>
                <a:spcPts val="0"/>
              </a:spcAft>
              <a:buClr>
                <a:srgbClr val="0BD0D9"/>
              </a:buClr>
              <a:buSzPts val="2470"/>
              <a:buFont typeface="Noto Sans Symbols"/>
              <a:buChar char="⚫"/>
            </a:pPr>
            <a:r>
              <a:rPr lang="en" sz="2600" b="0" i="0" u="none">
                <a:solidFill>
                  <a:schemeClr val="dk1"/>
                </a:solidFill>
                <a:latin typeface="Constantia"/>
                <a:ea typeface="Constantia"/>
                <a:cs typeface="Constantia"/>
                <a:sym typeface="Constantia"/>
              </a:rPr>
              <a:t>Last in first out</a:t>
            </a:r>
            <a:endParaRPr/>
          </a:p>
          <a:p>
            <a:pPr marL="273050" marR="0" lvl="0" indent="-273050" algn="l" rtl="0">
              <a:lnSpc>
                <a:spcPct val="100000"/>
              </a:lnSpc>
              <a:spcBef>
                <a:spcPts val="520"/>
              </a:spcBef>
              <a:spcAft>
                <a:spcPts val="0"/>
              </a:spcAft>
              <a:buClr>
                <a:srgbClr val="0BD0D9"/>
              </a:buClr>
              <a:buSzPts val="2470"/>
              <a:buFont typeface="Noto Sans Symbols"/>
              <a:buChar char="⚫"/>
            </a:pPr>
            <a:r>
              <a:rPr lang="en" sz="2600" b="0" i="0" u="none">
                <a:solidFill>
                  <a:schemeClr val="dk1"/>
                </a:solidFill>
                <a:latin typeface="Constantia"/>
                <a:ea typeface="Constantia"/>
                <a:cs typeface="Constantia"/>
                <a:sym typeface="Constantia"/>
              </a:rPr>
              <a:t>insert/push</a:t>
            </a:r>
            <a:endParaRPr/>
          </a:p>
          <a:p>
            <a:pPr marL="273050" marR="0" lvl="0" indent="-273050" algn="l" rtl="0">
              <a:lnSpc>
                <a:spcPct val="100000"/>
              </a:lnSpc>
              <a:spcBef>
                <a:spcPts val="520"/>
              </a:spcBef>
              <a:spcAft>
                <a:spcPts val="0"/>
              </a:spcAft>
              <a:buClr>
                <a:srgbClr val="0BD0D9"/>
              </a:buClr>
              <a:buSzPts val="2470"/>
              <a:buFont typeface="Noto Sans Symbols"/>
              <a:buChar char="⚫"/>
            </a:pPr>
            <a:r>
              <a:rPr lang="en" sz="2600" b="0" i="0" u="none">
                <a:solidFill>
                  <a:schemeClr val="dk1"/>
                </a:solidFill>
                <a:latin typeface="Constantia"/>
                <a:ea typeface="Constantia"/>
                <a:cs typeface="Constantia"/>
                <a:sym typeface="Constantia"/>
              </a:rPr>
              <a:t>remove/pop</a:t>
            </a:r>
            <a:endParaRPr/>
          </a:p>
          <a:p>
            <a:pPr marL="273050" marR="0" lvl="0" indent="-273050" algn="l" rtl="0">
              <a:lnSpc>
                <a:spcPct val="100000"/>
              </a:lnSpc>
              <a:spcBef>
                <a:spcPts val="520"/>
              </a:spcBef>
              <a:spcAft>
                <a:spcPts val="0"/>
              </a:spcAft>
              <a:buClr>
                <a:srgbClr val="0BD0D9"/>
              </a:buClr>
              <a:buSzPts val="2470"/>
              <a:buFont typeface="Noto Sans Symbols"/>
              <a:buChar char="⚫"/>
            </a:pPr>
            <a:r>
              <a:rPr lang="en" sz="2600" b="0" i="0" u="none">
                <a:solidFill>
                  <a:schemeClr val="dk1"/>
                </a:solidFill>
                <a:latin typeface="Constantia"/>
                <a:ea typeface="Constantia"/>
                <a:cs typeface="Constantia"/>
                <a:sym typeface="Constantia"/>
              </a:rPr>
              <a:t>top</a:t>
            </a:r>
            <a:endParaRPr/>
          </a:p>
          <a:p>
            <a:pPr marL="273050" marR="0" lvl="0" indent="-273050" algn="l" rtl="0">
              <a:lnSpc>
                <a:spcPct val="100000"/>
              </a:lnSpc>
              <a:spcBef>
                <a:spcPts val="520"/>
              </a:spcBef>
              <a:spcAft>
                <a:spcPts val="0"/>
              </a:spcAft>
              <a:buClr>
                <a:srgbClr val="0BD0D9"/>
              </a:buClr>
              <a:buSzPts val="2470"/>
              <a:buFont typeface="Noto Sans Symbols"/>
              <a:buChar char="⚫"/>
            </a:pPr>
            <a:r>
              <a:rPr lang="en" sz="2600" b="0" i="0" u="none">
                <a:solidFill>
                  <a:schemeClr val="dk1"/>
                </a:solidFill>
                <a:latin typeface="Constantia"/>
                <a:ea typeface="Constantia"/>
                <a:cs typeface="Constantia"/>
                <a:sym typeface="Constantia"/>
              </a:rPr>
              <a:t>make empty</a:t>
            </a:r>
            <a:endParaRPr/>
          </a:p>
          <a:p>
            <a:pPr marL="273050" marR="0" lvl="0" indent="-116204" algn="l" rtl="0">
              <a:lnSpc>
                <a:spcPct val="100000"/>
              </a:lnSpc>
              <a:spcBef>
                <a:spcPts val="520"/>
              </a:spcBef>
              <a:spcAft>
                <a:spcPts val="0"/>
              </a:spcAft>
              <a:buClr>
                <a:srgbClr val="0BD0D9"/>
              </a:buClr>
              <a:buSzPts val="2470"/>
              <a:buFont typeface="Noto Sans Symbols"/>
              <a:buNone/>
            </a:pPr>
            <a:endParaRPr sz="2600" b="0" i="0" u="none">
              <a:solidFill>
                <a:schemeClr val="dk1"/>
              </a:solidFill>
              <a:latin typeface="Constantia"/>
              <a:ea typeface="Constantia"/>
              <a:cs typeface="Constantia"/>
              <a:sym typeface="Constantia"/>
            </a:endParaRPr>
          </a:p>
          <a:p>
            <a:pPr marL="273050" marR="0" lvl="0" indent="-116204" algn="l" rtl="0">
              <a:lnSpc>
                <a:spcPct val="100000"/>
              </a:lnSpc>
              <a:spcBef>
                <a:spcPts val="520"/>
              </a:spcBef>
              <a:spcAft>
                <a:spcPts val="0"/>
              </a:spcAft>
              <a:buClr>
                <a:srgbClr val="0BD0D9"/>
              </a:buClr>
              <a:buSzPts val="2470"/>
              <a:buFont typeface="Noto Sans Symbols"/>
              <a:buNone/>
            </a:pPr>
            <a:endParaRPr sz="2600" b="0" i="0" u="none">
              <a:solidFill>
                <a:schemeClr val="dk1"/>
              </a:solidFill>
              <a:latin typeface="Constantia"/>
              <a:ea typeface="Constantia"/>
              <a:cs typeface="Constantia"/>
              <a:sym typeface="Constantia"/>
            </a:endParaRPr>
          </a:p>
          <a:p>
            <a:pPr marL="274320" marR="0" lvl="0" indent="-117475" algn="l" rtl="0">
              <a:spcBef>
                <a:spcPts val="520"/>
              </a:spcBef>
              <a:spcAft>
                <a:spcPts val="1200"/>
              </a:spcAft>
              <a:buClr>
                <a:schemeClr val="accent3"/>
              </a:buClr>
              <a:buSzPts val="2470"/>
              <a:buFont typeface="Noto Sans Symbols"/>
              <a:buNone/>
            </a:pPr>
            <a:endParaRPr sz="2600" b="0" i="0" u="none">
              <a:solidFill>
                <a:schemeClr val="dk1"/>
              </a:solidFill>
              <a:latin typeface="Constantia"/>
              <a:ea typeface="Constantia"/>
              <a:cs typeface="Constantia"/>
              <a:sym typeface="Constantia"/>
            </a:endParaRPr>
          </a:p>
        </p:txBody>
      </p:sp>
      <p:sp>
        <p:nvSpPr>
          <p:cNvPr id="253" name="Google Shape;253;p30"/>
          <p:cNvSpPr txBox="1"/>
          <p:nvPr/>
        </p:nvSpPr>
        <p:spPr>
          <a:xfrm>
            <a:off x="4876800" y="3429000"/>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54" name="Google Shape;254;p30"/>
          <p:cNvSpPr txBox="1"/>
          <p:nvPr/>
        </p:nvSpPr>
        <p:spPr>
          <a:xfrm>
            <a:off x="4876800" y="2971800"/>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55" name="Google Shape;255;p30"/>
          <p:cNvSpPr txBox="1"/>
          <p:nvPr/>
        </p:nvSpPr>
        <p:spPr>
          <a:xfrm>
            <a:off x="4876800" y="2514600"/>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56" name="Google Shape;256;p30"/>
          <p:cNvSpPr txBox="1"/>
          <p:nvPr/>
        </p:nvSpPr>
        <p:spPr>
          <a:xfrm>
            <a:off x="4876800" y="2057400"/>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257" name="Google Shape;257;p30"/>
          <p:cNvCxnSpPr/>
          <p:nvPr/>
        </p:nvCxnSpPr>
        <p:spPr>
          <a:xfrm rot="10800000">
            <a:off x="6781800" y="2286000"/>
            <a:ext cx="990600" cy="0"/>
          </a:xfrm>
          <a:prstGeom prst="straightConnector1">
            <a:avLst/>
          </a:prstGeom>
          <a:noFill/>
          <a:ln w="38100" cap="flat" cmpd="sng">
            <a:solidFill>
              <a:schemeClr val="dk1"/>
            </a:solidFill>
            <a:prstDash val="solid"/>
            <a:miter lim="800000"/>
            <a:headEnd type="none" w="med" len="med"/>
            <a:tailEnd type="triangle" w="med" len="med"/>
          </a:ln>
        </p:spPr>
      </p:cxnSp>
      <p:sp>
        <p:nvSpPr>
          <p:cNvPr id="258" name="Google Shape;258;p30"/>
          <p:cNvSpPr txBox="1"/>
          <p:nvPr/>
        </p:nvSpPr>
        <p:spPr>
          <a:xfrm>
            <a:off x="7577137" y="2114550"/>
            <a:ext cx="798512" cy="38933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Top</a:t>
            </a:r>
            <a:endParaRPr/>
          </a:p>
        </p:txBody>
      </p:sp>
      <p:sp>
        <p:nvSpPr>
          <p:cNvPr id="259" name="Google Shape;259;p30"/>
          <p:cNvSpPr txBox="1"/>
          <p:nvPr/>
        </p:nvSpPr>
        <p:spPr>
          <a:xfrm>
            <a:off x="4876800" y="2114550"/>
            <a:ext cx="1135062" cy="38933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Data4</a:t>
            </a:r>
            <a:endParaRPr/>
          </a:p>
        </p:txBody>
      </p:sp>
      <p:sp>
        <p:nvSpPr>
          <p:cNvPr id="260" name="Google Shape;260;p30"/>
          <p:cNvSpPr txBox="1"/>
          <p:nvPr/>
        </p:nvSpPr>
        <p:spPr>
          <a:xfrm>
            <a:off x="4876800" y="2574131"/>
            <a:ext cx="1135062" cy="38933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Data3</a:t>
            </a:r>
            <a:endParaRPr/>
          </a:p>
        </p:txBody>
      </p:sp>
      <p:sp>
        <p:nvSpPr>
          <p:cNvPr id="261" name="Google Shape;261;p30"/>
          <p:cNvSpPr txBox="1"/>
          <p:nvPr/>
        </p:nvSpPr>
        <p:spPr>
          <a:xfrm>
            <a:off x="4876800" y="3033713"/>
            <a:ext cx="1135062" cy="38933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Data2</a:t>
            </a:r>
            <a:endParaRPr/>
          </a:p>
        </p:txBody>
      </p:sp>
      <p:sp>
        <p:nvSpPr>
          <p:cNvPr id="262" name="Google Shape;262;p30"/>
          <p:cNvSpPr txBox="1"/>
          <p:nvPr/>
        </p:nvSpPr>
        <p:spPr>
          <a:xfrm>
            <a:off x="4876800" y="3494484"/>
            <a:ext cx="1135062" cy="38933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Data1</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1"/>
          <p:cNvSpPr txBox="1">
            <a:spLocks noGrp="1"/>
          </p:cNvSpPr>
          <p:nvPr>
            <p:ph type="title"/>
          </p:nvPr>
        </p:nvSpPr>
        <p:spPr>
          <a:xfrm>
            <a:off x="457200" y="528638"/>
            <a:ext cx="8229600" cy="857250"/>
          </a:xfrm>
          <a:prstGeom prst="rect">
            <a:avLst/>
          </a:prstGeom>
          <a:noFill/>
          <a:ln>
            <a:noFill/>
          </a:ln>
        </p:spPr>
        <p:txBody>
          <a:bodyPr spcFirstLastPara="1" wrap="square" lIns="0" tIns="45700" rIns="0" bIns="0" anchor="b" anchorCtr="0">
            <a:noAutofit/>
          </a:bodyPr>
          <a:lstStyle/>
          <a:p>
            <a:pPr marL="0" lvl="0" indent="0" algn="l" rtl="0">
              <a:lnSpc>
                <a:spcPct val="100000"/>
              </a:lnSpc>
              <a:spcBef>
                <a:spcPts val="0"/>
              </a:spcBef>
              <a:spcAft>
                <a:spcPts val="0"/>
              </a:spcAft>
              <a:buClr>
                <a:schemeClr val="dk2"/>
              </a:buClr>
              <a:buSzPts val="5000"/>
              <a:buFont typeface="Calibri"/>
              <a:buNone/>
            </a:pPr>
            <a:r>
              <a:rPr lang="en" sz="5000" b="0" i="0" u="none">
                <a:solidFill>
                  <a:schemeClr val="dk2"/>
                </a:solidFill>
                <a:latin typeface="Calibri"/>
                <a:ea typeface="Calibri"/>
                <a:cs typeface="Calibri"/>
                <a:sym typeface="Calibri"/>
              </a:rPr>
              <a:t>Queues</a:t>
            </a:r>
            <a:endParaRPr/>
          </a:p>
        </p:txBody>
      </p:sp>
      <p:sp>
        <p:nvSpPr>
          <p:cNvPr id="268" name="Google Shape;268;p31"/>
          <p:cNvSpPr txBox="1">
            <a:spLocks noGrp="1"/>
          </p:cNvSpPr>
          <p:nvPr>
            <p:ph type="body" idx="1"/>
          </p:nvPr>
        </p:nvSpPr>
        <p:spPr>
          <a:xfrm>
            <a:off x="457200" y="1451371"/>
            <a:ext cx="8229600" cy="3292078"/>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BD0D9"/>
              </a:buClr>
              <a:buSzPts val="2470"/>
              <a:buFont typeface="Noto Sans Symbols"/>
              <a:buChar char="⚫"/>
            </a:pPr>
            <a:r>
              <a:rPr lang="en" sz="2600" b="0" i="0" u="none">
                <a:solidFill>
                  <a:schemeClr val="dk1"/>
                </a:solidFill>
                <a:latin typeface="Constantia"/>
                <a:ea typeface="Constantia"/>
                <a:cs typeface="Constantia"/>
                <a:sym typeface="Constantia"/>
              </a:rPr>
              <a:t>Collection with access only to the item that has been present the longest</a:t>
            </a:r>
            <a:endParaRPr/>
          </a:p>
          <a:p>
            <a:pPr marL="273050" marR="0" lvl="0" indent="-273050" algn="l" rtl="0">
              <a:lnSpc>
                <a:spcPct val="100000"/>
              </a:lnSpc>
              <a:spcBef>
                <a:spcPts val="520"/>
              </a:spcBef>
              <a:spcAft>
                <a:spcPts val="0"/>
              </a:spcAft>
              <a:buClr>
                <a:srgbClr val="0BD0D9"/>
              </a:buClr>
              <a:buSzPts val="2470"/>
              <a:buFont typeface="Noto Sans Symbols"/>
              <a:buChar char="⚫"/>
            </a:pPr>
            <a:r>
              <a:rPr lang="en" sz="2600" b="0" i="0" u="none">
                <a:solidFill>
                  <a:schemeClr val="dk1"/>
                </a:solidFill>
                <a:latin typeface="Constantia"/>
                <a:ea typeface="Constantia"/>
                <a:cs typeface="Constantia"/>
                <a:sym typeface="Constantia"/>
              </a:rPr>
              <a:t>Last in last out or first in first out</a:t>
            </a:r>
            <a:endParaRPr/>
          </a:p>
          <a:p>
            <a:pPr marL="273050" marR="0" lvl="0" indent="-273050" algn="l" rtl="0">
              <a:lnSpc>
                <a:spcPct val="100000"/>
              </a:lnSpc>
              <a:spcBef>
                <a:spcPts val="520"/>
              </a:spcBef>
              <a:spcAft>
                <a:spcPts val="0"/>
              </a:spcAft>
              <a:buClr>
                <a:srgbClr val="0BD0D9"/>
              </a:buClr>
              <a:buSzPts val="2470"/>
              <a:buFont typeface="Noto Sans Symbols"/>
              <a:buChar char="⚫"/>
            </a:pPr>
            <a:r>
              <a:rPr lang="en" sz="2600" b="0" i="0" u="none">
                <a:solidFill>
                  <a:schemeClr val="dk1"/>
                </a:solidFill>
                <a:latin typeface="Constantia"/>
                <a:ea typeface="Constantia"/>
                <a:cs typeface="Constantia"/>
                <a:sym typeface="Constantia"/>
              </a:rPr>
              <a:t>enqueue, dequeue, front</a:t>
            </a:r>
            <a:endParaRPr/>
          </a:p>
          <a:p>
            <a:pPr marL="273050" marR="0" lvl="0" indent="-273050" algn="l" rtl="0">
              <a:lnSpc>
                <a:spcPct val="100000"/>
              </a:lnSpc>
              <a:spcBef>
                <a:spcPts val="520"/>
              </a:spcBef>
              <a:spcAft>
                <a:spcPts val="0"/>
              </a:spcAft>
              <a:buClr>
                <a:srgbClr val="0BD0D9"/>
              </a:buClr>
              <a:buSzPts val="2470"/>
              <a:buFont typeface="Noto Sans Symbols"/>
              <a:buChar char="⚫"/>
            </a:pPr>
            <a:r>
              <a:rPr lang="en" sz="2600" b="0" i="0" u="none">
                <a:solidFill>
                  <a:schemeClr val="dk1"/>
                </a:solidFill>
                <a:latin typeface="Constantia"/>
                <a:ea typeface="Constantia"/>
                <a:cs typeface="Constantia"/>
                <a:sym typeface="Constantia"/>
              </a:rPr>
              <a:t>priority queues and dequeue</a:t>
            </a:r>
            <a:endParaRPr/>
          </a:p>
          <a:p>
            <a:pPr marL="273050" marR="0" lvl="0" indent="-116204" algn="l" rtl="0">
              <a:lnSpc>
                <a:spcPct val="100000"/>
              </a:lnSpc>
              <a:spcBef>
                <a:spcPts val="520"/>
              </a:spcBef>
              <a:spcAft>
                <a:spcPts val="0"/>
              </a:spcAft>
              <a:buClr>
                <a:srgbClr val="0BD0D9"/>
              </a:buClr>
              <a:buSzPts val="2470"/>
              <a:buFont typeface="Noto Sans Symbols"/>
              <a:buNone/>
            </a:pPr>
            <a:endParaRPr sz="2600" b="0" i="0" u="none">
              <a:solidFill>
                <a:schemeClr val="dk1"/>
              </a:solidFill>
              <a:latin typeface="Constantia"/>
              <a:ea typeface="Constantia"/>
              <a:cs typeface="Constantia"/>
              <a:sym typeface="Constantia"/>
            </a:endParaRPr>
          </a:p>
          <a:p>
            <a:pPr marL="274320" marR="0" lvl="0" indent="-117475" algn="l" rtl="0">
              <a:spcBef>
                <a:spcPts val="520"/>
              </a:spcBef>
              <a:spcAft>
                <a:spcPts val="1200"/>
              </a:spcAft>
              <a:buClr>
                <a:schemeClr val="accent3"/>
              </a:buClr>
              <a:buSzPts val="2470"/>
              <a:buFont typeface="Noto Sans Symbols"/>
              <a:buNone/>
            </a:pPr>
            <a:endParaRPr sz="2600" b="0" i="0" u="none">
              <a:solidFill>
                <a:schemeClr val="dk1"/>
              </a:solidFill>
              <a:latin typeface="Constantia"/>
              <a:ea typeface="Constantia"/>
              <a:cs typeface="Constantia"/>
              <a:sym typeface="Constantia"/>
            </a:endParaRPr>
          </a:p>
        </p:txBody>
      </p:sp>
      <p:sp>
        <p:nvSpPr>
          <p:cNvPr id="269" name="Google Shape;269;p31"/>
          <p:cNvSpPr txBox="1"/>
          <p:nvPr/>
        </p:nvSpPr>
        <p:spPr>
          <a:xfrm>
            <a:off x="1066800" y="4277915"/>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70" name="Google Shape;270;p31"/>
          <p:cNvSpPr txBox="1"/>
          <p:nvPr/>
        </p:nvSpPr>
        <p:spPr>
          <a:xfrm>
            <a:off x="2743200" y="4281488"/>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71" name="Google Shape;271;p31"/>
          <p:cNvSpPr txBox="1"/>
          <p:nvPr/>
        </p:nvSpPr>
        <p:spPr>
          <a:xfrm>
            <a:off x="4419600" y="4283869"/>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72" name="Google Shape;272;p31"/>
          <p:cNvSpPr txBox="1"/>
          <p:nvPr/>
        </p:nvSpPr>
        <p:spPr>
          <a:xfrm>
            <a:off x="6096000" y="4286250"/>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273" name="Google Shape;273;p31"/>
          <p:cNvCxnSpPr/>
          <p:nvPr/>
        </p:nvCxnSpPr>
        <p:spPr>
          <a:xfrm>
            <a:off x="1795462" y="3706415"/>
            <a:ext cx="0" cy="400050"/>
          </a:xfrm>
          <a:prstGeom prst="straightConnector1">
            <a:avLst/>
          </a:prstGeom>
          <a:noFill/>
          <a:ln w="38100" cap="flat" cmpd="sng">
            <a:solidFill>
              <a:schemeClr val="dk1"/>
            </a:solidFill>
            <a:prstDash val="solid"/>
            <a:miter lim="800000"/>
            <a:headEnd type="none" w="med" len="med"/>
            <a:tailEnd type="triangle" w="med" len="med"/>
          </a:ln>
        </p:spPr>
      </p:cxnSp>
      <p:sp>
        <p:nvSpPr>
          <p:cNvPr id="274" name="Google Shape;274;p31"/>
          <p:cNvSpPr txBox="1"/>
          <p:nvPr/>
        </p:nvSpPr>
        <p:spPr>
          <a:xfrm>
            <a:off x="6274450" y="4305290"/>
            <a:ext cx="1135200" cy="369300"/>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Data4</a:t>
            </a:r>
            <a:endParaRPr/>
          </a:p>
        </p:txBody>
      </p:sp>
      <p:sp>
        <p:nvSpPr>
          <p:cNvPr id="275" name="Google Shape;275;p31"/>
          <p:cNvSpPr txBox="1"/>
          <p:nvPr/>
        </p:nvSpPr>
        <p:spPr>
          <a:xfrm>
            <a:off x="4511675" y="4354115"/>
            <a:ext cx="1135062" cy="38933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Data3</a:t>
            </a:r>
            <a:endParaRPr/>
          </a:p>
        </p:txBody>
      </p:sp>
      <p:sp>
        <p:nvSpPr>
          <p:cNvPr id="276" name="Google Shape;276;p31"/>
          <p:cNvSpPr txBox="1"/>
          <p:nvPr/>
        </p:nvSpPr>
        <p:spPr>
          <a:xfrm>
            <a:off x="2835275" y="4354115"/>
            <a:ext cx="1135062" cy="38933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Data2</a:t>
            </a:r>
            <a:endParaRPr/>
          </a:p>
        </p:txBody>
      </p:sp>
      <p:sp>
        <p:nvSpPr>
          <p:cNvPr id="277" name="Google Shape;277;p31"/>
          <p:cNvSpPr txBox="1"/>
          <p:nvPr/>
        </p:nvSpPr>
        <p:spPr>
          <a:xfrm>
            <a:off x="1397925" y="4321865"/>
            <a:ext cx="1135200" cy="369300"/>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Data1</a:t>
            </a:r>
            <a:endParaRPr/>
          </a:p>
        </p:txBody>
      </p:sp>
      <p:sp>
        <p:nvSpPr>
          <p:cNvPr id="278" name="Google Shape;278;p31"/>
          <p:cNvSpPr txBox="1"/>
          <p:nvPr/>
        </p:nvSpPr>
        <p:spPr>
          <a:xfrm>
            <a:off x="1143000" y="3317081"/>
            <a:ext cx="1016000" cy="38933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Front</a:t>
            </a:r>
            <a:endParaRPr/>
          </a:p>
        </p:txBody>
      </p:sp>
      <p:cxnSp>
        <p:nvCxnSpPr>
          <p:cNvPr id="279" name="Google Shape;279;p31"/>
          <p:cNvCxnSpPr/>
          <p:nvPr/>
        </p:nvCxnSpPr>
        <p:spPr>
          <a:xfrm>
            <a:off x="7145337" y="3829050"/>
            <a:ext cx="0" cy="400050"/>
          </a:xfrm>
          <a:prstGeom prst="straightConnector1">
            <a:avLst/>
          </a:prstGeom>
          <a:noFill/>
          <a:ln w="38100" cap="flat" cmpd="sng">
            <a:solidFill>
              <a:schemeClr val="dk1"/>
            </a:solidFill>
            <a:prstDash val="solid"/>
            <a:miter lim="800000"/>
            <a:headEnd type="none" w="med" len="med"/>
            <a:tailEnd type="triangle" w="med" len="med"/>
          </a:ln>
        </p:spPr>
      </p:cxnSp>
      <p:sp>
        <p:nvSpPr>
          <p:cNvPr id="280" name="Google Shape;280;p31"/>
          <p:cNvSpPr txBox="1"/>
          <p:nvPr/>
        </p:nvSpPr>
        <p:spPr>
          <a:xfrm>
            <a:off x="6596062" y="3363515"/>
            <a:ext cx="974725" cy="38933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2"/>
          <p:cNvSpPr txBox="1">
            <a:spLocks noGrp="1"/>
          </p:cNvSpPr>
          <p:nvPr>
            <p:ph type="title"/>
          </p:nvPr>
        </p:nvSpPr>
        <p:spPr>
          <a:xfrm>
            <a:off x="457200" y="205978"/>
            <a:ext cx="8229600" cy="536972"/>
          </a:xfrm>
          <a:prstGeom prst="rect">
            <a:avLst/>
          </a:prstGeom>
          <a:noFill/>
          <a:ln>
            <a:noFill/>
          </a:ln>
        </p:spPr>
        <p:txBody>
          <a:bodyPr spcFirstLastPara="1" wrap="square" lIns="0" tIns="45700" rIns="0" bIns="0" anchor="b" anchorCtr="0">
            <a:noAutofit/>
          </a:bodyPr>
          <a:lstStyle/>
          <a:p>
            <a:pPr marL="0" lvl="0" indent="0" algn="l" rtl="0">
              <a:lnSpc>
                <a:spcPct val="100000"/>
              </a:lnSpc>
              <a:spcBef>
                <a:spcPts val="0"/>
              </a:spcBef>
              <a:spcAft>
                <a:spcPts val="0"/>
              </a:spcAft>
              <a:buClr>
                <a:schemeClr val="dk2"/>
              </a:buClr>
              <a:buSzPts val="5000"/>
              <a:buFont typeface="Calibri"/>
              <a:buNone/>
            </a:pPr>
            <a:r>
              <a:rPr lang="en" sz="5000" b="0" i="0" u="none">
                <a:solidFill>
                  <a:schemeClr val="dk2"/>
                </a:solidFill>
                <a:latin typeface="Calibri"/>
                <a:ea typeface="Calibri"/>
                <a:cs typeface="Calibri"/>
                <a:sym typeface="Calibri"/>
              </a:rPr>
              <a:t>List</a:t>
            </a:r>
            <a:endParaRPr/>
          </a:p>
        </p:txBody>
      </p:sp>
      <p:sp>
        <p:nvSpPr>
          <p:cNvPr id="286" name="Google Shape;286;p32"/>
          <p:cNvSpPr txBox="1">
            <a:spLocks noGrp="1"/>
          </p:cNvSpPr>
          <p:nvPr>
            <p:ph type="body" idx="1"/>
          </p:nvPr>
        </p:nvSpPr>
        <p:spPr>
          <a:xfrm>
            <a:off x="457200" y="812050"/>
            <a:ext cx="8229600" cy="3737400"/>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BD0D9"/>
              </a:buClr>
              <a:buSzPts val="2660"/>
              <a:buFont typeface="Noto Sans Symbols"/>
              <a:buChar char="⚫"/>
            </a:pPr>
            <a:r>
              <a:rPr lang="en" sz="2800" b="0" i="0" u="none">
                <a:solidFill>
                  <a:schemeClr val="dk1"/>
                </a:solidFill>
                <a:latin typeface="Helvetica Neue"/>
                <a:ea typeface="Helvetica Neue"/>
                <a:cs typeface="Helvetica Neue"/>
                <a:sym typeface="Helvetica Neue"/>
              </a:rPr>
              <a:t>A </a:t>
            </a:r>
            <a:r>
              <a:rPr lang="en" sz="2800" b="1" i="1" u="none">
                <a:solidFill>
                  <a:schemeClr val="dk1"/>
                </a:solidFill>
                <a:latin typeface="Helvetica Neue"/>
                <a:ea typeface="Helvetica Neue"/>
                <a:cs typeface="Helvetica Neue"/>
                <a:sym typeface="Helvetica Neue"/>
              </a:rPr>
              <a:t>Flexible </a:t>
            </a:r>
            <a:r>
              <a:rPr lang="en" sz="2800" b="0" i="0" u="none">
                <a:solidFill>
                  <a:schemeClr val="dk1"/>
                </a:solidFill>
                <a:latin typeface="Helvetica Neue"/>
                <a:ea typeface="Helvetica Neue"/>
                <a:cs typeface="Helvetica Neue"/>
                <a:sym typeface="Helvetica Neue"/>
              </a:rPr>
              <a:t>structure, because can grow and shrink on demand.</a:t>
            </a:r>
            <a:endParaRPr/>
          </a:p>
          <a:p>
            <a:pPr marL="273050" marR="0" lvl="0" indent="-273050" algn="l" rtl="0">
              <a:lnSpc>
                <a:spcPct val="100000"/>
              </a:lnSpc>
              <a:spcBef>
                <a:spcPts val="560"/>
              </a:spcBef>
              <a:spcAft>
                <a:spcPts val="0"/>
              </a:spcAft>
              <a:buClr>
                <a:schemeClr val="accent3"/>
              </a:buClr>
              <a:buSzPts val="2660"/>
              <a:buFont typeface="Noto Sans Symbols"/>
              <a:buNone/>
            </a:pPr>
            <a:r>
              <a:rPr lang="en" sz="2800" b="0" i="0" u="none">
                <a:solidFill>
                  <a:schemeClr val="dk1"/>
                </a:solidFill>
                <a:latin typeface="Helvetica Neue"/>
                <a:ea typeface="Helvetica Neue"/>
                <a:cs typeface="Helvetica Neue"/>
                <a:sym typeface="Helvetica Neue"/>
              </a:rPr>
              <a:t>Elements can be:</a:t>
            </a:r>
            <a:endParaRPr/>
          </a:p>
          <a:p>
            <a:pPr marL="273050" marR="0" lvl="0" indent="-273050" algn="l" rtl="0">
              <a:lnSpc>
                <a:spcPct val="100000"/>
              </a:lnSpc>
              <a:spcBef>
                <a:spcPts val="560"/>
              </a:spcBef>
              <a:spcAft>
                <a:spcPts val="0"/>
              </a:spcAft>
              <a:buClr>
                <a:schemeClr val="dk1"/>
              </a:buClr>
              <a:buSzPts val="2660"/>
              <a:buFont typeface="Noto Sans Symbols"/>
              <a:buChar char="▪"/>
            </a:pPr>
            <a:r>
              <a:rPr lang="en" sz="2800" b="0" i="0" u="none">
                <a:solidFill>
                  <a:schemeClr val="dk1"/>
                </a:solidFill>
                <a:latin typeface="Helvetica Neue"/>
                <a:ea typeface="Helvetica Neue"/>
                <a:cs typeface="Helvetica Neue"/>
                <a:sym typeface="Helvetica Neue"/>
              </a:rPr>
              <a:t>Inserted</a:t>
            </a:r>
            <a:endParaRPr/>
          </a:p>
          <a:p>
            <a:pPr marL="273050" marR="0" lvl="0" indent="-273050" algn="l" rtl="0">
              <a:lnSpc>
                <a:spcPct val="100000"/>
              </a:lnSpc>
              <a:spcBef>
                <a:spcPts val="560"/>
              </a:spcBef>
              <a:spcAft>
                <a:spcPts val="0"/>
              </a:spcAft>
              <a:buClr>
                <a:schemeClr val="dk1"/>
              </a:buClr>
              <a:buSzPts val="2660"/>
              <a:buFont typeface="Noto Sans Symbols"/>
              <a:buChar char="▪"/>
            </a:pPr>
            <a:r>
              <a:rPr lang="en" sz="2800" b="0" i="0" u="none">
                <a:solidFill>
                  <a:schemeClr val="dk1"/>
                </a:solidFill>
                <a:latin typeface="Helvetica Neue"/>
                <a:ea typeface="Helvetica Neue"/>
                <a:cs typeface="Helvetica Neue"/>
                <a:sym typeface="Helvetica Neue"/>
              </a:rPr>
              <a:t>Accessed</a:t>
            </a:r>
            <a:endParaRPr/>
          </a:p>
          <a:p>
            <a:pPr marL="273050" marR="0" lvl="0" indent="-273050" algn="l" rtl="0">
              <a:lnSpc>
                <a:spcPct val="100000"/>
              </a:lnSpc>
              <a:spcBef>
                <a:spcPts val="560"/>
              </a:spcBef>
              <a:spcAft>
                <a:spcPts val="0"/>
              </a:spcAft>
              <a:buClr>
                <a:schemeClr val="dk1"/>
              </a:buClr>
              <a:buSzPts val="2660"/>
              <a:buFont typeface="Noto Sans Symbols"/>
              <a:buChar char="▪"/>
            </a:pPr>
            <a:r>
              <a:rPr lang="en" sz="2800" b="0" i="0" u="none">
                <a:solidFill>
                  <a:schemeClr val="dk1"/>
                </a:solidFill>
                <a:latin typeface="Helvetica Neue"/>
                <a:ea typeface="Helvetica Neue"/>
                <a:cs typeface="Helvetica Neue"/>
                <a:sym typeface="Helvetica Neue"/>
              </a:rPr>
              <a:t>Deleted</a:t>
            </a:r>
            <a:endParaRPr/>
          </a:p>
          <a:p>
            <a:pPr marL="273050" marR="0" lvl="0" indent="-273050" algn="l" rtl="0">
              <a:lnSpc>
                <a:spcPct val="100000"/>
              </a:lnSpc>
              <a:spcBef>
                <a:spcPts val="560"/>
              </a:spcBef>
              <a:spcAft>
                <a:spcPts val="0"/>
              </a:spcAft>
              <a:buClr>
                <a:schemeClr val="accent3"/>
              </a:buClr>
              <a:buSzPts val="2660"/>
              <a:buFont typeface="Noto Sans Symbols"/>
              <a:buNone/>
            </a:pPr>
            <a:r>
              <a:rPr lang="en" sz="2800" b="0" i="0" u="none">
                <a:solidFill>
                  <a:schemeClr val="dk1"/>
                </a:solidFill>
                <a:latin typeface="Helvetica Neue"/>
                <a:ea typeface="Helvetica Neue"/>
                <a:cs typeface="Helvetica Neue"/>
                <a:sym typeface="Helvetica Neue"/>
              </a:rPr>
              <a:t>At </a:t>
            </a:r>
            <a:r>
              <a:rPr lang="en" sz="2800" b="1" i="1" u="none">
                <a:solidFill>
                  <a:schemeClr val="dk1"/>
                </a:solidFill>
                <a:latin typeface="Helvetica Neue"/>
                <a:ea typeface="Helvetica Neue"/>
                <a:cs typeface="Helvetica Neue"/>
                <a:sym typeface="Helvetica Neue"/>
              </a:rPr>
              <a:t>any </a:t>
            </a:r>
            <a:r>
              <a:rPr lang="en" sz="2800" b="0" i="0" u="none">
                <a:solidFill>
                  <a:schemeClr val="dk1"/>
                </a:solidFill>
                <a:latin typeface="Helvetica Neue"/>
                <a:ea typeface="Helvetica Neue"/>
                <a:cs typeface="Helvetica Neue"/>
                <a:sym typeface="Helvetica Neue"/>
              </a:rPr>
              <a:t>position</a:t>
            </a:r>
            <a:endParaRPr/>
          </a:p>
          <a:p>
            <a:pPr marL="274320" marR="0" lvl="0" indent="-105410" algn="l" rtl="0">
              <a:spcBef>
                <a:spcPts val="560"/>
              </a:spcBef>
              <a:spcAft>
                <a:spcPts val="1200"/>
              </a:spcAft>
              <a:buClr>
                <a:schemeClr val="accent3"/>
              </a:buClr>
              <a:buSzPts val="2660"/>
              <a:buFont typeface="Noto Sans Symbols"/>
              <a:buNone/>
            </a:pPr>
            <a:endParaRPr sz="2800" b="0" i="0" u="none">
              <a:solidFill>
                <a:schemeClr val="dk1"/>
              </a:solidFill>
              <a:latin typeface="Helvetica Neue"/>
              <a:ea typeface="Helvetica Neue"/>
              <a:cs typeface="Helvetica Neue"/>
              <a:sym typeface="Helvetica Neue"/>
            </a:endParaRPr>
          </a:p>
        </p:txBody>
      </p:sp>
      <p:grpSp>
        <p:nvGrpSpPr>
          <p:cNvPr id="287" name="Google Shape;287;p32"/>
          <p:cNvGrpSpPr/>
          <p:nvPr/>
        </p:nvGrpSpPr>
        <p:grpSpPr>
          <a:xfrm>
            <a:off x="685800" y="4306490"/>
            <a:ext cx="1600200" cy="514350"/>
            <a:chOff x="432" y="3408"/>
            <a:chExt cx="1008" cy="432"/>
          </a:xfrm>
        </p:grpSpPr>
        <p:sp>
          <p:nvSpPr>
            <p:cNvPr id="288" name="Google Shape;288;p32"/>
            <p:cNvSpPr txBox="1"/>
            <p:nvPr/>
          </p:nvSpPr>
          <p:spPr>
            <a:xfrm>
              <a:off x="432" y="3408"/>
              <a:ext cx="1008" cy="43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289" name="Google Shape;289;p32"/>
            <p:cNvCxnSpPr/>
            <p:nvPr/>
          </p:nvCxnSpPr>
          <p:spPr>
            <a:xfrm>
              <a:off x="1104" y="3408"/>
              <a:ext cx="0" cy="432"/>
            </a:xfrm>
            <a:prstGeom prst="straightConnector1">
              <a:avLst/>
            </a:prstGeom>
            <a:noFill/>
            <a:ln w="9525" cap="flat" cmpd="sng">
              <a:solidFill>
                <a:schemeClr val="dk1"/>
              </a:solidFill>
              <a:prstDash val="solid"/>
              <a:miter lim="800000"/>
              <a:headEnd type="none" w="med" len="med"/>
              <a:tailEnd type="none" w="med" len="med"/>
            </a:ln>
          </p:spPr>
        </p:cxnSp>
      </p:grpSp>
      <p:grpSp>
        <p:nvGrpSpPr>
          <p:cNvPr id="290" name="Google Shape;290;p32"/>
          <p:cNvGrpSpPr/>
          <p:nvPr/>
        </p:nvGrpSpPr>
        <p:grpSpPr>
          <a:xfrm>
            <a:off x="2667000" y="4306490"/>
            <a:ext cx="1600200" cy="514350"/>
            <a:chOff x="432" y="3408"/>
            <a:chExt cx="1008" cy="432"/>
          </a:xfrm>
        </p:grpSpPr>
        <p:sp>
          <p:nvSpPr>
            <p:cNvPr id="291" name="Google Shape;291;p32"/>
            <p:cNvSpPr txBox="1"/>
            <p:nvPr/>
          </p:nvSpPr>
          <p:spPr>
            <a:xfrm>
              <a:off x="432" y="3408"/>
              <a:ext cx="1008" cy="43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292" name="Google Shape;292;p32"/>
            <p:cNvCxnSpPr/>
            <p:nvPr/>
          </p:nvCxnSpPr>
          <p:spPr>
            <a:xfrm>
              <a:off x="1104" y="3408"/>
              <a:ext cx="0" cy="432"/>
            </a:xfrm>
            <a:prstGeom prst="straightConnector1">
              <a:avLst/>
            </a:prstGeom>
            <a:noFill/>
            <a:ln w="9525" cap="flat" cmpd="sng">
              <a:solidFill>
                <a:schemeClr val="dk1"/>
              </a:solidFill>
              <a:prstDash val="solid"/>
              <a:miter lim="800000"/>
              <a:headEnd type="none" w="med" len="med"/>
              <a:tailEnd type="none" w="med" len="med"/>
            </a:ln>
          </p:spPr>
        </p:cxnSp>
      </p:grpSp>
      <p:grpSp>
        <p:nvGrpSpPr>
          <p:cNvPr id="293" name="Google Shape;293;p32"/>
          <p:cNvGrpSpPr/>
          <p:nvPr/>
        </p:nvGrpSpPr>
        <p:grpSpPr>
          <a:xfrm>
            <a:off x="4800600" y="4306490"/>
            <a:ext cx="1600200" cy="514350"/>
            <a:chOff x="432" y="3408"/>
            <a:chExt cx="1008" cy="432"/>
          </a:xfrm>
        </p:grpSpPr>
        <p:sp>
          <p:nvSpPr>
            <p:cNvPr id="294" name="Google Shape;294;p32"/>
            <p:cNvSpPr txBox="1"/>
            <p:nvPr/>
          </p:nvSpPr>
          <p:spPr>
            <a:xfrm>
              <a:off x="432" y="3408"/>
              <a:ext cx="1008" cy="43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295" name="Google Shape;295;p32"/>
            <p:cNvCxnSpPr/>
            <p:nvPr/>
          </p:nvCxnSpPr>
          <p:spPr>
            <a:xfrm>
              <a:off x="1104" y="3408"/>
              <a:ext cx="0" cy="432"/>
            </a:xfrm>
            <a:prstGeom prst="straightConnector1">
              <a:avLst/>
            </a:prstGeom>
            <a:noFill/>
            <a:ln w="9525" cap="flat" cmpd="sng">
              <a:solidFill>
                <a:schemeClr val="dk1"/>
              </a:solidFill>
              <a:prstDash val="solid"/>
              <a:miter lim="800000"/>
              <a:headEnd type="none" w="med" len="med"/>
              <a:tailEnd type="none" w="med" len="med"/>
            </a:ln>
          </p:spPr>
        </p:cxnSp>
      </p:grpSp>
      <p:grpSp>
        <p:nvGrpSpPr>
          <p:cNvPr id="296" name="Google Shape;296;p32"/>
          <p:cNvGrpSpPr/>
          <p:nvPr/>
        </p:nvGrpSpPr>
        <p:grpSpPr>
          <a:xfrm>
            <a:off x="6781800" y="4306490"/>
            <a:ext cx="1600200" cy="514350"/>
            <a:chOff x="432" y="3408"/>
            <a:chExt cx="1008" cy="432"/>
          </a:xfrm>
        </p:grpSpPr>
        <p:sp>
          <p:nvSpPr>
            <p:cNvPr id="297" name="Google Shape;297;p32"/>
            <p:cNvSpPr txBox="1"/>
            <p:nvPr/>
          </p:nvSpPr>
          <p:spPr>
            <a:xfrm>
              <a:off x="432" y="3408"/>
              <a:ext cx="1008" cy="43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298" name="Google Shape;298;p32"/>
            <p:cNvCxnSpPr/>
            <p:nvPr/>
          </p:nvCxnSpPr>
          <p:spPr>
            <a:xfrm>
              <a:off x="1104" y="3408"/>
              <a:ext cx="0" cy="432"/>
            </a:xfrm>
            <a:prstGeom prst="straightConnector1">
              <a:avLst/>
            </a:prstGeom>
            <a:noFill/>
            <a:ln w="9525" cap="flat" cmpd="sng">
              <a:solidFill>
                <a:schemeClr val="dk1"/>
              </a:solidFill>
              <a:prstDash val="solid"/>
              <a:miter lim="800000"/>
              <a:headEnd type="none" w="med" len="med"/>
              <a:tailEnd type="none" w="med" len="med"/>
            </a:ln>
          </p:spPr>
        </p:cxnSp>
      </p:grpSp>
      <p:cxnSp>
        <p:nvCxnSpPr>
          <p:cNvPr id="299" name="Google Shape;299;p32"/>
          <p:cNvCxnSpPr/>
          <p:nvPr/>
        </p:nvCxnSpPr>
        <p:spPr>
          <a:xfrm>
            <a:off x="2057400" y="4477940"/>
            <a:ext cx="609600" cy="0"/>
          </a:xfrm>
          <a:prstGeom prst="straightConnector1">
            <a:avLst/>
          </a:prstGeom>
          <a:noFill/>
          <a:ln w="38100" cap="flat" cmpd="sng">
            <a:solidFill>
              <a:schemeClr val="dk1"/>
            </a:solidFill>
            <a:prstDash val="solid"/>
            <a:miter lim="800000"/>
            <a:headEnd type="none" w="med" len="med"/>
            <a:tailEnd type="triangle" w="med" len="med"/>
          </a:ln>
        </p:spPr>
      </p:cxnSp>
      <p:cxnSp>
        <p:nvCxnSpPr>
          <p:cNvPr id="300" name="Google Shape;300;p32"/>
          <p:cNvCxnSpPr/>
          <p:nvPr/>
        </p:nvCxnSpPr>
        <p:spPr>
          <a:xfrm>
            <a:off x="4191000" y="4477940"/>
            <a:ext cx="609600" cy="0"/>
          </a:xfrm>
          <a:prstGeom prst="straightConnector1">
            <a:avLst/>
          </a:prstGeom>
          <a:noFill/>
          <a:ln w="38100" cap="flat" cmpd="sng">
            <a:solidFill>
              <a:schemeClr val="dk1"/>
            </a:solidFill>
            <a:prstDash val="solid"/>
            <a:miter lim="800000"/>
            <a:headEnd type="none" w="med" len="med"/>
            <a:tailEnd type="triangle" w="med" len="med"/>
          </a:ln>
        </p:spPr>
      </p:cxnSp>
      <p:cxnSp>
        <p:nvCxnSpPr>
          <p:cNvPr id="301" name="Google Shape;301;p32"/>
          <p:cNvCxnSpPr/>
          <p:nvPr/>
        </p:nvCxnSpPr>
        <p:spPr>
          <a:xfrm>
            <a:off x="6172200" y="4477940"/>
            <a:ext cx="609600" cy="0"/>
          </a:xfrm>
          <a:prstGeom prst="straightConnector1">
            <a:avLst/>
          </a:prstGeom>
          <a:noFill/>
          <a:ln w="38100" cap="flat" cmpd="sng">
            <a:solidFill>
              <a:schemeClr val="dk1"/>
            </a:solidFill>
            <a:prstDash val="solid"/>
            <a:miter lim="800000"/>
            <a:headEnd type="none" w="med" len="med"/>
            <a:tailEnd type="triangle" w="med" len="med"/>
          </a:ln>
        </p:spPr>
      </p:cxnSp>
      <p:cxnSp>
        <p:nvCxnSpPr>
          <p:cNvPr id="302" name="Google Shape;302;p32"/>
          <p:cNvCxnSpPr/>
          <p:nvPr/>
        </p:nvCxnSpPr>
        <p:spPr>
          <a:xfrm flipH="1">
            <a:off x="1905000" y="4020740"/>
            <a:ext cx="533400" cy="285750"/>
          </a:xfrm>
          <a:prstGeom prst="straightConnector1">
            <a:avLst/>
          </a:prstGeom>
          <a:noFill/>
          <a:ln w="38100" cap="flat" cmpd="sng">
            <a:solidFill>
              <a:schemeClr val="dk1"/>
            </a:solidFill>
            <a:prstDash val="solid"/>
            <a:miter lim="800000"/>
            <a:headEnd type="none" w="med" len="med"/>
            <a:tailEnd type="triangle" w="med" len="med"/>
          </a:ln>
        </p:spPr>
      </p:cxnSp>
      <p:sp>
        <p:nvSpPr>
          <p:cNvPr id="303" name="Google Shape;303;p32"/>
          <p:cNvSpPr txBox="1"/>
          <p:nvPr/>
        </p:nvSpPr>
        <p:spPr>
          <a:xfrm>
            <a:off x="2560050" y="3829806"/>
            <a:ext cx="757200" cy="369300"/>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first</a:t>
            </a:r>
            <a:endParaRPr/>
          </a:p>
        </p:txBody>
      </p:sp>
      <p:cxnSp>
        <p:nvCxnSpPr>
          <p:cNvPr id="304" name="Google Shape;304;p32"/>
          <p:cNvCxnSpPr/>
          <p:nvPr/>
        </p:nvCxnSpPr>
        <p:spPr>
          <a:xfrm>
            <a:off x="6477000" y="3906440"/>
            <a:ext cx="838200" cy="400050"/>
          </a:xfrm>
          <a:prstGeom prst="straightConnector1">
            <a:avLst/>
          </a:prstGeom>
          <a:noFill/>
          <a:ln w="38100" cap="flat" cmpd="sng">
            <a:solidFill>
              <a:schemeClr val="dk1"/>
            </a:solidFill>
            <a:prstDash val="solid"/>
            <a:miter lim="800000"/>
            <a:headEnd type="none" w="med" len="med"/>
            <a:tailEnd type="triangle" w="med" len="med"/>
          </a:ln>
        </p:spPr>
      </p:cxnSp>
      <p:sp>
        <p:nvSpPr>
          <p:cNvPr id="305" name="Google Shape;305;p32"/>
          <p:cNvSpPr txBox="1"/>
          <p:nvPr/>
        </p:nvSpPr>
        <p:spPr>
          <a:xfrm>
            <a:off x="5943600" y="3563540"/>
            <a:ext cx="738187" cy="38933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last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3"/>
          <p:cNvSpPr txBox="1">
            <a:spLocks noGrp="1"/>
          </p:cNvSpPr>
          <p:nvPr>
            <p:ph type="title"/>
          </p:nvPr>
        </p:nvSpPr>
        <p:spPr>
          <a:xfrm>
            <a:off x="457200" y="205978"/>
            <a:ext cx="8229600" cy="479700"/>
          </a:xfrm>
          <a:prstGeom prst="rect">
            <a:avLst/>
          </a:prstGeom>
          <a:noFill/>
          <a:ln>
            <a:noFill/>
          </a:ln>
        </p:spPr>
        <p:txBody>
          <a:bodyPr spcFirstLastPara="1" wrap="square" lIns="0" tIns="45700" rIns="0" bIns="0" anchor="b" anchorCtr="0">
            <a:noAutofit/>
          </a:bodyPr>
          <a:lstStyle/>
          <a:p>
            <a:pPr marL="0" lvl="0" indent="0" algn="l" rtl="0">
              <a:lnSpc>
                <a:spcPct val="100000"/>
              </a:lnSpc>
              <a:spcBef>
                <a:spcPts val="0"/>
              </a:spcBef>
              <a:spcAft>
                <a:spcPts val="0"/>
              </a:spcAft>
              <a:buClr>
                <a:schemeClr val="dk2"/>
              </a:buClr>
              <a:buSzPts val="5000"/>
              <a:buFont typeface="Calibri"/>
              <a:buNone/>
            </a:pPr>
            <a:r>
              <a:rPr lang="en" sz="5000" b="0" i="0" u="none">
                <a:solidFill>
                  <a:schemeClr val="dk2"/>
                </a:solidFill>
                <a:latin typeface="Calibri"/>
                <a:ea typeface="Calibri"/>
                <a:cs typeface="Calibri"/>
                <a:sym typeface="Calibri"/>
              </a:rPr>
              <a:t>Tree</a:t>
            </a:r>
            <a:endParaRPr/>
          </a:p>
        </p:txBody>
      </p:sp>
      <p:sp>
        <p:nvSpPr>
          <p:cNvPr id="311" name="Google Shape;311;p33"/>
          <p:cNvSpPr txBox="1">
            <a:spLocks noGrp="1"/>
          </p:cNvSpPr>
          <p:nvPr>
            <p:ph type="body" idx="1"/>
          </p:nvPr>
        </p:nvSpPr>
        <p:spPr>
          <a:xfrm>
            <a:off x="457200" y="742950"/>
            <a:ext cx="8229600" cy="3851700"/>
          </a:xfrm>
          <a:prstGeom prst="rect">
            <a:avLst/>
          </a:prstGeom>
          <a:noFill/>
          <a:ln>
            <a:noFill/>
          </a:ln>
        </p:spPr>
        <p:txBody>
          <a:bodyPr spcFirstLastPara="1" wrap="square" lIns="91425" tIns="45700" rIns="91425" bIns="45700" anchor="t" anchorCtr="0">
            <a:noAutofit/>
          </a:bodyPr>
          <a:lstStyle/>
          <a:p>
            <a:pPr marL="273050" marR="0" lvl="0" indent="-273050" algn="l" rtl="0">
              <a:lnSpc>
                <a:spcPct val="100000"/>
              </a:lnSpc>
              <a:spcBef>
                <a:spcPts val="0"/>
              </a:spcBef>
              <a:spcAft>
                <a:spcPts val="0"/>
              </a:spcAft>
              <a:buClr>
                <a:srgbClr val="0BD0D9"/>
              </a:buClr>
              <a:buSzPts val="2280"/>
              <a:buFont typeface="Noto Sans Symbols"/>
              <a:buChar char="⚫"/>
            </a:pPr>
            <a:r>
              <a:rPr lang="en" sz="2400" b="0" i="0" u="none">
                <a:solidFill>
                  <a:schemeClr val="dk1"/>
                </a:solidFill>
                <a:latin typeface="Helvetica Neue"/>
                <a:ea typeface="Helvetica Neue"/>
                <a:cs typeface="Helvetica Neue"/>
                <a:sym typeface="Helvetica Neue"/>
              </a:rPr>
              <a:t>A </a:t>
            </a:r>
            <a:r>
              <a:rPr lang="en" sz="2400" b="1" i="1" u="none">
                <a:solidFill>
                  <a:schemeClr val="accent2"/>
                </a:solidFill>
                <a:latin typeface="Helvetica Neue"/>
                <a:ea typeface="Helvetica Neue"/>
                <a:cs typeface="Helvetica Neue"/>
                <a:sym typeface="Helvetica Neue"/>
              </a:rPr>
              <a:t>Tree</a:t>
            </a:r>
            <a:r>
              <a:rPr lang="en" sz="2400" b="1" i="1" u="none">
                <a:solidFill>
                  <a:schemeClr val="dk1"/>
                </a:solidFill>
                <a:latin typeface="Helvetica Neue"/>
                <a:ea typeface="Helvetica Neue"/>
                <a:cs typeface="Helvetica Neue"/>
                <a:sym typeface="Helvetica Neue"/>
              </a:rPr>
              <a:t> </a:t>
            </a:r>
            <a:r>
              <a:rPr lang="en" sz="2400" b="0" i="0" u="none">
                <a:solidFill>
                  <a:schemeClr val="dk1"/>
                </a:solidFill>
                <a:latin typeface="Helvetica Neue"/>
                <a:ea typeface="Helvetica Neue"/>
                <a:cs typeface="Helvetica Neue"/>
                <a:sym typeface="Helvetica Neue"/>
              </a:rPr>
              <a:t>is a collection of elements called </a:t>
            </a:r>
            <a:r>
              <a:rPr lang="en" sz="2400" b="1" i="1" u="none">
                <a:solidFill>
                  <a:schemeClr val="accent2"/>
                </a:solidFill>
                <a:latin typeface="Helvetica Neue"/>
                <a:ea typeface="Helvetica Neue"/>
                <a:cs typeface="Helvetica Neue"/>
                <a:sym typeface="Helvetica Neue"/>
              </a:rPr>
              <a:t>nodes</a:t>
            </a:r>
            <a:r>
              <a:rPr lang="en" sz="2400" b="1" i="1" u="none">
                <a:solidFill>
                  <a:schemeClr val="dk1"/>
                </a:solidFill>
                <a:latin typeface="Helvetica Neue"/>
                <a:ea typeface="Helvetica Neue"/>
                <a:cs typeface="Helvetica Neue"/>
                <a:sym typeface="Helvetica Neue"/>
              </a:rPr>
              <a:t>.</a:t>
            </a:r>
            <a:endParaRPr sz="2400" b="0" i="1" u="none">
              <a:solidFill>
                <a:schemeClr val="dk1"/>
              </a:solidFill>
              <a:latin typeface="Helvetica Neue"/>
              <a:ea typeface="Helvetica Neue"/>
              <a:cs typeface="Helvetica Neue"/>
              <a:sym typeface="Helvetica Neue"/>
            </a:endParaRPr>
          </a:p>
          <a:p>
            <a:pPr marL="273050" marR="0" lvl="0" indent="-273050" algn="l" rtl="0">
              <a:lnSpc>
                <a:spcPct val="100000"/>
              </a:lnSpc>
              <a:spcBef>
                <a:spcPts val="480"/>
              </a:spcBef>
              <a:spcAft>
                <a:spcPts val="0"/>
              </a:spcAft>
              <a:buClr>
                <a:srgbClr val="0BD0D9"/>
              </a:buClr>
              <a:buSzPts val="2280"/>
              <a:buFont typeface="Noto Sans Symbols"/>
              <a:buChar char="⚫"/>
            </a:pPr>
            <a:r>
              <a:rPr lang="en" sz="2400" b="0" i="0" u="none">
                <a:solidFill>
                  <a:schemeClr val="dk1"/>
                </a:solidFill>
                <a:latin typeface="Helvetica Neue"/>
                <a:ea typeface="Helvetica Neue"/>
                <a:cs typeface="Helvetica Neue"/>
                <a:sym typeface="Helvetica Neue"/>
              </a:rPr>
              <a:t>One of the node is distinguished as a </a:t>
            </a:r>
            <a:r>
              <a:rPr lang="en" sz="2400" b="1" i="1" u="none">
                <a:solidFill>
                  <a:schemeClr val="accent2"/>
                </a:solidFill>
                <a:latin typeface="Helvetica Neue"/>
                <a:ea typeface="Helvetica Neue"/>
                <a:cs typeface="Helvetica Neue"/>
                <a:sym typeface="Helvetica Neue"/>
              </a:rPr>
              <a:t>root</a:t>
            </a:r>
            <a:r>
              <a:rPr lang="en" sz="2400" b="0" i="0" u="none">
                <a:solidFill>
                  <a:schemeClr val="dk1"/>
                </a:solidFill>
                <a:latin typeface="Helvetica Neue"/>
                <a:ea typeface="Helvetica Neue"/>
                <a:cs typeface="Helvetica Neue"/>
                <a:sym typeface="Helvetica Neue"/>
              </a:rPr>
              <a:t>, along with a relation (“parenthood”) that places a hierarchical structure on the nodes.</a:t>
            </a:r>
            <a:endParaRPr/>
          </a:p>
          <a:p>
            <a:pPr marL="273050" marR="0" lvl="0" indent="-128270" algn="l" rtl="0">
              <a:lnSpc>
                <a:spcPct val="100000"/>
              </a:lnSpc>
              <a:spcBef>
                <a:spcPts val="480"/>
              </a:spcBef>
              <a:spcAft>
                <a:spcPts val="0"/>
              </a:spcAft>
              <a:buClr>
                <a:srgbClr val="0BD0D9"/>
              </a:buClr>
              <a:buSzPts val="2280"/>
              <a:buFont typeface="Noto Sans Symbols"/>
              <a:buNone/>
            </a:pPr>
            <a:endParaRPr sz="2400" b="0" i="0" u="none">
              <a:solidFill>
                <a:schemeClr val="dk1"/>
              </a:solidFill>
              <a:latin typeface="Helvetica Neue"/>
              <a:ea typeface="Helvetica Neue"/>
              <a:cs typeface="Helvetica Neue"/>
              <a:sym typeface="Helvetica Neue"/>
            </a:endParaRPr>
          </a:p>
          <a:p>
            <a:pPr marL="274320" marR="0" lvl="0" indent="-129540" algn="l" rtl="0">
              <a:spcBef>
                <a:spcPts val="480"/>
              </a:spcBef>
              <a:spcAft>
                <a:spcPts val="1200"/>
              </a:spcAft>
              <a:buClr>
                <a:schemeClr val="accent3"/>
              </a:buClr>
              <a:buSzPts val="2280"/>
              <a:buFont typeface="Noto Sans Symbols"/>
              <a:buNone/>
            </a:pPr>
            <a:endParaRPr sz="2400" b="0" i="0" u="none">
              <a:solidFill>
                <a:schemeClr val="dk1"/>
              </a:solidFill>
              <a:latin typeface="Helvetica Neue"/>
              <a:ea typeface="Helvetica Neue"/>
              <a:cs typeface="Helvetica Neue"/>
              <a:sym typeface="Helvetica Neue"/>
            </a:endParaRPr>
          </a:p>
        </p:txBody>
      </p:sp>
      <p:sp>
        <p:nvSpPr>
          <p:cNvPr id="312" name="Google Shape;312;p33"/>
          <p:cNvSpPr txBox="1"/>
          <p:nvPr/>
        </p:nvSpPr>
        <p:spPr>
          <a:xfrm>
            <a:off x="4267200" y="2628900"/>
            <a:ext cx="1219200" cy="628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313" name="Google Shape;313;p33"/>
          <p:cNvCxnSpPr/>
          <p:nvPr/>
        </p:nvCxnSpPr>
        <p:spPr>
          <a:xfrm>
            <a:off x="4267200" y="2914650"/>
            <a:ext cx="1219200" cy="0"/>
          </a:xfrm>
          <a:prstGeom prst="straightConnector1">
            <a:avLst/>
          </a:prstGeom>
          <a:noFill/>
          <a:ln w="9525" cap="flat" cmpd="sng">
            <a:solidFill>
              <a:schemeClr val="dk1"/>
            </a:solidFill>
            <a:prstDash val="solid"/>
            <a:miter lim="800000"/>
            <a:headEnd type="none" w="med" len="med"/>
            <a:tailEnd type="none" w="med" len="med"/>
          </a:ln>
        </p:spPr>
      </p:cxnSp>
      <p:cxnSp>
        <p:nvCxnSpPr>
          <p:cNvPr id="314" name="Google Shape;314;p33"/>
          <p:cNvCxnSpPr/>
          <p:nvPr/>
        </p:nvCxnSpPr>
        <p:spPr>
          <a:xfrm>
            <a:off x="4876800" y="2914650"/>
            <a:ext cx="0" cy="342900"/>
          </a:xfrm>
          <a:prstGeom prst="straightConnector1">
            <a:avLst/>
          </a:prstGeom>
          <a:noFill/>
          <a:ln w="9525" cap="flat" cmpd="sng">
            <a:solidFill>
              <a:schemeClr val="dk1"/>
            </a:solidFill>
            <a:prstDash val="solid"/>
            <a:miter lim="800000"/>
            <a:headEnd type="none" w="med" len="med"/>
            <a:tailEnd type="none" w="med" len="med"/>
          </a:ln>
        </p:spPr>
      </p:cxnSp>
      <p:cxnSp>
        <p:nvCxnSpPr>
          <p:cNvPr id="315" name="Google Shape;315;p33"/>
          <p:cNvCxnSpPr/>
          <p:nvPr/>
        </p:nvCxnSpPr>
        <p:spPr>
          <a:xfrm flipH="1">
            <a:off x="4114800" y="3143250"/>
            <a:ext cx="457200" cy="400200"/>
          </a:xfrm>
          <a:prstGeom prst="straightConnector1">
            <a:avLst/>
          </a:prstGeom>
          <a:noFill/>
          <a:ln w="38100" cap="flat" cmpd="sng">
            <a:solidFill>
              <a:schemeClr val="dk1"/>
            </a:solidFill>
            <a:prstDash val="solid"/>
            <a:miter lim="800000"/>
            <a:headEnd type="none" w="med" len="med"/>
            <a:tailEnd type="triangle" w="med" len="med"/>
          </a:ln>
        </p:spPr>
      </p:cxnSp>
      <p:cxnSp>
        <p:nvCxnSpPr>
          <p:cNvPr id="316" name="Google Shape;316;p33"/>
          <p:cNvCxnSpPr/>
          <p:nvPr/>
        </p:nvCxnSpPr>
        <p:spPr>
          <a:xfrm>
            <a:off x="5334000" y="3143250"/>
            <a:ext cx="685800" cy="400200"/>
          </a:xfrm>
          <a:prstGeom prst="straightConnector1">
            <a:avLst/>
          </a:prstGeom>
          <a:noFill/>
          <a:ln w="38100" cap="flat" cmpd="sng">
            <a:solidFill>
              <a:schemeClr val="dk1"/>
            </a:solidFill>
            <a:prstDash val="solid"/>
            <a:miter lim="800000"/>
            <a:headEnd type="none" w="med" len="med"/>
            <a:tailEnd type="triangle" w="med" len="med"/>
          </a:ln>
        </p:spPr>
      </p:cxnSp>
      <p:sp>
        <p:nvSpPr>
          <p:cNvPr id="317" name="Google Shape;317;p33"/>
          <p:cNvSpPr txBox="1"/>
          <p:nvPr/>
        </p:nvSpPr>
        <p:spPr>
          <a:xfrm>
            <a:off x="5334000" y="3543300"/>
            <a:ext cx="1219200" cy="628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318" name="Google Shape;318;p33"/>
          <p:cNvCxnSpPr/>
          <p:nvPr/>
        </p:nvCxnSpPr>
        <p:spPr>
          <a:xfrm>
            <a:off x="5334000" y="3829050"/>
            <a:ext cx="1219200" cy="0"/>
          </a:xfrm>
          <a:prstGeom prst="straightConnector1">
            <a:avLst/>
          </a:prstGeom>
          <a:noFill/>
          <a:ln w="9525" cap="flat" cmpd="sng">
            <a:solidFill>
              <a:schemeClr val="dk1"/>
            </a:solidFill>
            <a:prstDash val="solid"/>
            <a:miter lim="800000"/>
            <a:headEnd type="none" w="med" len="med"/>
            <a:tailEnd type="none" w="med" len="med"/>
          </a:ln>
        </p:spPr>
      </p:cxnSp>
      <p:cxnSp>
        <p:nvCxnSpPr>
          <p:cNvPr id="319" name="Google Shape;319;p33"/>
          <p:cNvCxnSpPr/>
          <p:nvPr/>
        </p:nvCxnSpPr>
        <p:spPr>
          <a:xfrm>
            <a:off x="5943600" y="3829050"/>
            <a:ext cx="0" cy="342900"/>
          </a:xfrm>
          <a:prstGeom prst="straightConnector1">
            <a:avLst/>
          </a:prstGeom>
          <a:noFill/>
          <a:ln w="9525" cap="flat" cmpd="sng">
            <a:solidFill>
              <a:schemeClr val="dk1"/>
            </a:solidFill>
            <a:prstDash val="solid"/>
            <a:miter lim="800000"/>
            <a:headEnd type="none" w="med" len="med"/>
            <a:tailEnd type="none" w="med" len="med"/>
          </a:ln>
        </p:spPr>
      </p:cxnSp>
      <p:sp>
        <p:nvSpPr>
          <p:cNvPr id="320" name="Google Shape;320;p33"/>
          <p:cNvSpPr txBox="1"/>
          <p:nvPr/>
        </p:nvSpPr>
        <p:spPr>
          <a:xfrm>
            <a:off x="3048000" y="3543300"/>
            <a:ext cx="1219200" cy="628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321" name="Google Shape;321;p33"/>
          <p:cNvCxnSpPr/>
          <p:nvPr/>
        </p:nvCxnSpPr>
        <p:spPr>
          <a:xfrm>
            <a:off x="3048000" y="3829050"/>
            <a:ext cx="1219200" cy="0"/>
          </a:xfrm>
          <a:prstGeom prst="straightConnector1">
            <a:avLst/>
          </a:prstGeom>
          <a:noFill/>
          <a:ln w="9525" cap="flat" cmpd="sng">
            <a:solidFill>
              <a:schemeClr val="dk1"/>
            </a:solidFill>
            <a:prstDash val="solid"/>
            <a:miter lim="800000"/>
            <a:headEnd type="none" w="med" len="med"/>
            <a:tailEnd type="none" w="med" len="med"/>
          </a:ln>
        </p:spPr>
      </p:cxnSp>
      <p:cxnSp>
        <p:nvCxnSpPr>
          <p:cNvPr id="322" name="Google Shape;322;p33"/>
          <p:cNvCxnSpPr/>
          <p:nvPr/>
        </p:nvCxnSpPr>
        <p:spPr>
          <a:xfrm>
            <a:off x="3657600" y="3829050"/>
            <a:ext cx="0" cy="342900"/>
          </a:xfrm>
          <a:prstGeom prst="straightConnector1">
            <a:avLst/>
          </a:prstGeom>
          <a:noFill/>
          <a:ln w="9525" cap="flat" cmpd="sng">
            <a:solidFill>
              <a:schemeClr val="dk1"/>
            </a:solidFill>
            <a:prstDash val="solid"/>
            <a:miter lim="800000"/>
            <a:headEnd type="none" w="med" len="med"/>
            <a:tailEnd type="none" w="med" len="med"/>
          </a:ln>
        </p:spPr>
      </p:cxnSp>
      <p:cxnSp>
        <p:nvCxnSpPr>
          <p:cNvPr id="323" name="Google Shape;323;p33"/>
          <p:cNvCxnSpPr/>
          <p:nvPr/>
        </p:nvCxnSpPr>
        <p:spPr>
          <a:xfrm flipH="1">
            <a:off x="5257800" y="2228850"/>
            <a:ext cx="228600" cy="400200"/>
          </a:xfrm>
          <a:prstGeom prst="straightConnector1">
            <a:avLst/>
          </a:prstGeom>
          <a:noFill/>
          <a:ln w="38100" cap="flat" cmpd="sng">
            <a:solidFill>
              <a:schemeClr val="dk1"/>
            </a:solidFill>
            <a:prstDash val="solid"/>
            <a:miter lim="800000"/>
            <a:headEnd type="none" w="med" len="med"/>
            <a:tailEnd type="triangle" w="med" len="med"/>
          </a:ln>
        </p:spPr>
      </p:cxnSp>
      <p:sp>
        <p:nvSpPr>
          <p:cNvPr id="324" name="Google Shape;324;p33"/>
          <p:cNvSpPr txBox="1"/>
          <p:nvPr/>
        </p:nvSpPr>
        <p:spPr>
          <a:xfrm>
            <a:off x="4854575" y="1953815"/>
            <a:ext cx="936600" cy="389400"/>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chemeClr val="dk1"/>
              </a:buClr>
              <a:buSzPts val="1800"/>
              <a:buFont typeface="Arial"/>
              <a:buNone/>
            </a:pPr>
            <a:r>
              <a:rPr lang="en" sz="1800" b="0" i="0" u="none">
                <a:solidFill>
                  <a:schemeClr val="dk1"/>
                </a:solidFill>
                <a:latin typeface="Arial"/>
                <a:ea typeface="Arial"/>
                <a:cs typeface="Arial"/>
                <a:sym typeface="Arial"/>
              </a:rPr>
              <a:t>Root</a:t>
            </a:r>
            <a:endParaRPr/>
          </a:p>
        </p:txBody>
      </p:sp>
      <p:cxnSp>
        <p:nvCxnSpPr>
          <p:cNvPr id="325" name="Google Shape;325;p33"/>
          <p:cNvCxnSpPr/>
          <p:nvPr/>
        </p:nvCxnSpPr>
        <p:spPr>
          <a:xfrm flipH="1">
            <a:off x="2819400" y="4114800"/>
            <a:ext cx="457200" cy="171600"/>
          </a:xfrm>
          <a:prstGeom prst="straightConnector1">
            <a:avLst/>
          </a:prstGeom>
          <a:noFill/>
          <a:ln w="38100" cap="flat" cmpd="sng">
            <a:solidFill>
              <a:schemeClr val="dk1"/>
            </a:solidFill>
            <a:prstDash val="solid"/>
            <a:miter lim="800000"/>
            <a:headEnd type="none" w="med" len="med"/>
            <a:tailEnd type="triangle" w="med" len="med"/>
          </a:ln>
        </p:spPr>
      </p:cxnSp>
      <p:cxnSp>
        <p:nvCxnSpPr>
          <p:cNvPr id="326" name="Google Shape;326;p33"/>
          <p:cNvCxnSpPr/>
          <p:nvPr/>
        </p:nvCxnSpPr>
        <p:spPr>
          <a:xfrm>
            <a:off x="4038600" y="4057650"/>
            <a:ext cx="685800" cy="228600"/>
          </a:xfrm>
          <a:prstGeom prst="straightConnector1">
            <a:avLst/>
          </a:prstGeom>
          <a:noFill/>
          <a:ln w="38100" cap="flat" cmpd="sng">
            <a:solidFill>
              <a:schemeClr val="dk1"/>
            </a:solidFill>
            <a:prstDash val="solid"/>
            <a:miter lim="800000"/>
            <a:headEnd type="none" w="med" len="med"/>
            <a:tailEnd type="triangle" w="med" len="med"/>
          </a:ln>
        </p:spPr>
      </p:cxnSp>
      <p:sp>
        <p:nvSpPr>
          <p:cNvPr id="327" name="Google Shape;327;p33"/>
          <p:cNvSpPr txBox="1"/>
          <p:nvPr/>
        </p:nvSpPr>
        <p:spPr>
          <a:xfrm>
            <a:off x="4038600" y="4286250"/>
            <a:ext cx="1219200" cy="628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328" name="Google Shape;328;p33"/>
          <p:cNvCxnSpPr/>
          <p:nvPr/>
        </p:nvCxnSpPr>
        <p:spPr>
          <a:xfrm>
            <a:off x="4038600" y="4572000"/>
            <a:ext cx="1219200" cy="0"/>
          </a:xfrm>
          <a:prstGeom prst="straightConnector1">
            <a:avLst/>
          </a:prstGeom>
          <a:noFill/>
          <a:ln w="9525" cap="flat" cmpd="sng">
            <a:solidFill>
              <a:schemeClr val="dk1"/>
            </a:solidFill>
            <a:prstDash val="solid"/>
            <a:miter lim="800000"/>
            <a:headEnd type="none" w="med" len="med"/>
            <a:tailEnd type="none" w="med" len="med"/>
          </a:ln>
        </p:spPr>
      </p:cxnSp>
      <p:cxnSp>
        <p:nvCxnSpPr>
          <p:cNvPr id="329" name="Google Shape;329;p33"/>
          <p:cNvCxnSpPr/>
          <p:nvPr/>
        </p:nvCxnSpPr>
        <p:spPr>
          <a:xfrm>
            <a:off x="4648200" y="4572000"/>
            <a:ext cx="0" cy="342900"/>
          </a:xfrm>
          <a:prstGeom prst="straightConnector1">
            <a:avLst/>
          </a:prstGeom>
          <a:noFill/>
          <a:ln w="9525" cap="flat" cmpd="sng">
            <a:solidFill>
              <a:schemeClr val="dk1"/>
            </a:solidFill>
            <a:prstDash val="solid"/>
            <a:miter lim="800000"/>
            <a:headEnd type="none" w="med" len="med"/>
            <a:tailEnd type="none" w="med" len="med"/>
          </a:ln>
        </p:spPr>
      </p:cxnSp>
      <p:sp>
        <p:nvSpPr>
          <p:cNvPr id="330" name="Google Shape;330;p33"/>
          <p:cNvSpPr txBox="1"/>
          <p:nvPr/>
        </p:nvSpPr>
        <p:spPr>
          <a:xfrm>
            <a:off x="1752600" y="4286250"/>
            <a:ext cx="1219200" cy="628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331" name="Google Shape;331;p33"/>
          <p:cNvCxnSpPr/>
          <p:nvPr/>
        </p:nvCxnSpPr>
        <p:spPr>
          <a:xfrm>
            <a:off x="1752600" y="4572000"/>
            <a:ext cx="1219200" cy="0"/>
          </a:xfrm>
          <a:prstGeom prst="straightConnector1">
            <a:avLst/>
          </a:prstGeom>
          <a:noFill/>
          <a:ln w="9525" cap="flat" cmpd="sng">
            <a:solidFill>
              <a:schemeClr val="dk1"/>
            </a:solidFill>
            <a:prstDash val="solid"/>
            <a:miter lim="800000"/>
            <a:headEnd type="none" w="med" len="med"/>
            <a:tailEnd type="none" w="med" len="med"/>
          </a:ln>
        </p:spPr>
      </p:cxnSp>
      <p:cxnSp>
        <p:nvCxnSpPr>
          <p:cNvPr id="332" name="Google Shape;332;p33"/>
          <p:cNvCxnSpPr/>
          <p:nvPr/>
        </p:nvCxnSpPr>
        <p:spPr>
          <a:xfrm>
            <a:off x="2362200" y="4572000"/>
            <a:ext cx="0" cy="342900"/>
          </a:xfrm>
          <a:prstGeom prst="straightConnector1">
            <a:avLst/>
          </a:prstGeom>
          <a:noFill/>
          <a:ln w="9525" cap="flat" cmpd="sng">
            <a:solidFill>
              <a:schemeClr val="dk1"/>
            </a:solidFill>
            <a:prstDash val="solid"/>
            <a:miter lim="800000"/>
            <a:headEnd type="none" w="med" len="med"/>
            <a:tailEnd type="none" w="med" len="med"/>
          </a:ln>
        </p:spPr>
      </p:cxnSp>
      <p:cxnSp>
        <p:nvCxnSpPr>
          <p:cNvPr id="333" name="Google Shape;333;p33"/>
          <p:cNvCxnSpPr/>
          <p:nvPr/>
        </p:nvCxnSpPr>
        <p:spPr>
          <a:xfrm>
            <a:off x="1752600" y="4572000"/>
            <a:ext cx="609600" cy="342900"/>
          </a:xfrm>
          <a:prstGeom prst="straightConnector1">
            <a:avLst/>
          </a:prstGeom>
          <a:noFill/>
          <a:ln w="9525" cap="flat" cmpd="sng">
            <a:solidFill>
              <a:schemeClr val="dk1"/>
            </a:solidFill>
            <a:prstDash val="solid"/>
            <a:miter lim="800000"/>
            <a:headEnd type="none" w="med" len="med"/>
            <a:tailEnd type="none" w="med" len="med"/>
          </a:ln>
        </p:spPr>
      </p:cxnSp>
      <p:cxnSp>
        <p:nvCxnSpPr>
          <p:cNvPr id="334" name="Google Shape;334;p33"/>
          <p:cNvCxnSpPr/>
          <p:nvPr/>
        </p:nvCxnSpPr>
        <p:spPr>
          <a:xfrm>
            <a:off x="2362200" y="4572000"/>
            <a:ext cx="609600" cy="342900"/>
          </a:xfrm>
          <a:prstGeom prst="straightConnector1">
            <a:avLst/>
          </a:prstGeom>
          <a:noFill/>
          <a:ln w="9525" cap="flat" cmpd="sng">
            <a:solidFill>
              <a:schemeClr val="dk1"/>
            </a:solidFill>
            <a:prstDash val="solid"/>
            <a:miter lim="800000"/>
            <a:headEnd type="none" w="med" len="med"/>
            <a:tailEnd type="none" w="med" len="med"/>
          </a:ln>
        </p:spPr>
      </p:cxnSp>
      <p:cxnSp>
        <p:nvCxnSpPr>
          <p:cNvPr id="335" name="Google Shape;335;p33"/>
          <p:cNvCxnSpPr/>
          <p:nvPr/>
        </p:nvCxnSpPr>
        <p:spPr>
          <a:xfrm>
            <a:off x="4038600" y="4572000"/>
            <a:ext cx="609600" cy="342900"/>
          </a:xfrm>
          <a:prstGeom prst="straightConnector1">
            <a:avLst/>
          </a:prstGeom>
          <a:noFill/>
          <a:ln w="9525" cap="flat" cmpd="sng">
            <a:solidFill>
              <a:schemeClr val="dk1"/>
            </a:solidFill>
            <a:prstDash val="solid"/>
            <a:miter lim="800000"/>
            <a:headEnd type="none" w="med" len="med"/>
            <a:tailEnd type="none" w="med" len="med"/>
          </a:ln>
        </p:spPr>
      </p:cxnSp>
      <p:cxnSp>
        <p:nvCxnSpPr>
          <p:cNvPr id="336" name="Google Shape;336;p33"/>
          <p:cNvCxnSpPr/>
          <p:nvPr/>
        </p:nvCxnSpPr>
        <p:spPr>
          <a:xfrm>
            <a:off x="4648200" y="4572000"/>
            <a:ext cx="609600" cy="342900"/>
          </a:xfrm>
          <a:prstGeom prst="straightConnector1">
            <a:avLst/>
          </a:prstGeom>
          <a:noFill/>
          <a:ln w="9525" cap="flat" cmpd="sng">
            <a:solidFill>
              <a:schemeClr val="dk1"/>
            </a:solidFill>
            <a:prstDash val="solid"/>
            <a:miter lim="800000"/>
            <a:headEnd type="none" w="med" len="med"/>
            <a:tailEnd type="none" w="med" len="med"/>
          </a:ln>
        </p:spPr>
      </p:cxnSp>
      <p:cxnSp>
        <p:nvCxnSpPr>
          <p:cNvPr id="337" name="Google Shape;337;p33"/>
          <p:cNvCxnSpPr/>
          <p:nvPr/>
        </p:nvCxnSpPr>
        <p:spPr>
          <a:xfrm>
            <a:off x="6324600" y="4057650"/>
            <a:ext cx="457200" cy="342900"/>
          </a:xfrm>
          <a:prstGeom prst="straightConnector1">
            <a:avLst/>
          </a:prstGeom>
          <a:noFill/>
          <a:ln w="38100" cap="flat" cmpd="sng">
            <a:solidFill>
              <a:schemeClr val="dk1"/>
            </a:solidFill>
            <a:prstDash val="solid"/>
            <a:miter lim="800000"/>
            <a:headEnd type="none" w="med" len="med"/>
            <a:tailEnd type="triangle" w="med" len="med"/>
          </a:ln>
        </p:spPr>
      </p:cxnSp>
      <p:sp>
        <p:nvSpPr>
          <p:cNvPr id="338" name="Google Shape;338;p33"/>
          <p:cNvSpPr txBox="1"/>
          <p:nvPr/>
        </p:nvSpPr>
        <p:spPr>
          <a:xfrm>
            <a:off x="6096000" y="4400550"/>
            <a:ext cx="1219200" cy="6288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339" name="Google Shape;339;p33"/>
          <p:cNvCxnSpPr/>
          <p:nvPr/>
        </p:nvCxnSpPr>
        <p:spPr>
          <a:xfrm>
            <a:off x="6096000" y="4686300"/>
            <a:ext cx="1219200" cy="0"/>
          </a:xfrm>
          <a:prstGeom prst="straightConnector1">
            <a:avLst/>
          </a:prstGeom>
          <a:noFill/>
          <a:ln w="9525" cap="flat" cmpd="sng">
            <a:solidFill>
              <a:schemeClr val="dk1"/>
            </a:solidFill>
            <a:prstDash val="solid"/>
            <a:miter lim="800000"/>
            <a:headEnd type="none" w="med" len="med"/>
            <a:tailEnd type="none" w="med" len="med"/>
          </a:ln>
        </p:spPr>
      </p:cxnSp>
      <p:cxnSp>
        <p:nvCxnSpPr>
          <p:cNvPr id="340" name="Google Shape;340;p33"/>
          <p:cNvCxnSpPr/>
          <p:nvPr/>
        </p:nvCxnSpPr>
        <p:spPr>
          <a:xfrm>
            <a:off x="6705600" y="4686300"/>
            <a:ext cx="609600" cy="342900"/>
          </a:xfrm>
          <a:prstGeom prst="straightConnector1">
            <a:avLst/>
          </a:prstGeom>
          <a:noFill/>
          <a:ln w="9525" cap="flat" cmpd="sng">
            <a:solidFill>
              <a:schemeClr val="dk1"/>
            </a:solidFill>
            <a:prstDash val="solid"/>
            <a:miter lim="800000"/>
            <a:headEnd type="none" w="med" len="med"/>
            <a:tailEnd type="none" w="med" len="med"/>
          </a:ln>
        </p:spPr>
      </p:cxnSp>
      <p:cxnSp>
        <p:nvCxnSpPr>
          <p:cNvPr id="341" name="Google Shape;341;p33"/>
          <p:cNvCxnSpPr/>
          <p:nvPr/>
        </p:nvCxnSpPr>
        <p:spPr>
          <a:xfrm>
            <a:off x="6705600" y="4686300"/>
            <a:ext cx="0" cy="342900"/>
          </a:xfrm>
          <a:prstGeom prst="straightConnector1">
            <a:avLst/>
          </a:prstGeom>
          <a:noFill/>
          <a:ln w="9525" cap="flat" cmpd="sng">
            <a:solidFill>
              <a:schemeClr val="dk1"/>
            </a:solidFill>
            <a:prstDash val="solid"/>
            <a:miter lim="800000"/>
            <a:headEnd type="none" w="med" len="med"/>
            <a:tailEnd type="none" w="med" len="med"/>
          </a:ln>
        </p:spPr>
      </p:cxnSp>
      <p:cxnSp>
        <p:nvCxnSpPr>
          <p:cNvPr id="342" name="Google Shape;342;p33"/>
          <p:cNvCxnSpPr/>
          <p:nvPr/>
        </p:nvCxnSpPr>
        <p:spPr>
          <a:xfrm>
            <a:off x="6096000" y="4686300"/>
            <a:ext cx="609600" cy="3429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3"/>
          <p:cNvPicPr>
            <a:picLocks noChangeAspect="1"/>
          </p:cNvPicPr>
          <p:nvPr/>
        </p:nvPicPr>
        <p:blipFill>
          <a:blip r:embed="rId2"/>
          <a:stretch>
            <a:fillRect/>
          </a:stretch>
        </p:blipFill>
        <p:spPr>
          <a:xfrm>
            <a:off x="834308" y="528638"/>
            <a:ext cx="7215082" cy="4150154"/>
          </a:xfrm>
          <a:prstGeom prst="rect">
            <a:avLst/>
          </a:prstGeom>
        </p:spPr>
      </p:pic>
      <p:sp>
        <p:nvSpPr>
          <p:cNvPr id="3" name="Text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02150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067912" y="680794"/>
            <a:ext cx="7315258" cy="4144835"/>
          </a:xfrm>
          <a:prstGeom prst="rect">
            <a:avLst/>
          </a:prstGeom>
        </p:spPr>
      </p:pic>
      <p:sp>
        <p:nvSpPr>
          <p:cNvPr id="5" name="Title 1"/>
          <p:cNvSpPr>
            <a:spLocks noGrp="1"/>
          </p:cNvSpPr>
          <p:nvPr>
            <p:ph type="body" idx="1"/>
          </p:nvPr>
        </p:nvSpPr>
        <p:spPr>
          <a:xfrm>
            <a:off x="457200" y="300038"/>
            <a:ext cx="8229600" cy="3864820"/>
          </a:xfrm>
        </p:spPr>
        <p:txBody>
          <a:bodyPr/>
          <a:lstStyle/>
          <a:p>
            <a:pPr marL="120015" indent="0">
              <a:buNone/>
            </a:pPr>
            <a:endParaRPr lang="en-IN" dirty="0"/>
          </a:p>
        </p:txBody>
      </p:sp>
    </p:spTree>
    <p:extLst>
      <p:ext uri="{BB962C8B-B14F-4D97-AF65-F5344CB8AC3E}">
        <p14:creationId xmlns:p14="http://schemas.microsoft.com/office/powerpoint/2010/main" val="4261293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021190" y="674120"/>
            <a:ext cx="7428663" cy="5403678"/>
          </a:xfrm>
          <a:prstGeom prst="rect">
            <a:avLst/>
          </a:prstGeom>
        </p:spPr>
      </p:pic>
      <p:sp>
        <p:nvSpPr>
          <p:cNvPr id="5" name="Title 1"/>
          <p:cNvSpPr>
            <a:spLocks noGrp="1"/>
          </p:cNvSpPr>
          <p:nvPr>
            <p:ph type="body" idx="1"/>
          </p:nvPr>
        </p:nvSpPr>
        <p:spPr>
          <a:xfrm>
            <a:off x="550642" y="674120"/>
            <a:ext cx="8229600" cy="4570412"/>
          </a:xfrm>
        </p:spPr>
        <p:txBody>
          <a:bodyPr/>
          <a:lstStyle/>
          <a:p>
            <a:pPr marL="120015" indent="0">
              <a:buNone/>
            </a:pPr>
            <a:endParaRPr lang="en-IN" dirty="0"/>
          </a:p>
        </p:txBody>
      </p:sp>
    </p:spTree>
    <p:extLst>
      <p:ext uri="{BB962C8B-B14F-4D97-AF65-F5344CB8AC3E}">
        <p14:creationId xmlns:p14="http://schemas.microsoft.com/office/powerpoint/2010/main" val="4291359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734189" y="440515"/>
            <a:ext cx="7708993" cy="4303058"/>
          </a:xfrm>
          <a:prstGeom prst="rect">
            <a:avLst/>
          </a:prstGeom>
        </p:spPr>
      </p:pic>
    </p:spTree>
    <p:extLst>
      <p:ext uri="{BB962C8B-B14F-4D97-AF65-F5344CB8AC3E}">
        <p14:creationId xmlns:p14="http://schemas.microsoft.com/office/powerpoint/2010/main" val="1302244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53980" y="133350"/>
            <a:ext cx="8057822" cy="4445324"/>
          </a:xfrm>
          <a:prstGeom prst="rect">
            <a:avLst/>
          </a:prstGeom>
        </p:spPr>
      </p:pic>
      <p:sp>
        <p:nvSpPr>
          <p:cNvPr id="4" name="Title 1"/>
          <p:cNvSpPr>
            <a:spLocks noGrp="1"/>
          </p:cNvSpPr>
          <p:nvPr>
            <p:ph type="body" idx="1"/>
          </p:nvPr>
        </p:nvSpPr>
        <p:spPr>
          <a:xfrm>
            <a:off x="457200" y="133350"/>
            <a:ext cx="8229600" cy="4610100"/>
          </a:xfrm>
        </p:spPr>
        <p:txBody>
          <a:bodyPr/>
          <a:lstStyle/>
          <a:p>
            <a:pPr marL="120015" indent="0">
              <a:buNone/>
            </a:pPr>
            <a:endParaRPr lang="en-IN" dirty="0"/>
          </a:p>
        </p:txBody>
      </p:sp>
    </p:spTree>
    <p:extLst>
      <p:ext uri="{BB962C8B-B14F-4D97-AF65-F5344CB8AC3E}">
        <p14:creationId xmlns:p14="http://schemas.microsoft.com/office/powerpoint/2010/main" val="3961446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641353"/>
          </a:xfrm>
        </p:spPr>
        <p:txBody>
          <a:bodyPr/>
          <a:lstStyle/>
          <a:p>
            <a:pPr algn="ctr"/>
            <a:r>
              <a:rPr lang="en-US" dirty="0" smtClean="0"/>
              <a:t>SEARCHING</a:t>
            </a:r>
            <a:endParaRPr lang="en-IN" dirty="0"/>
          </a:p>
        </p:txBody>
      </p:sp>
      <p:pic>
        <p:nvPicPr>
          <p:cNvPr id="4" name="Picture 3"/>
          <p:cNvPicPr>
            <a:picLocks noChangeAspect="1"/>
          </p:cNvPicPr>
          <p:nvPr/>
        </p:nvPicPr>
        <p:blipFill>
          <a:blip r:embed="rId2"/>
          <a:stretch>
            <a:fillRect/>
          </a:stretch>
        </p:blipFill>
        <p:spPr>
          <a:xfrm>
            <a:off x="387118" y="1755380"/>
            <a:ext cx="8299681" cy="2402803"/>
          </a:xfrm>
          <a:prstGeom prst="rect">
            <a:avLst/>
          </a:prstGeom>
        </p:spPr>
      </p:pic>
      <p:sp>
        <p:nvSpPr>
          <p:cNvPr id="3" name="Text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35225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894377" y="694142"/>
            <a:ext cx="7488736" cy="4049429"/>
          </a:xfrm>
          <a:prstGeom prst="rect">
            <a:avLst/>
          </a:prstGeom>
        </p:spPr>
      </p:pic>
      <p:sp>
        <p:nvSpPr>
          <p:cNvPr id="3" name="Text Placeholder 2"/>
          <p:cNvSpPr>
            <a:spLocks noGrp="1"/>
          </p:cNvSpPr>
          <p:nvPr>
            <p:ph type="body" idx="1"/>
          </p:nvPr>
        </p:nvSpPr>
        <p:spPr>
          <a:xfrm>
            <a:off x="457200" y="100117"/>
            <a:ext cx="8112797" cy="4643455"/>
          </a:xfrm>
        </p:spPr>
        <p:txBody>
          <a:bodyPr/>
          <a:lstStyle/>
          <a:p>
            <a:pPr marL="120015" indent="0">
              <a:buNone/>
            </a:pPr>
            <a:endParaRPr lang="en-IN" dirty="0"/>
          </a:p>
        </p:txBody>
      </p:sp>
    </p:spTree>
    <p:extLst>
      <p:ext uri="{BB962C8B-B14F-4D97-AF65-F5344CB8AC3E}">
        <p14:creationId xmlns:p14="http://schemas.microsoft.com/office/powerpoint/2010/main" val="12989765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379088"/>
          </a:xfrm>
        </p:spPr>
        <p:txBody>
          <a:bodyPr/>
          <a:lstStyle/>
          <a:p>
            <a:pPr algn="ctr"/>
            <a:r>
              <a:rPr lang="en-US" dirty="0" smtClean="0"/>
              <a:t>Linear Search Algorithm</a:t>
            </a:r>
            <a:endParaRPr lang="en-IN" dirty="0"/>
          </a:p>
        </p:txBody>
      </p:sp>
      <p:sp>
        <p:nvSpPr>
          <p:cNvPr id="3" name="Text Placeholder 2"/>
          <p:cNvSpPr>
            <a:spLocks noGrp="1"/>
          </p:cNvSpPr>
          <p:nvPr>
            <p:ph type="body" idx="1"/>
          </p:nvPr>
        </p:nvSpPr>
        <p:spPr>
          <a:xfrm>
            <a:off x="457200" y="994493"/>
            <a:ext cx="8229600" cy="3749079"/>
          </a:xfrm>
        </p:spPr>
        <p:txBody>
          <a:bodyPr/>
          <a:lstStyle/>
          <a:p>
            <a:pPr algn="just" fontAlgn="base"/>
            <a:r>
              <a:rPr lang="en-US" sz="1600" b="1" u="sng" dirty="0">
                <a:latin typeface="Times New Roman" panose="02020603050405020304" pitchFamily="18" charset="0"/>
                <a:cs typeface="Times New Roman" panose="02020603050405020304" pitchFamily="18" charset="0"/>
                <a:hlinkClick r:id="rId2"/>
              </a:rPr>
              <a:t>Linear Search Algorithm</a:t>
            </a:r>
            <a:endParaRPr lang="en-US" sz="1600" b="1" dirty="0">
              <a:latin typeface="Times New Roman" panose="02020603050405020304" pitchFamily="18" charset="0"/>
              <a:cs typeface="Times New Roman" panose="02020603050405020304" pitchFamily="18" charset="0"/>
            </a:endParaRPr>
          </a:p>
          <a:p>
            <a:pPr algn="just" fontAlgn="base"/>
            <a:r>
              <a:rPr lang="en-US" sz="1600" dirty="0">
                <a:latin typeface="Times New Roman" panose="02020603050405020304" pitchFamily="18" charset="0"/>
                <a:cs typeface="Times New Roman" panose="02020603050405020304" pitchFamily="18" charset="0"/>
              </a:rPr>
              <a:t>To search for the given element using linear search, follow the below approach:</a:t>
            </a:r>
          </a:p>
          <a:p>
            <a:pPr algn="just" fontAlgn="base"/>
            <a:r>
              <a:rPr lang="en-US" sz="1600" dirty="0">
                <a:latin typeface="Times New Roman" panose="02020603050405020304" pitchFamily="18" charset="0"/>
                <a:cs typeface="Times New Roman" panose="02020603050405020304" pitchFamily="18" charset="0"/>
              </a:rPr>
              <a:t>Start traversing from the start of the dataset.</a:t>
            </a:r>
          </a:p>
          <a:p>
            <a:pPr algn="just" fontAlgn="base"/>
            <a:r>
              <a:rPr lang="en-US" sz="1600" dirty="0">
                <a:latin typeface="Times New Roman" panose="02020603050405020304" pitchFamily="18" charset="0"/>
                <a:cs typeface="Times New Roman" panose="02020603050405020304" pitchFamily="18" charset="0"/>
              </a:rPr>
              <a:t>Compare the current element with the </a:t>
            </a:r>
            <a:r>
              <a:rPr lang="en-US" sz="1600" b="1" dirty="0">
                <a:latin typeface="Times New Roman" panose="02020603050405020304" pitchFamily="18" charset="0"/>
                <a:cs typeface="Times New Roman" panose="02020603050405020304" pitchFamily="18" charset="0"/>
              </a:rPr>
              <a:t>key (element to be searched).</a:t>
            </a:r>
            <a:endParaRPr lang="en-US" sz="1600" dirty="0">
              <a:latin typeface="Times New Roman" panose="02020603050405020304" pitchFamily="18" charset="0"/>
              <a:cs typeface="Times New Roman" panose="02020603050405020304" pitchFamily="18" charset="0"/>
            </a:endParaRPr>
          </a:p>
          <a:p>
            <a:pPr algn="just" fontAlgn="base"/>
            <a:r>
              <a:rPr lang="en-US" sz="1600" dirty="0">
                <a:latin typeface="Times New Roman" panose="02020603050405020304" pitchFamily="18" charset="0"/>
                <a:cs typeface="Times New Roman" panose="02020603050405020304" pitchFamily="18" charset="0"/>
              </a:rPr>
              <a:t>If the element is equal to the </a:t>
            </a:r>
            <a:r>
              <a:rPr lang="en-US" sz="1600" b="1" dirty="0">
                <a:latin typeface="Times New Roman" panose="02020603050405020304" pitchFamily="18" charset="0"/>
                <a:cs typeface="Times New Roman" panose="02020603050405020304" pitchFamily="18" charset="0"/>
              </a:rPr>
              <a:t>key, </a:t>
            </a:r>
            <a:r>
              <a:rPr lang="en-US" sz="1600" dirty="0">
                <a:latin typeface="Times New Roman" panose="02020603050405020304" pitchFamily="18" charset="0"/>
                <a:cs typeface="Times New Roman" panose="02020603050405020304" pitchFamily="18" charset="0"/>
              </a:rPr>
              <a:t>return index.</a:t>
            </a:r>
          </a:p>
          <a:p>
            <a:pPr algn="just" fontAlgn="base"/>
            <a:r>
              <a:rPr lang="en-US" sz="1600" dirty="0">
                <a:latin typeface="Times New Roman" panose="02020603050405020304" pitchFamily="18" charset="0"/>
                <a:cs typeface="Times New Roman" panose="02020603050405020304" pitchFamily="18" charset="0"/>
              </a:rPr>
              <a:t>Else, increment the index and repeat the step 2 and 3.</a:t>
            </a:r>
          </a:p>
          <a:p>
            <a:pPr algn="just" fontAlgn="base"/>
            <a:r>
              <a:rPr lang="en-US" sz="1600" dirty="0">
                <a:latin typeface="Times New Roman" panose="02020603050405020304" pitchFamily="18" charset="0"/>
                <a:cs typeface="Times New Roman" panose="02020603050405020304" pitchFamily="18" charset="0"/>
              </a:rPr>
              <a:t>If we reach the </a:t>
            </a:r>
            <a:r>
              <a:rPr lang="en-US" sz="1600" b="1" dirty="0">
                <a:latin typeface="Times New Roman" panose="02020603050405020304" pitchFamily="18" charset="0"/>
                <a:cs typeface="Times New Roman" panose="02020603050405020304" pitchFamily="18" charset="0"/>
              </a:rPr>
              <a:t>end of the list</a:t>
            </a:r>
            <a:r>
              <a:rPr lang="en-US" sz="1600" dirty="0">
                <a:latin typeface="Times New Roman" panose="02020603050405020304" pitchFamily="18" charset="0"/>
                <a:cs typeface="Times New Roman" panose="02020603050405020304" pitchFamily="18" charset="0"/>
              </a:rPr>
              <a:t> without finding the element equal to the key, return some value to represent that the</a:t>
            </a:r>
            <a:r>
              <a:rPr lang="en-US" sz="1600" b="1" dirty="0">
                <a:latin typeface="Times New Roman" panose="02020603050405020304" pitchFamily="18" charset="0"/>
                <a:cs typeface="Times New Roman" panose="02020603050405020304" pitchFamily="18" charset="0"/>
              </a:rPr>
              <a:t> element is not found.</a:t>
            </a:r>
            <a:endParaRPr lang="en-US"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6439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34072" y="453864"/>
            <a:ext cx="7869181" cy="4078089"/>
          </a:xfrm>
          <a:prstGeom prst="rect">
            <a:avLst/>
          </a:prstGeom>
        </p:spPr>
      </p:pic>
    </p:spTree>
    <p:extLst>
      <p:ext uri="{BB962C8B-B14F-4D97-AF65-F5344CB8AC3E}">
        <p14:creationId xmlns:p14="http://schemas.microsoft.com/office/powerpoint/2010/main" val="821523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00818" y="487235"/>
            <a:ext cx="7722341" cy="4124812"/>
          </a:xfrm>
          <a:prstGeom prst="rect">
            <a:avLst/>
          </a:prstGeom>
        </p:spPr>
      </p:pic>
      <p:sp>
        <p:nvSpPr>
          <p:cNvPr id="3" name="Text Placeholder 2"/>
          <p:cNvSpPr>
            <a:spLocks noGrp="1"/>
          </p:cNvSpPr>
          <p:nvPr>
            <p:ph type="body" idx="1"/>
          </p:nvPr>
        </p:nvSpPr>
        <p:spPr>
          <a:xfrm>
            <a:off x="457200" y="340397"/>
            <a:ext cx="8229600" cy="4403175"/>
          </a:xfrm>
        </p:spPr>
        <p:txBody>
          <a:bodyPr/>
          <a:lstStyle/>
          <a:p>
            <a:endParaRPr lang="en-IN" dirty="0"/>
          </a:p>
        </p:txBody>
      </p:sp>
    </p:spTree>
    <p:extLst>
      <p:ext uri="{BB962C8B-B14F-4D97-AF65-F5344CB8AC3E}">
        <p14:creationId xmlns:p14="http://schemas.microsoft.com/office/powerpoint/2010/main" val="3675051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101284" y="440514"/>
            <a:ext cx="6776989" cy="4144835"/>
          </a:xfrm>
          <a:prstGeom prst="rect">
            <a:avLst/>
          </a:prstGeom>
        </p:spPr>
      </p:pic>
      <p:sp>
        <p:nvSpPr>
          <p:cNvPr id="5" name="Title 1"/>
          <p:cNvSpPr>
            <a:spLocks noGrp="1"/>
          </p:cNvSpPr>
          <p:nvPr>
            <p:ph type="body" idx="1"/>
          </p:nvPr>
        </p:nvSpPr>
        <p:spPr>
          <a:xfrm>
            <a:off x="457200" y="373063"/>
            <a:ext cx="8229600" cy="4370387"/>
          </a:xfrm>
        </p:spPr>
        <p:txBody>
          <a:bodyPr/>
          <a:lstStyle/>
          <a:p>
            <a:endParaRPr lang="en-IN" dirty="0"/>
          </a:p>
        </p:txBody>
      </p:sp>
    </p:spTree>
    <p:extLst>
      <p:ext uri="{BB962C8B-B14F-4D97-AF65-F5344CB8AC3E}">
        <p14:creationId xmlns:p14="http://schemas.microsoft.com/office/powerpoint/2010/main" val="3327124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74120" y="513933"/>
            <a:ext cx="7922575" cy="3951276"/>
          </a:xfrm>
          <a:prstGeom prst="rect">
            <a:avLst/>
          </a:prstGeom>
        </p:spPr>
      </p:pic>
      <p:sp>
        <p:nvSpPr>
          <p:cNvPr id="4" name="Title 1"/>
          <p:cNvSpPr>
            <a:spLocks noGrp="1"/>
          </p:cNvSpPr>
          <p:nvPr>
            <p:ph type="body" idx="1"/>
          </p:nvPr>
        </p:nvSpPr>
        <p:spPr>
          <a:xfrm>
            <a:off x="457200" y="327025"/>
            <a:ext cx="8229600" cy="4416425"/>
          </a:xfrm>
        </p:spPr>
        <p:txBody>
          <a:bodyPr/>
          <a:lstStyle/>
          <a:p>
            <a:endParaRPr lang="en-IN" dirty="0"/>
          </a:p>
        </p:txBody>
      </p:sp>
    </p:spTree>
    <p:extLst>
      <p:ext uri="{BB962C8B-B14F-4D97-AF65-F5344CB8AC3E}">
        <p14:creationId xmlns:p14="http://schemas.microsoft.com/office/powerpoint/2010/main" val="40637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body" idx="1"/>
          </p:nvPr>
        </p:nvSpPr>
        <p:spPr>
          <a:xfrm>
            <a:off x="457200" y="373063"/>
            <a:ext cx="8229600" cy="4370387"/>
          </a:xfrm>
        </p:spPr>
        <p:txBody>
          <a:bodyPr/>
          <a:lstStyle/>
          <a:p>
            <a:r>
              <a:rPr lang="en-IN" dirty="0"/>
              <a:t>https://www.programiz.com/online-compiler/8P7Mdww4clQGx</a:t>
            </a:r>
          </a:p>
        </p:txBody>
      </p:sp>
    </p:spTree>
    <p:extLst>
      <p:ext uri="{BB962C8B-B14F-4D97-AF65-F5344CB8AC3E}">
        <p14:creationId xmlns:p14="http://schemas.microsoft.com/office/powerpoint/2010/main" val="517916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Picture 3"/>
          <p:cNvPicPr>
            <a:picLocks noChangeAspect="1"/>
          </p:cNvPicPr>
          <p:nvPr/>
        </p:nvPicPr>
        <p:blipFill>
          <a:blip r:embed="rId2"/>
          <a:stretch>
            <a:fillRect/>
          </a:stretch>
        </p:blipFill>
        <p:spPr>
          <a:xfrm>
            <a:off x="700818" y="627400"/>
            <a:ext cx="7985982" cy="3697645"/>
          </a:xfrm>
          <a:prstGeom prst="rect">
            <a:avLst/>
          </a:prstGeom>
        </p:spPr>
      </p:pic>
      <p:sp>
        <p:nvSpPr>
          <p:cNvPr id="3" name="Text Placeholder 2"/>
          <p:cNvSpPr>
            <a:spLocks noGrp="1"/>
          </p:cNvSpPr>
          <p:nvPr>
            <p:ph type="body" idx="1"/>
          </p:nvPr>
        </p:nvSpPr>
        <p:spPr>
          <a:xfrm>
            <a:off x="457200" y="1127982"/>
            <a:ext cx="8229600" cy="3615590"/>
          </a:xfrm>
        </p:spPr>
        <p:txBody>
          <a:bodyPr/>
          <a:lstStyle/>
          <a:p>
            <a:endParaRPr lang="en-IN" dirty="0"/>
          </a:p>
        </p:txBody>
      </p:sp>
    </p:spTree>
    <p:extLst>
      <p:ext uri="{BB962C8B-B14F-4D97-AF65-F5344CB8AC3E}">
        <p14:creationId xmlns:p14="http://schemas.microsoft.com/office/powerpoint/2010/main" val="1670186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stretch>
            <a:fillRect/>
          </a:stretch>
        </p:blipFill>
        <p:spPr>
          <a:xfrm>
            <a:off x="-43507" y="-829150"/>
            <a:ext cx="9231013" cy="6801799"/>
          </a:xfrm>
          <a:prstGeom prst="rect">
            <a:avLst/>
          </a:prstGeom>
        </p:spPr>
      </p:pic>
    </p:spTree>
    <p:extLst>
      <p:ext uri="{BB962C8B-B14F-4D97-AF65-F5344CB8AC3E}">
        <p14:creationId xmlns:p14="http://schemas.microsoft.com/office/powerpoint/2010/main" val="4232265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3"/>
          <p:cNvPicPr>
            <a:picLocks noChangeAspect="1"/>
          </p:cNvPicPr>
          <p:nvPr/>
        </p:nvPicPr>
        <p:blipFill>
          <a:blip r:embed="rId2"/>
          <a:stretch>
            <a:fillRect/>
          </a:stretch>
        </p:blipFill>
        <p:spPr>
          <a:xfrm>
            <a:off x="981145" y="954447"/>
            <a:ext cx="7030498" cy="3403972"/>
          </a:xfrm>
          <a:prstGeom prst="rect">
            <a:avLst/>
          </a:prstGeom>
        </p:spPr>
      </p:pic>
      <p:sp>
        <p:nvSpPr>
          <p:cNvPr id="3" name="Text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50055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body" idx="1"/>
          </p:nvPr>
        </p:nvSpPr>
        <p:spPr>
          <a:xfrm>
            <a:off x="457200" y="414338"/>
            <a:ext cx="8229600" cy="4329112"/>
          </a:xfrm>
        </p:spPr>
        <p:txBody>
          <a:bodyPr/>
          <a:lstStyle/>
          <a:p>
            <a:pPr fontAlgn="base"/>
            <a:r>
              <a:rPr lang="en-US" sz="1400" b="1" dirty="0">
                <a:latin typeface="Times New Roman" panose="02020603050405020304" pitchFamily="18" charset="0"/>
                <a:cs typeface="Times New Roman" panose="02020603050405020304" pitchFamily="18" charset="0"/>
              </a:rPr>
              <a:t>How to Implement Binary Search Algorithm?</a:t>
            </a:r>
          </a:p>
          <a:p>
            <a:pPr marL="120015" indent="0" fontAlgn="base">
              <a:buNone/>
            </a:pPr>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Binary Search Algorithm</a:t>
            </a:r>
            <a:r>
              <a:rPr lang="en-US" sz="1400" dirty="0">
                <a:latin typeface="Times New Roman" panose="02020603050405020304" pitchFamily="18" charset="0"/>
                <a:cs typeface="Times New Roman" panose="02020603050405020304" pitchFamily="18" charset="0"/>
              </a:rPr>
              <a:t> can be implemented in the following two ways</a:t>
            </a:r>
          </a:p>
          <a:p>
            <a:pPr fontAlgn="base"/>
            <a:r>
              <a:rPr lang="en-US" sz="1400" dirty="0">
                <a:latin typeface="Times New Roman" panose="02020603050405020304" pitchFamily="18" charset="0"/>
                <a:cs typeface="Times New Roman" panose="02020603050405020304" pitchFamily="18" charset="0"/>
              </a:rPr>
              <a:t>Iterative Binary Search Algorithm</a:t>
            </a:r>
          </a:p>
          <a:p>
            <a:pPr fontAlgn="base"/>
            <a:r>
              <a:rPr lang="en-US" sz="1400" dirty="0">
                <a:latin typeface="Times New Roman" panose="02020603050405020304" pitchFamily="18" charset="0"/>
                <a:cs typeface="Times New Roman" panose="02020603050405020304" pitchFamily="18" charset="0"/>
              </a:rPr>
              <a:t>Recursive Binary Search Algorithm</a:t>
            </a:r>
          </a:p>
          <a:p>
            <a:pPr marL="120015" indent="0">
              <a:buNone/>
            </a:pPr>
            <a:endParaRPr lang="en-US" dirty="0" smtClean="0"/>
          </a:p>
          <a:p>
            <a:pPr marL="120015" indent="0">
              <a:buNone/>
            </a:pPr>
            <a:r>
              <a:rPr lang="en-US" dirty="0">
                <a:latin typeface="Times New Roman" panose="02020603050405020304" pitchFamily="18" charset="0"/>
                <a:cs typeface="Times New Roman" panose="02020603050405020304" pitchFamily="18" charset="0"/>
              </a:rPr>
              <a:t>Iterative Binary Search </a:t>
            </a:r>
            <a:r>
              <a:rPr lang="en-US" dirty="0" smtClean="0">
                <a:latin typeface="Times New Roman" panose="02020603050405020304" pitchFamily="18" charset="0"/>
                <a:cs typeface="Times New Roman" panose="02020603050405020304" pitchFamily="18" charset="0"/>
              </a:rPr>
              <a:t>Algorithm</a:t>
            </a:r>
          </a:p>
          <a:p>
            <a:pPr marL="120015" indent="0">
              <a:buNone/>
            </a:pPr>
            <a:r>
              <a:rPr lang="en-US" i="1" dirty="0"/>
              <a:t>we use a while loop to continue the process of comparing the key and splitting the search space in two halves.</a:t>
            </a:r>
            <a:endParaRPr lang="en-US" dirty="0">
              <a:latin typeface="Times New Roman" panose="02020603050405020304" pitchFamily="18" charset="0"/>
              <a:cs typeface="Times New Roman" panose="02020603050405020304" pitchFamily="18" charset="0"/>
            </a:endParaRPr>
          </a:p>
          <a:p>
            <a:pPr marL="120015" indent="0">
              <a:buNone/>
            </a:pPr>
            <a:endParaRPr lang="en-IN" dirty="0"/>
          </a:p>
        </p:txBody>
      </p:sp>
    </p:spTree>
    <p:extLst>
      <p:ext uri="{BB962C8B-B14F-4D97-AF65-F5344CB8AC3E}">
        <p14:creationId xmlns:p14="http://schemas.microsoft.com/office/powerpoint/2010/main" val="19227120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92086"/>
          </a:xfrm>
        </p:spPr>
        <p:txBody>
          <a:bodyPr/>
          <a:lstStyle/>
          <a:p>
            <a:endParaRPr lang="en-IN" dirty="0"/>
          </a:p>
        </p:txBody>
      </p:sp>
      <p:sp>
        <p:nvSpPr>
          <p:cNvPr id="3" name="Text Placeholder 2"/>
          <p:cNvSpPr>
            <a:spLocks noGrp="1"/>
          </p:cNvSpPr>
          <p:nvPr>
            <p:ph type="body" idx="1"/>
          </p:nvPr>
        </p:nvSpPr>
        <p:spPr>
          <a:xfrm>
            <a:off x="457200" y="620724"/>
            <a:ext cx="8229600" cy="4122848"/>
          </a:xfrm>
        </p:spPr>
        <p:txBody>
          <a:bodyPr/>
          <a:lstStyle/>
          <a:p>
            <a:pPr marL="120015" indent="0">
              <a:buNone/>
            </a:pPr>
            <a:r>
              <a:rPr lang="en-US" dirty="0">
                <a:latin typeface="Times New Roman" panose="02020603050405020304" pitchFamily="18" charset="0"/>
                <a:cs typeface="Times New Roman" panose="02020603050405020304" pitchFamily="18" charset="0"/>
              </a:rPr>
              <a:t>Recursive Binary Search Algorithm</a:t>
            </a:r>
          </a:p>
          <a:p>
            <a:pPr marL="120015" indent="0">
              <a:buNone/>
            </a:pPr>
            <a:r>
              <a:rPr lang="en-US" i="1" dirty="0"/>
              <a:t>Create a recursive function and compare the mid of the search space with the key. And based on the result either return the index where the key is found or call the recursive function for the next search space.</a:t>
            </a:r>
            <a:endParaRPr lang="en-IN" dirty="0"/>
          </a:p>
        </p:txBody>
      </p:sp>
    </p:spTree>
    <p:extLst>
      <p:ext uri="{BB962C8B-B14F-4D97-AF65-F5344CB8AC3E}">
        <p14:creationId xmlns:p14="http://schemas.microsoft.com/office/powerpoint/2010/main" val="3247993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301518" y="694142"/>
            <a:ext cx="7272178" cy="3878495"/>
          </a:xfrm>
          <a:prstGeom prst="rect">
            <a:avLst/>
          </a:prstGeom>
        </p:spPr>
      </p:pic>
      <p:sp>
        <p:nvSpPr>
          <p:cNvPr id="4" name="Title 1"/>
          <p:cNvSpPr>
            <a:spLocks noGrp="1"/>
          </p:cNvSpPr>
          <p:nvPr>
            <p:ph type="body" idx="1"/>
          </p:nvPr>
        </p:nvSpPr>
        <p:spPr>
          <a:xfrm>
            <a:off x="457200" y="574675"/>
            <a:ext cx="8229600" cy="4168775"/>
          </a:xfrm>
        </p:spPr>
        <p:txBody>
          <a:bodyPr/>
          <a:lstStyle/>
          <a:p>
            <a:endParaRPr lang="en-IN" dirty="0"/>
          </a:p>
        </p:txBody>
      </p:sp>
    </p:spTree>
    <p:extLst>
      <p:ext uri="{BB962C8B-B14F-4D97-AF65-F5344CB8AC3E}">
        <p14:creationId xmlns:p14="http://schemas.microsoft.com/office/powerpoint/2010/main" val="1136774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021190" y="647422"/>
            <a:ext cx="7108293" cy="3717670"/>
          </a:xfrm>
          <a:prstGeom prst="rect">
            <a:avLst/>
          </a:prstGeom>
        </p:spPr>
      </p:pic>
      <p:sp>
        <p:nvSpPr>
          <p:cNvPr id="5" name="Title 1"/>
          <p:cNvSpPr>
            <a:spLocks noGrp="1"/>
          </p:cNvSpPr>
          <p:nvPr>
            <p:ph type="body" idx="1"/>
          </p:nvPr>
        </p:nvSpPr>
        <p:spPr>
          <a:xfrm>
            <a:off x="457200" y="314325"/>
            <a:ext cx="8229600" cy="4429125"/>
          </a:xfrm>
        </p:spPr>
        <p:txBody>
          <a:bodyPr/>
          <a:lstStyle/>
          <a:p>
            <a:endParaRPr lang="en-IN" dirty="0"/>
          </a:p>
        </p:txBody>
      </p:sp>
    </p:spTree>
    <p:extLst>
      <p:ext uri="{BB962C8B-B14F-4D97-AF65-F5344CB8AC3E}">
        <p14:creationId xmlns:p14="http://schemas.microsoft.com/office/powerpoint/2010/main" val="1693319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348239" y="660770"/>
            <a:ext cx="5977508" cy="4082679"/>
          </a:xfrm>
          <a:prstGeom prst="rect">
            <a:avLst/>
          </a:prstGeom>
        </p:spPr>
      </p:pic>
      <p:sp>
        <p:nvSpPr>
          <p:cNvPr id="4" name="Title 1"/>
          <p:cNvSpPr>
            <a:spLocks noGrp="1"/>
          </p:cNvSpPr>
          <p:nvPr>
            <p:ph type="body" idx="1"/>
          </p:nvPr>
        </p:nvSpPr>
        <p:spPr>
          <a:xfrm>
            <a:off x="457200" y="520700"/>
            <a:ext cx="8229600" cy="4222750"/>
          </a:xfrm>
        </p:spPr>
        <p:txBody>
          <a:bodyPr/>
          <a:lstStyle/>
          <a:p>
            <a:endParaRPr lang="en-IN" dirty="0"/>
          </a:p>
        </p:txBody>
      </p:sp>
    </p:spTree>
    <p:extLst>
      <p:ext uri="{BB962C8B-B14F-4D97-AF65-F5344CB8AC3E}">
        <p14:creationId xmlns:p14="http://schemas.microsoft.com/office/powerpoint/2010/main" val="42896054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014517" y="433839"/>
            <a:ext cx="6914734" cy="4204906"/>
          </a:xfrm>
          <a:prstGeom prst="rect">
            <a:avLst/>
          </a:prstGeom>
        </p:spPr>
      </p:pic>
      <p:sp>
        <p:nvSpPr>
          <p:cNvPr id="4" name="Title 1"/>
          <p:cNvSpPr>
            <a:spLocks noGrp="1"/>
          </p:cNvSpPr>
          <p:nvPr>
            <p:ph type="body" idx="1"/>
          </p:nvPr>
        </p:nvSpPr>
        <p:spPr>
          <a:xfrm>
            <a:off x="457200" y="206375"/>
            <a:ext cx="8229600" cy="4537075"/>
          </a:xfrm>
        </p:spPr>
        <p:txBody>
          <a:bodyPr/>
          <a:lstStyle/>
          <a:p>
            <a:endParaRPr lang="en-IN" dirty="0"/>
          </a:p>
        </p:txBody>
      </p:sp>
    </p:spTree>
    <p:extLst>
      <p:ext uri="{BB962C8B-B14F-4D97-AF65-F5344CB8AC3E}">
        <p14:creationId xmlns:p14="http://schemas.microsoft.com/office/powerpoint/2010/main" val="42877703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754213" y="754213"/>
            <a:ext cx="7714694" cy="3343902"/>
          </a:xfrm>
          <a:prstGeom prst="rect">
            <a:avLst/>
          </a:prstGeom>
        </p:spPr>
      </p:pic>
      <p:sp>
        <p:nvSpPr>
          <p:cNvPr id="4" name="Title 1"/>
          <p:cNvSpPr>
            <a:spLocks noGrp="1"/>
          </p:cNvSpPr>
          <p:nvPr>
            <p:ph type="body" idx="1"/>
          </p:nvPr>
        </p:nvSpPr>
        <p:spPr>
          <a:xfrm>
            <a:off x="457200" y="427038"/>
            <a:ext cx="8229600" cy="4316412"/>
          </a:xfrm>
        </p:spPr>
        <p:txBody>
          <a:bodyPr/>
          <a:lstStyle/>
          <a:p>
            <a:endParaRPr lang="en-IN" dirty="0"/>
          </a:p>
        </p:txBody>
      </p:sp>
    </p:spTree>
    <p:extLst>
      <p:ext uri="{BB962C8B-B14F-4D97-AF65-F5344CB8AC3E}">
        <p14:creationId xmlns:p14="http://schemas.microsoft.com/office/powerpoint/2010/main" val="12611061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814283" y="620724"/>
            <a:ext cx="7549834" cy="4024695"/>
          </a:xfrm>
          <a:prstGeom prst="rect">
            <a:avLst/>
          </a:prstGeom>
        </p:spPr>
      </p:pic>
      <p:sp>
        <p:nvSpPr>
          <p:cNvPr id="5" name="Title 1"/>
          <p:cNvSpPr>
            <a:spLocks noGrp="1"/>
          </p:cNvSpPr>
          <p:nvPr>
            <p:ph type="body" idx="1"/>
          </p:nvPr>
        </p:nvSpPr>
        <p:spPr>
          <a:xfrm>
            <a:off x="457200" y="133350"/>
            <a:ext cx="8229600" cy="4610100"/>
          </a:xfrm>
        </p:spPr>
        <p:txBody>
          <a:bodyPr/>
          <a:lstStyle/>
          <a:p>
            <a:endParaRPr lang="en-IN" dirty="0"/>
          </a:p>
        </p:txBody>
      </p:sp>
    </p:spTree>
    <p:extLst>
      <p:ext uri="{BB962C8B-B14F-4D97-AF65-F5344CB8AC3E}">
        <p14:creationId xmlns:p14="http://schemas.microsoft.com/office/powerpoint/2010/main" val="25346274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dirty="0" smtClean="0">
                <a:hlinkClick r:id="rId2"/>
              </a:rPr>
              <a:t>Link For Iterative Method</a:t>
            </a:r>
            <a:endParaRPr lang="en-IN" dirty="0" smtClean="0">
              <a:hlinkClick r:id="rId2"/>
            </a:endParaRPr>
          </a:p>
          <a:p>
            <a:r>
              <a:rPr lang="en-IN" dirty="0" smtClean="0">
                <a:hlinkClick r:id="rId2"/>
              </a:rPr>
              <a:t>https</a:t>
            </a:r>
            <a:r>
              <a:rPr lang="en-IN" dirty="0">
                <a:hlinkClick r:id="rId2"/>
              </a:rPr>
              <a:t>://</a:t>
            </a:r>
            <a:r>
              <a:rPr lang="en-IN" dirty="0" smtClean="0">
                <a:hlinkClick r:id="rId2"/>
              </a:rPr>
              <a:t>www.programiz.com/online-compiler/5K06KIwmo1mSN</a:t>
            </a:r>
            <a:endParaRPr lang="en-IN" dirty="0" smtClean="0"/>
          </a:p>
          <a:p>
            <a:pPr marL="120015" indent="0">
              <a:buNone/>
            </a:pPr>
            <a:endParaRPr lang="en-IN" dirty="0" smtClean="0"/>
          </a:p>
          <a:p>
            <a:r>
              <a:rPr lang="en-US" dirty="0" smtClean="0"/>
              <a:t>Link For Recursive Method</a:t>
            </a:r>
          </a:p>
          <a:p>
            <a:r>
              <a:rPr lang="en-IN" dirty="0" smtClean="0"/>
              <a:t>https</a:t>
            </a:r>
            <a:r>
              <a:rPr lang="en-IN" dirty="0"/>
              <a:t>://www.programiz.com/online-compiler/3Hd9HvKqGLQ7z</a:t>
            </a:r>
          </a:p>
        </p:txBody>
      </p:sp>
    </p:spTree>
    <p:extLst>
      <p:ext uri="{BB962C8B-B14F-4D97-AF65-F5344CB8AC3E}">
        <p14:creationId xmlns:p14="http://schemas.microsoft.com/office/powerpoint/2010/main" val="29490617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425809"/>
          </a:xfrm>
        </p:spPr>
        <p:txBody>
          <a:bodyPr/>
          <a:lstStyle/>
          <a:p>
            <a:pPr algn="ctr"/>
            <a:r>
              <a:rPr lang="en-US" dirty="0" smtClean="0"/>
              <a:t>Bubble Sort</a:t>
            </a:r>
            <a:endParaRPr lang="en-IN" dirty="0"/>
          </a:p>
        </p:txBody>
      </p:sp>
      <p:sp>
        <p:nvSpPr>
          <p:cNvPr id="3" name="Text Placeholder 2"/>
          <p:cNvSpPr>
            <a:spLocks noGrp="1"/>
          </p:cNvSpPr>
          <p:nvPr>
            <p:ph type="body" idx="1"/>
          </p:nvPr>
        </p:nvSpPr>
        <p:spPr/>
        <p:txBody>
          <a:bodyPr/>
          <a:lstStyle/>
          <a:p>
            <a:r>
              <a:rPr lang="en-IN" dirty="0"/>
              <a:t>https://www.programiz.com/online-compiler/5G4RFPq67N49O</a:t>
            </a:r>
          </a:p>
        </p:txBody>
      </p:sp>
    </p:spTree>
    <p:extLst>
      <p:ext uri="{BB962C8B-B14F-4D97-AF65-F5344CB8AC3E}">
        <p14:creationId xmlns:p14="http://schemas.microsoft.com/office/powerpoint/2010/main" val="29812828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525926"/>
          </a:xfrm>
        </p:spPr>
        <p:txBody>
          <a:bodyPr/>
          <a:lstStyle/>
          <a:p>
            <a:pPr algn="ctr"/>
            <a:r>
              <a:rPr lang="en-US" dirty="0" smtClean="0"/>
              <a:t>Bubble Sort</a:t>
            </a:r>
            <a:endParaRPr lang="en-IN" dirty="0"/>
          </a:p>
        </p:txBody>
      </p:sp>
      <p:sp>
        <p:nvSpPr>
          <p:cNvPr id="3" name="Text Placeholder 2"/>
          <p:cNvSpPr>
            <a:spLocks noGrp="1"/>
          </p:cNvSpPr>
          <p:nvPr>
            <p:ph type="body" idx="1"/>
          </p:nvPr>
        </p:nvSpPr>
        <p:spPr>
          <a:xfrm>
            <a:off x="457200" y="1141331"/>
            <a:ext cx="8229600" cy="3602241"/>
          </a:xfrm>
        </p:spPr>
        <p:txBody>
          <a:bodyPr/>
          <a:lstStyle/>
          <a:p>
            <a:pPr marL="120015" indent="0">
              <a:buNone/>
            </a:pPr>
            <a:r>
              <a:rPr lang="en-US" dirty="0"/>
              <a:t>Bubble sort is a simple sorting algorithm. This sorting algorithm is comparison-based algorithm in which each pair of adjacent elements is compared and the elements are swapped if they are not in order. This algorithm is not suitable for large data sets as its average and worst case complexity are of O(n</a:t>
            </a:r>
            <a:r>
              <a:rPr lang="en-US" baseline="30000" dirty="0"/>
              <a:t>2</a:t>
            </a:r>
            <a:r>
              <a:rPr lang="en-US" dirty="0"/>
              <a:t>) where </a:t>
            </a:r>
            <a:r>
              <a:rPr lang="en-US" b="1" dirty="0"/>
              <a:t>n</a:t>
            </a:r>
            <a:r>
              <a:rPr lang="en-US" dirty="0"/>
              <a:t> is the number of items.</a:t>
            </a:r>
            <a:endParaRPr lang="en-IN" dirty="0"/>
          </a:p>
        </p:txBody>
      </p:sp>
    </p:spTree>
    <p:extLst>
      <p:ext uri="{BB962C8B-B14F-4D97-AF65-F5344CB8AC3E}">
        <p14:creationId xmlns:p14="http://schemas.microsoft.com/office/powerpoint/2010/main" val="1737312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07842" y="1621892"/>
            <a:ext cx="6556064" cy="2226745"/>
          </a:xfrm>
          <a:prstGeom prst="rect">
            <a:avLst/>
          </a:prstGeom>
        </p:spPr>
      </p:pic>
      <p:sp>
        <p:nvSpPr>
          <p:cNvPr id="3" name="Text Placeholder 2"/>
          <p:cNvSpPr>
            <a:spLocks noGrp="1"/>
          </p:cNvSpPr>
          <p:nvPr>
            <p:ph type="body" idx="1"/>
          </p:nvPr>
        </p:nvSpPr>
        <p:spPr>
          <a:xfrm>
            <a:off x="457200" y="827632"/>
            <a:ext cx="8229600" cy="3915940"/>
          </a:xfrm>
        </p:spPr>
        <p:txBody>
          <a:bodyPr/>
          <a:lstStyle/>
          <a:p>
            <a:endParaRPr lang="en-IN" dirty="0"/>
          </a:p>
        </p:txBody>
      </p:sp>
    </p:spTree>
    <p:extLst>
      <p:ext uri="{BB962C8B-B14F-4D97-AF65-F5344CB8AC3E}">
        <p14:creationId xmlns:p14="http://schemas.microsoft.com/office/powerpoint/2010/main" val="32691436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441682" y="725374"/>
            <a:ext cx="6131750" cy="3085157"/>
          </a:xfrm>
          <a:prstGeom prst="rect">
            <a:avLst/>
          </a:prstGeom>
        </p:spPr>
      </p:pic>
      <p:sp>
        <p:nvSpPr>
          <p:cNvPr id="4" name="Title 1"/>
          <p:cNvSpPr>
            <a:spLocks noGrp="1"/>
          </p:cNvSpPr>
          <p:nvPr>
            <p:ph type="body" idx="1"/>
          </p:nvPr>
        </p:nvSpPr>
        <p:spPr>
          <a:xfrm>
            <a:off x="457200" y="247650"/>
            <a:ext cx="8229600" cy="4495800"/>
          </a:xfrm>
        </p:spPr>
        <p:txBody>
          <a:bodyPr/>
          <a:lstStyle/>
          <a:p>
            <a:endParaRPr lang="en-IN" dirty="0"/>
          </a:p>
        </p:txBody>
      </p:sp>
    </p:spTree>
    <p:extLst>
      <p:ext uri="{BB962C8B-B14F-4D97-AF65-F5344CB8AC3E}">
        <p14:creationId xmlns:p14="http://schemas.microsoft.com/office/powerpoint/2010/main" val="23432057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15451" y="820299"/>
            <a:ext cx="6196192" cy="2799706"/>
          </a:xfrm>
          <a:prstGeom prst="rect">
            <a:avLst/>
          </a:prstGeom>
        </p:spPr>
      </p:pic>
      <p:sp>
        <p:nvSpPr>
          <p:cNvPr id="3" name="Text Placeholder 2"/>
          <p:cNvSpPr>
            <a:spLocks noGrp="1"/>
          </p:cNvSpPr>
          <p:nvPr>
            <p:ph type="body" idx="1"/>
          </p:nvPr>
        </p:nvSpPr>
        <p:spPr>
          <a:xfrm>
            <a:off x="457200" y="820299"/>
            <a:ext cx="8229600" cy="3923273"/>
          </a:xfrm>
        </p:spPr>
        <p:txBody>
          <a:bodyPr/>
          <a:lstStyle/>
          <a:p>
            <a:endParaRPr lang="en-IN" dirty="0"/>
          </a:p>
        </p:txBody>
      </p:sp>
    </p:spTree>
    <p:extLst>
      <p:ext uri="{BB962C8B-B14F-4D97-AF65-F5344CB8AC3E}">
        <p14:creationId xmlns:p14="http://schemas.microsoft.com/office/powerpoint/2010/main" val="34314703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body" idx="1"/>
          </p:nvPr>
        </p:nvSpPr>
        <p:spPr>
          <a:xfrm>
            <a:off x="457200" y="53975"/>
            <a:ext cx="8229600" cy="4689475"/>
          </a:xfrm>
        </p:spPr>
        <p:txBody>
          <a:bodyPr/>
          <a:lstStyle/>
          <a:p>
            <a:pPr algn="just"/>
            <a:r>
              <a:rPr lang="en-US" sz="1400" dirty="0">
                <a:latin typeface="Times New Roman" panose="02020603050405020304" pitchFamily="18" charset="0"/>
                <a:cs typeface="Times New Roman" panose="02020603050405020304" pitchFamily="18" charset="0"/>
              </a:rPr>
              <a:t>Bubble Sort Algorithm</a:t>
            </a:r>
          </a:p>
          <a:p>
            <a:pPr algn="just"/>
            <a:r>
              <a:rPr lang="en-US" sz="1400" dirty="0">
                <a:latin typeface="Times New Roman" panose="02020603050405020304" pitchFamily="18" charset="0"/>
                <a:cs typeface="Times New Roman" panose="02020603050405020304" pitchFamily="18" charset="0"/>
              </a:rPr>
              <a:t>Bubble Sort is an elementary sorting algorithm, which works by repeatedly exchanging adjacent elements, if necessary. When no exchanges are required, the file is sorted.</a:t>
            </a:r>
          </a:p>
          <a:p>
            <a:pPr algn="just"/>
            <a:r>
              <a:rPr lang="en-US" sz="1400" dirty="0">
                <a:latin typeface="Times New Roman" panose="02020603050405020304" pitchFamily="18" charset="0"/>
                <a:cs typeface="Times New Roman" panose="02020603050405020304" pitchFamily="18" charset="0"/>
              </a:rPr>
              <a:t>We assume </a:t>
            </a:r>
            <a:r>
              <a:rPr lang="en-US" sz="1400" b="1" dirty="0">
                <a:latin typeface="Times New Roman" panose="02020603050405020304" pitchFamily="18" charset="0"/>
                <a:cs typeface="Times New Roman" panose="02020603050405020304" pitchFamily="18" charset="0"/>
              </a:rPr>
              <a:t>list</a:t>
            </a:r>
            <a:r>
              <a:rPr lang="en-US" sz="1400" dirty="0">
                <a:latin typeface="Times New Roman" panose="02020603050405020304" pitchFamily="18" charset="0"/>
                <a:cs typeface="Times New Roman" panose="02020603050405020304" pitchFamily="18" charset="0"/>
              </a:rPr>
              <a:t> is an array of </a:t>
            </a:r>
            <a:r>
              <a:rPr lang="en-US" sz="1400" b="1" dirty="0">
                <a:latin typeface="Times New Roman" panose="02020603050405020304" pitchFamily="18" charset="0"/>
                <a:cs typeface="Times New Roman" panose="02020603050405020304" pitchFamily="18" charset="0"/>
              </a:rPr>
              <a:t>n</a:t>
            </a:r>
            <a:r>
              <a:rPr lang="en-US" sz="1400" dirty="0">
                <a:latin typeface="Times New Roman" panose="02020603050405020304" pitchFamily="18" charset="0"/>
                <a:cs typeface="Times New Roman" panose="02020603050405020304" pitchFamily="18" charset="0"/>
              </a:rPr>
              <a:t> elements. We further assume that </a:t>
            </a:r>
            <a:r>
              <a:rPr lang="en-US" sz="1400" b="1" dirty="0">
                <a:latin typeface="Times New Roman" panose="02020603050405020304" pitchFamily="18" charset="0"/>
                <a:cs typeface="Times New Roman" panose="02020603050405020304" pitchFamily="18" charset="0"/>
              </a:rPr>
              <a:t>swap</a:t>
            </a:r>
            <a:r>
              <a:rPr lang="en-US" sz="1400" dirty="0">
                <a:latin typeface="Times New Roman" panose="02020603050405020304" pitchFamily="18" charset="0"/>
                <a:cs typeface="Times New Roman" panose="02020603050405020304" pitchFamily="18" charset="0"/>
              </a:rPr>
              <a:t> function swaps the values of the given array elements.</a:t>
            </a:r>
          </a:p>
          <a:p>
            <a:pPr algn="just"/>
            <a:r>
              <a:rPr lang="en-US" sz="1400" b="1" dirty="0">
                <a:latin typeface="Times New Roman" panose="02020603050405020304" pitchFamily="18" charset="0"/>
                <a:cs typeface="Times New Roman" panose="02020603050405020304" pitchFamily="18" charset="0"/>
              </a:rPr>
              <a:t>Step 1 </a:t>
            </a:r>
            <a:r>
              <a:rPr lang="en-US" sz="1400" dirty="0">
                <a:latin typeface="Times New Roman" panose="02020603050405020304" pitchFamily="18" charset="0"/>
                <a:cs typeface="Times New Roman" panose="02020603050405020304" pitchFamily="18" charset="0"/>
              </a:rPr>
              <a:t>− Check if the first element in the input array is greater than the next element in the array.</a:t>
            </a:r>
          </a:p>
          <a:p>
            <a:pPr algn="just"/>
            <a:r>
              <a:rPr lang="en-US" sz="1400" b="1" dirty="0">
                <a:latin typeface="Times New Roman" panose="02020603050405020304" pitchFamily="18" charset="0"/>
                <a:cs typeface="Times New Roman" panose="02020603050405020304" pitchFamily="18" charset="0"/>
              </a:rPr>
              <a:t>Step 2 </a:t>
            </a:r>
            <a:r>
              <a:rPr lang="en-US" sz="1400" dirty="0">
                <a:latin typeface="Times New Roman" panose="02020603050405020304" pitchFamily="18" charset="0"/>
                <a:cs typeface="Times New Roman" panose="02020603050405020304" pitchFamily="18" charset="0"/>
              </a:rPr>
              <a:t>− If it is greater, swap the two elements; otherwise move the pointer forward in the array.</a:t>
            </a:r>
          </a:p>
          <a:p>
            <a:pPr algn="just"/>
            <a:r>
              <a:rPr lang="en-US" sz="1400" b="1" dirty="0">
                <a:latin typeface="Times New Roman" panose="02020603050405020304" pitchFamily="18" charset="0"/>
                <a:cs typeface="Times New Roman" panose="02020603050405020304" pitchFamily="18" charset="0"/>
              </a:rPr>
              <a:t>Step 3 </a:t>
            </a:r>
            <a:r>
              <a:rPr lang="en-US" sz="1400" dirty="0">
                <a:latin typeface="Times New Roman" panose="02020603050405020304" pitchFamily="18" charset="0"/>
                <a:cs typeface="Times New Roman" panose="02020603050405020304" pitchFamily="18" charset="0"/>
              </a:rPr>
              <a:t>− Repeat Step 2 until we reach the end of the array.</a:t>
            </a:r>
          </a:p>
          <a:p>
            <a:pPr algn="just"/>
            <a:r>
              <a:rPr lang="en-US" sz="1400" b="1" dirty="0">
                <a:latin typeface="Times New Roman" panose="02020603050405020304" pitchFamily="18" charset="0"/>
                <a:cs typeface="Times New Roman" panose="02020603050405020304" pitchFamily="18" charset="0"/>
              </a:rPr>
              <a:t>Step 4 </a:t>
            </a:r>
            <a:r>
              <a:rPr lang="en-US" sz="1400" dirty="0">
                <a:latin typeface="Times New Roman" panose="02020603050405020304" pitchFamily="18" charset="0"/>
                <a:cs typeface="Times New Roman" panose="02020603050405020304" pitchFamily="18" charset="0"/>
              </a:rPr>
              <a:t>− Check if the elements are sorted; if not, repeat the same process (Step 1 to Step 3) from the last element of the array to the first.</a:t>
            </a:r>
          </a:p>
          <a:p>
            <a:pPr algn="just"/>
            <a:r>
              <a:rPr lang="en-US" sz="1400" b="1" dirty="0">
                <a:latin typeface="Times New Roman" panose="02020603050405020304" pitchFamily="18" charset="0"/>
                <a:cs typeface="Times New Roman" panose="02020603050405020304" pitchFamily="18" charset="0"/>
              </a:rPr>
              <a:t>Step 5 </a:t>
            </a:r>
            <a:r>
              <a:rPr lang="en-US" sz="1400" dirty="0">
                <a:latin typeface="Times New Roman" panose="02020603050405020304" pitchFamily="18" charset="0"/>
                <a:cs typeface="Times New Roman" panose="02020603050405020304" pitchFamily="18" charset="0"/>
              </a:rPr>
              <a:t>− The final output achieved is the sorted array.</a:t>
            </a:r>
          </a:p>
          <a:p>
            <a:endParaRPr lang="en-IN" dirty="0"/>
          </a:p>
        </p:txBody>
      </p:sp>
    </p:spTree>
    <p:extLst>
      <p:ext uri="{BB962C8B-B14F-4D97-AF65-F5344CB8AC3E}">
        <p14:creationId xmlns:p14="http://schemas.microsoft.com/office/powerpoint/2010/main" val="1155749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459181"/>
          </a:xfrm>
        </p:spPr>
        <p:txBody>
          <a:bodyPr/>
          <a:lstStyle/>
          <a:p>
            <a:pPr algn="ctr"/>
            <a:r>
              <a:rPr lang="en-US" b="1" dirty="0"/>
              <a:t>Selection Sort</a:t>
            </a:r>
            <a:endParaRPr lang="en-IN" dirty="0"/>
          </a:p>
        </p:txBody>
      </p:sp>
      <p:sp>
        <p:nvSpPr>
          <p:cNvPr id="3" name="Text Placeholder 2"/>
          <p:cNvSpPr>
            <a:spLocks noGrp="1"/>
          </p:cNvSpPr>
          <p:nvPr>
            <p:ph type="body" idx="1"/>
          </p:nvPr>
        </p:nvSpPr>
        <p:spPr>
          <a:xfrm>
            <a:off x="457200" y="987819"/>
            <a:ext cx="8229600" cy="3755753"/>
          </a:xfrm>
        </p:spPr>
        <p:txBody>
          <a:bodyPr/>
          <a:lstStyle/>
          <a:p>
            <a:pPr fontAlgn="base"/>
            <a:r>
              <a:rPr lang="en-US" b="1" dirty="0"/>
              <a:t>Selection Sort</a:t>
            </a:r>
            <a:r>
              <a:rPr lang="en-US" dirty="0"/>
              <a:t> is a comparison-based sorting algorithm. It sorts an array by repeatedly selecting the </a:t>
            </a:r>
            <a:r>
              <a:rPr lang="en-US" b="1" dirty="0"/>
              <a:t>smallest (or largest)</a:t>
            </a:r>
            <a:r>
              <a:rPr lang="en-US" dirty="0"/>
              <a:t> element from the unsorted portion and swapping it with the first unsorted element. This process continues until the entire array is sorted.</a:t>
            </a:r>
          </a:p>
          <a:p>
            <a:pPr fontAlgn="base"/>
            <a:r>
              <a:rPr lang="en-US" dirty="0"/>
              <a:t>First we find the smallest element and swap it with the first element. This way we get the smallest element at its correct position.</a:t>
            </a:r>
          </a:p>
          <a:p>
            <a:pPr fontAlgn="base"/>
            <a:r>
              <a:rPr lang="en-US" dirty="0"/>
              <a:t>Then we find the smallest among remaining elements (or second smallest) and swap it with the second element.</a:t>
            </a:r>
          </a:p>
          <a:p>
            <a:pPr fontAlgn="base"/>
            <a:r>
              <a:rPr lang="en-US" dirty="0"/>
              <a:t>We keep doing this until we get all elements moved to correct position.</a:t>
            </a:r>
          </a:p>
        </p:txBody>
      </p:sp>
    </p:spTree>
    <p:extLst>
      <p:ext uri="{BB962C8B-B14F-4D97-AF65-F5344CB8AC3E}">
        <p14:creationId xmlns:p14="http://schemas.microsoft.com/office/powerpoint/2010/main" val="6092407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85412"/>
          </a:xfrm>
        </p:spPr>
        <p:txBody>
          <a:bodyPr/>
          <a:lstStyle/>
          <a:p>
            <a:endParaRPr lang="en-IN" dirty="0"/>
          </a:p>
        </p:txBody>
      </p:sp>
      <p:sp>
        <p:nvSpPr>
          <p:cNvPr id="3" name="Text Placeholder 2"/>
          <p:cNvSpPr>
            <a:spLocks noGrp="1"/>
          </p:cNvSpPr>
          <p:nvPr>
            <p:ph type="body"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1399732" y="840981"/>
            <a:ext cx="6344535" cy="3645561"/>
          </a:xfrm>
          <a:prstGeom prst="rect">
            <a:avLst/>
          </a:prstGeom>
        </p:spPr>
      </p:pic>
    </p:spTree>
    <p:extLst>
      <p:ext uri="{BB962C8B-B14F-4D97-AF65-F5344CB8AC3E}">
        <p14:creationId xmlns:p14="http://schemas.microsoft.com/office/powerpoint/2010/main" val="22997835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727515" y="954447"/>
            <a:ext cx="7284128" cy="3697646"/>
          </a:xfrm>
          <a:prstGeom prst="rect">
            <a:avLst/>
          </a:prstGeom>
        </p:spPr>
      </p:pic>
      <p:sp>
        <p:nvSpPr>
          <p:cNvPr id="4" name="Title 1"/>
          <p:cNvSpPr>
            <a:spLocks noGrp="1"/>
          </p:cNvSpPr>
          <p:nvPr>
            <p:ph type="body" idx="1"/>
          </p:nvPr>
        </p:nvSpPr>
        <p:spPr>
          <a:xfrm>
            <a:off x="457200" y="533400"/>
            <a:ext cx="8229600" cy="4210050"/>
          </a:xfrm>
        </p:spPr>
        <p:txBody>
          <a:bodyPr/>
          <a:lstStyle/>
          <a:p>
            <a:endParaRPr lang="en-IN"/>
          </a:p>
        </p:txBody>
      </p:sp>
    </p:spTree>
    <p:extLst>
      <p:ext uri="{BB962C8B-B14F-4D97-AF65-F5344CB8AC3E}">
        <p14:creationId xmlns:p14="http://schemas.microsoft.com/office/powerpoint/2010/main" val="18349428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fontAlgn="base"/>
            <a:r>
              <a:rPr lang="en-US" b="1" dirty="0"/>
              <a:t>Complexity Analysis of Selection Sort</a:t>
            </a:r>
          </a:p>
          <a:p>
            <a:pPr fontAlgn="base"/>
            <a:r>
              <a:rPr lang="en-US" b="1" dirty="0"/>
              <a:t>Time Complexity: O(n</a:t>
            </a:r>
            <a:r>
              <a:rPr lang="en-US" b="1" baseline="30000" dirty="0"/>
              <a:t>2</a:t>
            </a:r>
            <a:r>
              <a:rPr lang="en-US" b="1" dirty="0"/>
              <a:t>)</a:t>
            </a:r>
            <a:r>
              <a:rPr lang="en-US" dirty="0"/>
              <a:t> ,as there are two nested loops:</a:t>
            </a:r>
          </a:p>
          <a:p>
            <a:pPr fontAlgn="base"/>
            <a:r>
              <a:rPr lang="en-US" dirty="0"/>
              <a:t>One loop to select an element of Array one by one = O(n)</a:t>
            </a:r>
          </a:p>
          <a:p>
            <a:pPr fontAlgn="base"/>
            <a:r>
              <a:rPr lang="en-US" dirty="0"/>
              <a:t>Another loop to compare that element with every other Array element = O(n)</a:t>
            </a:r>
          </a:p>
          <a:p>
            <a:pPr fontAlgn="base"/>
            <a:r>
              <a:rPr lang="en-US" dirty="0"/>
              <a:t>Therefore overall complexity = O(n) * O(n) = O(n*n) = O(n</a:t>
            </a:r>
            <a:r>
              <a:rPr lang="en-US" baseline="30000" dirty="0"/>
              <a:t>2</a:t>
            </a:r>
            <a:r>
              <a:rPr lang="en-US" dirty="0"/>
              <a:t>)</a:t>
            </a:r>
          </a:p>
          <a:p>
            <a:endParaRPr lang="en-IN" dirty="0"/>
          </a:p>
        </p:txBody>
      </p:sp>
    </p:spTree>
    <p:extLst>
      <p:ext uri="{BB962C8B-B14F-4D97-AF65-F5344CB8AC3E}">
        <p14:creationId xmlns:p14="http://schemas.microsoft.com/office/powerpoint/2010/main" val="40142873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IN" dirty="0"/>
              <a:t>https://www.programiz.com/online-compiler/11UE42shOR04F</a:t>
            </a:r>
          </a:p>
        </p:txBody>
      </p:sp>
    </p:spTree>
    <p:extLst>
      <p:ext uri="{BB962C8B-B14F-4D97-AF65-F5344CB8AC3E}">
        <p14:creationId xmlns:p14="http://schemas.microsoft.com/office/powerpoint/2010/main" val="36061052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425809"/>
          </a:xfrm>
        </p:spPr>
        <p:txBody>
          <a:bodyPr/>
          <a:lstStyle/>
          <a:p>
            <a:pPr algn="ctr"/>
            <a:r>
              <a:rPr lang="en-US" dirty="0" smtClean="0"/>
              <a:t>Insertion Sort</a:t>
            </a:r>
            <a:endParaRPr lang="en-IN" dirty="0"/>
          </a:p>
        </p:txBody>
      </p:sp>
      <p:sp>
        <p:nvSpPr>
          <p:cNvPr id="3" name="Text Placeholder 2"/>
          <p:cNvSpPr>
            <a:spLocks noGrp="1"/>
          </p:cNvSpPr>
          <p:nvPr>
            <p:ph type="body" idx="1"/>
          </p:nvPr>
        </p:nvSpPr>
        <p:spPr>
          <a:xfrm>
            <a:off x="457200" y="954447"/>
            <a:ext cx="8229600" cy="3789125"/>
          </a:xfrm>
        </p:spPr>
        <p:txBody>
          <a:bodyPr/>
          <a:lstStyle/>
          <a:p>
            <a:r>
              <a:rPr lang="en-US" b="1" dirty="0"/>
              <a:t>Insertion sort </a:t>
            </a:r>
            <a:r>
              <a:rPr lang="en-US" dirty="0"/>
              <a:t>is a simple sorting algorithm that works by iteratively inserting each element of an unsorted list into its correct position in a sorted portion of the list. It is like sorting playing cards in your hands. You split the cards into two groups: the sorted cards and the unsorted cards. Then, you pick a card from the unsorted group and put it in the right place in the sorted group.</a:t>
            </a:r>
            <a:endParaRPr lang="en-IN" dirty="0"/>
          </a:p>
        </p:txBody>
      </p:sp>
    </p:spTree>
    <p:extLst>
      <p:ext uri="{BB962C8B-B14F-4D97-AF65-F5344CB8AC3E}">
        <p14:creationId xmlns:p14="http://schemas.microsoft.com/office/powerpoint/2010/main" val="7821784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472530"/>
          </a:xfrm>
        </p:spPr>
        <p:txBody>
          <a:bodyPr/>
          <a:lstStyle/>
          <a:p>
            <a:pPr algn="ctr"/>
            <a:r>
              <a:rPr lang="en-US" dirty="0"/>
              <a:t>Insertion Sort</a:t>
            </a:r>
            <a:endParaRPr lang="en-IN" dirty="0"/>
          </a:p>
        </p:txBody>
      </p:sp>
      <p:sp>
        <p:nvSpPr>
          <p:cNvPr id="3" name="Text Placeholder 2"/>
          <p:cNvSpPr>
            <a:spLocks noGrp="1"/>
          </p:cNvSpPr>
          <p:nvPr>
            <p:ph type="body" idx="1"/>
          </p:nvPr>
        </p:nvSpPr>
        <p:spPr>
          <a:xfrm>
            <a:off x="457200" y="1194727"/>
            <a:ext cx="8229600" cy="3548845"/>
          </a:xfrm>
        </p:spPr>
        <p:txBody>
          <a:bodyPr/>
          <a:lstStyle/>
          <a:p>
            <a:r>
              <a:rPr lang="en-US" dirty="0" smtClean="0"/>
              <a:t>Insertion </a:t>
            </a:r>
            <a:r>
              <a:rPr lang="en-US" dirty="0"/>
              <a:t>sort works similar to the sorting of playing cards in hands. It is assumed that the first card is already sorted in the card game, and then we select an unsorted card. If the selected unsorted card is greater than the first card, it will be placed at the right side; otherwise, it will be placed at the left side. Similarly, all unsorted cards are taken and put in their exact place.</a:t>
            </a:r>
            <a:endParaRPr lang="en-IN" dirty="0"/>
          </a:p>
        </p:txBody>
      </p:sp>
    </p:spTree>
    <p:extLst>
      <p:ext uri="{BB962C8B-B14F-4D97-AF65-F5344CB8AC3E}">
        <p14:creationId xmlns:p14="http://schemas.microsoft.com/office/powerpoint/2010/main" val="10325291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419134"/>
          </a:xfrm>
        </p:spPr>
        <p:txBody>
          <a:bodyPr/>
          <a:lstStyle/>
          <a:p>
            <a:pPr algn="ctr"/>
            <a:r>
              <a:rPr lang="en-US" dirty="0"/>
              <a:t>Algorithm</a:t>
            </a:r>
            <a:br>
              <a:rPr lang="en-US" dirty="0"/>
            </a:br>
            <a:endParaRPr lang="en-IN" dirty="0"/>
          </a:p>
        </p:txBody>
      </p:sp>
      <p:sp>
        <p:nvSpPr>
          <p:cNvPr id="3" name="Text Placeholder 2"/>
          <p:cNvSpPr>
            <a:spLocks noGrp="1"/>
          </p:cNvSpPr>
          <p:nvPr>
            <p:ph type="body" idx="1"/>
          </p:nvPr>
        </p:nvSpPr>
        <p:spPr>
          <a:xfrm>
            <a:off x="457200" y="580677"/>
            <a:ext cx="8229600" cy="4162895"/>
          </a:xfrm>
        </p:spPr>
        <p:txBody>
          <a:bodyPr/>
          <a:lstStyle/>
          <a:p>
            <a:r>
              <a:rPr lang="en-US" sz="1600" dirty="0" smtClean="0"/>
              <a:t>The </a:t>
            </a:r>
            <a:r>
              <a:rPr lang="en-US" sz="1600" dirty="0"/>
              <a:t>simple steps of achieving the insertion sort are listed as follows -</a:t>
            </a:r>
          </a:p>
          <a:p>
            <a:r>
              <a:rPr lang="en-US" sz="1600" b="1" dirty="0"/>
              <a:t>Step 1 -</a:t>
            </a:r>
            <a:r>
              <a:rPr lang="en-US" sz="1600" dirty="0"/>
              <a:t> If the element is the first element, assume that it is already sorted. Return 1.</a:t>
            </a:r>
          </a:p>
          <a:p>
            <a:r>
              <a:rPr lang="en-US" sz="1600" b="1" dirty="0"/>
              <a:t>Step2 -</a:t>
            </a:r>
            <a:r>
              <a:rPr lang="en-US" sz="1600" dirty="0"/>
              <a:t> Pick the next element, and store it separately in a </a:t>
            </a:r>
            <a:r>
              <a:rPr lang="en-US" sz="1600" b="1" dirty="0"/>
              <a:t>key.</a:t>
            </a:r>
            <a:endParaRPr lang="en-US" sz="1600" dirty="0"/>
          </a:p>
          <a:p>
            <a:r>
              <a:rPr lang="en-US" sz="1600" b="1" dirty="0"/>
              <a:t>Step3 -</a:t>
            </a:r>
            <a:r>
              <a:rPr lang="en-US" sz="1600" dirty="0"/>
              <a:t> Now, compare the </a:t>
            </a:r>
            <a:r>
              <a:rPr lang="en-US" sz="1600" b="1" dirty="0"/>
              <a:t>key</a:t>
            </a:r>
            <a:r>
              <a:rPr lang="en-US" sz="1600" dirty="0"/>
              <a:t> with all elements in the sorted array.</a:t>
            </a:r>
          </a:p>
          <a:p>
            <a:r>
              <a:rPr lang="en-US" sz="1600" b="1" dirty="0"/>
              <a:t>Step 4 -</a:t>
            </a:r>
            <a:r>
              <a:rPr lang="en-US" sz="1600" dirty="0"/>
              <a:t> If the element in the sorted array is smaller than the current element, then move to the next element. Else, shift greater elements in the array towards the right.</a:t>
            </a:r>
          </a:p>
          <a:p>
            <a:r>
              <a:rPr lang="en-US" b="1" dirty="0"/>
              <a:t>Step 5 -</a:t>
            </a:r>
            <a:r>
              <a:rPr lang="en-US" dirty="0"/>
              <a:t> Insert the value.</a:t>
            </a:r>
          </a:p>
          <a:p>
            <a:r>
              <a:rPr lang="en-US" b="1" dirty="0"/>
              <a:t>Step 6 -</a:t>
            </a:r>
            <a:r>
              <a:rPr lang="en-US" dirty="0"/>
              <a:t> Repeat until the array is sorted.</a:t>
            </a:r>
          </a:p>
          <a:p>
            <a:endParaRPr lang="en-IN" dirty="0"/>
          </a:p>
        </p:txBody>
      </p:sp>
    </p:spTree>
    <p:extLst>
      <p:ext uri="{BB962C8B-B14F-4D97-AF65-F5344CB8AC3E}">
        <p14:creationId xmlns:p14="http://schemas.microsoft.com/office/powerpoint/2010/main" val="22975850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body" idx="1"/>
          </p:nvPr>
        </p:nvSpPr>
        <p:spPr>
          <a:xfrm>
            <a:off x="457200" y="381000"/>
            <a:ext cx="8229600" cy="4362450"/>
          </a:xfrm>
        </p:spPr>
        <p:txBody>
          <a:bodyPr/>
          <a:lstStyle/>
          <a:p>
            <a:pPr fontAlgn="base"/>
            <a:r>
              <a:rPr lang="en-US" b="1" dirty="0"/>
              <a:t>How to Implement Binary Search Algorithm?</a:t>
            </a:r>
          </a:p>
          <a:p>
            <a:pPr fontAlgn="base"/>
            <a:r>
              <a:rPr lang="en-US" dirty="0"/>
              <a:t>The </a:t>
            </a:r>
            <a:r>
              <a:rPr lang="en-US" b="1" dirty="0"/>
              <a:t>Binary Search Algorithm</a:t>
            </a:r>
            <a:r>
              <a:rPr lang="en-US" dirty="0"/>
              <a:t> can be implemented in the following two ways</a:t>
            </a:r>
          </a:p>
          <a:p>
            <a:pPr fontAlgn="base"/>
            <a:r>
              <a:rPr lang="en-US" dirty="0"/>
              <a:t>Iterative Binary Search Algorithm</a:t>
            </a:r>
          </a:p>
          <a:p>
            <a:pPr fontAlgn="base"/>
            <a:r>
              <a:rPr lang="en-US" dirty="0"/>
              <a:t>Recursive Binary Search Algorithm</a:t>
            </a:r>
          </a:p>
          <a:p>
            <a:endParaRPr lang="en-IN" dirty="0"/>
          </a:p>
        </p:txBody>
      </p:sp>
    </p:spTree>
    <p:extLst>
      <p:ext uri="{BB962C8B-B14F-4D97-AF65-F5344CB8AC3E}">
        <p14:creationId xmlns:p14="http://schemas.microsoft.com/office/powerpoint/2010/main" val="23888219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457200" y="1555146"/>
            <a:ext cx="8229600" cy="3188425"/>
          </a:xfrm>
        </p:spPr>
        <p:txBody>
          <a:bodyPr/>
          <a:lstStyle/>
          <a:p>
            <a:pPr marL="120015" indent="0">
              <a:buNone/>
            </a:pPr>
            <a:endParaRPr lang="en-IN" dirty="0"/>
          </a:p>
        </p:txBody>
      </p:sp>
      <p:pic>
        <p:nvPicPr>
          <p:cNvPr id="4" name="Picture 3"/>
          <p:cNvPicPr>
            <a:picLocks noChangeAspect="1"/>
          </p:cNvPicPr>
          <p:nvPr/>
        </p:nvPicPr>
        <p:blipFill>
          <a:blip r:embed="rId2"/>
          <a:stretch>
            <a:fillRect/>
          </a:stretch>
        </p:blipFill>
        <p:spPr>
          <a:xfrm>
            <a:off x="1823654" y="1347616"/>
            <a:ext cx="5496692" cy="3137616"/>
          </a:xfrm>
          <a:prstGeom prst="rect">
            <a:avLst/>
          </a:prstGeom>
        </p:spPr>
      </p:pic>
    </p:spTree>
    <p:extLst>
      <p:ext uri="{BB962C8B-B14F-4D97-AF65-F5344CB8AC3E}">
        <p14:creationId xmlns:p14="http://schemas.microsoft.com/office/powerpoint/2010/main" val="32085517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452507"/>
          </a:xfrm>
        </p:spPr>
        <p:txBody>
          <a:bodyPr/>
          <a:lstStyle/>
          <a:p>
            <a:pPr algn="ctr"/>
            <a:r>
              <a:rPr lang="en-US" dirty="0" smtClean="0"/>
              <a:t>Merge Sort</a:t>
            </a:r>
            <a:endParaRPr lang="en-IN" dirty="0"/>
          </a:p>
        </p:txBody>
      </p:sp>
      <p:sp>
        <p:nvSpPr>
          <p:cNvPr id="3" name="Text Placeholder 2"/>
          <p:cNvSpPr>
            <a:spLocks noGrp="1"/>
          </p:cNvSpPr>
          <p:nvPr>
            <p:ph type="body" idx="1"/>
          </p:nvPr>
        </p:nvSpPr>
        <p:spPr>
          <a:xfrm>
            <a:off x="457200" y="1134657"/>
            <a:ext cx="8229600" cy="3608915"/>
          </a:xfrm>
        </p:spPr>
        <p:txBody>
          <a:bodyPr/>
          <a:lstStyle/>
          <a:p>
            <a:r>
              <a:rPr lang="en-IN" dirty="0"/>
              <a:t>https://www.programiz.com/online-compiler/8FWtM85rR9BAS</a:t>
            </a:r>
          </a:p>
        </p:txBody>
      </p:sp>
    </p:spTree>
    <p:extLst>
      <p:ext uri="{BB962C8B-B14F-4D97-AF65-F5344CB8AC3E}">
        <p14:creationId xmlns:p14="http://schemas.microsoft.com/office/powerpoint/2010/main" val="227666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459181"/>
          </a:xfrm>
        </p:spPr>
        <p:txBody>
          <a:bodyPr/>
          <a:lstStyle/>
          <a:p>
            <a:pPr algn="ctr"/>
            <a:r>
              <a:rPr lang="en-US" dirty="0"/>
              <a:t>Merge Sort</a:t>
            </a:r>
            <a:endParaRPr lang="en-IN" dirty="0"/>
          </a:p>
        </p:txBody>
      </p:sp>
      <p:sp>
        <p:nvSpPr>
          <p:cNvPr id="3" name="Text Placeholder 2"/>
          <p:cNvSpPr>
            <a:spLocks noGrp="1"/>
          </p:cNvSpPr>
          <p:nvPr>
            <p:ph type="body" idx="1"/>
          </p:nvPr>
        </p:nvSpPr>
        <p:spPr>
          <a:xfrm>
            <a:off x="457200" y="1101285"/>
            <a:ext cx="8229600" cy="3642287"/>
          </a:xfrm>
        </p:spPr>
        <p:txBody>
          <a:bodyPr/>
          <a:lstStyle/>
          <a:p>
            <a:pPr fontAlgn="base"/>
            <a:r>
              <a:rPr lang="en-US" b="1" dirty="0"/>
              <a:t>Merge sort </a:t>
            </a:r>
            <a:r>
              <a:rPr lang="en-US" dirty="0"/>
              <a:t>is a sorting algorithm that follows the </a:t>
            </a:r>
            <a:r>
              <a:rPr lang="en-US" b="1" u="sng" dirty="0">
                <a:hlinkClick r:id="rId2"/>
              </a:rPr>
              <a:t>divide-and-conquer </a:t>
            </a:r>
            <a:r>
              <a:rPr lang="en-US" dirty="0"/>
              <a:t>approach. It works by recursively dividing the input array into smaller subarrays and sorting those subarrays then merging them back together to obtain the sorted array.</a:t>
            </a:r>
          </a:p>
          <a:p>
            <a:pPr fontAlgn="base"/>
            <a:r>
              <a:rPr lang="en-US" dirty="0"/>
              <a:t>In simple terms, we can say that the process of </a:t>
            </a:r>
            <a:r>
              <a:rPr lang="en-US" b="1" dirty="0"/>
              <a:t>merge sort </a:t>
            </a:r>
            <a:r>
              <a:rPr lang="en-US" dirty="0"/>
              <a:t>is to divide the array into two halves, sort each half, and then merge the sorted halves back together. This process is repeated until the entire array is sorted.</a:t>
            </a:r>
          </a:p>
          <a:p>
            <a:endParaRPr lang="en-IN" dirty="0"/>
          </a:p>
        </p:txBody>
      </p:sp>
    </p:spTree>
    <p:extLst>
      <p:ext uri="{BB962C8B-B14F-4D97-AF65-F5344CB8AC3E}">
        <p14:creationId xmlns:p14="http://schemas.microsoft.com/office/powerpoint/2010/main" val="4011092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gn="just" fontAlgn="base"/>
            <a:r>
              <a:rPr lang="en-US" sz="1400" b="1" dirty="0">
                <a:latin typeface="Times New Roman" panose="02020603050405020304" pitchFamily="18" charset="0"/>
                <a:cs typeface="Times New Roman" panose="02020603050405020304" pitchFamily="18" charset="0"/>
              </a:rPr>
              <a:t>How does Merge Sort work?</a:t>
            </a:r>
          </a:p>
          <a:p>
            <a:pPr algn="just" fontAlgn="base"/>
            <a:r>
              <a:rPr lang="en-US" sz="1400" dirty="0">
                <a:latin typeface="Times New Roman" panose="02020603050405020304" pitchFamily="18" charset="0"/>
                <a:cs typeface="Times New Roman" panose="02020603050405020304" pitchFamily="18" charset="0"/>
              </a:rPr>
              <a:t>Merge sort is a popular sorting algorithm known for its efficiency and stability. It follows the </a:t>
            </a:r>
            <a:r>
              <a:rPr lang="en-US" sz="1400" b="1" dirty="0">
                <a:latin typeface="Times New Roman" panose="02020603050405020304" pitchFamily="18" charset="0"/>
                <a:cs typeface="Times New Roman" panose="02020603050405020304" pitchFamily="18" charset="0"/>
              </a:rPr>
              <a:t>divide-and-conquer </a:t>
            </a:r>
            <a:r>
              <a:rPr lang="en-US" sz="1400" dirty="0">
                <a:latin typeface="Times New Roman" panose="02020603050405020304" pitchFamily="18" charset="0"/>
                <a:cs typeface="Times New Roman" panose="02020603050405020304" pitchFamily="18" charset="0"/>
              </a:rPr>
              <a:t>approach to sort a given array of elements.</a:t>
            </a:r>
          </a:p>
          <a:p>
            <a:pPr algn="just" fontAlgn="base"/>
            <a:r>
              <a:rPr lang="en-US" sz="1400" dirty="0">
                <a:latin typeface="Times New Roman" panose="02020603050405020304" pitchFamily="18" charset="0"/>
                <a:cs typeface="Times New Roman" panose="02020603050405020304" pitchFamily="18" charset="0"/>
              </a:rPr>
              <a:t>Here’s a step-by-step explanation of how merge sort works:</a:t>
            </a:r>
          </a:p>
          <a:p>
            <a:pPr algn="just" fontAlgn="base"/>
            <a:r>
              <a:rPr lang="en-US" sz="1400" b="1" dirty="0">
                <a:latin typeface="Times New Roman" panose="02020603050405020304" pitchFamily="18" charset="0"/>
                <a:cs typeface="Times New Roman" panose="02020603050405020304" pitchFamily="18" charset="0"/>
              </a:rPr>
              <a:t>Divide: </a:t>
            </a:r>
            <a:r>
              <a:rPr lang="en-US" sz="1400" dirty="0">
                <a:latin typeface="Times New Roman" panose="02020603050405020304" pitchFamily="18" charset="0"/>
                <a:cs typeface="Times New Roman" panose="02020603050405020304" pitchFamily="18" charset="0"/>
              </a:rPr>
              <a:t>Divide the list or array recursively into two halves until it can no more be divided.</a:t>
            </a:r>
          </a:p>
          <a:p>
            <a:pPr algn="just" fontAlgn="base"/>
            <a:r>
              <a:rPr lang="en-US" sz="1400" b="1" dirty="0">
                <a:latin typeface="Times New Roman" panose="02020603050405020304" pitchFamily="18" charset="0"/>
                <a:cs typeface="Times New Roman" panose="02020603050405020304" pitchFamily="18" charset="0"/>
              </a:rPr>
              <a:t>Conquer: </a:t>
            </a:r>
            <a:r>
              <a:rPr lang="en-US" sz="1400" dirty="0">
                <a:latin typeface="Times New Roman" panose="02020603050405020304" pitchFamily="18" charset="0"/>
                <a:cs typeface="Times New Roman" panose="02020603050405020304" pitchFamily="18" charset="0"/>
              </a:rPr>
              <a:t>Each subarray is sorted individually using the merge sort algorithm.</a:t>
            </a:r>
          </a:p>
          <a:p>
            <a:pPr algn="just" fontAlgn="base"/>
            <a:r>
              <a:rPr lang="en-US" sz="1400" b="1" dirty="0">
                <a:latin typeface="Times New Roman" panose="02020603050405020304" pitchFamily="18" charset="0"/>
                <a:cs typeface="Times New Roman" panose="02020603050405020304" pitchFamily="18" charset="0"/>
              </a:rPr>
              <a:t>Merge: </a:t>
            </a:r>
            <a:r>
              <a:rPr lang="en-US" sz="1400" dirty="0">
                <a:latin typeface="Times New Roman" panose="02020603050405020304" pitchFamily="18" charset="0"/>
                <a:cs typeface="Times New Roman" panose="02020603050405020304" pitchFamily="18" charset="0"/>
              </a:rPr>
              <a:t>The sorted subarrays are merged back together in sorted order. The process continues until all elements from both subarrays have been merged.</a:t>
            </a:r>
          </a:p>
          <a:p>
            <a:endParaRPr lang="en-IN" dirty="0"/>
          </a:p>
        </p:txBody>
      </p:sp>
    </p:spTree>
    <p:extLst>
      <p:ext uri="{BB962C8B-B14F-4D97-AF65-F5344CB8AC3E}">
        <p14:creationId xmlns:p14="http://schemas.microsoft.com/office/powerpoint/2010/main" val="42502274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325692"/>
          </a:xfrm>
        </p:spPr>
        <p:txBody>
          <a:bodyPr/>
          <a:lstStyle/>
          <a:p>
            <a:pPr algn="ctr"/>
            <a:r>
              <a:rPr lang="en-US" dirty="0"/>
              <a:t>Merge Sort</a:t>
            </a:r>
            <a:endParaRPr lang="en-IN" dirty="0"/>
          </a:p>
        </p:txBody>
      </p:sp>
      <p:pic>
        <p:nvPicPr>
          <p:cNvPr id="4" name="Picture 3"/>
          <p:cNvPicPr>
            <a:picLocks noChangeAspect="1"/>
          </p:cNvPicPr>
          <p:nvPr/>
        </p:nvPicPr>
        <p:blipFill>
          <a:blip r:embed="rId2"/>
          <a:stretch>
            <a:fillRect/>
          </a:stretch>
        </p:blipFill>
        <p:spPr>
          <a:xfrm>
            <a:off x="647422" y="1635240"/>
            <a:ext cx="7348021" cy="2818349"/>
          </a:xfrm>
          <a:prstGeom prst="rect">
            <a:avLst/>
          </a:prstGeom>
        </p:spPr>
      </p:pic>
      <p:sp>
        <p:nvSpPr>
          <p:cNvPr id="3" name="Text Placeholder 2"/>
          <p:cNvSpPr>
            <a:spLocks noGrp="1"/>
          </p:cNvSpPr>
          <p:nvPr>
            <p:ph type="body" idx="1"/>
          </p:nvPr>
        </p:nvSpPr>
        <p:spPr>
          <a:xfrm>
            <a:off x="457200" y="981145"/>
            <a:ext cx="8229600" cy="3762427"/>
          </a:xfrm>
        </p:spPr>
        <p:txBody>
          <a:bodyPr/>
          <a:lstStyle/>
          <a:p>
            <a:endParaRPr lang="en-IN" dirty="0"/>
          </a:p>
        </p:txBody>
      </p:sp>
    </p:spTree>
    <p:extLst>
      <p:ext uri="{BB962C8B-B14F-4D97-AF65-F5344CB8AC3E}">
        <p14:creationId xmlns:p14="http://schemas.microsoft.com/office/powerpoint/2010/main" val="3300502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60771" y="400051"/>
            <a:ext cx="7684294" cy="4232020"/>
          </a:xfrm>
          <a:prstGeom prst="rect">
            <a:avLst/>
          </a:prstGeom>
        </p:spPr>
      </p:pic>
      <p:sp>
        <p:nvSpPr>
          <p:cNvPr id="4" name="Title 1"/>
          <p:cNvSpPr>
            <a:spLocks noGrp="1"/>
          </p:cNvSpPr>
          <p:nvPr>
            <p:ph type="body" idx="1"/>
          </p:nvPr>
        </p:nvSpPr>
        <p:spPr>
          <a:xfrm>
            <a:off x="457200" y="400050"/>
            <a:ext cx="7972634" cy="4343400"/>
          </a:xfrm>
        </p:spPr>
        <p:txBody>
          <a:bodyPr/>
          <a:lstStyle/>
          <a:p>
            <a:pPr marL="120015" indent="0">
              <a:buNone/>
            </a:pPr>
            <a:endParaRPr lang="en-IN" dirty="0"/>
          </a:p>
        </p:txBody>
      </p:sp>
    </p:spTree>
    <p:extLst>
      <p:ext uri="{BB962C8B-B14F-4D97-AF65-F5344CB8AC3E}">
        <p14:creationId xmlns:p14="http://schemas.microsoft.com/office/powerpoint/2010/main" val="38100556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585996"/>
          </a:xfrm>
        </p:spPr>
        <p:txBody>
          <a:bodyPr/>
          <a:lstStyle/>
          <a:p>
            <a:pPr algn="ctr"/>
            <a:r>
              <a:rPr lang="en-US" dirty="0" smtClean="0"/>
              <a:t>Quick Sort</a:t>
            </a:r>
            <a:endParaRPr lang="en-IN" dirty="0"/>
          </a:p>
        </p:txBody>
      </p:sp>
      <p:sp>
        <p:nvSpPr>
          <p:cNvPr id="3" name="Text Placeholder 2"/>
          <p:cNvSpPr>
            <a:spLocks noGrp="1"/>
          </p:cNvSpPr>
          <p:nvPr>
            <p:ph type="body" idx="1"/>
          </p:nvPr>
        </p:nvSpPr>
        <p:spPr>
          <a:xfrm>
            <a:off x="457200" y="1114635"/>
            <a:ext cx="8229600" cy="3628938"/>
          </a:xfrm>
        </p:spPr>
        <p:txBody>
          <a:bodyPr/>
          <a:lstStyle/>
          <a:p>
            <a:pPr marL="120015" indent="0">
              <a:buNone/>
            </a:pPr>
            <a:r>
              <a:rPr lang="en-US" b="1" dirty="0" err="1"/>
              <a:t>QuickSort</a:t>
            </a:r>
            <a:r>
              <a:rPr lang="en-US" dirty="0"/>
              <a:t> is a sorting algorithm based on the </a:t>
            </a:r>
            <a:r>
              <a:rPr lang="en-US" u="sng" dirty="0">
                <a:hlinkClick r:id="rId2"/>
              </a:rPr>
              <a:t>Divide and Conquer</a:t>
            </a:r>
            <a:r>
              <a:rPr lang="en-US" dirty="0"/>
              <a:t> that picks an element as a pivot and partitions the given array around the picked pivot by placing the pivot in its correct position in the sorted array</a:t>
            </a:r>
            <a:r>
              <a:rPr lang="en-US" dirty="0" smtClean="0"/>
              <a:t>.</a:t>
            </a:r>
          </a:p>
          <a:p>
            <a:pPr marL="120015" indent="0">
              <a:buNone/>
            </a:pPr>
            <a:endParaRPr lang="en-US" dirty="0" smtClean="0"/>
          </a:p>
          <a:p>
            <a:pPr marL="120015" indent="0">
              <a:buNone/>
            </a:pPr>
            <a:endParaRPr lang="en-IN" dirty="0"/>
          </a:p>
        </p:txBody>
      </p:sp>
    </p:spTree>
    <p:extLst>
      <p:ext uri="{BB962C8B-B14F-4D97-AF65-F5344CB8AC3E}">
        <p14:creationId xmlns:p14="http://schemas.microsoft.com/office/powerpoint/2010/main" val="3371674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288226"/>
          </a:xfrm>
        </p:spPr>
        <p:txBody>
          <a:bodyPr/>
          <a:lstStyle/>
          <a:p>
            <a:pPr algn="ctr"/>
            <a:r>
              <a:rPr lang="en-US" dirty="0"/>
              <a:t>Quick Sort</a:t>
            </a:r>
            <a:endParaRPr lang="en-IN" dirty="0"/>
          </a:p>
        </p:txBody>
      </p:sp>
      <p:sp>
        <p:nvSpPr>
          <p:cNvPr id="3" name="Text Placeholder 2"/>
          <p:cNvSpPr>
            <a:spLocks noGrp="1"/>
          </p:cNvSpPr>
          <p:nvPr>
            <p:ph type="body" idx="1"/>
          </p:nvPr>
        </p:nvSpPr>
        <p:spPr>
          <a:xfrm>
            <a:off x="457200" y="963168"/>
            <a:ext cx="8229600" cy="3780404"/>
          </a:xfrm>
        </p:spPr>
        <p:txBody>
          <a:bodyPr/>
          <a:lstStyle/>
          <a:p>
            <a:pPr fontAlgn="base"/>
            <a:r>
              <a:rPr lang="en-US" b="1" dirty="0"/>
              <a:t>How does </a:t>
            </a:r>
            <a:r>
              <a:rPr lang="en-US" b="1" dirty="0" err="1"/>
              <a:t>QuickSort</a:t>
            </a:r>
            <a:r>
              <a:rPr lang="en-US" b="1" dirty="0"/>
              <a:t> Algorithm work?</a:t>
            </a:r>
          </a:p>
          <a:p>
            <a:pPr fontAlgn="base"/>
            <a:r>
              <a:rPr lang="en-US" dirty="0" err="1"/>
              <a:t>QuickSort</a:t>
            </a:r>
            <a:r>
              <a:rPr lang="en-US" dirty="0"/>
              <a:t> works on the principle of </a:t>
            </a:r>
            <a:r>
              <a:rPr lang="en-US" b="1" dirty="0"/>
              <a:t>divide and conquer</a:t>
            </a:r>
            <a:r>
              <a:rPr lang="en-US" dirty="0"/>
              <a:t>, breaking down the problem into smaller sub-problems.</a:t>
            </a:r>
          </a:p>
          <a:p>
            <a:pPr fontAlgn="base"/>
            <a:r>
              <a:rPr lang="en-US" dirty="0"/>
              <a:t>There are mainly three steps in the algorithm:</a:t>
            </a:r>
          </a:p>
          <a:p>
            <a:pPr fontAlgn="base"/>
            <a:r>
              <a:rPr lang="en-US" b="1" dirty="0"/>
              <a:t>Choose a Pivot: </a:t>
            </a:r>
            <a:r>
              <a:rPr lang="en-US" dirty="0"/>
              <a:t>Select an element from the array as the pivot. The choice of pivot can vary (e.g., first element, last element, random element, or median).</a:t>
            </a:r>
          </a:p>
          <a:p>
            <a:pPr marL="120015" indent="0">
              <a:buNone/>
            </a:pPr>
            <a:endParaRPr lang="en-IN" dirty="0"/>
          </a:p>
        </p:txBody>
      </p:sp>
    </p:spTree>
    <p:extLst>
      <p:ext uri="{BB962C8B-B14F-4D97-AF65-F5344CB8AC3E}">
        <p14:creationId xmlns:p14="http://schemas.microsoft.com/office/powerpoint/2010/main" val="391351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292320"/>
          </a:xfrm>
        </p:spPr>
        <p:txBody>
          <a:bodyPr/>
          <a:lstStyle/>
          <a:p>
            <a:pPr algn="ctr"/>
            <a:r>
              <a:rPr lang="en-US" dirty="0"/>
              <a:t>Quick Sort</a:t>
            </a:r>
            <a:endParaRPr lang="en-IN" dirty="0"/>
          </a:p>
        </p:txBody>
      </p:sp>
      <p:sp>
        <p:nvSpPr>
          <p:cNvPr id="3" name="Text Placeholder 2"/>
          <p:cNvSpPr>
            <a:spLocks noGrp="1"/>
          </p:cNvSpPr>
          <p:nvPr>
            <p:ph type="body" idx="1"/>
          </p:nvPr>
        </p:nvSpPr>
        <p:spPr>
          <a:xfrm>
            <a:off x="457200" y="1027866"/>
            <a:ext cx="8229600" cy="3715706"/>
          </a:xfrm>
        </p:spPr>
        <p:txBody>
          <a:bodyPr/>
          <a:lstStyle/>
          <a:p>
            <a:pPr fontAlgn="base"/>
            <a:r>
              <a:rPr lang="en-US" b="1" dirty="0"/>
              <a:t>Partition the Array:</a:t>
            </a:r>
            <a:r>
              <a:rPr lang="en-US" dirty="0"/>
              <a:t> Rearrange the array around the pivot. After partitioning, all elements smaller than the pivot will be on its left, and all elements greater than the pivot will be on its right. The pivot is then in its correct position, and we obtain the index of the pivot.</a:t>
            </a:r>
          </a:p>
          <a:p>
            <a:pPr fontAlgn="base"/>
            <a:r>
              <a:rPr lang="en-US" b="1" dirty="0"/>
              <a:t>Recursively Call:</a:t>
            </a:r>
            <a:r>
              <a:rPr lang="en-US" dirty="0"/>
              <a:t> Recursively apply the same process to the two partitioned sub-arrays (left and right of the pivot).</a:t>
            </a:r>
          </a:p>
          <a:p>
            <a:pPr fontAlgn="base"/>
            <a:r>
              <a:rPr lang="en-US" b="1" dirty="0"/>
              <a:t>Base Case:</a:t>
            </a:r>
            <a:r>
              <a:rPr lang="en-US" dirty="0"/>
              <a:t> The recursion stops when there is only one element left in the sub-array, as a single element is already sorted.</a:t>
            </a:r>
          </a:p>
          <a:p>
            <a:endParaRPr lang="en-IN" dirty="0"/>
          </a:p>
        </p:txBody>
      </p:sp>
    </p:spTree>
    <p:extLst>
      <p:ext uri="{BB962C8B-B14F-4D97-AF65-F5344CB8AC3E}">
        <p14:creationId xmlns:p14="http://schemas.microsoft.com/office/powerpoint/2010/main" val="22603477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385762"/>
          </a:xfrm>
        </p:spPr>
        <p:txBody>
          <a:bodyPr/>
          <a:lstStyle/>
          <a:p>
            <a:r>
              <a:rPr lang="en-US" dirty="0"/>
              <a:t>Quick Sort</a:t>
            </a:r>
            <a:endParaRPr lang="en-IN" dirty="0"/>
          </a:p>
        </p:txBody>
      </p:sp>
      <p:sp>
        <p:nvSpPr>
          <p:cNvPr id="3" name="Text Placeholder 2"/>
          <p:cNvSpPr>
            <a:spLocks noGrp="1"/>
          </p:cNvSpPr>
          <p:nvPr>
            <p:ph type="body" idx="1"/>
          </p:nvPr>
        </p:nvSpPr>
        <p:spPr>
          <a:xfrm>
            <a:off x="457200" y="854330"/>
            <a:ext cx="8229600" cy="3889242"/>
          </a:xfrm>
        </p:spPr>
        <p:txBody>
          <a:bodyPr/>
          <a:lstStyle/>
          <a:p>
            <a:r>
              <a:rPr lang="en-IN" b="1" dirty="0"/>
              <a:t>Choice of Pivot</a:t>
            </a:r>
          </a:p>
          <a:p>
            <a:pPr marL="120015" indent="0" algn="just" fontAlgn="base">
              <a:buNone/>
            </a:pPr>
            <a:r>
              <a:rPr lang="en-US" sz="1600" dirty="0"/>
              <a:t>There are many different choices for picking pivots.</a:t>
            </a:r>
          </a:p>
          <a:p>
            <a:pPr algn="just" fontAlgn="base"/>
            <a:r>
              <a:rPr lang="en-US" sz="1600" u="sng" dirty="0">
                <a:hlinkClick r:id="rId2"/>
              </a:rPr>
              <a:t>Always pick the first (or last) element as a pivot</a:t>
            </a:r>
            <a:r>
              <a:rPr lang="en-US" sz="1600" dirty="0"/>
              <a:t>. The below implementation picks the last element as pivot. The problem with this approach is it ends up in the worst case when array is already sorted.</a:t>
            </a:r>
          </a:p>
          <a:p>
            <a:pPr algn="just" fontAlgn="base"/>
            <a:r>
              <a:rPr lang="en-US" sz="1600" u="sng" dirty="0">
                <a:hlinkClick r:id="rId3"/>
              </a:rPr>
              <a:t>Pick a random element as a pivot</a:t>
            </a:r>
            <a:r>
              <a:rPr lang="en-US" sz="1600" dirty="0"/>
              <a:t>. This is a preferred approach because it does not have a pattern for which the worst case happens.</a:t>
            </a:r>
          </a:p>
          <a:p>
            <a:pPr algn="just" fontAlgn="base"/>
            <a:r>
              <a:rPr lang="en-US" sz="1600" dirty="0"/>
              <a:t>Pick the median element is pivot. This is an ideal approach in terms of time complexity as </a:t>
            </a:r>
            <a:r>
              <a:rPr lang="en-US" sz="1600" u="sng" dirty="0">
                <a:hlinkClick r:id="rId4"/>
              </a:rPr>
              <a:t>we can find median in linear time</a:t>
            </a:r>
            <a:r>
              <a:rPr lang="en-US" sz="1600" dirty="0"/>
              <a:t> and the partition function will always divide the input array into two halves. But it takes more time on average as median finding has high constants.</a:t>
            </a:r>
          </a:p>
          <a:p>
            <a:pPr marL="120015" indent="0">
              <a:buNone/>
            </a:pPr>
            <a:endParaRPr lang="en-IN" dirty="0"/>
          </a:p>
        </p:txBody>
      </p:sp>
    </p:spTree>
    <p:extLst>
      <p:ext uri="{BB962C8B-B14F-4D97-AF65-F5344CB8AC3E}">
        <p14:creationId xmlns:p14="http://schemas.microsoft.com/office/powerpoint/2010/main" val="35171566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US" dirty="0" smtClean="0"/>
              <a:t>In short </a:t>
            </a:r>
          </a:p>
          <a:p>
            <a:pPr marL="120015" indent="0">
              <a:buNone/>
            </a:pPr>
            <a:r>
              <a:rPr lang="en-US" dirty="0"/>
              <a:t> </a:t>
            </a:r>
            <a:r>
              <a:rPr lang="en-US" dirty="0" smtClean="0"/>
              <a:t>1.First Element</a:t>
            </a:r>
          </a:p>
          <a:p>
            <a:pPr marL="120015" indent="0">
              <a:buNone/>
            </a:pPr>
            <a:r>
              <a:rPr lang="en-US" dirty="0"/>
              <a:t> </a:t>
            </a:r>
            <a:r>
              <a:rPr lang="en-US" dirty="0" smtClean="0"/>
              <a:t>2.Last Element</a:t>
            </a:r>
          </a:p>
          <a:p>
            <a:pPr marL="120015" indent="0">
              <a:buNone/>
            </a:pPr>
            <a:r>
              <a:rPr lang="en-US" dirty="0"/>
              <a:t> </a:t>
            </a:r>
            <a:r>
              <a:rPr lang="en-US" dirty="0" smtClean="0"/>
              <a:t>3.Median Element</a:t>
            </a:r>
          </a:p>
          <a:p>
            <a:pPr marL="120015" indent="0">
              <a:buNone/>
            </a:pPr>
            <a:r>
              <a:rPr lang="en-US"/>
              <a:t> </a:t>
            </a:r>
            <a:r>
              <a:rPr lang="en-US" smtClean="0"/>
              <a:t>4.Random </a:t>
            </a:r>
            <a:r>
              <a:rPr lang="en-US" dirty="0" smtClean="0"/>
              <a:t>Element</a:t>
            </a:r>
            <a:endParaRPr lang="en-IN" dirty="0"/>
          </a:p>
        </p:txBody>
      </p:sp>
    </p:spTree>
    <p:extLst>
      <p:ext uri="{BB962C8B-B14F-4D97-AF65-F5344CB8AC3E}">
        <p14:creationId xmlns:p14="http://schemas.microsoft.com/office/powerpoint/2010/main" val="30932240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8638"/>
            <a:ext cx="8229600" cy="305669"/>
          </a:xfrm>
        </p:spPr>
        <p:txBody>
          <a:bodyPr/>
          <a:lstStyle/>
          <a:p>
            <a:pPr algn="ctr"/>
            <a:r>
              <a:rPr lang="en-US" dirty="0"/>
              <a:t>Quick Sort</a:t>
            </a:r>
            <a:endParaRPr lang="en-IN" dirty="0"/>
          </a:p>
        </p:txBody>
      </p:sp>
      <p:sp>
        <p:nvSpPr>
          <p:cNvPr id="3" name="Text Placeholder 2"/>
          <p:cNvSpPr>
            <a:spLocks noGrp="1"/>
          </p:cNvSpPr>
          <p:nvPr>
            <p:ph type="body" idx="1"/>
          </p:nvPr>
        </p:nvSpPr>
        <p:spPr>
          <a:xfrm>
            <a:off x="457200" y="1041215"/>
            <a:ext cx="8229600" cy="3702357"/>
          </a:xfrm>
        </p:spPr>
        <p:txBody>
          <a:bodyPr/>
          <a:lstStyle/>
          <a:p>
            <a:pPr marL="120015" indent="0">
              <a:buNone/>
            </a:pPr>
            <a:r>
              <a:rPr lang="en-IN" dirty="0"/>
              <a:t>https://www.programiz.com/online-compiler/4UmBCGjTVZvZy</a:t>
            </a:r>
          </a:p>
        </p:txBody>
      </p:sp>
    </p:spTree>
    <p:extLst>
      <p:ext uri="{BB962C8B-B14F-4D97-AF65-F5344CB8AC3E}">
        <p14:creationId xmlns:p14="http://schemas.microsoft.com/office/powerpoint/2010/main" val="760156368"/>
      </p:ext>
    </p:extLst>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829</TotalTime>
  <Words>1163</Words>
  <Application>Microsoft Office PowerPoint</Application>
  <PresentationFormat>On-screen Show (16:9)</PresentationFormat>
  <Paragraphs>214</Paragraphs>
  <Slides>70</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Calibri</vt:lpstr>
      <vt:lpstr>Noto Sans Symbols</vt:lpstr>
      <vt:lpstr>Constantia</vt:lpstr>
      <vt:lpstr>Times New Roman</vt:lpstr>
      <vt:lpstr>Arial</vt:lpstr>
      <vt:lpstr>Roboto</vt:lpstr>
      <vt:lpstr>Helvetica Neue</vt:lpstr>
      <vt:lpstr>Geometric</vt:lpstr>
      <vt:lpstr>Data Structure and Algorithms Lecture 1</vt:lpstr>
      <vt:lpstr>What is Data Structure?</vt:lpstr>
      <vt:lpstr>PowerPoint Presentation</vt:lpstr>
      <vt:lpstr>Basic Data Structure</vt:lpstr>
      <vt:lpstr>PowerPoint Presentation</vt:lpstr>
      <vt:lpstr>PowerPoint Presentation</vt:lpstr>
      <vt:lpstr>Types of Data Structure</vt:lpstr>
      <vt:lpstr>Types of Data Structure</vt:lpstr>
      <vt:lpstr>Abstract Data Type and Data Structure</vt:lpstr>
      <vt:lpstr>Type of Data Structures</vt:lpstr>
      <vt:lpstr>Selection of Data Structure</vt:lpstr>
      <vt:lpstr>Abstract Data Type</vt:lpstr>
      <vt:lpstr>The Core Operations of ADT</vt:lpstr>
      <vt:lpstr>PowerPoint Presentation</vt:lpstr>
      <vt:lpstr>Stacks</vt:lpstr>
      <vt:lpstr>Queues</vt:lpstr>
      <vt:lpstr>List</vt:lpstr>
      <vt:lpstr>Tree</vt:lpstr>
      <vt:lpstr>PowerPoint Presentation</vt:lpstr>
      <vt:lpstr>PowerPoint Presentation</vt:lpstr>
      <vt:lpstr>PowerPoint Presentation</vt:lpstr>
      <vt:lpstr>PowerPoint Presentation</vt:lpstr>
      <vt:lpstr>PowerPoint Presentation</vt:lpstr>
      <vt:lpstr>SEARCHING</vt:lpstr>
      <vt:lpstr>PowerPoint Presentation</vt:lpstr>
      <vt:lpstr>Linear Search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Bubble Sort</vt:lpstr>
      <vt:lpstr>Bubble Sort</vt:lpstr>
      <vt:lpstr>PowerPoint Presentation</vt:lpstr>
      <vt:lpstr>PowerPoint Presentation</vt:lpstr>
      <vt:lpstr>PowerPoint Presentation</vt:lpstr>
      <vt:lpstr>PowerPoint Presentation</vt:lpstr>
      <vt:lpstr>Selection Sort</vt:lpstr>
      <vt:lpstr>PowerPoint Presentation</vt:lpstr>
      <vt:lpstr>PowerPoint Presentation</vt:lpstr>
      <vt:lpstr>PowerPoint Presentation</vt:lpstr>
      <vt:lpstr>PowerPoint Presentation</vt:lpstr>
      <vt:lpstr>Insertion Sort</vt:lpstr>
      <vt:lpstr>Insertion Sort</vt:lpstr>
      <vt:lpstr>Algorithm </vt:lpstr>
      <vt:lpstr>PowerPoint Presentation</vt:lpstr>
      <vt:lpstr>PowerPoint Presentation</vt:lpstr>
      <vt:lpstr>Merge Sort</vt:lpstr>
      <vt:lpstr>Merge Sort</vt:lpstr>
      <vt:lpstr>PowerPoint Presentation</vt:lpstr>
      <vt:lpstr>Merge Sort</vt:lpstr>
      <vt:lpstr>PowerPoint Presentation</vt:lpstr>
      <vt:lpstr>Quick Sort</vt:lpstr>
      <vt:lpstr>Quick Sort</vt:lpstr>
      <vt:lpstr>Quick Sort</vt:lpstr>
      <vt:lpstr>Quick Sort</vt:lpstr>
      <vt:lpstr>PowerPoint Presentation</vt:lpstr>
      <vt:lpstr>Quick Sort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Algorithms Lecture 1</dc:title>
  <dc:creator>SIT-Staff PC</dc:creator>
  <cp:lastModifiedBy>SIT-Staff PC</cp:lastModifiedBy>
  <cp:revision>62</cp:revision>
  <dcterms:modified xsi:type="dcterms:W3CDTF">2026-01-06T11:35:32Z</dcterms:modified>
</cp:coreProperties>
</file>