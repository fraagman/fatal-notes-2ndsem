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9144000" cy="5143500" type="screen16x9"/>
  <p:notesSz cx="6858000" cy="9144000"/>
  <p:embeddedFontLst>
    <p:embeddedFont>
      <p:font typeface="Roboto Mono" panose="00000009000000000000" pitchFamily="49" charset="0"/>
      <p:regular r:id="rId51"/>
      <p:bold r:id="rId52"/>
      <p:italic r:id="rId53"/>
      <p:boldItalic r:id="rId54"/>
    </p:embeddedFont>
    <p:embeddedFont>
      <p:font typeface="Verdana" panose="020B0604030504040204" pitchFamily="34"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42"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49f900bca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49f900bca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49f900bca7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49f900bca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49f900bca7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49f900bca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49f900bca7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49f900bca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49f900bca7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49f900bca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49f900bca7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49f900bca7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49f900bca7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49f900bca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49f900bca7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49f900bca7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49f900bca7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49f900bca7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4ad4a79116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4ad4a79116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4ad73e5771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4ad73e577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4ad73e5771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4ad73e5771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4ad73e5771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4ad73e577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4ad73e5771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4ad73e5771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ad73e5771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4ad73e577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4ad73e5771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4ad73e577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4ad73e5771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4ad73e5771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4b17fe3c84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4b17fe3c8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4b17fe3c84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4b17fe3c8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4b17fe3c84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4b17fe3c84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4b17fe3c84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4b17fe3c8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4b17fe3c84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4b17fe3c8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4ec96efca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4ec96efca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4ee3f677ab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4ee3f677ab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4ee3f677ab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4ee3f677ab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4ee3f677ab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4ee3f677a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4ee3f677ab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4ee3f677ab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4ee3f677ab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4ee3f677a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4ee3f677ab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4ee3f677ab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4ee3f677ab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4ee3f677a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4d54c463f0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4d54c463f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4d54c463f0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4d54c463f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4d54c463f0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4d54c463f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4d54c463f0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4d54c463f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4d54c463f0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4d54c463f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4d54c463f0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4d54c463f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4d54c463f0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4d54c463f0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4f7321e9c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4f7321e9c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4f7321e9cf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4f7321e9c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4f7321e9cf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4f7321e9c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4f7321e9cf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4f7321e9c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4f7321e9cf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4f7321e9cf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4f7321e9cf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4f7321e9c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4f7321e9cf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4f7321e9c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4f7321e9cf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34f7321e9cf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4f7321e9cf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4f7321e9cf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4f7321e9cf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4f7321e9cf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hyperlink" Target="https://www.w3schools.com/dsa/dsa_data_stacks.php"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hyperlink" Target="https://www.w3schools.com/dsa/dsa_data_queues.php"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Unit 4</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Graph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a:solidFill>
                  <a:schemeClr val="dk1"/>
                </a:solidFill>
              </a:rPr>
              <a:t>A graph is a collection of data item called node where nodes are connected to each other by the help of edge.</a:t>
            </a:r>
            <a:endParaRPr sz="1600">
              <a:solidFill>
                <a:schemeClr val="dk1"/>
              </a:solidFill>
            </a:endParaRPr>
          </a:p>
          <a:p>
            <a:pPr marL="0" lvl="0" indent="0" algn="l" rtl="0">
              <a:spcBef>
                <a:spcPts val="1200"/>
              </a:spcBef>
              <a:spcAft>
                <a:spcPts val="0"/>
              </a:spcAft>
              <a:buNone/>
            </a:pPr>
            <a:r>
              <a:rPr lang="en" sz="1200">
                <a:solidFill>
                  <a:schemeClr val="dk1"/>
                </a:solidFill>
                <a:highlight>
                  <a:srgbClr val="FFFFFF"/>
                </a:highlight>
                <a:latin typeface="Verdana"/>
                <a:ea typeface="Verdana"/>
                <a:cs typeface="Verdana"/>
                <a:sym typeface="Verdana"/>
              </a:rPr>
              <a:t>A graph is an abstract data type (ADT) which consists of a set of objects that are connected to each other via links. The interconnected objects are represented by points termed as </a:t>
            </a:r>
            <a:r>
              <a:rPr lang="en" sz="1200" b="1">
                <a:solidFill>
                  <a:schemeClr val="dk1"/>
                </a:solidFill>
                <a:highlight>
                  <a:srgbClr val="FFFFFF"/>
                </a:highlight>
                <a:latin typeface="Verdana"/>
                <a:ea typeface="Verdana"/>
                <a:cs typeface="Verdana"/>
                <a:sym typeface="Verdana"/>
              </a:rPr>
              <a:t>vertices</a:t>
            </a:r>
            <a:r>
              <a:rPr lang="en" sz="1200">
                <a:solidFill>
                  <a:schemeClr val="dk1"/>
                </a:solidFill>
                <a:highlight>
                  <a:srgbClr val="FFFFFF"/>
                </a:highlight>
                <a:latin typeface="Verdana"/>
                <a:ea typeface="Verdana"/>
                <a:cs typeface="Verdana"/>
                <a:sym typeface="Verdana"/>
              </a:rPr>
              <a:t>, and the links that connect the vertices are called </a:t>
            </a:r>
            <a:r>
              <a:rPr lang="en" sz="1200" b="1">
                <a:solidFill>
                  <a:schemeClr val="dk1"/>
                </a:solidFill>
                <a:highlight>
                  <a:srgbClr val="FFFFFF"/>
                </a:highlight>
                <a:latin typeface="Verdana"/>
                <a:ea typeface="Verdana"/>
                <a:cs typeface="Verdana"/>
                <a:sym typeface="Verdana"/>
              </a:rPr>
              <a:t>edges</a:t>
            </a:r>
            <a:r>
              <a:rPr lang="en" sz="1200">
                <a:solidFill>
                  <a:schemeClr val="dk1"/>
                </a:solidFill>
                <a:highlight>
                  <a:srgbClr val="FFFFFF"/>
                </a:highlight>
                <a:latin typeface="Verdana"/>
                <a:ea typeface="Verdana"/>
                <a:cs typeface="Verdana"/>
                <a:sym typeface="Verdana"/>
              </a:rPr>
              <a:t>.</a:t>
            </a:r>
            <a:endParaRPr sz="1600">
              <a:solidFill>
                <a:schemeClr val="dk1"/>
              </a:solidFill>
            </a:endParaRPr>
          </a:p>
          <a:p>
            <a:pPr marL="457200" lvl="0" indent="-298450" algn="l" rtl="0">
              <a:spcBef>
                <a:spcPts val="1200"/>
              </a:spcBef>
              <a:spcAft>
                <a:spcPts val="0"/>
              </a:spcAft>
              <a:buClr>
                <a:schemeClr val="dk1"/>
              </a:buClr>
              <a:buSzPts val="1100"/>
              <a:buAutoNum type="arabicPeriod"/>
            </a:pPr>
            <a:endParaRPr sz="1100">
              <a:solidFill>
                <a:schemeClr val="dk1"/>
              </a:solidFill>
            </a:endParaRPr>
          </a:p>
          <a:p>
            <a:pPr marL="0" lvl="0" indent="0" algn="l" rtl="0">
              <a:spcBef>
                <a:spcPts val="1200"/>
              </a:spcBef>
              <a:spcAft>
                <a:spcPts val="1200"/>
              </a:spcAft>
              <a:buNone/>
            </a:pPr>
            <a:endParaRPr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100" b="1">
                <a:solidFill>
                  <a:schemeClr val="dk1"/>
                </a:solidFill>
              </a:rPr>
              <a:t>Note:-</a:t>
            </a:r>
            <a:endParaRPr sz="1100" b="1">
              <a:solidFill>
                <a:schemeClr val="dk1"/>
              </a:solidFill>
            </a:endParaRPr>
          </a:p>
          <a:p>
            <a:pPr marL="457200" lvl="0" indent="-298450" algn="l" rtl="0">
              <a:spcBef>
                <a:spcPts val="1200"/>
              </a:spcBef>
              <a:spcAft>
                <a:spcPts val="0"/>
              </a:spcAft>
              <a:buClr>
                <a:schemeClr val="dk1"/>
              </a:buClr>
              <a:buSzPts val="1100"/>
              <a:buAutoNum type="arabicPeriod"/>
            </a:pPr>
            <a:r>
              <a:rPr lang="en" sz="1100">
                <a:solidFill>
                  <a:schemeClr val="dk1"/>
                </a:solidFill>
              </a:rPr>
              <a:t>A graph </a:t>
            </a:r>
            <a:r>
              <a:rPr lang="en" sz="1100" b="1">
                <a:solidFill>
                  <a:schemeClr val="dk1"/>
                </a:solidFill>
              </a:rPr>
              <a:t>G</a:t>
            </a:r>
            <a:r>
              <a:rPr lang="en" sz="1100">
                <a:solidFill>
                  <a:schemeClr val="dk1"/>
                </a:solidFill>
              </a:rPr>
              <a:t> can be represent[ed] an ordered pair i.e </a:t>
            </a:r>
            <a:r>
              <a:rPr lang="en" sz="1100" b="1">
                <a:solidFill>
                  <a:schemeClr val="dk1"/>
                </a:solidFill>
              </a:rPr>
              <a:t>G = (V, E)</a:t>
            </a:r>
            <a:br>
              <a:rPr lang="en" sz="1100" b="1">
                <a:solidFill>
                  <a:schemeClr val="dk1"/>
                </a:solidFill>
              </a:rPr>
            </a:br>
            <a:endParaRPr sz="1100" b="1">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Where, 'V' indicates no. of vertices or nodes and 'E' indicates no. of edges.</a:t>
            </a:r>
            <a:endParaRPr/>
          </a:p>
        </p:txBody>
      </p:sp>
      <p:pic>
        <p:nvPicPr>
          <p:cNvPr id="68" name="Google Shape;68;p15"/>
          <p:cNvPicPr preferRelativeResize="0"/>
          <p:nvPr/>
        </p:nvPicPr>
        <p:blipFill>
          <a:blip r:embed="rId3">
            <a:alphaModFix/>
          </a:blip>
          <a:stretch>
            <a:fillRect/>
          </a:stretch>
        </p:blipFill>
        <p:spPr>
          <a:xfrm>
            <a:off x="1942525" y="2488375"/>
            <a:ext cx="5258949" cy="21826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74" name="Google Shape;7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75" name="Google Shape;75;p16"/>
          <p:cNvPicPr preferRelativeResize="0"/>
          <p:nvPr/>
        </p:nvPicPr>
        <p:blipFill>
          <a:blip r:embed="rId3">
            <a:alphaModFix/>
          </a:blip>
          <a:stretch>
            <a:fillRect/>
          </a:stretch>
        </p:blipFill>
        <p:spPr>
          <a:xfrm>
            <a:off x="2000250" y="1534600"/>
            <a:ext cx="5143501" cy="2759099"/>
          </a:xfrm>
          <a:prstGeom prst="rect">
            <a:avLst/>
          </a:prstGeom>
          <a:noFill/>
          <a:ln>
            <a:noFill/>
          </a:ln>
        </p:spPr>
      </p:pic>
      <p:cxnSp>
        <p:nvCxnSpPr>
          <p:cNvPr id="76" name="Google Shape;76;p16"/>
          <p:cNvCxnSpPr/>
          <p:nvPr/>
        </p:nvCxnSpPr>
        <p:spPr>
          <a:xfrm>
            <a:off x="2598150" y="1798575"/>
            <a:ext cx="1617900" cy="0"/>
          </a:xfrm>
          <a:prstGeom prst="straightConnector1">
            <a:avLst/>
          </a:prstGeom>
          <a:noFill/>
          <a:ln w="9525" cap="flat" cmpd="sng">
            <a:solidFill>
              <a:schemeClr val="dk2"/>
            </a:solidFill>
            <a:prstDash val="solid"/>
            <a:round/>
            <a:headEnd type="none" w="med" len="med"/>
            <a:tailEnd type="triangle" w="med" len="med"/>
          </a:ln>
        </p:spPr>
      </p:cxnSp>
      <p:sp>
        <p:nvSpPr>
          <p:cNvPr id="77" name="Google Shape;77;p16"/>
          <p:cNvSpPr txBox="1"/>
          <p:nvPr/>
        </p:nvSpPr>
        <p:spPr>
          <a:xfrm>
            <a:off x="1363375" y="1534600"/>
            <a:ext cx="1183800" cy="572700"/>
          </a:xfrm>
          <a:prstGeom prst="rect">
            <a:avLst/>
          </a:prstGeom>
          <a:noFill/>
          <a:ln>
            <a:noFill/>
          </a:ln>
          <a:effectLst>
            <a:outerShdw blurRad="57150" dist="19050" dir="5400000" algn="bl" rotWithShape="0">
              <a:srgbClr val="000000">
                <a:alpha val="50000"/>
              </a:srgbClr>
            </a:outerShdw>
            <a:reflection dist="38100" dir="5400000" fadeDir="5400012" sy="-100000" algn="bl" rotWithShape="0"/>
          </a:effectLst>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Vertex</a:t>
            </a:r>
            <a:endParaRPr sz="1800">
              <a:solidFill>
                <a:schemeClr val="dk2"/>
              </a:solidFill>
            </a:endParaRPr>
          </a:p>
        </p:txBody>
      </p:sp>
      <p:cxnSp>
        <p:nvCxnSpPr>
          <p:cNvPr id="78" name="Google Shape;78;p16"/>
          <p:cNvCxnSpPr/>
          <p:nvPr/>
        </p:nvCxnSpPr>
        <p:spPr>
          <a:xfrm rot="10800000" flipH="1">
            <a:off x="2478925" y="3178050"/>
            <a:ext cx="996300" cy="502500"/>
          </a:xfrm>
          <a:prstGeom prst="straightConnector1">
            <a:avLst/>
          </a:prstGeom>
          <a:noFill/>
          <a:ln w="9525" cap="flat" cmpd="sng">
            <a:solidFill>
              <a:schemeClr val="dk2"/>
            </a:solidFill>
            <a:prstDash val="solid"/>
            <a:round/>
            <a:headEnd type="none" w="med" len="med"/>
            <a:tailEnd type="triangle" w="med" len="med"/>
          </a:ln>
        </p:spPr>
      </p:cxnSp>
      <p:sp>
        <p:nvSpPr>
          <p:cNvPr id="79" name="Google Shape;79;p16"/>
          <p:cNvSpPr txBox="1"/>
          <p:nvPr/>
        </p:nvSpPr>
        <p:spPr>
          <a:xfrm>
            <a:off x="2180875" y="3731650"/>
            <a:ext cx="1081500" cy="36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Edges</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85" name="Google Shape;85;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Graphs are used to represent and solve problems where the data consists of objects and relationships between them, such as:</a:t>
            </a:r>
            <a:endParaRPr sz="1150">
              <a:solidFill>
                <a:schemeClr val="dk1"/>
              </a:solidFill>
              <a:highlight>
                <a:srgbClr val="FFFFFF"/>
              </a:highlight>
              <a:latin typeface="Verdana"/>
              <a:ea typeface="Verdana"/>
              <a:cs typeface="Verdana"/>
              <a:sym typeface="Verdana"/>
            </a:endParaRPr>
          </a:p>
          <a:p>
            <a:pPr marL="457200" lvl="0" indent="-301625" algn="l" rtl="0">
              <a:spcBef>
                <a:spcPts val="140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Social Networks: Each person is a vertex, and relationships (like friendships) are the edges. Algorithms can suggest potential friends.</a:t>
            </a:r>
            <a:endParaRPr sz="1150">
              <a:solidFill>
                <a:schemeClr val="dk1"/>
              </a:solidFill>
              <a:highlight>
                <a:srgbClr val="FFFFFF"/>
              </a:highlight>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Maps and Navigation: Locations, like a town or bus stops, are stored as vertices, and roads are stored as edges. Algorithms can find the shortest route between two locations when stored as a Graph.</a:t>
            </a:r>
            <a:endParaRPr sz="1150">
              <a:solidFill>
                <a:schemeClr val="dk1"/>
              </a:solidFill>
              <a:highlight>
                <a:srgbClr val="FFFFFF"/>
              </a:highlight>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Internet: Can be represented as a Graph, with web pages as vertices and hyperlinks as edges.</a:t>
            </a:r>
            <a:endParaRPr sz="1150">
              <a:solidFill>
                <a:schemeClr val="dk1"/>
              </a:solidFill>
              <a:highlight>
                <a:srgbClr val="FFFFFF"/>
              </a:highlight>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Biology: Graphs can model systems like neural networks or the spread of diseases.</a:t>
            </a:r>
            <a:endParaRPr sz="1150">
              <a:solidFill>
                <a:schemeClr val="dk1"/>
              </a:solidFill>
              <a:highlight>
                <a:srgbClr val="FFFFFF"/>
              </a:highlight>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Char char="●"/>
            </a:pPr>
            <a:endParaRPr sz="1150">
              <a:solidFill>
                <a:schemeClr val="dk1"/>
              </a:solidFill>
              <a:highlight>
                <a:srgbClr val="FFFFFF"/>
              </a:highlight>
              <a:latin typeface="Verdana"/>
              <a:ea typeface="Verdana"/>
              <a:cs typeface="Verdana"/>
              <a:sym typeface="Verdana"/>
            </a:endParaRPr>
          </a:p>
          <a:p>
            <a:pPr marL="0" lvl="0" indent="0" algn="l" rtl="0">
              <a:spcBef>
                <a:spcPts val="1100"/>
              </a:spcBef>
              <a:spcAft>
                <a:spcPts val="12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32352"/>
              </a:lnSpc>
              <a:spcBef>
                <a:spcPts val="1800"/>
              </a:spcBef>
              <a:spcAft>
                <a:spcPts val="0"/>
              </a:spcAft>
              <a:buClr>
                <a:schemeClr val="dk1"/>
              </a:buClr>
              <a:buSzPts val="990"/>
              <a:buFont typeface="Arial"/>
              <a:buNone/>
            </a:pPr>
            <a:r>
              <a:rPr lang="en" sz="1929"/>
              <a:t>Types of graph</a:t>
            </a:r>
            <a:endParaRPr sz="1929"/>
          </a:p>
          <a:p>
            <a:pPr marL="0" lvl="0" indent="0" algn="l" rtl="0">
              <a:spcBef>
                <a:spcPts val="400"/>
              </a:spcBef>
              <a:spcAft>
                <a:spcPts val="0"/>
              </a:spcAft>
              <a:buSzPts val="990"/>
              <a:buNone/>
            </a:pPr>
            <a:endParaRPr sz="2520"/>
          </a:p>
        </p:txBody>
      </p:sp>
      <p:sp>
        <p:nvSpPr>
          <p:cNvPr id="91" name="Google Shape;91;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228600" algn="just" rtl="0">
              <a:spcBef>
                <a:spcPts val="0"/>
              </a:spcBef>
              <a:spcAft>
                <a:spcPts val="0"/>
              </a:spcAft>
              <a:buClr>
                <a:schemeClr val="dk1"/>
              </a:buClr>
              <a:buSzPts val="1200"/>
              <a:buFont typeface="Verdana"/>
              <a:buNone/>
            </a:pPr>
            <a:r>
              <a:rPr lang="en" sz="1200">
                <a:solidFill>
                  <a:schemeClr val="dk1"/>
                </a:solidFill>
                <a:latin typeface="Verdana"/>
                <a:ea typeface="Verdana"/>
                <a:cs typeface="Verdana"/>
                <a:sym typeface="Verdana"/>
              </a:rPr>
              <a:t>1. Directed Graph</a:t>
            </a:r>
            <a:endParaRPr sz="1200">
              <a:solidFill>
                <a:schemeClr val="dk1"/>
              </a:solidFill>
              <a:latin typeface="Verdana"/>
              <a:ea typeface="Verdana"/>
              <a:cs typeface="Verdana"/>
              <a:sym typeface="Verdana"/>
            </a:endParaRPr>
          </a:p>
          <a:p>
            <a:pPr marL="457200" lvl="0" indent="-228600" algn="just" rtl="0">
              <a:spcBef>
                <a:spcPts val="0"/>
              </a:spcBef>
              <a:spcAft>
                <a:spcPts val="0"/>
              </a:spcAft>
              <a:buClr>
                <a:schemeClr val="dk1"/>
              </a:buClr>
              <a:buSzPts val="1200"/>
              <a:buFont typeface="Verdana"/>
              <a:buNone/>
            </a:pPr>
            <a:endParaRPr sz="1200">
              <a:solidFill>
                <a:schemeClr val="dk1"/>
              </a:solidFill>
              <a:latin typeface="Verdana"/>
              <a:ea typeface="Verdana"/>
              <a:cs typeface="Verdana"/>
              <a:sym typeface="Verdana"/>
            </a:endParaRPr>
          </a:p>
          <a:p>
            <a:pPr marL="457200" lvl="0" indent="-228600" algn="just" rtl="0">
              <a:spcBef>
                <a:spcPts val="0"/>
              </a:spcBef>
              <a:spcAft>
                <a:spcPts val="0"/>
              </a:spcAft>
              <a:buClr>
                <a:schemeClr val="dk1"/>
              </a:buClr>
              <a:buSzPts val="1200"/>
              <a:buFont typeface="Verdana"/>
              <a:buNone/>
            </a:pPr>
            <a:r>
              <a:rPr lang="en" sz="1200">
                <a:solidFill>
                  <a:schemeClr val="dk1"/>
                </a:solidFill>
                <a:latin typeface="Verdana"/>
                <a:ea typeface="Verdana"/>
                <a:cs typeface="Verdana"/>
                <a:sym typeface="Verdana"/>
              </a:rPr>
              <a:t>2. Undirected Graph</a:t>
            </a:r>
            <a:endParaRPr sz="1200">
              <a:solidFill>
                <a:schemeClr val="dk1"/>
              </a:solidFill>
              <a:latin typeface="Verdana"/>
              <a:ea typeface="Verdana"/>
              <a:cs typeface="Verdana"/>
              <a:sym typeface="Verdana"/>
            </a:endParaRPr>
          </a:p>
          <a:p>
            <a:pPr marL="0" lvl="0" indent="0" algn="just" rtl="0">
              <a:spcBef>
                <a:spcPts val="1200"/>
              </a:spcBef>
              <a:spcAft>
                <a:spcPts val="0"/>
              </a:spcAft>
              <a:buNone/>
            </a:pPr>
            <a:r>
              <a:rPr lang="en" sz="1200">
                <a:solidFill>
                  <a:schemeClr val="dk1"/>
                </a:solidFill>
                <a:latin typeface="Verdana"/>
                <a:ea typeface="Verdana"/>
                <a:cs typeface="Verdana"/>
                <a:sym typeface="Verdana"/>
              </a:rPr>
              <a:t>1. Directed Graph</a:t>
            </a:r>
            <a:endParaRPr sz="1200">
              <a:solidFill>
                <a:schemeClr val="dk1"/>
              </a:solidFill>
              <a:latin typeface="Verdana"/>
              <a:ea typeface="Verdana"/>
              <a:cs typeface="Verdana"/>
              <a:sym typeface="Verdana"/>
            </a:endParaRPr>
          </a:p>
          <a:p>
            <a:pPr marL="0" lvl="0" indent="0" algn="just" rtl="0">
              <a:spcBef>
                <a:spcPts val="1200"/>
              </a:spcBef>
              <a:spcAft>
                <a:spcPts val="1200"/>
              </a:spcAft>
              <a:buNone/>
            </a:pPr>
            <a:r>
              <a:rPr lang="en" sz="1200">
                <a:solidFill>
                  <a:schemeClr val="dk1"/>
                </a:solidFill>
                <a:highlight>
                  <a:srgbClr val="FFFFFF"/>
                </a:highlight>
                <a:latin typeface="Verdana"/>
                <a:ea typeface="Verdana"/>
                <a:cs typeface="Verdana"/>
                <a:sym typeface="Verdana"/>
              </a:rPr>
              <a:t>Directed graph, as the name suggests, consists of edges that possess a direction that goes either away from a vertex or towards the vertex. </a:t>
            </a:r>
            <a:endParaRPr sz="1200">
              <a:solidFill>
                <a:schemeClr val="dk1"/>
              </a:solidFill>
              <a:latin typeface="Verdana"/>
              <a:ea typeface="Verdana"/>
              <a:cs typeface="Verdana"/>
              <a:sym typeface="Verdana"/>
            </a:endParaRPr>
          </a:p>
        </p:txBody>
      </p:sp>
      <p:pic>
        <p:nvPicPr>
          <p:cNvPr id="92" name="Google Shape;92;p18"/>
          <p:cNvPicPr preferRelativeResize="0"/>
          <p:nvPr/>
        </p:nvPicPr>
        <p:blipFill>
          <a:blip r:embed="rId3">
            <a:alphaModFix/>
          </a:blip>
          <a:stretch>
            <a:fillRect/>
          </a:stretch>
        </p:blipFill>
        <p:spPr>
          <a:xfrm>
            <a:off x="1238250" y="2897129"/>
            <a:ext cx="6667500" cy="1916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98" name="Google Shape;98;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1200">
                <a:solidFill>
                  <a:schemeClr val="dk1"/>
                </a:solidFill>
                <a:latin typeface="Verdana"/>
                <a:ea typeface="Verdana"/>
                <a:cs typeface="Verdana"/>
                <a:sym typeface="Verdana"/>
              </a:rPr>
              <a:t>2. Undirected Graph</a:t>
            </a:r>
            <a:endParaRPr sz="1200">
              <a:solidFill>
                <a:schemeClr val="dk1"/>
              </a:solidFill>
              <a:latin typeface="Verdana"/>
              <a:ea typeface="Verdana"/>
              <a:cs typeface="Verdana"/>
              <a:sym typeface="Verdana"/>
            </a:endParaRPr>
          </a:p>
          <a:p>
            <a:pPr marL="0" lvl="0" indent="0" algn="l" rtl="0">
              <a:spcBef>
                <a:spcPts val="1200"/>
              </a:spcBef>
              <a:spcAft>
                <a:spcPts val="1200"/>
              </a:spcAft>
              <a:buNone/>
            </a:pPr>
            <a:r>
              <a:rPr lang="en" sz="1200">
                <a:solidFill>
                  <a:schemeClr val="dk1"/>
                </a:solidFill>
                <a:highlight>
                  <a:srgbClr val="FFFFFF"/>
                </a:highlight>
                <a:latin typeface="Verdana"/>
                <a:ea typeface="Verdana"/>
                <a:cs typeface="Verdana"/>
                <a:sym typeface="Verdana"/>
              </a:rPr>
              <a:t>Undirected graphs have edges that are not directed at all.</a:t>
            </a:r>
            <a:endParaRPr/>
          </a:p>
        </p:txBody>
      </p:sp>
      <p:pic>
        <p:nvPicPr>
          <p:cNvPr id="99" name="Google Shape;99;p19"/>
          <p:cNvPicPr preferRelativeResize="0"/>
          <p:nvPr/>
        </p:nvPicPr>
        <p:blipFill>
          <a:blip r:embed="rId3">
            <a:alphaModFix/>
          </a:blip>
          <a:stretch>
            <a:fillRect/>
          </a:stretch>
        </p:blipFill>
        <p:spPr>
          <a:xfrm>
            <a:off x="1233500" y="2045550"/>
            <a:ext cx="6677025" cy="2307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05" name="Google Shape;105;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06" name="Google Shape;106;p20"/>
          <p:cNvPicPr preferRelativeResize="0"/>
          <p:nvPr/>
        </p:nvPicPr>
        <p:blipFill>
          <a:blip r:embed="rId3">
            <a:alphaModFix/>
          </a:blip>
          <a:stretch>
            <a:fillRect/>
          </a:stretch>
        </p:blipFill>
        <p:spPr>
          <a:xfrm>
            <a:off x="366725" y="1152475"/>
            <a:ext cx="8410575" cy="3171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2" name="Google Shape;112;p21"/>
          <p:cNvSpPr txBox="1">
            <a:spLocks noGrp="1"/>
          </p:cNvSpPr>
          <p:nvPr>
            <p:ph type="body" idx="1"/>
          </p:nvPr>
        </p:nvSpPr>
        <p:spPr>
          <a:xfrm>
            <a:off x="311700" y="1152475"/>
            <a:ext cx="29592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100" b="1">
                <a:solidFill>
                  <a:schemeClr val="dk1"/>
                </a:solidFill>
              </a:rPr>
              <a:t>Vertices</a:t>
            </a:r>
            <a:r>
              <a:rPr lang="en" sz="1100">
                <a:solidFill>
                  <a:schemeClr val="dk1"/>
                </a:solidFill>
              </a:rPr>
              <a:t>: A, B, C, D, E</a:t>
            </a:r>
            <a:br>
              <a:rPr lang="en" sz="1100">
                <a:solidFill>
                  <a:schemeClr val="dk1"/>
                </a:solidFill>
              </a:rPr>
            </a:br>
            <a:r>
              <a:rPr lang="en" sz="1100">
                <a:solidFill>
                  <a:schemeClr val="dk1"/>
                </a:solidFill>
              </a:rPr>
              <a:t> </a:t>
            </a:r>
            <a:r>
              <a:rPr lang="en" sz="1100" b="1">
                <a:solidFill>
                  <a:schemeClr val="dk1"/>
                </a:solidFill>
              </a:rPr>
              <a:t>Edges</a:t>
            </a:r>
            <a:r>
              <a:rPr lang="en" sz="1100">
                <a:solidFill>
                  <a:schemeClr val="dk1"/>
                </a:solidFill>
              </a:rPr>
              <a:t>:</a:t>
            </a:r>
            <a:endParaRPr sz="1100">
              <a:solidFill>
                <a:schemeClr val="dk1"/>
              </a:solidFill>
            </a:endParaRPr>
          </a:p>
          <a:p>
            <a:pPr marL="457200" lvl="0" indent="-298450" algn="l" rtl="0">
              <a:spcBef>
                <a:spcPts val="1200"/>
              </a:spcBef>
              <a:spcAft>
                <a:spcPts val="0"/>
              </a:spcAft>
              <a:buClr>
                <a:schemeClr val="dk1"/>
              </a:buClr>
              <a:buSzPts val="1100"/>
              <a:buChar char="●"/>
            </a:pPr>
            <a:r>
              <a:rPr lang="en" sz="1100">
                <a:solidFill>
                  <a:schemeClr val="dk1"/>
                </a:solidFill>
              </a:rPr>
              <a:t>e₁: A — C</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e₂: A — B</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e₃: C — B</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e₄: C — D</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e₅: B — E</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e₆: D — E</a:t>
            </a:r>
            <a:endParaRPr sz="1100">
              <a:solidFill>
                <a:schemeClr val="dk1"/>
              </a:solidFill>
            </a:endParaRPr>
          </a:p>
          <a:p>
            <a:pPr marL="0" lvl="0" indent="0" algn="l" rtl="0">
              <a:spcBef>
                <a:spcPts val="1200"/>
              </a:spcBef>
              <a:spcAft>
                <a:spcPts val="1200"/>
              </a:spcAft>
              <a:buNone/>
            </a:pPr>
            <a:endParaRPr/>
          </a:p>
        </p:txBody>
      </p:sp>
      <p:pic>
        <p:nvPicPr>
          <p:cNvPr id="113" name="Google Shape;113;p21"/>
          <p:cNvPicPr preferRelativeResize="0"/>
          <p:nvPr/>
        </p:nvPicPr>
        <p:blipFill>
          <a:blip r:embed="rId3">
            <a:alphaModFix/>
          </a:blip>
          <a:stretch>
            <a:fillRect/>
          </a:stretch>
        </p:blipFill>
        <p:spPr>
          <a:xfrm>
            <a:off x="4402600" y="1152475"/>
            <a:ext cx="3820977" cy="382097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Terminology of Tree</a:t>
            </a:r>
            <a:endParaRPr/>
          </a:p>
        </p:txBody>
      </p:sp>
      <p:sp>
        <p:nvSpPr>
          <p:cNvPr id="119" name="Google Shape;119;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Clr>
                <a:schemeClr val="dk1"/>
              </a:buClr>
              <a:buSzPts val="1300"/>
              <a:buAutoNum type="arabicPeriod"/>
            </a:pPr>
            <a:r>
              <a:rPr lang="en" sz="1300">
                <a:solidFill>
                  <a:schemeClr val="dk1"/>
                </a:solidFill>
              </a:rPr>
              <a:t>Path:- A open walk in which no vertex appears more than once is called a path.</a:t>
            </a:r>
            <a:endParaRPr sz="1300">
              <a:solidFill>
                <a:schemeClr val="dk1"/>
              </a:solidFill>
            </a:endParaRPr>
          </a:p>
          <a:p>
            <a:pPr marL="457200" lvl="0" indent="0" algn="l" rtl="0">
              <a:spcBef>
                <a:spcPts val="1200"/>
              </a:spcBef>
              <a:spcAft>
                <a:spcPts val="1200"/>
              </a:spcAft>
              <a:buNone/>
            </a:pPr>
            <a:endParaRPr sz="1300">
              <a:solidFill>
                <a:schemeClr val="dk1"/>
              </a:solidFill>
            </a:endParaRPr>
          </a:p>
        </p:txBody>
      </p:sp>
      <p:pic>
        <p:nvPicPr>
          <p:cNvPr id="120" name="Google Shape;120;p22"/>
          <p:cNvPicPr preferRelativeResize="0"/>
          <p:nvPr/>
        </p:nvPicPr>
        <p:blipFill>
          <a:blip r:embed="rId3">
            <a:alphaModFix/>
          </a:blip>
          <a:stretch>
            <a:fillRect/>
          </a:stretch>
        </p:blipFill>
        <p:spPr>
          <a:xfrm>
            <a:off x="387475" y="1877350"/>
            <a:ext cx="3879775" cy="1794700"/>
          </a:xfrm>
          <a:prstGeom prst="rect">
            <a:avLst/>
          </a:prstGeom>
          <a:noFill/>
          <a:ln>
            <a:noFill/>
          </a:ln>
        </p:spPr>
      </p:pic>
      <p:sp>
        <p:nvSpPr>
          <p:cNvPr id="121" name="Google Shape;121;p22"/>
          <p:cNvSpPr txBox="1">
            <a:spLocks noGrp="1"/>
          </p:cNvSpPr>
          <p:nvPr>
            <p:ph type="body" idx="1"/>
          </p:nvPr>
        </p:nvSpPr>
        <p:spPr>
          <a:xfrm>
            <a:off x="4995350" y="1962775"/>
            <a:ext cx="2559000" cy="1795800"/>
          </a:xfrm>
          <a:prstGeom prst="rect">
            <a:avLst/>
          </a:prstGeom>
        </p:spPr>
        <p:txBody>
          <a:bodyPr spcFirstLastPara="1" wrap="square" lIns="91425" tIns="91425" rIns="91425" bIns="91425" anchor="t" anchorCtr="0">
            <a:normAutofit lnSpcReduction="20000"/>
          </a:bodyPr>
          <a:lstStyle/>
          <a:p>
            <a:pPr marL="0" lvl="0" indent="0" algn="l" rtl="0">
              <a:spcBef>
                <a:spcPts val="1200"/>
              </a:spcBef>
              <a:spcAft>
                <a:spcPts val="0"/>
              </a:spcAft>
              <a:buNone/>
            </a:pPr>
            <a:r>
              <a:rPr lang="en" sz="1100" b="1">
                <a:solidFill>
                  <a:schemeClr val="dk1"/>
                </a:solidFill>
              </a:rPr>
              <a:t>Paths Listed:</a:t>
            </a:r>
            <a:endParaRPr sz="1100" b="1">
              <a:solidFill>
                <a:schemeClr val="dk1"/>
              </a:solidFill>
            </a:endParaRPr>
          </a:p>
          <a:p>
            <a:pPr marL="457200" lvl="0" indent="-298450" algn="l" rtl="0">
              <a:spcBef>
                <a:spcPts val="1200"/>
              </a:spcBef>
              <a:spcAft>
                <a:spcPts val="0"/>
              </a:spcAft>
              <a:buClr>
                <a:schemeClr val="dk1"/>
              </a:buClr>
              <a:buSzPts val="1100"/>
              <a:buAutoNum type="arabicPeriod"/>
            </a:pPr>
            <a:r>
              <a:rPr lang="en" sz="1100">
                <a:solidFill>
                  <a:srgbClr val="188038"/>
                </a:solidFill>
                <a:latin typeface="Roboto Mono"/>
                <a:ea typeface="Roboto Mono"/>
                <a:cs typeface="Roboto Mono"/>
                <a:sym typeface="Roboto Mono"/>
              </a:rPr>
              <a:t>A → F</a:t>
            </a: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457200" lvl="0" indent="-298450" algn="l" rtl="0">
              <a:spcBef>
                <a:spcPts val="0"/>
              </a:spcBef>
              <a:spcAft>
                <a:spcPts val="0"/>
              </a:spcAft>
              <a:buClr>
                <a:schemeClr val="dk1"/>
              </a:buClr>
              <a:buSzPts val="1100"/>
              <a:buAutoNum type="arabicPeriod"/>
            </a:pPr>
            <a:r>
              <a:rPr lang="en" sz="1100">
                <a:solidFill>
                  <a:srgbClr val="188038"/>
                </a:solidFill>
                <a:latin typeface="Roboto Mono"/>
                <a:ea typeface="Roboto Mono"/>
                <a:cs typeface="Roboto Mono"/>
                <a:sym typeface="Roboto Mono"/>
              </a:rPr>
              <a:t>A → D → F</a:t>
            </a: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457200" lvl="0" indent="-298450" algn="l" rtl="0">
              <a:spcBef>
                <a:spcPts val="0"/>
              </a:spcBef>
              <a:spcAft>
                <a:spcPts val="0"/>
              </a:spcAft>
              <a:buClr>
                <a:schemeClr val="dk1"/>
              </a:buClr>
              <a:buSzPts val="1100"/>
              <a:buAutoNum type="arabicPeriod"/>
            </a:pPr>
            <a:r>
              <a:rPr lang="en" sz="1100">
                <a:solidFill>
                  <a:srgbClr val="188038"/>
                </a:solidFill>
                <a:latin typeface="Roboto Mono"/>
                <a:ea typeface="Roboto Mono"/>
                <a:cs typeface="Roboto Mono"/>
                <a:sym typeface="Roboto Mono"/>
              </a:rPr>
              <a:t>A → B → C → D → F</a:t>
            </a:r>
            <a:endParaRPr sz="1100">
              <a:solidFill>
                <a:srgbClr val="188038"/>
              </a:solidFill>
              <a:latin typeface="Roboto Mono"/>
              <a:ea typeface="Roboto Mono"/>
              <a:cs typeface="Roboto Mono"/>
              <a:sym typeface="Roboto Mono"/>
            </a:endParaRPr>
          </a:p>
          <a:p>
            <a:pPr marL="0" lvl="0" indent="0" algn="l" rtl="0">
              <a:spcBef>
                <a:spcPts val="1200"/>
              </a:spcBef>
              <a:spcAft>
                <a:spcPts val="12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7" name="Google Shape;127;p23"/>
          <p:cNvSpPr txBox="1">
            <a:spLocks noGrp="1"/>
          </p:cNvSpPr>
          <p:nvPr>
            <p:ph type="body" idx="1"/>
          </p:nvPr>
        </p:nvSpPr>
        <p:spPr>
          <a:xfrm>
            <a:off x="311700" y="1152475"/>
            <a:ext cx="8520600" cy="33798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300">
                <a:solidFill>
                  <a:schemeClr val="dk1"/>
                </a:solidFill>
              </a:rPr>
              <a:t>2. Adjacent nodes</a:t>
            </a:r>
            <a:endParaRPr sz="1300">
              <a:solidFill>
                <a:schemeClr val="dk1"/>
              </a:solidFill>
            </a:endParaRPr>
          </a:p>
          <a:p>
            <a:pPr marL="0" lvl="0" indent="0" algn="l" rtl="0">
              <a:spcBef>
                <a:spcPts val="1200"/>
              </a:spcBef>
              <a:spcAft>
                <a:spcPts val="0"/>
              </a:spcAft>
              <a:buNone/>
            </a:pPr>
            <a:r>
              <a:rPr lang="en" sz="1300">
                <a:solidFill>
                  <a:schemeClr val="dk1"/>
                </a:solidFill>
              </a:rPr>
              <a:t>When there is an edge from one node to another then these nodes are called adjacent nodes</a:t>
            </a:r>
            <a:r>
              <a:rPr lang="en" sz="1100">
                <a:solidFill>
                  <a:schemeClr val="dk1"/>
                </a:solidFill>
                <a:latin typeface="Roboto Mono"/>
                <a:ea typeface="Roboto Mono"/>
                <a:cs typeface="Roboto Mono"/>
                <a:sym typeface="Roboto Mono"/>
              </a:rPr>
              <a:t>.</a:t>
            </a:r>
            <a:endParaRPr sz="1100">
              <a:solidFill>
                <a:schemeClr val="dk1"/>
              </a:solidFill>
              <a:latin typeface="Roboto Mono"/>
              <a:ea typeface="Roboto Mono"/>
              <a:cs typeface="Roboto Mono"/>
              <a:sym typeface="Roboto Mono"/>
            </a:endParaRPr>
          </a:p>
          <a:p>
            <a:pPr marL="0" lvl="0" indent="0" algn="l" rtl="0">
              <a:spcBef>
                <a:spcPts val="1200"/>
              </a:spcBef>
              <a:spcAft>
                <a:spcPts val="0"/>
              </a:spcAft>
              <a:buNone/>
            </a:pPr>
            <a:r>
              <a:rPr lang="en" sz="1100">
                <a:solidFill>
                  <a:schemeClr val="dk1"/>
                </a:solidFill>
              </a:rPr>
              <a:t>If two nodes </a:t>
            </a:r>
            <a:r>
              <a:rPr lang="en" sz="1100" b="1">
                <a:solidFill>
                  <a:schemeClr val="dk1"/>
                </a:solidFill>
              </a:rPr>
              <a:t>A</a:t>
            </a:r>
            <a:r>
              <a:rPr lang="en" sz="1100">
                <a:solidFill>
                  <a:schemeClr val="dk1"/>
                </a:solidFill>
              </a:rPr>
              <a:t> and </a:t>
            </a:r>
            <a:r>
              <a:rPr lang="en" sz="1100" b="1">
                <a:solidFill>
                  <a:schemeClr val="dk1"/>
                </a:solidFill>
              </a:rPr>
              <a:t>B</a:t>
            </a:r>
            <a:r>
              <a:rPr lang="en" sz="1100">
                <a:solidFill>
                  <a:schemeClr val="dk1"/>
                </a:solidFill>
              </a:rPr>
              <a:t> are connected via an edge (</a:t>
            </a:r>
            <a:r>
              <a:rPr lang="en" sz="1100" b="1">
                <a:solidFill>
                  <a:schemeClr val="dk1"/>
                </a:solidFill>
              </a:rPr>
              <a:t>E</a:t>
            </a:r>
            <a:r>
              <a:rPr lang="en" sz="1100">
                <a:solidFill>
                  <a:schemeClr val="dk1"/>
                </a:solidFill>
              </a:rPr>
              <a:t>), then the nodes </a:t>
            </a:r>
            <a:r>
              <a:rPr lang="en" sz="1100" b="1">
                <a:solidFill>
                  <a:schemeClr val="dk1"/>
                </a:solidFill>
              </a:rPr>
              <a:t>A</a:t>
            </a:r>
            <a:r>
              <a:rPr lang="en" sz="1100">
                <a:solidFill>
                  <a:schemeClr val="dk1"/>
                </a:solidFill>
              </a:rPr>
              <a:t> &amp; </a:t>
            </a:r>
            <a:r>
              <a:rPr lang="en" sz="1100" b="1">
                <a:solidFill>
                  <a:schemeClr val="dk1"/>
                </a:solidFill>
              </a:rPr>
              <a:t>B</a:t>
            </a:r>
            <a:r>
              <a:rPr lang="en" sz="1100">
                <a:solidFill>
                  <a:schemeClr val="dk1"/>
                </a:solidFill>
              </a:rPr>
              <a:t> are called as neighbors.</a:t>
            </a:r>
            <a:endParaRPr sz="1100">
              <a:solidFill>
                <a:schemeClr val="dk1"/>
              </a:solidFill>
            </a:endParaRPr>
          </a:p>
          <a:p>
            <a:pPr marL="0" lvl="0" indent="0" algn="l" rtl="0">
              <a:spcBef>
                <a:spcPts val="1200"/>
              </a:spcBef>
              <a:spcAft>
                <a:spcPts val="0"/>
              </a:spcAft>
              <a:buNone/>
            </a:pPr>
            <a:endParaRPr sz="1100">
              <a:solidFill>
                <a:schemeClr val="dk1"/>
              </a:solidFill>
            </a:endParaRPr>
          </a:p>
          <a:p>
            <a:pPr marL="0" lvl="0" indent="0" algn="l" rtl="0">
              <a:spcBef>
                <a:spcPts val="1200"/>
              </a:spcBef>
              <a:spcAft>
                <a:spcPts val="1200"/>
              </a:spcAft>
              <a:buNone/>
            </a:pPr>
            <a:endParaRPr/>
          </a:p>
        </p:txBody>
      </p:sp>
      <p:pic>
        <p:nvPicPr>
          <p:cNvPr id="128" name="Google Shape;128;p23"/>
          <p:cNvPicPr preferRelativeResize="0"/>
          <p:nvPr/>
        </p:nvPicPr>
        <p:blipFill>
          <a:blip r:embed="rId3">
            <a:alphaModFix/>
          </a:blip>
          <a:stretch>
            <a:fillRect/>
          </a:stretch>
        </p:blipFill>
        <p:spPr>
          <a:xfrm>
            <a:off x="557800" y="2571750"/>
            <a:ext cx="3879775" cy="1794700"/>
          </a:xfrm>
          <a:prstGeom prst="rect">
            <a:avLst/>
          </a:prstGeom>
          <a:noFill/>
          <a:ln>
            <a:noFill/>
          </a:ln>
        </p:spPr>
      </p:pic>
      <p:pic>
        <p:nvPicPr>
          <p:cNvPr id="129" name="Google Shape;129;p23"/>
          <p:cNvPicPr preferRelativeResize="0"/>
          <p:nvPr/>
        </p:nvPicPr>
        <p:blipFill>
          <a:blip r:embed="rId4">
            <a:alphaModFix/>
          </a:blip>
          <a:stretch>
            <a:fillRect/>
          </a:stretch>
        </p:blipFill>
        <p:spPr>
          <a:xfrm>
            <a:off x="4183025" y="2684225"/>
            <a:ext cx="3746000" cy="1905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35" name="Google Shape;135;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solidFill>
                  <a:schemeClr val="dk1"/>
                </a:solidFill>
              </a:rPr>
              <a:t>3.Degree</a:t>
            </a:r>
            <a:endParaRPr sz="1400">
              <a:solidFill>
                <a:schemeClr val="dk1"/>
              </a:solidFill>
            </a:endParaRPr>
          </a:p>
          <a:p>
            <a:pPr marL="0" lvl="0" indent="0" algn="l" rtl="0">
              <a:spcBef>
                <a:spcPts val="1200"/>
              </a:spcBef>
              <a:spcAft>
                <a:spcPts val="0"/>
              </a:spcAft>
              <a:buNone/>
            </a:pPr>
            <a:r>
              <a:rPr lang="en" sz="1400">
                <a:solidFill>
                  <a:schemeClr val="dk1"/>
                </a:solidFill>
              </a:rPr>
              <a:t>Total number of edges connected to a vertex is said to be degree of that vertex.</a:t>
            </a:r>
            <a:endParaRPr sz="1400">
              <a:solidFill>
                <a:schemeClr val="dk1"/>
              </a:solidFill>
            </a:endParaRPr>
          </a:p>
          <a:p>
            <a:pPr marL="0" lvl="0" indent="0" algn="l" rtl="0">
              <a:spcBef>
                <a:spcPts val="1200"/>
              </a:spcBef>
              <a:spcAft>
                <a:spcPts val="1200"/>
              </a:spcAft>
              <a:buNone/>
            </a:pPr>
            <a:endParaRPr sz="1400">
              <a:solidFill>
                <a:schemeClr val="dk1"/>
              </a:solidFill>
            </a:endParaRPr>
          </a:p>
        </p:txBody>
      </p:sp>
      <p:pic>
        <p:nvPicPr>
          <p:cNvPr id="136" name="Google Shape;136;p24"/>
          <p:cNvPicPr preferRelativeResize="0"/>
          <p:nvPr/>
        </p:nvPicPr>
        <p:blipFill>
          <a:blip r:embed="rId3">
            <a:alphaModFix/>
          </a:blip>
          <a:stretch>
            <a:fillRect/>
          </a:stretch>
        </p:blipFill>
        <p:spPr>
          <a:xfrm>
            <a:off x="409574" y="2153325"/>
            <a:ext cx="7843025" cy="2352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2" name="Google Shape;142;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b="1">
                <a:solidFill>
                  <a:schemeClr val="dk1"/>
                </a:solidFill>
              </a:rPr>
              <a:t>Types of Degree</a:t>
            </a:r>
            <a:endParaRPr sz="1400" b="1">
              <a:solidFill>
                <a:schemeClr val="dk1"/>
              </a:solidFill>
            </a:endParaRPr>
          </a:p>
          <a:p>
            <a:pPr marL="0" lvl="0" indent="0" algn="l" rtl="0">
              <a:spcBef>
                <a:spcPts val="1200"/>
              </a:spcBef>
              <a:spcAft>
                <a:spcPts val="0"/>
              </a:spcAft>
              <a:buNone/>
            </a:pPr>
            <a:r>
              <a:rPr lang="en" sz="1400" b="1">
                <a:solidFill>
                  <a:schemeClr val="dk1"/>
                </a:solidFill>
              </a:rPr>
              <a:t>Indegree</a:t>
            </a:r>
            <a:endParaRPr sz="1400" b="1">
              <a:solidFill>
                <a:schemeClr val="dk1"/>
              </a:solidFill>
            </a:endParaRPr>
          </a:p>
          <a:p>
            <a:pPr marL="0" lvl="0" indent="0" algn="l" rtl="0">
              <a:spcBef>
                <a:spcPts val="1200"/>
              </a:spcBef>
              <a:spcAft>
                <a:spcPts val="0"/>
              </a:spcAft>
              <a:buNone/>
            </a:pPr>
            <a:r>
              <a:rPr lang="en" sz="1300">
                <a:solidFill>
                  <a:schemeClr val="dk1"/>
                </a:solidFill>
              </a:rPr>
              <a:t>Indegree Total number of incoming edges connected to a vertex is said to be indegree of that vertex. </a:t>
            </a:r>
            <a:endParaRPr sz="1300">
              <a:solidFill>
                <a:schemeClr val="dk1"/>
              </a:solidFill>
            </a:endParaRPr>
          </a:p>
          <a:p>
            <a:pPr marL="0" lvl="0" indent="0" algn="l" rtl="0">
              <a:spcBef>
                <a:spcPts val="1200"/>
              </a:spcBef>
              <a:spcAft>
                <a:spcPts val="0"/>
              </a:spcAft>
              <a:buNone/>
            </a:pPr>
            <a:r>
              <a:rPr lang="en" sz="1300" b="1">
                <a:solidFill>
                  <a:schemeClr val="dk1"/>
                </a:solidFill>
              </a:rPr>
              <a:t>Outdegree </a:t>
            </a:r>
            <a:endParaRPr sz="1300" b="1">
              <a:solidFill>
                <a:schemeClr val="dk1"/>
              </a:solidFill>
            </a:endParaRPr>
          </a:p>
          <a:p>
            <a:pPr marL="0" lvl="0" indent="0" algn="l" rtl="0">
              <a:spcBef>
                <a:spcPts val="1200"/>
              </a:spcBef>
              <a:spcAft>
                <a:spcPts val="0"/>
              </a:spcAft>
              <a:buNone/>
            </a:pPr>
            <a:r>
              <a:rPr lang="en" sz="1300">
                <a:solidFill>
                  <a:schemeClr val="dk1"/>
                </a:solidFill>
              </a:rPr>
              <a:t>Outdegree Total number of outgoing edges connected to a vertex is said to be outdegree of that vertex.</a:t>
            </a:r>
            <a:endParaRPr sz="1300">
              <a:solidFill>
                <a:schemeClr val="dk1"/>
              </a:solidFill>
            </a:endParaRPr>
          </a:p>
          <a:p>
            <a:pPr marL="0" lvl="0" indent="0" algn="l" rtl="0">
              <a:spcBef>
                <a:spcPts val="1200"/>
              </a:spcBef>
              <a:spcAft>
                <a:spcPts val="1200"/>
              </a:spcAft>
              <a:buNone/>
            </a:pPr>
            <a:endParaRPr sz="1300">
              <a:solidFill>
                <a:schemeClr val="dk1"/>
              </a:solidFill>
            </a:endParaRPr>
          </a:p>
        </p:txBody>
      </p:sp>
      <p:pic>
        <p:nvPicPr>
          <p:cNvPr id="143" name="Google Shape;143;p25"/>
          <p:cNvPicPr preferRelativeResize="0"/>
          <p:nvPr/>
        </p:nvPicPr>
        <p:blipFill>
          <a:blip r:embed="rId3">
            <a:alphaModFix/>
          </a:blip>
          <a:stretch>
            <a:fillRect/>
          </a:stretch>
        </p:blipFill>
        <p:spPr>
          <a:xfrm>
            <a:off x="757025" y="3220730"/>
            <a:ext cx="3616462" cy="1234800"/>
          </a:xfrm>
          <a:prstGeom prst="rect">
            <a:avLst/>
          </a:prstGeom>
          <a:noFill/>
          <a:ln>
            <a:noFill/>
          </a:ln>
        </p:spPr>
      </p:pic>
      <p:sp>
        <p:nvSpPr>
          <p:cNvPr id="144" name="Google Shape;144;p25"/>
          <p:cNvSpPr txBox="1">
            <a:spLocks noGrp="1"/>
          </p:cNvSpPr>
          <p:nvPr>
            <p:ph type="body" idx="1"/>
          </p:nvPr>
        </p:nvSpPr>
        <p:spPr>
          <a:xfrm>
            <a:off x="6647400" y="3319275"/>
            <a:ext cx="1383900" cy="1037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b="1">
                <a:solidFill>
                  <a:schemeClr val="dk1"/>
                </a:solidFill>
              </a:rPr>
              <a:t>A ⇒ Indegree – 0</a:t>
            </a:r>
            <a:endParaRPr sz="1100" b="1">
              <a:solidFill>
                <a:schemeClr val="dk1"/>
              </a:solidFill>
            </a:endParaRPr>
          </a:p>
          <a:p>
            <a:pPr marL="0" lvl="0" indent="0" algn="l" rtl="0">
              <a:spcBef>
                <a:spcPts val="1200"/>
              </a:spcBef>
              <a:spcAft>
                <a:spcPts val="1200"/>
              </a:spcAft>
              <a:buNone/>
            </a:pPr>
            <a:r>
              <a:rPr lang="en" sz="1100" b="1">
                <a:solidFill>
                  <a:schemeClr val="dk1"/>
                </a:solidFill>
              </a:rPr>
              <a:t>Outdegree – 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0" name="Google Shape;150;p26"/>
          <p:cNvSpPr txBox="1">
            <a:spLocks noGrp="1"/>
          </p:cNvSpPr>
          <p:nvPr>
            <p:ph type="body" idx="1"/>
          </p:nvPr>
        </p:nvSpPr>
        <p:spPr>
          <a:xfrm>
            <a:off x="311700" y="1152475"/>
            <a:ext cx="8392200" cy="34308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1200" b="1">
                <a:solidFill>
                  <a:schemeClr val="dk1"/>
                </a:solidFill>
              </a:rPr>
              <a:t>4.Complete Graph </a:t>
            </a:r>
            <a:endParaRPr sz="1200" b="1">
              <a:solidFill>
                <a:schemeClr val="dk1"/>
              </a:solidFill>
            </a:endParaRPr>
          </a:p>
          <a:p>
            <a:pPr marL="0" lvl="0" indent="0" algn="just" rtl="0">
              <a:spcBef>
                <a:spcPts val="1200"/>
              </a:spcBef>
              <a:spcAft>
                <a:spcPts val="0"/>
              </a:spcAft>
              <a:buNone/>
            </a:pPr>
            <a:r>
              <a:rPr lang="en" sz="1200">
                <a:solidFill>
                  <a:schemeClr val="dk1"/>
                </a:solidFill>
              </a:rPr>
              <a:t>If all the nodes of graph connected to each other then its called Complete Graph.</a:t>
            </a:r>
            <a:endParaRPr sz="1200">
              <a:solidFill>
                <a:schemeClr val="dk1"/>
              </a:solidFill>
            </a:endParaRPr>
          </a:p>
          <a:p>
            <a:pPr marL="0" lvl="0" indent="0" algn="just" rtl="0">
              <a:spcBef>
                <a:spcPts val="1200"/>
              </a:spcBef>
              <a:spcAft>
                <a:spcPts val="0"/>
              </a:spcAft>
              <a:buNone/>
            </a:pPr>
            <a:r>
              <a:rPr lang="en" sz="1200">
                <a:solidFill>
                  <a:schemeClr val="dk1"/>
                </a:solidFill>
              </a:rPr>
              <a:t>A graph in which any V node is adjacent to all other nodes present in the graph is known as a complete graph. An undirected graph contains the edges that are equal to edges = n(n-1)/2 where n is the number of vertices present in the graph. The following figure shows a complete graph.</a:t>
            </a:r>
            <a:endParaRPr sz="1200">
              <a:solidFill>
                <a:schemeClr val="dk1"/>
              </a:solidFill>
            </a:endParaRPr>
          </a:p>
          <a:p>
            <a:pPr marL="0" lvl="0" indent="0" algn="just" rtl="0">
              <a:spcBef>
                <a:spcPts val="1200"/>
              </a:spcBef>
              <a:spcAft>
                <a:spcPts val="1200"/>
              </a:spcAft>
              <a:buNone/>
            </a:pPr>
            <a:endParaRPr sz="1200">
              <a:solidFill>
                <a:schemeClr val="dk1"/>
              </a:solidFill>
            </a:endParaRPr>
          </a:p>
        </p:txBody>
      </p:sp>
      <p:pic>
        <p:nvPicPr>
          <p:cNvPr id="151" name="Google Shape;151;p26"/>
          <p:cNvPicPr preferRelativeResize="0"/>
          <p:nvPr/>
        </p:nvPicPr>
        <p:blipFill>
          <a:blip r:embed="rId3">
            <a:alphaModFix/>
          </a:blip>
          <a:stretch>
            <a:fillRect/>
          </a:stretch>
        </p:blipFill>
        <p:spPr>
          <a:xfrm>
            <a:off x="646788" y="2873488"/>
            <a:ext cx="1838325" cy="1457325"/>
          </a:xfrm>
          <a:prstGeom prst="rect">
            <a:avLst/>
          </a:prstGeom>
          <a:noFill/>
          <a:ln>
            <a:noFill/>
          </a:ln>
        </p:spPr>
      </p:pic>
      <p:pic>
        <p:nvPicPr>
          <p:cNvPr id="152" name="Google Shape;152;p26"/>
          <p:cNvPicPr preferRelativeResize="0"/>
          <p:nvPr/>
        </p:nvPicPr>
        <p:blipFill>
          <a:blip r:embed="rId4">
            <a:alphaModFix/>
          </a:blip>
          <a:stretch>
            <a:fillRect/>
          </a:stretch>
        </p:blipFill>
        <p:spPr>
          <a:xfrm>
            <a:off x="2802575" y="2873500"/>
            <a:ext cx="5986524" cy="1880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8" name="Google Shape;158;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00">
                <a:solidFill>
                  <a:schemeClr val="dk1"/>
                </a:solidFill>
              </a:rPr>
              <a:t>5. Weighted Graph</a:t>
            </a:r>
            <a:endParaRPr sz="1300">
              <a:solidFill>
                <a:schemeClr val="dk1"/>
              </a:solidFill>
            </a:endParaRPr>
          </a:p>
          <a:p>
            <a:pPr marL="0" lvl="0" indent="0" algn="l" rtl="0">
              <a:spcBef>
                <a:spcPts val="1200"/>
              </a:spcBef>
              <a:spcAft>
                <a:spcPts val="0"/>
              </a:spcAft>
              <a:buNone/>
            </a:pPr>
            <a:r>
              <a:rPr lang="en" sz="1300">
                <a:solidFill>
                  <a:schemeClr val="dk1"/>
                </a:solidFill>
              </a:rPr>
              <a:t>If edge of  graph are assigned with value or weight then its called  Weighted Graph.</a:t>
            </a:r>
            <a:endParaRPr sz="1300">
              <a:solidFill>
                <a:schemeClr val="dk1"/>
              </a:solidFill>
            </a:endParaRPr>
          </a:p>
          <a:p>
            <a:pPr marL="0" lvl="0" indent="0" algn="l" rtl="0">
              <a:spcBef>
                <a:spcPts val="1200"/>
              </a:spcBef>
              <a:spcAft>
                <a:spcPts val="1200"/>
              </a:spcAft>
              <a:buNone/>
            </a:pPr>
            <a:endParaRPr sz="1300">
              <a:solidFill>
                <a:schemeClr val="dk1"/>
              </a:solidFill>
            </a:endParaRPr>
          </a:p>
        </p:txBody>
      </p:sp>
      <p:pic>
        <p:nvPicPr>
          <p:cNvPr id="159" name="Google Shape;159;p27"/>
          <p:cNvPicPr preferRelativeResize="0"/>
          <p:nvPr/>
        </p:nvPicPr>
        <p:blipFill>
          <a:blip r:embed="rId3">
            <a:alphaModFix/>
          </a:blip>
          <a:stretch>
            <a:fillRect/>
          </a:stretch>
        </p:blipFill>
        <p:spPr>
          <a:xfrm>
            <a:off x="2117975" y="2469950"/>
            <a:ext cx="3886200" cy="1600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5" name="Google Shape;165;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00">
                <a:solidFill>
                  <a:schemeClr val="dk1"/>
                </a:solidFill>
              </a:rPr>
              <a:t>6.Cycle Graph </a:t>
            </a:r>
            <a:endParaRPr sz="1300">
              <a:solidFill>
                <a:schemeClr val="dk1"/>
              </a:solidFill>
            </a:endParaRPr>
          </a:p>
          <a:p>
            <a:pPr marL="0" lvl="0" indent="0" algn="l" rtl="0">
              <a:spcBef>
                <a:spcPts val="1200"/>
              </a:spcBef>
              <a:spcAft>
                <a:spcPts val="0"/>
              </a:spcAft>
              <a:buNone/>
            </a:pPr>
            <a:r>
              <a:rPr lang="en" sz="1300">
                <a:solidFill>
                  <a:schemeClr val="dk1"/>
                </a:solidFill>
              </a:rPr>
              <a:t>A graph having cycle is called cycle graph. In this case the first and last nodes are the same. A closed simple path is a cycle.</a:t>
            </a:r>
            <a:endParaRPr sz="1300">
              <a:solidFill>
                <a:schemeClr val="dk1"/>
              </a:solidFill>
            </a:endParaRPr>
          </a:p>
          <a:p>
            <a:pPr marL="0" lvl="0" indent="0" algn="l" rtl="0">
              <a:spcBef>
                <a:spcPts val="1200"/>
              </a:spcBef>
              <a:spcAft>
                <a:spcPts val="1200"/>
              </a:spcAft>
              <a:buNone/>
            </a:pPr>
            <a:endParaRPr sz="1300">
              <a:solidFill>
                <a:schemeClr val="dk1"/>
              </a:solidFill>
            </a:endParaRPr>
          </a:p>
        </p:txBody>
      </p:sp>
      <p:pic>
        <p:nvPicPr>
          <p:cNvPr id="166" name="Google Shape;166;p28"/>
          <p:cNvPicPr preferRelativeResize="0"/>
          <p:nvPr/>
        </p:nvPicPr>
        <p:blipFill>
          <a:blip r:embed="rId3">
            <a:alphaModFix/>
          </a:blip>
          <a:stretch>
            <a:fillRect/>
          </a:stretch>
        </p:blipFill>
        <p:spPr>
          <a:xfrm>
            <a:off x="1027588" y="2348413"/>
            <a:ext cx="2847975" cy="1724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2" name="Google Shape;172;p29"/>
          <p:cNvSpPr txBox="1">
            <a:spLocks noGrp="1"/>
          </p:cNvSpPr>
          <p:nvPr>
            <p:ph type="body" idx="1"/>
          </p:nvPr>
        </p:nvSpPr>
        <p:spPr>
          <a:xfrm>
            <a:off x="226550" y="13738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solidFill>
                  <a:schemeClr val="dk1"/>
                </a:solidFill>
              </a:rPr>
              <a:t>7.Acyclic Graph </a:t>
            </a:r>
            <a:endParaRPr sz="1400">
              <a:solidFill>
                <a:schemeClr val="dk1"/>
              </a:solidFill>
            </a:endParaRPr>
          </a:p>
          <a:p>
            <a:pPr marL="0" lvl="0" indent="0" algn="l" rtl="0">
              <a:spcBef>
                <a:spcPts val="1200"/>
              </a:spcBef>
              <a:spcAft>
                <a:spcPts val="0"/>
              </a:spcAft>
              <a:buNone/>
            </a:pPr>
            <a:r>
              <a:rPr lang="en" sz="1400">
                <a:solidFill>
                  <a:schemeClr val="dk1"/>
                </a:solidFill>
              </a:rPr>
              <a:t>A graph without cycle is called acyclic graphs.</a:t>
            </a:r>
            <a:endParaRPr sz="1400">
              <a:solidFill>
                <a:schemeClr val="dk1"/>
              </a:solidFill>
            </a:endParaRPr>
          </a:p>
          <a:p>
            <a:pPr marL="0" lvl="0" indent="0" algn="l" rtl="0">
              <a:spcBef>
                <a:spcPts val="1200"/>
              </a:spcBef>
              <a:spcAft>
                <a:spcPts val="1200"/>
              </a:spcAft>
              <a:buNone/>
            </a:pPr>
            <a:endParaRPr sz="1400">
              <a:solidFill>
                <a:schemeClr val="dk1"/>
              </a:solidFill>
            </a:endParaRPr>
          </a:p>
        </p:txBody>
      </p:sp>
      <p:pic>
        <p:nvPicPr>
          <p:cNvPr id="173" name="Google Shape;173;p29"/>
          <p:cNvPicPr preferRelativeResize="0"/>
          <p:nvPr/>
        </p:nvPicPr>
        <p:blipFill>
          <a:blip r:embed="rId3">
            <a:alphaModFix/>
          </a:blip>
          <a:stretch>
            <a:fillRect/>
          </a:stretch>
        </p:blipFill>
        <p:spPr>
          <a:xfrm>
            <a:off x="2431275" y="2275363"/>
            <a:ext cx="3276600" cy="1495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0"/>
          <p:cNvSpPr txBox="1">
            <a:spLocks noGrp="1"/>
          </p:cNvSpPr>
          <p:nvPr>
            <p:ph type="title"/>
          </p:nvPr>
        </p:nvSpPr>
        <p:spPr>
          <a:xfrm>
            <a:off x="311700" y="197625"/>
            <a:ext cx="8520600" cy="43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20"/>
              <a:t>ADT of Graph</a:t>
            </a:r>
            <a:endParaRPr sz="1820"/>
          </a:p>
        </p:txBody>
      </p:sp>
      <p:sp>
        <p:nvSpPr>
          <p:cNvPr id="179" name="Google Shape;179;p30"/>
          <p:cNvSpPr txBox="1">
            <a:spLocks noGrp="1"/>
          </p:cNvSpPr>
          <p:nvPr>
            <p:ph type="body" idx="1"/>
          </p:nvPr>
        </p:nvSpPr>
        <p:spPr>
          <a:xfrm>
            <a:off x="311700" y="632025"/>
            <a:ext cx="8520600" cy="3936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1"/>
                </a:solidFill>
              </a:rPr>
              <a:t>Structure Graph is objects:</a:t>
            </a:r>
            <a:endParaRPr sz="1200">
              <a:solidFill>
                <a:schemeClr val="dk1"/>
              </a:solidFill>
            </a:endParaRPr>
          </a:p>
          <a:p>
            <a:pPr marL="457200" lvl="0" indent="-304800" algn="l" rtl="0">
              <a:spcBef>
                <a:spcPts val="1200"/>
              </a:spcBef>
              <a:spcAft>
                <a:spcPts val="0"/>
              </a:spcAft>
              <a:buClr>
                <a:schemeClr val="dk1"/>
              </a:buClr>
              <a:buSzPts val="1200"/>
              <a:buChar char="➔"/>
            </a:pPr>
            <a:r>
              <a:rPr lang="en" sz="1200">
                <a:solidFill>
                  <a:schemeClr val="dk1"/>
                </a:solidFill>
              </a:rPr>
              <a:t>objects: a nonempty set of vertices and a set of undirected edges, where each edge is a pair of vertices </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functions: for all graph  Graph, v, v1 and v2  Vertices.</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Graph Create()::=return an empty graph </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Graph InsertVertex(graph, v)::= return a graph with v inserted. v has no edge.</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Graph InsertEdge(graph, v1,v2)::= return a graph with new edge between v1 and v2 </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Graph DeleteVertex(graph, v)::= return a graph in which v and all edges incident to it are removed.</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Graph DeleteEdge(graph, v1, v2)::=return a graph in which the edge (v1, v2) is removed</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 Boolean IsEmpty(graph)::= if (graph==empty graph) return TRUE else return FALSE</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 List Adjacent(graph,v)::= return a list of all vertices that are adjacent to v </a:t>
            </a:r>
            <a:endParaRPr sz="12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1"/>
          <p:cNvSpPr txBox="1">
            <a:spLocks noGrp="1"/>
          </p:cNvSpPr>
          <p:nvPr>
            <p:ph type="title"/>
          </p:nvPr>
        </p:nvSpPr>
        <p:spPr>
          <a:xfrm>
            <a:off x="311700" y="445025"/>
            <a:ext cx="8520600" cy="4083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Clr>
                <a:schemeClr val="dk1"/>
              </a:buClr>
              <a:buSzPct val="61111"/>
              <a:buFont typeface="Arial"/>
              <a:buNone/>
            </a:pPr>
            <a:r>
              <a:rPr lang="en" sz="1800"/>
              <a:t>Graph Representations</a:t>
            </a:r>
            <a:endParaRPr/>
          </a:p>
        </p:txBody>
      </p:sp>
      <p:sp>
        <p:nvSpPr>
          <p:cNvPr id="185" name="Google Shape;185;p31"/>
          <p:cNvSpPr txBox="1">
            <a:spLocks noGrp="1"/>
          </p:cNvSpPr>
          <p:nvPr>
            <p:ph type="body" idx="1"/>
          </p:nvPr>
        </p:nvSpPr>
        <p:spPr>
          <a:xfrm>
            <a:off x="396875" y="9070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a:solidFill>
                  <a:schemeClr val="dk1"/>
                </a:solidFill>
              </a:rPr>
              <a:t>G</a:t>
            </a:r>
            <a:r>
              <a:rPr lang="en" sz="1300">
                <a:solidFill>
                  <a:schemeClr val="dk1"/>
                </a:solidFill>
              </a:rPr>
              <a:t>raph data structure is represented using following representations</a:t>
            </a:r>
            <a:endParaRPr sz="1300">
              <a:solidFill>
                <a:schemeClr val="dk1"/>
              </a:solidFill>
            </a:endParaRPr>
          </a:p>
          <a:p>
            <a:pPr marL="0" lvl="0" indent="0" algn="l" rtl="0">
              <a:spcBef>
                <a:spcPts val="1200"/>
              </a:spcBef>
              <a:spcAft>
                <a:spcPts val="0"/>
              </a:spcAft>
              <a:buNone/>
            </a:pPr>
            <a:r>
              <a:rPr lang="en" sz="1300">
                <a:solidFill>
                  <a:schemeClr val="dk1"/>
                </a:solidFill>
              </a:rPr>
              <a:t> 1. Adjacency Matrix </a:t>
            </a:r>
            <a:endParaRPr sz="1300">
              <a:solidFill>
                <a:schemeClr val="dk1"/>
              </a:solidFill>
            </a:endParaRPr>
          </a:p>
          <a:p>
            <a:pPr marL="0" lvl="0" indent="0" algn="l" rtl="0">
              <a:spcBef>
                <a:spcPts val="1200"/>
              </a:spcBef>
              <a:spcAft>
                <a:spcPts val="0"/>
              </a:spcAft>
              <a:buNone/>
            </a:pPr>
            <a:r>
              <a:rPr lang="en" sz="1300">
                <a:solidFill>
                  <a:schemeClr val="dk1"/>
                </a:solidFill>
              </a:rPr>
              <a:t> 2. Adjacency List </a:t>
            </a:r>
            <a:endParaRPr sz="1300">
              <a:solidFill>
                <a:schemeClr val="dk1"/>
              </a:solidFill>
            </a:endParaRPr>
          </a:p>
          <a:p>
            <a:pPr marL="0" lvl="0" indent="0" algn="l" rtl="0">
              <a:spcBef>
                <a:spcPts val="1200"/>
              </a:spcBef>
              <a:spcAft>
                <a:spcPts val="1200"/>
              </a:spcAft>
              <a:buNone/>
            </a:pP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91" name="Google Shape;191;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a:solidFill>
                  <a:schemeClr val="dk1"/>
                </a:solidFill>
              </a:rPr>
              <a:t>1.Adjacency Matrix </a:t>
            </a:r>
            <a:endParaRPr sz="1500">
              <a:solidFill>
                <a:schemeClr val="dk1"/>
              </a:solidFill>
            </a:endParaRPr>
          </a:p>
          <a:p>
            <a:pPr marL="0" lvl="0" indent="0" algn="l" rtl="0">
              <a:spcBef>
                <a:spcPts val="1200"/>
              </a:spcBef>
              <a:spcAft>
                <a:spcPts val="0"/>
              </a:spcAft>
              <a:buNone/>
            </a:pPr>
            <a:r>
              <a:rPr lang="en" sz="1000">
                <a:solidFill>
                  <a:schemeClr val="dk1"/>
                </a:solidFill>
              </a:rPr>
              <a:t>In this representation, graph can be represented using a matrix of size total number of vertices by total number of vertices; means if a graph with 4 vertices can be represented using a matrix of 4X4 size.</a:t>
            </a:r>
            <a:endParaRPr sz="1000">
              <a:solidFill>
                <a:schemeClr val="dk1"/>
              </a:solidFill>
            </a:endParaRPr>
          </a:p>
          <a:p>
            <a:pPr marL="0" lvl="0" indent="0" algn="l" rtl="0">
              <a:spcBef>
                <a:spcPts val="1200"/>
              </a:spcBef>
              <a:spcAft>
                <a:spcPts val="0"/>
              </a:spcAft>
              <a:buNone/>
            </a:pPr>
            <a:r>
              <a:rPr lang="en" sz="1000">
                <a:solidFill>
                  <a:schemeClr val="dk1"/>
                </a:solidFill>
              </a:rPr>
              <a:t>In this matrix, rows and columns both represent vertices. </a:t>
            </a:r>
            <a:endParaRPr sz="1000">
              <a:solidFill>
                <a:schemeClr val="dk1"/>
              </a:solidFill>
            </a:endParaRPr>
          </a:p>
          <a:p>
            <a:pPr marL="0" lvl="0" indent="0" algn="l" rtl="0">
              <a:spcBef>
                <a:spcPts val="1200"/>
              </a:spcBef>
              <a:spcAft>
                <a:spcPts val="0"/>
              </a:spcAft>
              <a:buNone/>
            </a:pPr>
            <a:r>
              <a:rPr lang="en" sz="1000">
                <a:solidFill>
                  <a:schemeClr val="dk1"/>
                </a:solidFill>
              </a:rPr>
              <a:t>Adjacency Matrix : let G = (V, E) with n vertices, n </a:t>
            </a:r>
            <a:endParaRPr sz="1000">
              <a:solidFill>
                <a:schemeClr val="dk1"/>
              </a:solidFill>
            </a:endParaRPr>
          </a:p>
          <a:p>
            <a:pPr marL="0" lvl="0" indent="0" algn="l" rtl="0">
              <a:spcBef>
                <a:spcPts val="1200"/>
              </a:spcBef>
              <a:spcAft>
                <a:spcPts val="1200"/>
              </a:spcAft>
              <a:buNone/>
            </a:pPr>
            <a:r>
              <a:rPr lang="en" sz="1000">
                <a:solidFill>
                  <a:schemeClr val="dk1"/>
                </a:solidFill>
              </a:rPr>
              <a:t> 1. The adjacency matrix of G is a 2-dimensional n  n matrix, A, A(i, j) = 1 iff (vi, vj) E(G) (vi, vj for a diagraph), A(i, j) = 0 otherwise.</a:t>
            </a:r>
            <a:endParaRPr sz="10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97" name="Google Shape;197;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98" name="Google Shape;198;p33"/>
          <p:cNvPicPr preferRelativeResize="0"/>
          <p:nvPr/>
        </p:nvPicPr>
        <p:blipFill>
          <a:blip r:embed="rId3">
            <a:alphaModFix/>
          </a:blip>
          <a:stretch>
            <a:fillRect/>
          </a:stretch>
        </p:blipFill>
        <p:spPr>
          <a:xfrm>
            <a:off x="368700" y="1270850"/>
            <a:ext cx="4119950" cy="1971675"/>
          </a:xfrm>
          <a:prstGeom prst="rect">
            <a:avLst/>
          </a:prstGeom>
          <a:noFill/>
          <a:ln>
            <a:noFill/>
          </a:ln>
        </p:spPr>
      </p:pic>
      <p:pic>
        <p:nvPicPr>
          <p:cNvPr id="199" name="Google Shape;199;p33"/>
          <p:cNvPicPr preferRelativeResize="0"/>
          <p:nvPr/>
        </p:nvPicPr>
        <p:blipFill>
          <a:blip r:embed="rId4">
            <a:alphaModFix/>
          </a:blip>
          <a:stretch>
            <a:fillRect/>
          </a:stretch>
        </p:blipFill>
        <p:spPr>
          <a:xfrm>
            <a:off x="5934575" y="1270850"/>
            <a:ext cx="1115276" cy="269825"/>
          </a:xfrm>
          <a:prstGeom prst="rect">
            <a:avLst/>
          </a:prstGeom>
          <a:noFill/>
          <a:ln>
            <a:noFill/>
          </a:ln>
        </p:spPr>
      </p:pic>
      <p:pic>
        <p:nvPicPr>
          <p:cNvPr id="200" name="Google Shape;200;p33"/>
          <p:cNvPicPr preferRelativeResize="0"/>
          <p:nvPr/>
        </p:nvPicPr>
        <p:blipFill>
          <a:blip r:embed="rId5">
            <a:alphaModFix/>
          </a:blip>
          <a:stretch>
            <a:fillRect/>
          </a:stretch>
        </p:blipFill>
        <p:spPr>
          <a:xfrm>
            <a:off x="5212500" y="1714175"/>
            <a:ext cx="3389250" cy="1566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4"/>
          <p:cNvSpPr txBox="1">
            <a:spLocks noGrp="1"/>
          </p:cNvSpPr>
          <p:nvPr>
            <p:ph type="title"/>
          </p:nvPr>
        </p:nvSpPr>
        <p:spPr>
          <a:xfrm>
            <a:off x="311700" y="445025"/>
            <a:ext cx="8520600" cy="127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06" name="Google Shape;206;p34"/>
          <p:cNvSpPr txBox="1">
            <a:spLocks noGrp="1"/>
          </p:cNvSpPr>
          <p:nvPr>
            <p:ph type="body" idx="1"/>
          </p:nvPr>
        </p:nvSpPr>
        <p:spPr>
          <a:xfrm>
            <a:off x="311700" y="640450"/>
            <a:ext cx="8520600" cy="3928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7" name="Google Shape;207;p34"/>
          <p:cNvPicPr preferRelativeResize="0"/>
          <p:nvPr/>
        </p:nvPicPr>
        <p:blipFill>
          <a:blip r:embed="rId3">
            <a:alphaModFix/>
          </a:blip>
          <a:stretch>
            <a:fillRect/>
          </a:stretch>
        </p:blipFill>
        <p:spPr>
          <a:xfrm>
            <a:off x="957275" y="938500"/>
            <a:ext cx="7229475" cy="3482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13" name="Google Shape;213;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14" name="Google Shape;214;p35"/>
          <p:cNvPicPr preferRelativeResize="0"/>
          <p:nvPr/>
        </p:nvPicPr>
        <p:blipFill>
          <a:blip r:embed="rId3">
            <a:alphaModFix/>
          </a:blip>
          <a:stretch>
            <a:fillRect/>
          </a:stretch>
        </p:blipFill>
        <p:spPr>
          <a:xfrm>
            <a:off x="358525" y="1866700"/>
            <a:ext cx="4360050" cy="2069325"/>
          </a:xfrm>
          <a:prstGeom prst="rect">
            <a:avLst/>
          </a:prstGeom>
          <a:noFill/>
          <a:ln>
            <a:noFill/>
          </a:ln>
        </p:spPr>
      </p:pic>
      <p:pic>
        <p:nvPicPr>
          <p:cNvPr id="215" name="Google Shape;215;p35"/>
          <p:cNvPicPr preferRelativeResize="0"/>
          <p:nvPr/>
        </p:nvPicPr>
        <p:blipFill>
          <a:blip r:embed="rId4">
            <a:alphaModFix/>
          </a:blip>
          <a:stretch>
            <a:fillRect/>
          </a:stretch>
        </p:blipFill>
        <p:spPr>
          <a:xfrm>
            <a:off x="311700" y="1544925"/>
            <a:ext cx="1362075" cy="228600"/>
          </a:xfrm>
          <a:prstGeom prst="rect">
            <a:avLst/>
          </a:prstGeom>
          <a:noFill/>
          <a:ln>
            <a:noFill/>
          </a:ln>
        </p:spPr>
      </p:pic>
      <p:pic>
        <p:nvPicPr>
          <p:cNvPr id="216" name="Google Shape;216;p35"/>
          <p:cNvPicPr preferRelativeResize="0"/>
          <p:nvPr/>
        </p:nvPicPr>
        <p:blipFill>
          <a:blip r:embed="rId5">
            <a:alphaModFix/>
          </a:blip>
          <a:stretch>
            <a:fillRect/>
          </a:stretch>
        </p:blipFill>
        <p:spPr>
          <a:xfrm>
            <a:off x="6207075" y="1459750"/>
            <a:ext cx="1304925" cy="2476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Graph Traversal</a:t>
            </a:r>
            <a:endParaRPr/>
          </a:p>
        </p:txBody>
      </p:sp>
      <p:sp>
        <p:nvSpPr>
          <p:cNvPr id="222" name="Google Shape;222;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To traverse a Graph means to start in one vertex, and go along the edges to visit other vertices until all vertices, or as many as possible, have been visited.</a:t>
            </a:r>
            <a:r>
              <a:rPr lang="en" sz="1100" b="1">
                <a:solidFill>
                  <a:schemeClr val="dk1"/>
                </a:solidFill>
              </a:rPr>
              <a:t> </a:t>
            </a:r>
            <a:endParaRPr sz="1100" b="1">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 It is a technique used for searching a vertex in graph</a:t>
            </a:r>
            <a:br>
              <a:rPr lang="en" sz="1100" b="1">
                <a:solidFill>
                  <a:schemeClr val="dk1"/>
                </a:solidFill>
              </a:rPr>
            </a:br>
            <a:r>
              <a:rPr lang="en" sz="1100">
                <a:solidFill>
                  <a:schemeClr val="dk1"/>
                </a:solidFill>
              </a:rPr>
              <a:t> </a:t>
            </a:r>
            <a:r>
              <a:rPr lang="en" sz="1100" b="1">
                <a:solidFill>
                  <a:schemeClr val="dk1"/>
                </a:solidFill>
              </a:rPr>
              <a:t>It is also used to decide the order of vertices to be visited in the search process.</a:t>
            </a:r>
            <a:endParaRPr sz="1100" b="1">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Two types of graph traversal techniques</a:t>
            </a:r>
            <a:endParaRPr sz="1100" b="1">
              <a:solidFill>
                <a:schemeClr val="dk1"/>
              </a:solidFill>
            </a:endParaRPr>
          </a:p>
          <a:p>
            <a:pPr marL="457200" lvl="0" indent="-298450" algn="l" rtl="0">
              <a:spcBef>
                <a:spcPts val="1200"/>
              </a:spcBef>
              <a:spcAft>
                <a:spcPts val="0"/>
              </a:spcAft>
              <a:buClr>
                <a:schemeClr val="dk1"/>
              </a:buClr>
              <a:buSzPts val="1100"/>
              <a:buAutoNum type="arabicPeriod"/>
            </a:pPr>
            <a:r>
              <a:rPr lang="en" sz="1100">
                <a:solidFill>
                  <a:schemeClr val="dk1"/>
                </a:solidFill>
              </a:rPr>
              <a:t>DFS (Depth First Search) ⟶ stack (LIFO)</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BFS (Breadth First Search) ⟶ queue (FIFO)</a:t>
            </a:r>
            <a:endParaRPr sz="1100">
              <a:solidFill>
                <a:schemeClr val="dk1"/>
              </a:solidFill>
            </a:endParaRPr>
          </a:p>
          <a:p>
            <a:pPr marL="0" lvl="0" indent="0" algn="l" rtl="0">
              <a:spcBef>
                <a:spcPts val="1200"/>
              </a:spcBef>
              <a:spcAft>
                <a:spcPts val="1200"/>
              </a:spcAft>
              <a:buNone/>
            </a:pPr>
            <a:r>
              <a:rPr lang="en" sz="1150">
                <a:solidFill>
                  <a:schemeClr val="dk1"/>
                </a:solidFill>
                <a:highlight>
                  <a:srgbClr val="FFFFFF"/>
                </a:highlight>
                <a:latin typeface="Verdana"/>
                <a:ea typeface="Verdana"/>
                <a:cs typeface="Verdana"/>
                <a:sym typeface="Verdana"/>
              </a:rPr>
              <a:t>DFS is usually implemented using a </a:t>
            </a:r>
            <a:r>
              <a:rPr lang="en" sz="1150" u="sng">
                <a:solidFill>
                  <a:schemeClr val="hlink"/>
                </a:solidFill>
                <a:highlight>
                  <a:srgbClr val="FFFFFF"/>
                </a:highlight>
                <a:latin typeface="Verdana"/>
                <a:ea typeface="Verdana"/>
                <a:cs typeface="Verdana"/>
                <a:sym typeface="Verdana"/>
                <a:hlinkClick r:id="rId3"/>
              </a:rPr>
              <a:t>Stack</a:t>
            </a:r>
            <a:r>
              <a:rPr lang="en" sz="1150">
                <a:solidFill>
                  <a:schemeClr val="dk1"/>
                </a:solidFill>
                <a:highlight>
                  <a:srgbClr val="FFFFFF"/>
                </a:highlight>
                <a:latin typeface="Verdana"/>
                <a:ea typeface="Verdana"/>
                <a:cs typeface="Verdana"/>
                <a:sym typeface="Verdana"/>
              </a:rPr>
              <a:t> or by the use of recursion (which utilizes the call stack), while BFS is usually implemented using a </a:t>
            </a:r>
            <a:r>
              <a:rPr lang="en" sz="1150" u="sng">
                <a:solidFill>
                  <a:schemeClr val="hlink"/>
                </a:solidFill>
                <a:highlight>
                  <a:srgbClr val="FFFFFF"/>
                </a:highlight>
                <a:latin typeface="Verdana"/>
                <a:ea typeface="Verdana"/>
                <a:cs typeface="Verdana"/>
                <a:sym typeface="Verdana"/>
                <a:hlinkClick r:id="rId4"/>
              </a:rPr>
              <a:t>Queue</a:t>
            </a:r>
            <a:r>
              <a:rPr lang="en" sz="1150">
                <a:solidFill>
                  <a:schemeClr val="dk1"/>
                </a:solidFill>
                <a:highlight>
                  <a:srgbClr val="FFFFFF"/>
                </a:highlight>
                <a:latin typeface="Verdana"/>
                <a:ea typeface="Verdana"/>
                <a:cs typeface="Verdana"/>
                <a:sym typeface="Verdana"/>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800"/>
              </a:spcBef>
              <a:spcAft>
                <a:spcPts val="0"/>
              </a:spcAft>
              <a:buClr>
                <a:schemeClr val="dk1"/>
              </a:buClr>
              <a:buSzPct val="45833"/>
              <a:buFont typeface="Arial"/>
              <a:buNone/>
            </a:pPr>
            <a:r>
              <a:rPr lang="en" sz="2400">
                <a:highlight>
                  <a:srgbClr val="FFFFFF"/>
                </a:highlight>
              </a:rPr>
              <a:t>Depth First Search Traversal (DFS)</a:t>
            </a:r>
            <a:endParaRPr sz="2400">
              <a:highlight>
                <a:srgbClr val="FFFFFF"/>
              </a:highlight>
            </a:endParaRPr>
          </a:p>
          <a:p>
            <a:pPr marL="0" lvl="0" indent="0" algn="l" rtl="0">
              <a:spcBef>
                <a:spcPts val="800"/>
              </a:spcBef>
              <a:spcAft>
                <a:spcPts val="0"/>
              </a:spcAft>
              <a:buNone/>
            </a:pPr>
            <a:endParaRPr/>
          </a:p>
        </p:txBody>
      </p:sp>
      <p:sp>
        <p:nvSpPr>
          <p:cNvPr id="228" name="Google Shape;228;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50">
                <a:solidFill>
                  <a:schemeClr val="dk1"/>
                </a:solidFill>
                <a:highlight>
                  <a:srgbClr val="FFFFFF"/>
                </a:highlight>
                <a:latin typeface="Verdana"/>
                <a:ea typeface="Verdana"/>
                <a:cs typeface="Verdana"/>
                <a:sym typeface="Verdana"/>
              </a:rPr>
              <a:t>Depth First Search is said to go "deep" because it visits a vertex, then an adjacent vertex, and then that vertex' adjacent vertex, and so on, and in this way the distance from the starting vertex increases for each recursive iteration.</a:t>
            </a:r>
            <a:endParaRPr sz="1150">
              <a:solidFill>
                <a:schemeClr val="dk1"/>
              </a:solidFill>
              <a:highlight>
                <a:srgbClr val="FFFFFF"/>
              </a:highlight>
              <a:latin typeface="Verdana"/>
              <a:ea typeface="Verdana"/>
              <a:cs typeface="Verdana"/>
              <a:sym typeface="Verdana"/>
            </a:endParaRPr>
          </a:p>
          <a:p>
            <a:pPr marL="0" lvl="0" indent="0" algn="l" rtl="0">
              <a:spcBef>
                <a:spcPts val="1200"/>
              </a:spcBef>
              <a:spcAft>
                <a:spcPts val="0"/>
              </a:spcAft>
              <a:buClr>
                <a:schemeClr val="dk1"/>
              </a:buClr>
              <a:buSzPts val="1100"/>
              <a:buFont typeface="Arial"/>
              <a:buNone/>
            </a:pPr>
            <a:r>
              <a:rPr lang="en" sz="1100" b="1">
                <a:solidFill>
                  <a:schemeClr val="dk1"/>
                </a:solidFill>
              </a:rPr>
              <a:t>Rule 1:</a:t>
            </a:r>
            <a:br>
              <a:rPr lang="en" sz="1100" b="1">
                <a:solidFill>
                  <a:schemeClr val="dk1"/>
                </a:solidFill>
              </a:rPr>
            </a:br>
            <a:r>
              <a:rPr lang="en" sz="1100">
                <a:solidFill>
                  <a:schemeClr val="dk1"/>
                </a:solidFill>
              </a:rPr>
              <a:t> Visit the adjacent unvisited vertex. Mark it as </a:t>
            </a:r>
            <a:r>
              <a:rPr lang="en" sz="1100" b="1">
                <a:solidFill>
                  <a:schemeClr val="dk1"/>
                </a:solidFill>
              </a:rPr>
              <a:t>visited</a:t>
            </a:r>
            <a:r>
              <a:rPr lang="en" sz="1100">
                <a:solidFill>
                  <a:schemeClr val="dk1"/>
                </a:solidFill>
              </a:rPr>
              <a:t>. Display it. Push it in a </a:t>
            </a:r>
            <a:r>
              <a:rPr lang="en" sz="1100" b="1">
                <a:solidFill>
                  <a:schemeClr val="dk1"/>
                </a:solidFill>
              </a:rPr>
              <a:t>Stack</a:t>
            </a:r>
            <a:r>
              <a:rPr lang="en" sz="1100">
                <a:solidFill>
                  <a:schemeClr val="dk1"/>
                </a:solidFill>
              </a:rPr>
              <a:t>.</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Rule 2:</a:t>
            </a:r>
            <a:br>
              <a:rPr lang="en" sz="1100" b="1">
                <a:solidFill>
                  <a:schemeClr val="dk1"/>
                </a:solidFill>
              </a:rPr>
            </a:br>
            <a:r>
              <a:rPr lang="en" sz="1100">
                <a:solidFill>
                  <a:schemeClr val="dk1"/>
                </a:solidFill>
              </a:rPr>
              <a:t> If no adjacent vertex is found, pop up a vertex from the </a:t>
            </a:r>
            <a:r>
              <a:rPr lang="en" sz="1100" b="1">
                <a:solidFill>
                  <a:schemeClr val="dk1"/>
                </a:solidFill>
              </a:rPr>
              <a:t>stack</a:t>
            </a:r>
            <a:r>
              <a:rPr lang="en" sz="1100">
                <a:solidFill>
                  <a:schemeClr val="dk1"/>
                </a:solidFill>
              </a:rPr>
              <a:t>. (It will delete all the vertices from the stack, which do not have adjacent vertex).</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Rule 3:</a:t>
            </a:r>
            <a:br>
              <a:rPr lang="en" sz="1100" b="1">
                <a:solidFill>
                  <a:schemeClr val="dk1"/>
                </a:solidFill>
              </a:rPr>
            </a:br>
            <a:r>
              <a:rPr lang="en" sz="1100">
                <a:solidFill>
                  <a:schemeClr val="dk1"/>
                </a:solidFill>
              </a:rPr>
              <a:t> Repeat rule 1 &amp; 2 until stack is empty.</a:t>
            </a:r>
            <a:endParaRPr sz="1100">
              <a:solidFill>
                <a:schemeClr val="dk1"/>
              </a:solidFill>
            </a:endParaRPr>
          </a:p>
          <a:p>
            <a:pPr marL="0" lvl="0" indent="0" algn="l" rtl="0">
              <a:spcBef>
                <a:spcPts val="1200"/>
              </a:spcBef>
              <a:spcAft>
                <a:spcPts val="0"/>
              </a:spcAft>
              <a:buNone/>
            </a:pPr>
            <a:endParaRPr sz="1150">
              <a:solidFill>
                <a:schemeClr val="dk1"/>
              </a:solidFill>
              <a:highlight>
                <a:srgbClr val="FFFFFF"/>
              </a:highlight>
              <a:latin typeface="Verdana"/>
              <a:ea typeface="Verdana"/>
              <a:cs typeface="Verdana"/>
              <a:sym typeface="Verdana"/>
            </a:endParaRPr>
          </a:p>
          <a:p>
            <a:pPr marL="0" lvl="0" indent="0" algn="l" rtl="0">
              <a:spcBef>
                <a:spcPts val="1200"/>
              </a:spcBef>
              <a:spcAft>
                <a:spcPts val="1200"/>
              </a:spcAft>
              <a:buNone/>
            </a:pP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34" name="Google Shape;234;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35" name="Google Shape;235;p38"/>
          <p:cNvPicPr preferRelativeResize="0"/>
          <p:nvPr/>
        </p:nvPicPr>
        <p:blipFill>
          <a:blip r:embed="rId3">
            <a:alphaModFix/>
          </a:blip>
          <a:stretch>
            <a:fillRect/>
          </a:stretch>
        </p:blipFill>
        <p:spPr>
          <a:xfrm>
            <a:off x="1073400" y="1526075"/>
            <a:ext cx="6997199" cy="28187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BFS</a:t>
            </a:r>
            <a:endParaRPr/>
          </a:p>
        </p:txBody>
      </p:sp>
      <p:sp>
        <p:nvSpPr>
          <p:cNvPr id="241" name="Google Shape;241;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150">
                <a:solidFill>
                  <a:schemeClr val="dk1"/>
                </a:solidFill>
                <a:highlight>
                  <a:srgbClr val="FFFFFF"/>
                </a:highlight>
                <a:latin typeface="Verdana"/>
                <a:ea typeface="Verdana"/>
                <a:cs typeface="Verdana"/>
                <a:sym typeface="Verdana"/>
              </a:rPr>
              <a:t>Breadth First Search visits all adjacent vertices of a vertex before visiting neighboring vertices to the adjacent vertices. This means that vertices with the same distance from the starting vertex are visited before vertices further away from the starting vertex are visited.</a:t>
            </a:r>
            <a:endParaRPr sz="1100" b="1">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Rule 1:</a:t>
            </a:r>
            <a:r>
              <a:rPr lang="en" sz="1100">
                <a:solidFill>
                  <a:schemeClr val="dk1"/>
                </a:solidFill>
              </a:rPr>
              <a:t> Visit the adjacent unvisited vertex. Mark it as </a:t>
            </a:r>
            <a:r>
              <a:rPr lang="en" sz="1100" i="1">
                <a:solidFill>
                  <a:schemeClr val="dk1"/>
                </a:solidFill>
              </a:rPr>
              <a:t>visited</a:t>
            </a:r>
            <a:r>
              <a:rPr lang="en" sz="1100">
                <a:solidFill>
                  <a:schemeClr val="dk1"/>
                </a:solidFill>
              </a:rPr>
              <a:t>. </a:t>
            </a:r>
            <a:r>
              <a:rPr lang="en" sz="1100" b="1">
                <a:solidFill>
                  <a:schemeClr val="dk1"/>
                </a:solidFill>
              </a:rPr>
              <a:t>Display</a:t>
            </a:r>
            <a:r>
              <a:rPr lang="en" sz="1100">
                <a:solidFill>
                  <a:schemeClr val="dk1"/>
                </a:solidFill>
              </a:rPr>
              <a:t> it. Insert it </a:t>
            </a:r>
            <a:r>
              <a:rPr lang="en" sz="1100" b="1">
                <a:solidFill>
                  <a:schemeClr val="dk1"/>
                </a:solidFill>
              </a:rPr>
              <a:t>in a queue</a:t>
            </a:r>
            <a:r>
              <a:rPr lang="en" sz="1100">
                <a:solidFill>
                  <a:schemeClr val="dk1"/>
                </a:solidFill>
              </a:rPr>
              <a:t>.</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Rule 2:</a:t>
            </a:r>
            <a:r>
              <a:rPr lang="en" sz="1100">
                <a:solidFill>
                  <a:schemeClr val="dk1"/>
                </a:solidFill>
              </a:rPr>
              <a:t> If no adjacent vertex found, remove the next vertex from the queue.</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Rule 3:</a:t>
            </a:r>
            <a:r>
              <a:rPr lang="en" sz="1100">
                <a:solidFill>
                  <a:schemeClr val="dk1"/>
                </a:solidFill>
              </a:rPr>
              <a:t> Repeat Rule </a:t>
            </a:r>
            <a:r>
              <a:rPr lang="en" sz="1100" b="1">
                <a:solidFill>
                  <a:schemeClr val="dk1"/>
                </a:solidFill>
              </a:rPr>
              <a:t>1</a:t>
            </a:r>
            <a:r>
              <a:rPr lang="en" sz="1100">
                <a:solidFill>
                  <a:schemeClr val="dk1"/>
                </a:solidFill>
              </a:rPr>
              <a:t> &amp; </a:t>
            </a:r>
            <a:r>
              <a:rPr lang="en" sz="1100" b="1">
                <a:solidFill>
                  <a:schemeClr val="dk1"/>
                </a:solidFill>
              </a:rPr>
              <a:t>2</a:t>
            </a:r>
            <a:r>
              <a:rPr lang="en" sz="1100">
                <a:solidFill>
                  <a:schemeClr val="dk1"/>
                </a:solidFill>
              </a:rPr>
              <a:t> until queue is empty.</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E.g. BFS</a:t>
            </a:r>
            <a:endParaRPr/>
          </a:p>
        </p:txBody>
      </p:sp>
      <p:sp>
        <p:nvSpPr>
          <p:cNvPr id="247" name="Google Shape;247;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48" name="Google Shape;248;p40"/>
          <p:cNvPicPr preferRelativeResize="0"/>
          <p:nvPr/>
        </p:nvPicPr>
        <p:blipFill>
          <a:blip r:embed="rId3">
            <a:alphaModFix/>
          </a:blip>
          <a:stretch>
            <a:fillRect/>
          </a:stretch>
        </p:blipFill>
        <p:spPr>
          <a:xfrm>
            <a:off x="473300" y="1236525"/>
            <a:ext cx="6800850" cy="24276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54" name="Google Shape;254;p41"/>
          <p:cNvSpPr txBox="1">
            <a:spLocks noGrp="1"/>
          </p:cNvSpPr>
          <p:nvPr>
            <p:ph type="body" idx="1"/>
          </p:nvPr>
        </p:nvSpPr>
        <p:spPr>
          <a:xfrm>
            <a:off x="311700" y="1152475"/>
            <a:ext cx="31890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1400"/>
              </a:spcBef>
              <a:spcAft>
                <a:spcPts val="0"/>
              </a:spcAft>
              <a:buClr>
                <a:schemeClr val="dk1"/>
              </a:buClr>
              <a:buSzPct val="84615"/>
              <a:buFont typeface="Arial"/>
              <a:buNone/>
            </a:pPr>
            <a:r>
              <a:rPr lang="en" sz="1300" b="1">
                <a:solidFill>
                  <a:schemeClr val="dk1"/>
                </a:solidFill>
              </a:rPr>
              <a:t>🔁 BFS Algorithm (Starting from A):</a:t>
            </a:r>
            <a:endParaRPr sz="1300" b="1">
              <a:solidFill>
                <a:schemeClr val="dk1"/>
              </a:solidFill>
            </a:endParaRPr>
          </a:p>
          <a:p>
            <a:pPr marL="0" lvl="0" indent="0" algn="l" rtl="0">
              <a:spcBef>
                <a:spcPts val="1200"/>
              </a:spcBef>
              <a:spcAft>
                <a:spcPts val="0"/>
              </a:spcAft>
              <a:buClr>
                <a:schemeClr val="dk1"/>
              </a:buClr>
              <a:buSzPct val="100000"/>
              <a:buFont typeface="Arial"/>
              <a:buNone/>
            </a:pPr>
            <a:r>
              <a:rPr lang="en" sz="1100">
                <a:solidFill>
                  <a:schemeClr val="dk1"/>
                </a:solidFill>
              </a:rPr>
              <a:t>BFS visits all neighbors level by level.</a:t>
            </a:r>
            <a:endParaRPr sz="1100">
              <a:solidFill>
                <a:schemeClr val="dk1"/>
              </a:solidFill>
            </a:endParaRPr>
          </a:p>
          <a:p>
            <a:pPr marL="0" lvl="0" indent="0" algn="l" rtl="0">
              <a:spcBef>
                <a:spcPts val="1200"/>
              </a:spcBef>
              <a:spcAft>
                <a:spcPts val="0"/>
              </a:spcAft>
              <a:buClr>
                <a:schemeClr val="dk1"/>
              </a:buClr>
              <a:buSzPct val="100000"/>
              <a:buFont typeface="Arial"/>
              <a:buNone/>
            </a:pPr>
            <a:r>
              <a:rPr lang="en" sz="1100" b="1">
                <a:solidFill>
                  <a:schemeClr val="dk1"/>
                </a:solidFill>
              </a:rPr>
              <a:t>Step-by-step traversal</a:t>
            </a:r>
            <a:r>
              <a:rPr lang="en" sz="1100">
                <a:solidFill>
                  <a:schemeClr val="dk1"/>
                </a:solidFill>
              </a:rPr>
              <a:t>:</a:t>
            </a:r>
            <a:endParaRPr sz="1100">
              <a:solidFill>
                <a:schemeClr val="dk1"/>
              </a:solidFill>
            </a:endParaRPr>
          </a:p>
          <a:p>
            <a:pPr marL="457200" lvl="0" indent="-277495" algn="l" rtl="0">
              <a:spcBef>
                <a:spcPts val="1200"/>
              </a:spcBef>
              <a:spcAft>
                <a:spcPts val="0"/>
              </a:spcAft>
              <a:buClr>
                <a:schemeClr val="dk1"/>
              </a:buClr>
              <a:buSzPct val="100000"/>
              <a:buAutoNum type="arabicPeriod"/>
            </a:pPr>
            <a:r>
              <a:rPr lang="en" sz="1100">
                <a:solidFill>
                  <a:schemeClr val="dk1"/>
                </a:solidFill>
              </a:rPr>
              <a:t>Start at </a:t>
            </a:r>
            <a:r>
              <a:rPr lang="en" sz="1100" b="1">
                <a:solidFill>
                  <a:schemeClr val="dk1"/>
                </a:solidFill>
              </a:rPr>
              <a:t>A</a:t>
            </a:r>
            <a:r>
              <a:rPr lang="en" sz="1100">
                <a:solidFill>
                  <a:schemeClr val="dk1"/>
                </a:solidFill>
              </a:rPr>
              <a:t> → enqueue </a:t>
            </a:r>
            <a:r>
              <a:rPr lang="en" sz="1100" b="1">
                <a:solidFill>
                  <a:schemeClr val="dk1"/>
                </a:solidFill>
              </a:rPr>
              <a:t>A</a:t>
            </a:r>
            <a:br>
              <a:rPr lang="en" sz="1100" b="1">
                <a:solidFill>
                  <a:schemeClr val="dk1"/>
                </a:solidFill>
              </a:rPr>
            </a:br>
            <a:endParaRPr sz="1100" b="1">
              <a:solidFill>
                <a:schemeClr val="dk1"/>
              </a:solidFill>
            </a:endParaRPr>
          </a:p>
          <a:p>
            <a:pPr marL="457200" lvl="0" indent="-277495" algn="l" rtl="0">
              <a:spcBef>
                <a:spcPts val="0"/>
              </a:spcBef>
              <a:spcAft>
                <a:spcPts val="0"/>
              </a:spcAft>
              <a:buClr>
                <a:schemeClr val="dk1"/>
              </a:buClr>
              <a:buSzPct val="100000"/>
              <a:buAutoNum type="arabicPeriod"/>
            </a:pPr>
            <a:r>
              <a:rPr lang="en" sz="1100">
                <a:solidFill>
                  <a:schemeClr val="dk1"/>
                </a:solidFill>
              </a:rPr>
              <a:t>Dequeue </a:t>
            </a:r>
            <a:r>
              <a:rPr lang="en" sz="1100" b="1">
                <a:solidFill>
                  <a:schemeClr val="dk1"/>
                </a:solidFill>
              </a:rPr>
              <a:t>A</a:t>
            </a:r>
            <a:r>
              <a:rPr lang="en" sz="1100">
                <a:solidFill>
                  <a:schemeClr val="dk1"/>
                </a:solidFill>
              </a:rPr>
              <a:t>, visit neighbors: </a:t>
            </a:r>
            <a:r>
              <a:rPr lang="en" sz="1100" b="1">
                <a:solidFill>
                  <a:schemeClr val="dk1"/>
                </a:solidFill>
              </a:rPr>
              <a:t>B</a:t>
            </a:r>
            <a:r>
              <a:rPr lang="en" sz="1100">
                <a:solidFill>
                  <a:schemeClr val="dk1"/>
                </a:solidFill>
              </a:rPr>
              <a:t>, </a:t>
            </a:r>
            <a:r>
              <a:rPr lang="en" sz="1100" b="1">
                <a:solidFill>
                  <a:schemeClr val="dk1"/>
                </a:solidFill>
              </a:rPr>
              <a:t>S</a:t>
            </a:r>
            <a:br>
              <a:rPr lang="en" sz="1100" b="1">
                <a:solidFill>
                  <a:schemeClr val="dk1"/>
                </a:solidFill>
              </a:rPr>
            </a:br>
            <a:endParaRPr sz="1100" b="1">
              <a:solidFill>
                <a:schemeClr val="dk1"/>
              </a:solidFill>
            </a:endParaRPr>
          </a:p>
          <a:p>
            <a:pPr marL="457200" lvl="0" indent="-277495" algn="l" rtl="0">
              <a:spcBef>
                <a:spcPts val="0"/>
              </a:spcBef>
              <a:spcAft>
                <a:spcPts val="0"/>
              </a:spcAft>
              <a:buClr>
                <a:schemeClr val="dk1"/>
              </a:buClr>
              <a:buSzPct val="100000"/>
              <a:buAutoNum type="arabicPeriod"/>
            </a:pPr>
            <a:r>
              <a:rPr lang="en" sz="1100">
                <a:solidFill>
                  <a:schemeClr val="dk1"/>
                </a:solidFill>
              </a:rPr>
              <a:t>Dequeue </a:t>
            </a:r>
            <a:r>
              <a:rPr lang="en" sz="1100" b="1">
                <a:solidFill>
                  <a:schemeClr val="dk1"/>
                </a:solidFill>
              </a:rPr>
              <a:t>B</a:t>
            </a:r>
            <a:r>
              <a:rPr lang="en" sz="1100">
                <a:solidFill>
                  <a:schemeClr val="dk1"/>
                </a:solidFill>
              </a:rPr>
              <a:t> → no children</a:t>
            </a:r>
            <a:br>
              <a:rPr lang="en" sz="1100">
                <a:solidFill>
                  <a:schemeClr val="dk1"/>
                </a:solidFill>
              </a:rPr>
            </a:br>
            <a:endParaRPr sz="1100">
              <a:solidFill>
                <a:schemeClr val="dk1"/>
              </a:solidFill>
            </a:endParaRPr>
          </a:p>
          <a:p>
            <a:pPr marL="457200" lvl="0" indent="-277495" algn="l" rtl="0">
              <a:spcBef>
                <a:spcPts val="0"/>
              </a:spcBef>
              <a:spcAft>
                <a:spcPts val="0"/>
              </a:spcAft>
              <a:buClr>
                <a:schemeClr val="dk1"/>
              </a:buClr>
              <a:buSzPct val="100000"/>
              <a:buAutoNum type="arabicPeriod"/>
            </a:pPr>
            <a:r>
              <a:rPr lang="en" sz="1100">
                <a:solidFill>
                  <a:schemeClr val="dk1"/>
                </a:solidFill>
              </a:rPr>
              <a:t>Dequeue </a:t>
            </a:r>
            <a:r>
              <a:rPr lang="en" sz="1100" b="1">
                <a:solidFill>
                  <a:schemeClr val="dk1"/>
                </a:solidFill>
              </a:rPr>
              <a:t>S</a:t>
            </a:r>
            <a:r>
              <a:rPr lang="en" sz="1100">
                <a:solidFill>
                  <a:schemeClr val="dk1"/>
                </a:solidFill>
              </a:rPr>
              <a:t>, visit </a:t>
            </a:r>
            <a:r>
              <a:rPr lang="en" sz="1100" b="1">
                <a:solidFill>
                  <a:schemeClr val="dk1"/>
                </a:solidFill>
              </a:rPr>
              <a:t>C</a:t>
            </a:r>
            <a:r>
              <a:rPr lang="en" sz="1100">
                <a:solidFill>
                  <a:schemeClr val="dk1"/>
                </a:solidFill>
              </a:rPr>
              <a:t>, </a:t>
            </a:r>
            <a:r>
              <a:rPr lang="en" sz="1100" b="1">
                <a:solidFill>
                  <a:schemeClr val="dk1"/>
                </a:solidFill>
              </a:rPr>
              <a:t>G</a:t>
            </a:r>
            <a:br>
              <a:rPr lang="en" sz="1100" b="1">
                <a:solidFill>
                  <a:schemeClr val="dk1"/>
                </a:solidFill>
              </a:rPr>
            </a:br>
            <a:endParaRPr sz="1100" b="1">
              <a:solidFill>
                <a:schemeClr val="dk1"/>
              </a:solidFill>
            </a:endParaRPr>
          </a:p>
          <a:p>
            <a:pPr marL="457200" lvl="0" indent="-277495" algn="l" rtl="0">
              <a:spcBef>
                <a:spcPts val="0"/>
              </a:spcBef>
              <a:spcAft>
                <a:spcPts val="0"/>
              </a:spcAft>
              <a:buClr>
                <a:schemeClr val="dk1"/>
              </a:buClr>
              <a:buSzPct val="100000"/>
              <a:buAutoNum type="arabicPeriod"/>
            </a:pPr>
            <a:r>
              <a:rPr lang="en" sz="1100">
                <a:solidFill>
                  <a:schemeClr val="dk1"/>
                </a:solidFill>
              </a:rPr>
              <a:t>Dequeue </a:t>
            </a:r>
            <a:r>
              <a:rPr lang="en" sz="1100" b="1">
                <a:solidFill>
                  <a:schemeClr val="dk1"/>
                </a:solidFill>
              </a:rPr>
              <a:t>C</a:t>
            </a:r>
            <a:r>
              <a:rPr lang="en" sz="1100">
                <a:solidFill>
                  <a:schemeClr val="dk1"/>
                </a:solidFill>
              </a:rPr>
              <a:t>, visit </a:t>
            </a:r>
            <a:r>
              <a:rPr lang="en" sz="1100" b="1">
                <a:solidFill>
                  <a:schemeClr val="dk1"/>
                </a:solidFill>
              </a:rPr>
              <a:t>D</a:t>
            </a:r>
            <a:r>
              <a:rPr lang="en" sz="1100">
                <a:solidFill>
                  <a:schemeClr val="dk1"/>
                </a:solidFill>
              </a:rPr>
              <a:t>, </a:t>
            </a:r>
            <a:r>
              <a:rPr lang="en" sz="1100" b="1">
                <a:solidFill>
                  <a:schemeClr val="dk1"/>
                </a:solidFill>
              </a:rPr>
              <a:t>E</a:t>
            </a:r>
            <a:r>
              <a:rPr lang="en" sz="1100">
                <a:solidFill>
                  <a:schemeClr val="dk1"/>
                </a:solidFill>
              </a:rPr>
              <a:t>, </a:t>
            </a:r>
            <a:r>
              <a:rPr lang="en" sz="1100" b="1">
                <a:solidFill>
                  <a:schemeClr val="dk1"/>
                </a:solidFill>
              </a:rPr>
              <a:t>F</a:t>
            </a:r>
            <a:br>
              <a:rPr lang="en" sz="1100" b="1">
                <a:solidFill>
                  <a:schemeClr val="dk1"/>
                </a:solidFill>
              </a:rPr>
            </a:br>
            <a:endParaRPr sz="1100" b="1">
              <a:solidFill>
                <a:schemeClr val="dk1"/>
              </a:solidFill>
            </a:endParaRPr>
          </a:p>
          <a:p>
            <a:pPr marL="457200" lvl="0" indent="-277495" algn="l" rtl="0">
              <a:spcBef>
                <a:spcPts val="0"/>
              </a:spcBef>
              <a:spcAft>
                <a:spcPts val="0"/>
              </a:spcAft>
              <a:buClr>
                <a:schemeClr val="dk1"/>
              </a:buClr>
              <a:buSzPct val="100000"/>
              <a:buAutoNum type="arabicPeriod"/>
            </a:pPr>
            <a:r>
              <a:rPr lang="en" sz="1100">
                <a:solidFill>
                  <a:schemeClr val="dk1"/>
                </a:solidFill>
              </a:rPr>
              <a:t>Dequeue </a:t>
            </a:r>
            <a:r>
              <a:rPr lang="en" sz="1100" b="1">
                <a:solidFill>
                  <a:schemeClr val="dk1"/>
                </a:solidFill>
              </a:rPr>
              <a:t>U</a:t>
            </a:r>
            <a:r>
              <a:rPr lang="en" sz="1100">
                <a:solidFill>
                  <a:schemeClr val="dk1"/>
                </a:solidFill>
              </a:rPr>
              <a:t>, visit </a:t>
            </a:r>
            <a:r>
              <a:rPr lang="en" sz="1100" b="1">
                <a:solidFill>
                  <a:schemeClr val="dk1"/>
                </a:solidFill>
              </a:rPr>
              <a:t>H</a:t>
            </a:r>
            <a:br>
              <a:rPr lang="en" sz="1100" b="1">
                <a:solidFill>
                  <a:schemeClr val="dk1"/>
                </a:solidFill>
              </a:rPr>
            </a:br>
            <a:endParaRPr sz="1100" b="1">
              <a:solidFill>
                <a:schemeClr val="dk1"/>
              </a:solidFill>
            </a:endParaRPr>
          </a:p>
          <a:p>
            <a:pPr marL="457200" lvl="0" indent="-277495" algn="l" rtl="0">
              <a:spcBef>
                <a:spcPts val="0"/>
              </a:spcBef>
              <a:spcAft>
                <a:spcPts val="0"/>
              </a:spcAft>
              <a:buClr>
                <a:schemeClr val="dk1"/>
              </a:buClr>
              <a:buSzPct val="100000"/>
              <a:buAutoNum type="arabicPeriod"/>
            </a:pPr>
            <a:r>
              <a:rPr lang="en" sz="1100">
                <a:solidFill>
                  <a:schemeClr val="dk1"/>
                </a:solidFill>
              </a:rPr>
              <a:t>Dequeue </a:t>
            </a:r>
            <a:r>
              <a:rPr lang="en" sz="1100" b="1">
                <a:solidFill>
                  <a:schemeClr val="dk1"/>
                </a:solidFill>
              </a:rPr>
              <a:t>D</a:t>
            </a:r>
            <a:r>
              <a:rPr lang="en" sz="1100">
                <a:solidFill>
                  <a:schemeClr val="dk1"/>
                </a:solidFill>
              </a:rPr>
              <a:t>, </a:t>
            </a:r>
            <a:r>
              <a:rPr lang="en" sz="1100" b="1">
                <a:solidFill>
                  <a:schemeClr val="dk1"/>
                </a:solidFill>
              </a:rPr>
              <a:t>E</a:t>
            </a:r>
            <a:r>
              <a:rPr lang="en" sz="1100">
                <a:solidFill>
                  <a:schemeClr val="dk1"/>
                </a:solidFill>
              </a:rPr>
              <a:t>, </a:t>
            </a:r>
            <a:r>
              <a:rPr lang="en" sz="1100" b="1">
                <a:solidFill>
                  <a:schemeClr val="dk1"/>
                </a:solidFill>
              </a:rPr>
              <a:t>F</a:t>
            </a:r>
            <a:br>
              <a:rPr lang="en" sz="1100" b="1">
                <a:solidFill>
                  <a:schemeClr val="dk1"/>
                </a:solidFill>
              </a:rPr>
            </a:br>
            <a:endParaRPr sz="1100" b="1">
              <a:solidFill>
                <a:schemeClr val="dk1"/>
              </a:solidFill>
            </a:endParaRPr>
          </a:p>
          <a:p>
            <a:pPr marL="457200" lvl="0" indent="-277495" algn="l" rtl="0">
              <a:spcBef>
                <a:spcPts val="0"/>
              </a:spcBef>
              <a:spcAft>
                <a:spcPts val="0"/>
              </a:spcAft>
              <a:buClr>
                <a:schemeClr val="dk1"/>
              </a:buClr>
              <a:buSzPct val="100000"/>
              <a:buAutoNum type="arabicPeriod"/>
            </a:pPr>
            <a:r>
              <a:rPr lang="en" sz="1100">
                <a:solidFill>
                  <a:schemeClr val="dk1"/>
                </a:solidFill>
              </a:rPr>
              <a:t>Dequeue </a:t>
            </a:r>
            <a:r>
              <a:rPr lang="en" sz="1100" b="1">
                <a:solidFill>
                  <a:schemeClr val="dk1"/>
                </a:solidFill>
              </a:rPr>
              <a:t>H</a:t>
            </a:r>
            <a:endParaRPr sz="1100" b="1">
              <a:solidFill>
                <a:schemeClr val="dk1"/>
              </a:solidFill>
            </a:endParaRPr>
          </a:p>
          <a:p>
            <a:pPr marL="457200" lvl="0" indent="0" algn="l" rtl="0">
              <a:spcBef>
                <a:spcPts val="1200"/>
              </a:spcBef>
              <a:spcAft>
                <a:spcPts val="0"/>
              </a:spcAft>
              <a:buNone/>
            </a:pPr>
            <a:r>
              <a:rPr lang="en" sz="1100" b="1">
                <a:solidFill>
                  <a:schemeClr val="dk1"/>
                </a:solidFill>
              </a:rPr>
              <a:t> </a:t>
            </a:r>
            <a:endParaRPr sz="1100" b="1">
              <a:solidFill>
                <a:schemeClr val="dk1"/>
              </a:solidFill>
            </a:endParaRPr>
          </a:p>
          <a:p>
            <a:pPr marL="0" lvl="0" indent="0" algn="l" rtl="0">
              <a:spcBef>
                <a:spcPts val="1200"/>
              </a:spcBef>
              <a:spcAft>
                <a:spcPts val="1200"/>
              </a:spcAft>
              <a:buNone/>
            </a:pPr>
            <a:endParaRPr/>
          </a:p>
        </p:txBody>
      </p:sp>
      <p:sp>
        <p:nvSpPr>
          <p:cNvPr id="255" name="Google Shape;255;p41"/>
          <p:cNvSpPr txBox="1">
            <a:spLocks noGrp="1"/>
          </p:cNvSpPr>
          <p:nvPr>
            <p:ph type="body" idx="1"/>
          </p:nvPr>
        </p:nvSpPr>
        <p:spPr>
          <a:xfrm>
            <a:off x="4943375" y="1287850"/>
            <a:ext cx="28314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300" b="1">
                <a:solidFill>
                  <a:schemeClr val="dk1"/>
                </a:solidFill>
              </a:rPr>
              <a:t>Ans:- </a:t>
            </a:r>
            <a:endParaRPr sz="1300" b="1">
              <a:solidFill>
                <a:schemeClr val="dk1"/>
              </a:solidFill>
            </a:endParaRPr>
          </a:p>
          <a:p>
            <a:pPr marL="0" lvl="0" indent="0" algn="l" rtl="0">
              <a:spcBef>
                <a:spcPts val="1200"/>
              </a:spcBef>
              <a:spcAft>
                <a:spcPts val="0"/>
              </a:spcAft>
              <a:buNone/>
            </a:pPr>
            <a:r>
              <a:rPr lang="en" sz="1300" b="1">
                <a:solidFill>
                  <a:schemeClr val="dk1"/>
                </a:solidFill>
              </a:rPr>
              <a:t>A → B → S → C → U → D → E → F → H</a:t>
            </a:r>
            <a:endParaRPr sz="1300" b="1">
              <a:solidFill>
                <a:schemeClr val="dk1"/>
              </a:solidFill>
            </a:endParaRPr>
          </a:p>
          <a:p>
            <a:pPr marL="0" lvl="0" indent="0" algn="l" rtl="0">
              <a:spcBef>
                <a:spcPts val="1200"/>
              </a:spcBef>
              <a:spcAft>
                <a:spcPts val="0"/>
              </a:spcAft>
              <a:buClr>
                <a:schemeClr val="dk1"/>
              </a:buClr>
              <a:buSzPts val="1100"/>
              <a:buFont typeface="Arial"/>
              <a:buNone/>
            </a:pPr>
            <a:endParaRPr sz="1300" b="1">
              <a:solidFill>
                <a:schemeClr val="dk1"/>
              </a:solidFill>
            </a:endParaRPr>
          </a:p>
          <a:p>
            <a:pPr marL="0" lvl="0" indent="0" algn="l" rtl="0">
              <a:spcBef>
                <a:spcPts val="1200"/>
              </a:spcBef>
              <a:spcAft>
                <a:spcPts val="0"/>
              </a:spcAft>
              <a:buNone/>
            </a:pPr>
            <a:endParaRPr sz="1300" b="1">
              <a:solidFill>
                <a:schemeClr val="dk1"/>
              </a:solidFill>
            </a:endParaRPr>
          </a:p>
          <a:p>
            <a:pPr marL="457200" lvl="0" indent="0" algn="l" rtl="0">
              <a:spcBef>
                <a:spcPts val="1200"/>
              </a:spcBef>
              <a:spcAft>
                <a:spcPts val="0"/>
              </a:spcAft>
              <a:buNone/>
            </a:pPr>
            <a:r>
              <a:rPr lang="en" sz="1100" b="1">
                <a:solidFill>
                  <a:schemeClr val="dk1"/>
                </a:solidFill>
              </a:rPr>
              <a:t> </a:t>
            </a:r>
            <a:endParaRPr sz="1100" b="1">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BFS E.g</a:t>
            </a:r>
            <a:endParaRPr/>
          </a:p>
        </p:txBody>
      </p:sp>
      <p:sp>
        <p:nvSpPr>
          <p:cNvPr id="261" name="Google Shape;261;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62" name="Google Shape;262;p42"/>
          <p:cNvPicPr preferRelativeResize="0"/>
          <p:nvPr/>
        </p:nvPicPr>
        <p:blipFill>
          <a:blip r:embed="rId3">
            <a:alphaModFix/>
          </a:blip>
          <a:stretch>
            <a:fillRect/>
          </a:stretch>
        </p:blipFill>
        <p:spPr>
          <a:xfrm>
            <a:off x="491575" y="1253573"/>
            <a:ext cx="3000375" cy="29944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68" name="Google Shape;268;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69" name="Google Shape;269;p43"/>
          <p:cNvPicPr preferRelativeResize="0"/>
          <p:nvPr/>
        </p:nvPicPr>
        <p:blipFill>
          <a:blip r:embed="rId3">
            <a:alphaModFix/>
          </a:blip>
          <a:stretch>
            <a:fillRect/>
          </a:stretch>
        </p:blipFill>
        <p:spPr>
          <a:xfrm>
            <a:off x="0" y="206150"/>
            <a:ext cx="9144000" cy="4864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75" name="Google Shape;275;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76" name="Google Shape;276;p44"/>
          <p:cNvPicPr preferRelativeResize="0"/>
          <p:nvPr/>
        </p:nvPicPr>
        <p:blipFill>
          <a:blip r:embed="rId3">
            <a:alphaModFix/>
          </a:blip>
          <a:stretch>
            <a:fillRect/>
          </a:stretch>
        </p:blipFill>
        <p:spPr>
          <a:xfrm>
            <a:off x="426650" y="1152475"/>
            <a:ext cx="7928151" cy="3640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82" name="Google Shape;282;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83" name="Google Shape;283;p45"/>
          <p:cNvPicPr preferRelativeResize="0"/>
          <p:nvPr/>
        </p:nvPicPr>
        <p:blipFill>
          <a:blip r:embed="rId3">
            <a:alphaModFix/>
          </a:blip>
          <a:stretch>
            <a:fillRect/>
          </a:stretch>
        </p:blipFill>
        <p:spPr>
          <a:xfrm>
            <a:off x="66035" y="0"/>
            <a:ext cx="9011932" cy="51435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89" name="Google Shape;289;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90" name="Google Shape;290;p46"/>
          <p:cNvPicPr preferRelativeResize="0"/>
          <p:nvPr/>
        </p:nvPicPr>
        <p:blipFill>
          <a:blip r:embed="rId3">
            <a:alphaModFix/>
          </a:blip>
          <a:stretch>
            <a:fillRect/>
          </a:stretch>
        </p:blipFill>
        <p:spPr>
          <a:xfrm>
            <a:off x="311700" y="1219525"/>
            <a:ext cx="8520601" cy="35765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96" name="Google Shape;296;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97" name="Google Shape;297;p47"/>
          <p:cNvPicPr preferRelativeResize="0"/>
          <p:nvPr/>
        </p:nvPicPr>
        <p:blipFill>
          <a:blip r:embed="rId3">
            <a:alphaModFix/>
          </a:blip>
          <a:stretch>
            <a:fillRect/>
          </a:stretch>
        </p:blipFill>
        <p:spPr>
          <a:xfrm>
            <a:off x="229825" y="768175"/>
            <a:ext cx="8684351" cy="43753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03" name="Google Shape;303;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04" name="Google Shape;304;p48"/>
          <p:cNvPicPr preferRelativeResize="0"/>
          <p:nvPr/>
        </p:nvPicPr>
        <p:blipFill>
          <a:blip r:embed="rId3">
            <a:alphaModFix/>
          </a:blip>
          <a:stretch>
            <a:fillRect/>
          </a:stretch>
        </p:blipFill>
        <p:spPr>
          <a:xfrm>
            <a:off x="311700" y="1117325"/>
            <a:ext cx="8832300" cy="3998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10" name="Google Shape;310;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11" name="Google Shape;311;p49"/>
          <p:cNvPicPr preferRelativeResize="0"/>
          <p:nvPr/>
        </p:nvPicPr>
        <p:blipFill>
          <a:blip r:embed="rId3">
            <a:alphaModFix/>
          </a:blip>
          <a:stretch>
            <a:fillRect/>
          </a:stretch>
        </p:blipFill>
        <p:spPr>
          <a:xfrm>
            <a:off x="311700" y="1152475"/>
            <a:ext cx="8482677" cy="357552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17" name="Google Shape;317;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18" name="Google Shape;318;p50"/>
          <p:cNvPicPr preferRelativeResize="0"/>
          <p:nvPr/>
        </p:nvPicPr>
        <p:blipFill>
          <a:blip r:embed="rId3">
            <a:alphaModFix/>
          </a:blip>
          <a:stretch>
            <a:fillRect/>
          </a:stretch>
        </p:blipFill>
        <p:spPr>
          <a:xfrm>
            <a:off x="964875" y="1321700"/>
            <a:ext cx="7214250" cy="315935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Dijkstra’s Algorithm</a:t>
            </a:r>
            <a:endParaRPr/>
          </a:p>
        </p:txBody>
      </p:sp>
      <p:sp>
        <p:nvSpPr>
          <p:cNvPr id="324" name="Google Shape;324;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25" name="Google Shape;325;p51"/>
          <p:cNvPicPr preferRelativeResize="0"/>
          <p:nvPr/>
        </p:nvPicPr>
        <p:blipFill>
          <a:blip r:embed="rId3">
            <a:alphaModFix/>
          </a:blip>
          <a:stretch>
            <a:fillRect/>
          </a:stretch>
        </p:blipFill>
        <p:spPr>
          <a:xfrm>
            <a:off x="1124950" y="1313200"/>
            <a:ext cx="7068049" cy="31588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31" name="Google Shape;331;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32" name="Google Shape;332;p52"/>
          <p:cNvPicPr preferRelativeResize="0"/>
          <p:nvPr/>
        </p:nvPicPr>
        <p:blipFill>
          <a:blip r:embed="rId3">
            <a:alphaModFix/>
          </a:blip>
          <a:stretch>
            <a:fillRect/>
          </a:stretch>
        </p:blipFill>
        <p:spPr>
          <a:xfrm>
            <a:off x="690575" y="1509053"/>
            <a:ext cx="7762875" cy="30772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38" name="Google Shape;338;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39" name="Google Shape;339;p53"/>
          <p:cNvPicPr preferRelativeResize="0"/>
          <p:nvPr/>
        </p:nvPicPr>
        <p:blipFill>
          <a:blip r:embed="rId3">
            <a:alphaModFix/>
          </a:blip>
          <a:stretch>
            <a:fillRect/>
          </a:stretch>
        </p:blipFill>
        <p:spPr>
          <a:xfrm>
            <a:off x="614375" y="1321700"/>
            <a:ext cx="7915275" cy="35074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45" name="Google Shape;345;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46" name="Google Shape;346;p54"/>
          <p:cNvPicPr preferRelativeResize="0"/>
          <p:nvPr/>
        </p:nvPicPr>
        <p:blipFill>
          <a:blip r:embed="rId3">
            <a:alphaModFix/>
          </a:blip>
          <a:stretch>
            <a:fillRect/>
          </a:stretch>
        </p:blipFill>
        <p:spPr>
          <a:xfrm>
            <a:off x="576275" y="1270600"/>
            <a:ext cx="7446400" cy="3530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52" name="Google Shape;352;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53" name="Google Shape;353;p55"/>
          <p:cNvPicPr preferRelativeResize="0"/>
          <p:nvPr/>
        </p:nvPicPr>
        <p:blipFill>
          <a:blip r:embed="rId3">
            <a:alphaModFix/>
          </a:blip>
          <a:stretch>
            <a:fillRect/>
          </a:stretch>
        </p:blipFill>
        <p:spPr>
          <a:xfrm>
            <a:off x="633425" y="1262100"/>
            <a:ext cx="7474426" cy="34718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of Dijkstra Algorithhm</a:t>
            </a:r>
            <a:endParaRPr/>
          </a:p>
        </p:txBody>
      </p:sp>
      <p:sp>
        <p:nvSpPr>
          <p:cNvPr id="359" name="Google Shape;359;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60" name="Google Shape;360;p56"/>
          <p:cNvPicPr preferRelativeResize="0"/>
          <p:nvPr/>
        </p:nvPicPr>
        <p:blipFill>
          <a:blip r:embed="rId3">
            <a:alphaModFix/>
          </a:blip>
          <a:stretch>
            <a:fillRect/>
          </a:stretch>
        </p:blipFill>
        <p:spPr>
          <a:xfrm>
            <a:off x="561975" y="1414463"/>
            <a:ext cx="8020050" cy="23145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66" name="Google Shape;366;p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67" name="Google Shape;367;p57"/>
          <p:cNvPicPr preferRelativeResize="0"/>
          <p:nvPr/>
        </p:nvPicPr>
        <p:blipFill>
          <a:blip r:embed="rId3">
            <a:alphaModFix/>
          </a:blip>
          <a:stretch>
            <a:fillRect/>
          </a:stretch>
        </p:blipFill>
        <p:spPr>
          <a:xfrm>
            <a:off x="554400" y="1443050"/>
            <a:ext cx="7868525" cy="22574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73" name="Google Shape;373;p5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74" name="Google Shape;374;p58"/>
          <p:cNvPicPr preferRelativeResize="0"/>
          <p:nvPr/>
        </p:nvPicPr>
        <p:blipFill>
          <a:blip r:embed="rId3">
            <a:alphaModFix/>
          </a:blip>
          <a:stretch>
            <a:fillRect/>
          </a:stretch>
        </p:blipFill>
        <p:spPr>
          <a:xfrm>
            <a:off x="400050" y="466725"/>
            <a:ext cx="8343900" cy="42100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sp>
        <p:nvSpPr>
          <p:cNvPr id="380" name="Google Shape;380;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81" name="Google Shape;381;p59"/>
          <p:cNvPicPr preferRelativeResize="0"/>
          <p:nvPr/>
        </p:nvPicPr>
        <p:blipFill>
          <a:blip r:embed="rId3">
            <a:alphaModFix/>
          </a:blip>
          <a:stretch>
            <a:fillRect/>
          </a:stretch>
        </p:blipFill>
        <p:spPr>
          <a:xfrm>
            <a:off x="278500" y="1481750"/>
            <a:ext cx="8865499" cy="33283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87" name="Google Shape;387;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88" name="Google Shape;388;p60"/>
          <p:cNvPicPr preferRelativeResize="0"/>
          <p:nvPr/>
        </p:nvPicPr>
        <p:blipFill>
          <a:blip r:embed="rId3">
            <a:alphaModFix/>
          </a:blip>
          <a:stretch>
            <a:fillRect/>
          </a:stretch>
        </p:blipFill>
        <p:spPr>
          <a:xfrm>
            <a:off x="482925" y="1457950"/>
            <a:ext cx="8178151" cy="29464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1448</Words>
  <Application>Microsoft Office PowerPoint</Application>
  <PresentationFormat>On-screen Show (16:9)</PresentationFormat>
  <Paragraphs>115</Paragraphs>
  <Slides>48</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Verdana</vt:lpstr>
      <vt:lpstr>Roboto Mono</vt:lpstr>
      <vt:lpstr>Arial</vt:lpstr>
      <vt:lpstr>Simple Light</vt:lpstr>
      <vt:lpstr>Unit 4</vt:lpstr>
      <vt:lpstr>PowerPoint Presentation</vt:lpstr>
      <vt:lpstr>PowerPoint Presentation</vt:lpstr>
      <vt:lpstr>PowerPoint Presentation</vt:lpstr>
      <vt:lpstr>PowerPoint Presentation</vt:lpstr>
      <vt:lpstr>Types of graph </vt:lpstr>
      <vt:lpstr>PowerPoint Presentation</vt:lpstr>
      <vt:lpstr>PowerPoint Presentation</vt:lpstr>
      <vt:lpstr>PowerPoint Presentation</vt:lpstr>
      <vt:lpstr>Terminology of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ADT of Graph</vt:lpstr>
      <vt:lpstr>Graph Representations</vt:lpstr>
      <vt:lpstr>PowerPoint Presentation</vt:lpstr>
      <vt:lpstr>PowerPoint Presentation</vt:lpstr>
      <vt:lpstr>PowerPoint Presentation</vt:lpstr>
      <vt:lpstr>PowerPoint Presentation</vt:lpstr>
      <vt:lpstr>Graph Traversal</vt:lpstr>
      <vt:lpstr>Depth First Search Traversal (DFS) </vt:lpstr>
      <vt:lpstr>PowerPoint Presentation</vt:lpstr>
      <vt:lpstr>BFS</vt:lpstr>
      <vt:lpstr>E.g. BFS</vt:lpstr>
      <vt:lpstr>PowerPoint Presentation</vt:lpstr>
      <vt:lpstr>BFS E.g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Dijkstra’s Algorithm</vt:lpstr>
      <vt:lpstr>PowerPoint Presentation</vt:lpstr>
      <vt:lpstr>PowerPoint Presentation</vt:lpstr>
      <vt:lpstr>PowerPoint Presentation</vt:lpstr>
      <vt:lpstr>PowerPoint Presentation</vt:lpstr>
      <vt:lpstr>Example of Dijkstra Algorithhm</vt:lpstr>
      <vt:lpstr>PowerPoint Presentation</vt:lpstr>
      <vt:lpstr>PowerPoint Presentation</vt:lpstr>
      <vt:lpstr>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Nisha Gongal</cp:lastModifiedBy>
  <cp:revision>1</cp:revision>
  <dcterms:modified xsi:type="dcterms:W3CDTF">2026-04-01T10:21:06Z</dcterms:modified>
</cp:coreProperties>
</file>