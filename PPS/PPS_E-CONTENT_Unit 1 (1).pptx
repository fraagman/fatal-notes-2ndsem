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notesMasterIdLst>
    <p:notesMasterId r:id="rId34"/>
  </p:notesMasterIdLst>
  <p:sldIdLst>
    <p:sldId id="398" r:id="rId2"/>
    <p:sldId id="295" r:id="rId3"/>
    <p:sldId id="402" r:id="rId4"/>
    <p:sldId id="403" r:id="rId5"/>
    <p:sldId id="404" r:id="rId6"/>
    <p:sldId id="405" r:id="rId7"/>
    <p:sldId id="406" r:id="rId8"/>
    <p:sldId id="407" r:id="rId9"/>
    <p:sldId id="422" r:id="rId10"/>
    <p:sldId id="408" r:id="rId11"/>
    <p:sldId id="409" r:id="rId12"/>
    <p:sldId id="410" r:id="rId13"/>
    <p:sldId id="411" r:id="rId14"/>
    <p:sldId id="412" r:id="rId15"/>
    <p:sldId id="423" r:id="rId16"/>
    <p:sldId id="413" r:id="rId17"/>
    <p:sldId id="417" r:id="rId18"/>
    <p:sldId id="418" r:id="rId19"/>
    <p:sldId id="414" r:id="rId20"/>
    <p:sldId id="415" r:id="rId21"/>
    <p:sldId id="426" r:id="rId22"/>
    <p:sldId id="427" r:id="rId23"/>
    <p:sldId id="416" r:id="rId24"/>
    <p:sldId id="314" r:id="rId25"/>
    <p:sldId id="305" r:id="rId26"/>
    <p:sldId id="312" r:id="rId27"/>
    <p:sldId id="368" r:id="rId28"/>
    <p:sldId id="419" r:id="rId29"/>
    <p:sldId id="420" r:id="rId30"/>
    <p:sldId id="424" r:id="rId31"/>
    <p:sldId id="425" r:id="rId32"/>
    <p:sldId id="39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426" autoAdjust="0"/>
    <p:restoredTop sz="80374" autoAdjust="0"/>
  </p:normalViewPr>
  <p:slideViewPr>
    <p:cSldViewPr snapToGrid="0">
      <p:cViewPr varScale="1">
        <p:scale>
          <a:sx n="66" d="100"/>
          <a:sy n="66" d="100"/>
        </p:scale>
        <p:origin x="758"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05E791E-3833-40C1-93B7-B7415E88C8AE}"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en-IN"/>
        </a:p>
      </dgm:t>
    </dgm:pt>
    <dgm:pt modelId="{441B5ABA-3E2E-4D99-BC83-A74AED096469}">
      <dgm:prSet phldrT="[Text]" custT="1"/>
      <dgm:spPr/>
      <dgm:t>
        <a:bodyPr/>
        <a:lstStyle/>
        <a:p>
          <a:r>
            <a:rPr lang="en-IN" sz="1050" b="1" dirty="0"/>
            <a:t>Define the Problem</a:t>
          </a:r>
        </a:p>
      </dgm:t>
    </dgm:pt>
    <dgm:pt modelId="{5AE643DE-4D9F-4863-8F6D-59AA7B115811}" type="parTrans" cxnId="{25FE3DD3-2D27-4AD4-8F7B-EAD1C494A5D6}">
      <dgm:prSet/>
      <dgm:spPr/>
      <dgm:t>
        <a:bodyPr/>
        <a:lstStyle/>
        <a:p>
          <a:endParaRPr lang="en-IN" sz="2000" b="1"/>
        </a:p>
      </dgm:t>
    </dgm:pt>
    <dgm:pt modelId="{3DA64043-69D2-41E9-A079-2E94D9CBA6EC}" type="sibTrans" cxnId="{25FE3DD3-2D27-4AD4-8F7B-EAD1C494A5D6}">
      <dgm:prSet/>
      <dgm:spPr>
        <a:solidFill>
          <a:schemeClr val="accent2">
            <a:lumMod val="75000"/>
          </a:schemeClr>
        </a:solidFill>
        <a:ln w="38100">
          <a:solidFill>
            <a:schemeClr val="accent1">
              <a:lumMod val="75000"/>
            </a:schemeClr>
          </a:solidFill>
        </a:ln>
      </dgm:spPr>
      <dgm:t>
        <a:bodyPr/>
        <a:lstStyle/>
        <a:p>
          <a:endParaRPr lang="en-IN" sz="2000" b="1"/>
        </a:p>
      </dgm:t>
    </dgm:pt>
    <dgm:pt modelId="{25F716ED-858E-4DD3-AEFC-375D08E1B3CE}">
      <dgm:prSet phldrT="[Text]" custT="1"/>
      <dgm:spPr/>
      <dgm:t>
        <a:bodyPr/>
        <a:lstStyle/>
        <a:p>
          <a:r>
            <a:rPr lang="en-IN" sz="1050" b="1" dirty="0"/>
            <a:t>Generate new Idea</a:t>
          </a:r>
        </a:p>
      </dgm:t>
    </dgm:pt>
    <dgm:pt modelId="{E9EE1D7D-48EA-45F0-824A-372CF3A169C1}" type="parTrans" cxnId="{6EAC57E5-7894-4A8C-933E-D362D9FD284C}">
      <dgm:prSet/>
      <dgm:spPr/>
      <dgm:t>
        <a:bodyPr/>
        <a:lstStyle/>
        <a:p>
          <a:endParaRPr lang="en-IN" sz="2000" b="1"/>
        </a:p>
      </dgm:t>
    </dgm:pt>
    <dgm:pt modelId="{772682F3-7824-4CB7-AA12-587FC2B72659}" type="sibTrans" cxnId="{6EAC57E5-7894-4A8C-933E-D362D9FD284C}">
      <dgm:prSet/>
      <dgm:spPr>
        <a:solidFill>
          <a:schemeClr val="accent2">
            <a:lumMod val="75000"/>
          </a:schemeClr>
        </a:solidFill>
        <a:ln w="38100">
          <a:solidFill>
            <a:schemeClr val="accent1">
              <a:lumMod val="75000"/>
            </a:schemeClr>
          </a:solidFill>
        </a:ln>
      </dgm:spPr>
      <dgm:t>
        <a:bodyPr/>
        <a:lstStyle/>
        <a:p>
          <a:endParaRPr lang="en-IN" sz="2000" b="1"/>
        </a:p>
      </dgm:t>
    </dgm:pt>
    <dgm:pt modelId="{E381877D-9800-4B9D-B97B-32B4F8E93F48}">
      <dgm:prSet phldrT="[Text]" custT="1"/>
      <dgm:spPr/>
      <dgm:t>
        <a:bodyPr/>
        <a:lstStyle/>
        <a:p>
          <a:r>
            <a:rPr lang="en-IN" sz="1050" b="1" dirty="0"/>
            <a:t>Evaluate &amp; Select Solutions</a:t>
          </a:r>
        </a:p>
      </dgm:t>
    </dgm:pt>
    <dgm:pt modelId="{E7226059-437D-4224-B009-DE1CD9836D28}" type="parTrans" cxnId="{FFD0962B-932F-4C39-A323-7FCFB18DEFBA}">
      <dgm:prSet/>
      <dgm:spPr/>
      <dgm:t>
        <a:bodyPr/>
        <a:lstStyle/>
        <a:p>
          <a:endParaRPr lang="en-IN" sz="2000" b="1"/>
        </a:p>
      </dgm:t>
    </dgm:pt>
    <dgm:pt modelId="{0B6B1D57-43FF-4650-A26E-DC0AF9C35016}" type="sibTrans" cxnId="{FFD0962B-932F-4C39-A323-7FCFB18DEFBA}">
      <dgm:prSet/>
      <dgm:spPr>
        <a:solidFill>
          <a:schemeClr val="accent2">
            <a:lumMod val="75000"/>
          </a:schemeClr>
        </a:solidFill>
        <a:ln w="38100">
          <a:solidFill>
            <a:schemeClr val="accent1">
              <a:lumMod val="75000"/>
            </a:schemeClr>
          </a:solidFill>
        </a:ln>
      </dgm:spPr>
      <dgm:t>
        <a:bodyPr/>
        <a:lstStyle/>
        <a:p>
          <a:endParaRPr lang="en-IN" sz="2000" b="1"/>
        </a:p>
      </dgm:t>
    </dgm:pt>
    <dgm:pt modelId="{AC464487-3743-4B2F-BE8E-DFA47164257D}">
      <dgm:prSet phldrT="[Text]" custT="1"/>
      <dgm:spPr/>
      <dgm:t>
        <a:bodyPr/>
        <a:lstStyle/>
        <a:p>
          <a:r>
            <a:rPr lang="en-IN" sz="1050" b="1" dirty="0"/>
            <a:t>Implement &amp; Evaluate</a:t>
          </a:r>
        </a:p>
      </dgm:t>
    </dgm:pt>
    <dgm:pt modelId="{BEB9316F-2AD8-4908-A7D5-6294B55BA514}" type="parTrans" cxnId="{8E251CFC-3F96-4B1B-9280-03773787F232}">
      <dgm:prSet/>
      <dgm:spPr/>
      <dgm:t>
        <a:bodyPr/>
        <a:lstStyle/>
        <a:p>
          <a:endParaRPr lang="en-IN" sz="2000" b="1"/>
        </a:p>
      </dgm:t>
    </dgm:pt>
    <dgm:pt modelId="{B5A3EE55-AB37-4475-A222-E50A6BF219F7}" type="sibTrans" cxnId="{8E251CFC-3F96-4B1B-9280-03773787F232}">
      <dgm:prSet/>
      <dgm:spPr>
        <a:solidFill>
          <a:schemeClr val="accent2">
            <a:lumMod val="75000"/>
          </a:schemeClr>
        </a:solidFill>
        <a:ln w="38100">
          <a:solidFill>
            <a:schemeClr val="accent1">
              <a:lumMod val="75000"/>
            </a:schemeClr>
          </a:solidFill>
        </a:ln>
      </dgm:spPr>
      <dgm:t>
        <a:bodyPr/>
        <a:lstStyle/>
        <a:p>
          <a:endParaRPr lang="en-IN" sz="2000" b="1"/>
        </a:p>
      </dgm:t>
    </dgm:pt>
    <dgm:pt modelId="{8086F546-D4C9-4A26-9571-E1898528BB2D}" type="pres">
      <dgm:prSet presAssocID="{205E791E-3833-40C1-93B7-B7415E88C8AE}" presName="cycle" presStyleCnt="0">
        <dgm:presLayoutVars>
          <dgm:dir/>
          <dgm:resizeHandles val="exact"/>
        </dgm:presLayoutVars>
      </dgm:prSet>
      <dgm:spPr/>
    </dgm:pt>
    <dgm:pt modelId="{5280E1BA-2BE6-4224-8F17-140373976955}" type="pres">
      <dgm:prSet presAssocID="{441B5ABA-3E2E-4D99-BC83-A74AED096469}" presName="node" presStyleLbl="node1" presStyleIdx="0" presStyleCnt="4">
        <dgm:presLayoutVars>
          <dgm:bulletEnabled val="1"/>
        </dgm:presLayoutVars>
      </dgm:prSet>
      <dgm:spPr/>
    </dgm:pt>
    <dgm:pt modelId="{0094D28A-909A-4D5B-A34C-3BA751B700C8}" type="pres">
      <dgm:prSet presAssocID="{441B5ABA-3E2E-4D99-BC83-A74AED096469}" presName="spNode" presStyleCnt="0"/>
      <dgm:spPr/>
    </dgm:pt>
    <dgm:pt modelId="{46F7E1A0-B1D4-4E6C-A857-E120DE17A7C0}" type="pres">
      <dgm:prSet presAssocID="{3DA64043-69D2-41E9-A079-2E94D9CBA6EC}" presName="sibTrans" presStyleLbl="sibTrans1D1" presStyleIdx="0" presStyleCnt="4"/>
      <dgm:spPr/>
    </dgm:pt>
    <dgm:pt modelId="{7C642AD5-7669-4088-8AF5-808237A54D6F}" type="pres">
      <dgm:prSet presAssocID="{25F716ED-858E-4DD3-AEFC-375D08E1B3CE}" presName="node" presStyleLbl="node1" presStyleIdx="1" presStyleCnt="4">
        <dgm:presLayoutVars>
          <dgm:bulletEnabled val="1"/>
        </dgm:presLayoutVars>
      </dgm:prSet>
      <dgm:spPr/>
    </dgm:pt>
    <dgm:pt modelId="{1E18E204-3967-4E93-AAE0-5ADED648225E}" type="pres">
      <dgm:prSet presAssocID="{25F716ED-858E-4DD3-AEFC-375D08E1B3CE}" presName="spNode" presStyleCnt="0"/>
      <dgm:spPr/>
    </dgm:pt>
    <dgm:pt modelId="{D899F50C-E838-4ADB-9644-13133D92A983}" type="pres">
      <dgm:prSet presAssocID="{772682F3-7824-4CB7-AA12-587FC2B72659}" presName="sibTrans" presStyleLbl="sibTrans1D1" presStyleIdx="1" presStyleCnt="4"/>
      <dgm:spPr/>
    </dgm:pt>
    <dgm:pt modelId="{F7BCBD8B-2200-4896-B0DC-79C3599FEB29}" type="pres">
      <dgm:prSet presAssocID="{E381877D-9800-4B9D-B97B-32B4F8E93F48}" presName="node" presStyleLbl="node1" presStyleIdx="2" presStyleCnt="4">
        <dgm:presLayoutVars>
          <dgm:bulletEnabled val="1"/>
        </dgm:presLayoutVars>
      </dgm:prSet>
      <dgm:spPr/>
    </dgm:pt>
    <dgm:pt modelId="{2CB567BD-D3E4-4FC4-804A-A961ECF64A4E}" type="pres">
      <dgm:prSet presAssocID="{E381877D-9800-4B9D-B97B-32B4F8E93F48}" presName="spNode" presStyleCnt="0"/>
      <dgm:spPr/>
    </dgm:pt>
    <dgm:pt modelId="{00705746-B283-4C4A-9AB5-EB9B30A45D0A}" type="pres">
      <dgm:prSet presAssocID="{0B6B1D57-43FF-4650-A26E-DC0AF9C35016}" presName="sibTrans" presStyleLbl="sibTrans1D1" presStyleIdx="2" presStyleCnt="4"/>
      <dgm:spPr/>
    </dgm:pt>
    <dgm:pt modelId="{4D3F5CCD-3F27-49B5-96C7-1D35A98E7D62}" type="pres">
      <dgm:prSet presAssocID="{AC464487-3743-4B2F-BE8E-DFA47164257D}" presName="node" presStyleLbl="node1" presStyleIdx="3" presStyleCnt="4">
        <dgm:presLayoutVars>
          <dgm:bulletEnabled val="1"/>
        </dgm:presLayoutVars>
      </dgm:prSet>
      <dgm:spPr/>
    </dgm:pt>
    <dgm:pt modelId="{041EE50F-5EC6-423D-AD95-3002A9D96F9C}" type="pres">
      <dgm:prSet presAssocID="{AC464487-3743-4B2F-BE8E-DFA47164257D}" presName="spNode" presStyleCnt="0"/>
      <dgm:spPr/>
    </dgm:pt>
    <dgm:pt modelId="{ACBC7523-F504-4847-8453-7ADC07674244}" type="pres">
      <dgm:prSet presAssocID="{B5A3EE55-AB37-4475-A222-E50A6BF219F7}" presName="sibTrans" presStyleLbl="sibTrans1D1" presStyleIdx="3" presStyleCnt="4"/>
      <dgm:spPr/>
    </dgm:pt>
  </dgm:ptLst>
  <dgm:cxnLst>
    <dgm:cxn modelId="{755A821B-30A5-4705-B385-FEBABCF28378}" type="presOf" srcId="{E381877D-9800-4B9D-B97B-32B4F8E93F48}" destId="{F7BCBD8B-2200-4896-B0DC-79C3599FEB29}" srcOrd="0" destOrd="0" presId="urn:microsoft.com/office/officeart/2005/8/layout/cycle5"/>
    <dgm:cxn modelId="{FFD0962B-932F-4C39-A323-7FCFB18DEFBA}" srcId="{205E791E-3833-40C1-93B7-B7415E88C8AE}" destId="{E381877D-9800-4B9D-B97B-32B4F8E93F48}" srcOrd="2" destOrd="0" parTransId="{E7226059-437D-4224-B009-DE1CD9836D28}" sibTransId="{0B6B1D57-43FF-4650-A26E-DC0AF9C35016}"/>
    <dgm:cxn modelId="{3085BE3D-C519-43B3-85E1-2BECD225B027}" type="presOf" srcId="{205E791E-3833-40C1-93B7-B7415E88C8AE}" destId="{8086F546-D4C9-4A26-9571-E1898528BB2D}" srcOrd="0" destOrd="0" presId="urn:microsoft.com/office/officeart/2005/8/layout/cycle5"/>
    <dgm:cxn modelId="{AA75C961-2672-417E-88A4-3F4C8DC457D9}" type="presOf" srcId="{0B6B1D57-43FF-4650-A26E-DC0AF9C35016}" destId="{00705746-B283-4C4A-9AB5-EB9B30A45D0A}" srcOrd="0" destOrd="0" presId="urn:microsoft.com/office/officeart/2005/8/layout/cycle5"/>
    <dgm:cxn modelId="{8268F86F-0137-460D-8ABD-ABF7A8B607C0}" type="presOf" srcId="{3DA64043-69D2-41E9-A079-2E94D9CBA6EC}" destId="{46F7E1A0-B1D4-4E6C-A857-E120DE17A7C0}" srcOrd="0" destOrd="0" presId="urn:microsoft.com/office/officeart/2005/8/layout/cycle5"/>
    <dgm:cxn modelId="{544A0F99-7AA4-4F62-8814-23DF1D9CDB99}" type="presOf" srcId="{AC464487-3743-4B2F-BE8E-DFA47164257D}" destId="{4D3F5CCD-3F27-49B5-96C7-1D35A98E7D62}" srcOrd="0" destOrd="0" presId="urn:microsoft.com/office/officeart/2005/8/layout/cycle5"/>
    <dgm:cxn modelId="{A08BD9BA-B212-45A4-900E-C1EDE39E11D7}" type="presOf" srcId="{772682F3-7824-4CB7-AA12-587FC2B72659}" destId="{D899F50C-E838-4ADB-9644-13133D92A983}" srcOrd="0" destOrd="0" presId="urn:microsoft.com/office/officeart/2005/8/layout/cycle5"/>
    <dgm:cxn modelId="{DAA82FBB-72B8-40F4-9AF4-001A94575A8B}" type="presOf" srcId="{B5A3EE55-AB37-4475-A222-E50A6BF219F7}" destId="{ACBC7523-F504-4847-8453-7ADC07674244}" srcOrd="0" destOrd="0" presId="urn:microsoft.com/office/officeart/2005/8/layout/cycle5"/>
    <dgm:cxn modelId="{939E75D2-6799-4100-A52A-D52544FC152F}" type="presOf" srcId="{25F716ED-858E-4DD3-AEFC-375D08E1B3CE}" destId="{7C642AD5-7669-4088-8AF5-808237A54D6F}" srcOrd="0" destOrd="0" presId="urn:microsoft.com/office/officeart/2005/8/layout/cycle5"/>
    <dgm:cxn modelId="{25FE3DD3-2D27-4AD4-8F7B-EAD1C494A5D6}" srcId="{205E791E-3833-40C1-93B7-B7415E88C8AE}" destId="{441B5ABA-3E2E-4D99-BC83-A74AED096469}" srcOrd="0" destOrd="0" parTransId="{5AE643DE-4D9F-4863-8F6D-59AA7B115811}" sibTransId="{3DA64043-69D2-41E9-A079-2E94D9CBA6EC}"/>
    <dgm:cxn modelId="{6EAC57E5-7894-4A8C-933E-D362D9FD284C}" srcId="{205E791E-3833-40C1-93B7-B7415E88C8AE}" destId="{25F716ED-858E-4DD3-AEFC-375D08E1B3CE}" srcOrd="1" destOrd="0" parTransId="{E9EE1D7D-48EA-45F0-824A-372CF3A169C1}" sibTransId="{772682F3-7824-4CB7-AA12-587FC2B72659}"/>
    <dgm:cxn modelId="{89BBB0EF-AD13-4B5A-88DE-5C5A556C32D7}" type="presOf" srcId="{441B5ABA-3E2E-4D99-BC83-A74AED096469}" destId="{5280E1BA-2BE6-4224-8F17-140373976955}" srcOrd="0" destOrd="0" presId="urn:microsoft.com/office/officeart/2005/8/layout/cycle5"/>
    <dgm:cxn modelId="{8E251CFC-3F96-4B1B-9280-03773787F232}" srcId="{205E791E-3833-40C1-93B7-B7415E88C8AE}" destId="{AC464487-3743-4B2F-BE8E-DFA47164257D}" srcOrd="3" destOrd="0" parTransId="{BEB9316F-2AD8-4908-A7D5-6294B55BA514}" sibTransId="{B5A3EE55-AB37-4475-A222-E50A6BF219F7}"/>
    <dgm:cxn modelId="{D86A6087-7850-43A2-B01B-BC220258317B}" type="presParOf" srcId="{8086F546-D4C9-4A26-9571-E1898528BB2D}" destId="{5280E1BA-2BE6-4224-8F17-140373976955}" srcOrd="0" destOrd="0" presId="urn:microsoft.com/office/officeart/2005/8/layout/cycle5"/>
    <dgm:cxn modelId="{8798FC39-2747-475E-83B3-1C0E741EE3C5}" type="presParOf" srcId="{8086F546-D4C9-4A26-9571-E1898528BB2D}" destId="{0094D28A-909A-4D5B-A34C-3BA751B700C8}" srcOrd="1" destOrd="0" presId="urn:microsoft.com/office/officeart/2005/8/layout/cycle5"/>
    <dgm:cxn modelId="{FE2355DA-AACE-4933-8C0E-C6FEEB2FB866}" type="presParOf" srcId="{8086F546-D4C9-4A26-9571-E1898528BB2D}" destId="{46F7E1A0-B1D4-4E6C-A857-E120DE17A7C0}" srcOrd="2" destOrd="0" presId="urn:microsoft.com/office/officeart/2005/8/layout/cycle5"/>
    <dgm:cxn modelId="{3FDC669D-D8A1-4B29-A432-AC0B7E3F664A}" type="presParOf" srcId="{8086F546-D4C9-4A26-9571-E1898528BB2D}" destId="{7C642AD5-7669-4088-8AF5-808237A54D6F}" srcOrd="3" destOrd="0" presId="urn:microsoft.com/office/officeart/2005/8/layout/cycle5"/>
    <dgm:cxn modelId="{F891C1BC-7C22-4F7D-B9AD-D56B6D2C2C2F}" type="presParOf" srcId="{8086F546-D4C9-4A26-9571-E1898528BB2D}" destId="{1E18E204-3967-4E93-AAE0-5ADED648225E}" srcOrd="4" destOrd="0" presId="urn:microsoft.com/office/officeart/2005/8/layout/cycle5"/>
    <dgm:cxn modelId="{F0D2869E-7578-45C9-9639-4C6534C49AFF}" type="presParOf" srcId="{8086F546-D4C9-4A26-9571-E1898528BB2D}" destId="{D899F50C-E838-4ADB-9644-13133D92A983}" srcOrd="5" destOrd="0" presId="urn:microsoft.com/office/officeart/2005/8/layout/cycle5"/>
    <dgm:cxn modelId="{AFC3CB04-5378-40CC-BE52-88181E19E94A}" type="presParOf" srcId="{8086F546-D4C9-4A26-9571-E1898528BB2D}" destId="{F7BCBD8B-2200-4896-B0DC-79C3599FEB29}" srcOrd="6" destOrd="0" presId="urn:microsoft.com/office/officeart/2005/8/layout/cycle5"/>
    <dgm:cxn modelId="{A290161E-B28D-4F08-A757-414CFF28D8C7}" type="presParOf" srcId="{8086F546-D4C9-4A26-9571-E1898528BB2D}" destId="{2CB567BD-D3E4-4FC4-804A-A961ECF64A4E}" srcOrd="7" destOrd="0" presId="urn:microsoft.com/office/officeart/2005/8/layout/cycle5"/>
    <dgm:cxn modelId="{F1D166A4-70BA-4F4E-A5EA-3676D3A91656}" type="presParOf" srcId="{8086F546-D4C9-4A26-9571-E1898528BB2D}" destId="{00705746-B283-4C4A-9AB5-EB9B30A45D0A}" srcOrd="8" destOrd="0" presId="urn:microsoft.com/office/officeart/2005/8/layout/cycle5"/>
    <dgm:cxn modelId="{90ACFB27-8F29-49B3-8F74-765377166AF9}" type="presParOf" srcId="{8086F546-D4C9-4A26-9571-E1898528BB2D}" destId="{4D3F5CCD-3F27-49B5-96C7-1D35A98E7D62}" srcOrd="9" destOrd="0" presId="urn:microsoft.com/office/officeart/2005/8/layout/cycle5"/>
    <dgm:cxn modelId="{87A5EB16-2E55-48A1-8EFD-09F7FA224390}" type="presParOf" srcId="{8086F546-D4C9-4A26-9571-E1898528BB2D}" destId="{041EE50F-5EC6-423D-AD95-3002A9D96F9C}" srcOrd="10" destOrd="0" presId="urn:microsoft.com/office/officeart/2005/8/layout/cycle5"/>
    <dgm:cxn modelId="{85D46902-5793-4134-BB19-8BE90A25FA44}" type="presParOf" srcId="{8086F546-D4C9-4A26-9571-E1898528BB2D}" destId="{ACBC7523-F504-4847-8453-7ADC07674244}" srcOrd="11" destOrd="0" presId="urn:microsoft.com/office/officeart/2005/8/layout/cycle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80E1BA-2BE6-4224-8F17-140373976955}">
      <dsp:nvSpPr>
        <dsp:cNvPr id="0" name=""/>
        <dsp:cNvSpPr/>
      </dsp:nvSpPr>
      <dsp:spPr>
        <a:xfrm>
          <a:off x="1144447" y="22217"/>
          <a:ext cx="1064221" cy="691744"/>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IN" sz="1050" b="1" kern="1200" dirty="0"/>
            <a:t>Define the Problem</a:t>
          </a:r>
        </a:p>
      </dsp:txBody>
      <dsp:txXfrm>
        <a:off x="1178215" y="55985"/>
        <a:ext cx="996685" cy="624208"/>
      </dsp:txXfrm>
    </dsp:sp>
    <dsp:sp modelId="{46F7E1A0-B1D4-4E6C-A857-E120DE17A7C0}">
      <dsp:nvSpPr>
        <dsp:cNvPr id="0" name=""/>
        <dsp:cNvSpPr/>
      </dsp:nvSpPr>
      <dsp:spPr>
        <a:xfrm>
          <a:off x="532821" y="368089"/>
          <a:ext cx="2287473" cy="2287473"/>
        </a:xfrm>
        <a:custGeom>
          <a:avLst/>
          <a:gdLst/>
          <a:ahLst/>
          <a:cxnLst/>
          <a:rect l="0" t="0" r="0" b="0"/>
          <a:pathLst>
            <a:path>
              <a:moveTo>
                <a:pt x="1823022" y="223571"/>
              </a:moveTo>
              <a:arcTo wR="1143736" hR="1143736" stAng="18386132" swAng="1635149"/>
            </a:path>
          </a:pathLst>
        </a:custGeom>
        <a:noFill/>
        <a:ln w="38100" cap="flat" cmpd="sng" algn="ctr">
          <a:solidFill>
            <a:schemeClr val="accent1">
              <a:lumMod val="75000"/>
            </a:schemeClr>
          </a:solidFill>
          <a:prstDash val="solid"/>
          <a:tailEnd type="arrow"/>
        </a:ln>
        <a:effectLst/>
      </dsp:spPr>
      <dsp:style>
        <a:lnRef idx="1">
          <a:scrgbClr r="0" g="0" b="0"/>
        </a:lnRef>
        <a:fillRef idx="0">
          <a:scrgbClr r="0" g="0" b="0"/>
        </a:fillRef>
        <a:effectRef idx="0">
          <a:scrgbClr r="0" g="0" b="0"/>
        </a:effectRef>
        <a:fontRef idx="minor"/>
      </dsp:style>
    </dsp:sp>
    <dsp:sp modelId="{7C642AD5-7669-4088-8AF5-808237A54D6F}">
      <dsp:nvSpPr>
        <dsp:cNvPr id="0" name=""/>
        <dsp:cNvSpPr/>
      </dsp:nvSpPr>
      <dsp:spPr>
        <a:xfrm>
          <a:off x="2288184" y="1165954"/>
          <a:ext cx="1064221" cy="691744"/>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IN" sz="1050" b="1" kern="1200" dirty="0"/>
            <a:t>Generate new Idea</a:t>
          </a:r>
        </a:p>
      </dsp:txBody>
      <dsp:txXfrm>
        <a:off x="2321952" y="1199722"/>
        <a:ext cx="996685" cy="624208"/>
      </dsp:txXfrm>
    </dsp:sp>
    <dsp:sp modelId="{D899F50C-E838-4ADB-9644-13133D92A983}">
      <dsp:nvSpPr>
        <dsp:cNvPr id="0" name=""/>
        <dsp:cNvSpPr/>
      </dsp:nvSpPr>
      <dsp:spPr>
        <a:xfrm>
          <a:off x="532821" y="368089"/>
          <a:ext cx="2287473" cy="2287473"/>
        </a:xfrm>
        <a:custGeom>
          <a:avLst/>
          <a:gdLst/>
          <a:ahLst/>
          <a:cxnLst/>
          <a:rect l="0" t="0" r="0" b="0"/>
          <a:pathLst>
            <a:path>
              <a:moveTo>
                <a:pt x="2168975" y="1650708"/>
              </a:moveTo>
              <a:arcTo wR="1143736" hR="1143736" stAng="1578719" swAng="1635149"/>
            </a:path>
          </a:pathLst>
        </a:custGeom>
        <a:noFill/>
        <a:ln w="38100" cap="flat" cmpd="sng" algn="ctr">
          <a:solidFill>
            <a:schemeClr val="accent1">
              <a:lumMod val="75000"/>
            </a:schemeClr>
          </a:solidFill>
          <a:prstDash val="solid"/>
          <a:tailEnd type="arrow"/>
        </a:ln>
        <a:effectLst/>
      </dsp:spPr>
      <dsp:style>
        <a:lnRef idx="1">
          <a:scrgbClr r="0" g="0" b="0"/>
        </a:lnRef>
        <a:fillRef idx="0">
          <a:scrgbClr r="0" g="0" b="0"/>
        </a:fillRef>
        <a:effectRef idx="0">
          <a:scrgbClr r="0" g="0" b="0"/>
        </a:effectRef>
        <a:fontRef idx="minor"/>
      </dsp:style>
    </dsp:sp>
    <dsp:sp modelId="{F7BCBD8B-2200-4896-B0DC-79C3599FEB29}">
      <dsp:nvSpPr>
        <dsp:cNvPr id="0" name=""/>
        <dsp:cNvSpPr/>
      </dsp:nvSpPr>
      <dsp:spPr>
        <a:xfrm>
          <a:off x="1144447" y="2309691"/>
          <a:ext cx="1064221" cy="691744"/>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IN" sz="1050" b="1" kern="1200" dirty="0"/>
            <a:t>Evaluate &amp; Select Solutions</a:t>
          </a:r>
        </a:p>
      </dsp:txBody>
      <dsp:txXfrm>
        <a:off x="1178215" y="2343459"/>
        <a:ext cx="996685" cy="624208"/>
      </dsp:txXfrm>
    </dsp:sp>
    <dsp:sp modelId="{00705746-B283-4C4A-9AB5-EB9B30A45D0A}">
      <dsp:nvSpPr>
        <dsp:cNvPr id="0" name=""/>
        <dsp:cNvSpPr/>
      </dsp:nvSpPr>
      <dsp:spPr>
        <a:xfrm>
          <a:off x="532821" y="368089"/>
          <a:ext cx="2287473" cy="2287473"/>
        </a:xfrm>
        <a:custGeom>
          <a:avLst/>
          <a:gdLst/>
          <a:ahLst/>
          <a:cxnLst/>
          <a:rect l="0" t="0" r="0" b="0"/>
          <a:pathLst>
            <a:path>
              <a:moveTo>
                <a:pt x="464450" y="2063902"/>
              </a:moveTo>
              <a:arcTo wR="1143736" hR="1143736" stAng="7586132" swAng="1635149"/>
            </a:path>
          </a:pathLst>
        </a:custGeom>
        <a:noFill/>
        <a:ln w="38100" cap="flat" cmpd="sng" algn="ctr">
          <a:solidFill>
            <a:schemeClr val="accent1">
              <a:lumMod val="75000"/>
            </a:schemeClr>
          </a:solidFill>
          <a:prstDash val="solid"/>
          <a:tailEnd type="arrow"/>
        </a:ln>
        <a:effectLst/>
      </dsp:spPr>
      <dsp:style>
        <a:lnRef idx="1">
          <a:scrgbClr r="0" g="0" b="0"/>
        </a:lnRef>
        <a:fillRef idx="0">
          <a:scrgbClr r="0" g="0" b="0"/>
        </a:fillRef>
        <a:effectRef idx="0">
          <a:scrgbClr r="0" g="0" b="0"/>
        </a:effectRef>
        <a:fontRef idx="minor"/>
      </dsp:style>
    </dsp:sp>
    <dsp:sp modelId="{4D3F5CCD-3F27-49B5-96C7-1D35A98E7D62}">
      <dsp:nvSpPr>
        <dsp:cNvPr id="0" name=""/>
        <dsp:cNvSpPr/>
      </dsp:nvSpPr>
      <dsp:spPr>
        <a:xfrm>
          <a:off x="710" y="1165954"/>
          <a:ext cx="1064221" cy="691744"/>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IN" sz="1050" b="1" kern="1200" dirty="0"/>
            <a:t>Implement &amp; Evaluate</a:t>
          </a:r>
        </a:p>
      </dsp:txBody>
      <dsp:txXfrm>
        <a:off x="34478" y="1199722"/>
        <a:ext cx="996685" cy="624208"/>
      </dsp:txXfrm>
    </dsp:sp>
    <dsp:sp modelId="{ACBC7523-F504-4847-8453-7ADC07674244}">
      <dsp:nvSpPr>
        <dsp:cNvPr id="0" name=""/>
        <dsp:cNvSpPr/>
      </dsp:nvSpPr>
      <dsp:spPr>
        <a:xfrm>
          <a:off x="532821" y="368089"/>
          <a:ext cx="2287473" cy="2287473"/>
        </a:xfrm>
        <a:custGeom>
          <a:avLst/>
          <a:gdLst/>
          <a:ahLst/>
          <a:cxnLst/>
          <a:rect l="0" t="0" r="0" b="0"/>
          <a:pathLst>
            <a:path>
              <a:moveTo>
                <a:pt x="118498" y="636765"/>
              </a:moveTo>
              <a:arcTo wR="1143736" hR="1143736" stAng="12378719" swAng="1635149"/>
            </a:path>
          </a:pathLst>
        </a:custGeom>
        <a:noFill/>
        <a:ln w="38100" cap="flat" cmpd="sng" algn="ctr">
          <a:solidFill>
            <a:schemeClr val="accent1">
              <a:lumMod val="7500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72F556-D7AA-494A-A6B2-BC3DFC29F8B0}" type="datetimeFigureOut">
              <a:rPr lang="en-IN" smtClean="0"/>
              <a:t>15-01-2026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B66460-F988-4461-AD60-4243286F677A}" type="slidenum">
              <a:rPr lang="en-IN" smtClean="0"/>
              <a:t>‹#›</a:t>
            </a:fld>
            <a:endParaRPr lang="en-IN"/>
          </a:p>
        </p:txBody>
      </p:sp>
    </p:spTree>
    <p:extLst>
      <p:ext uri="{BB962C8B-B14F-4D97-AF65-F5344CB8AC3E}">
        <p14:creationId xmlns:p14="http://schemas.microsoft.com/office/powerpoint/2010/main" val="993279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fld id="{CAB66460-F988-4461-AD60-4243286F677A}" type="slidenum">
              <a:rPr lang="en-IN" smtClean="0"/>
              <a:t>2</a:t>
            </a:fld>
            <a:endParaRPr lang="en-IN"/>
          </a:p>
        </p:txBody>
      </p:sp>
    </p:spTree>
    <p:extLst>
      <p:ext uri="{BB962C8B-B14F-4D97-AF65-F5344CB8AC3E}">
        <p14:creationId xmlns:p14="http://schemas.microsoft.com/office/powerpoint/2010/main" val="4104501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Computers can be used to help us solve problems. However, before a problem can be tackled, the problem and the ways in which it could be solved needs to be understood. Computational thinking allows us to do this. It allows us to take a complex problem, understand what the problem is and develop possible solutions. </a:t>
            </a:r>
            <a:endParaRPr lang="en-IN" dirty="0"/>
          </a:p>
        </p:txBody>
      </p:sp>
      <p:sp>
        <p:nvSpPr>
          <p:cNvPr id="4" name="Slide Number Placeholder 3"/>
          <p:cNvSpPr>
            <a:spLocks noGrp="1"/>
          </p:cNvSpPr>
          <p:nvPr>
            <p:ph type="sldNum" sz="quarter" idx="5"/>
          </p:nvPr>
        </p:nvSpPr>
        <p:spPr/>
        <p:txBody>
          <a:bodyPr/>
          <a:lstStyle/>
          <a:p>
            <a:fld id="{CAB66460-F988-4461-AD60-4243286F677A}" type="slidenum">
              <a:rPr lang="en-IN" smtClean="0"/>
              <a:t>4</a:t>
            </a:fld>
            <a:endParaRPr lang="en-IN"/>
          </a:p>
        </p:txBody>
      </p:sp>
    </p:spTree>
    <p:extLst>
      <p:ext uri="{BB962C8B-B14F-4D97-AF65-F5344CB8AC3E}">
        <p14:creationId xmlns:p14="http://schemas.microsoft.com/office/powerpoint/2010/main" val="34409113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Computers can be used to help us solve problems. However, before a problem can be tackled, the problem and the ways in which it could be solved needs to be understood. Computational thinking allows us to do this. It allows us to take a complex problem, understand what the problem is and develop possible solutions. </a:t>
            </a:r>
            <a:endParaRPr lang="en-IN" dirty="0"/>
          </a:p>
        </p:txBody>
      </p:sp>
      <p:sp>
        <p:nvSpPr>
          <p:cNvPr id="4" name="Slide Number Placeholder 3"/>
          <p:cNvSpPr>
            <a:spLocks noGrp="1"/>
          </p:cNvSpPr>
          <p:nvPr>
            <p:ph type="sldNum" sz="quarter" idx="5"/>
          </p:nvPr>
        </p:nvSpPr>
        <p:spPr/>
        <p:txBody>
          <a:bodyPr/>
          <a:lstStyle/>
          <a:p>
            <a:fld id="{CAB66460-F988-4461-AD60-4243286F677A}" type="slidenum">
              <a:rPr lang="en-IN" smtClean="0"/>
              <a:t>5</a:t>
            </a:fld>
            <a:endParaRPr lang="en-IN"/>
          </a:p>
        </p:txBody>
      </p:sp>
    </p:spTree>
    <p:extLst>
      <p:ext uri="{BB962C8B-B14F-4D97-AF65-F5344CB8AC3E}">
        <p14:creationId xmlns:p14="http://schemas.microsoft.com/office/powerpoint/2010/main" val="9426805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able to turn a complex problem into one we can easily understand is a skill that is extremely useful. In fact, it’s a skill you already have and probably use every day</a:t>
            </a:r>
            <a:endParaRPr lang="en-IN" dirty="0"/>
          </a:p>
        </p:txBody>
      </p:sp>
      <p:sp>
        <p:nvSpPr>
          <p:cNvPr id="4" name="Slide Number Placeholder 3"/>
          <p:cNvSpPr>
            <a:spLocks noGrp="1"/>
          </p:cNvSpPr>
          <p:nvPr>
            <p:ph type="sldNum" sz="quarter" idx="5"/>
          </p:nvPr>
        </p:nvSpPr>
        <p:spPr/>
        <p:txBody>
          <a:bodyPr/>
          <a:lstStyle/>
          <a:p>
            <a:fld id="{CAB66460-F988-4461-AD60-4243286F677A}" type="slidenum">
              <a:rPr lang="en-IN" smtClean="0"/>
              <a:t>7</a:t>
            </a:fld>
            <a:endParaRPr lang="en-IN"/>
          </a:p>
        </p:txBody>
      </p:sp>
    </p:spTree>
    <p:extLst>
      <p:ext uri="{BB962C8B-B14F-4D97-AF65-F5344CB8AC3E}">
        <p14:creationId xmlns:p14="http://schemas.microsoft.com/office/powerpoint/2010/main" val="3127496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able to turn a complex problem into one we can easily understand is a skill that is extremely useful. In fact, it’s a skill you already have and probably use every day</a:t>
            </a:r>
            <a:endParaRPr lang="en-IN" dirty="0"/>
          </a:p>
        </p:txBody>
      </p:sp>
      <p:sp>
        <p:nvSpPr>
          <p:cNvPr id="4" name="Slide Number Placeholder 3"/>
          <p:cNvSpPr>
            <a:spLocks noGrp="1"/>
          </p:cNvSpPr>
          <p:nvPr>
            <p:ph type="sldNum" sz="quarter" idx="5"/>
          </p:nvPr>
        </p:nvSpPr>
        <p:spPr/>
        <p:txBody>
          <a:bodyPr/>
          <a:lstStyle/>
          <a:p>
            <a:fld id="{CAB66460-F988-4461-AD60-4243286F677A}" type="slidenum">
              <a:rPr lang="en-IN" smtClean="0"/>
              <a:t>8</a:t>
            </a:fld>
            <a:endParaRPr lang="en-IN"/>
          </a:p>
        </p:txBody>
      </p:sp>
    </p:spTree>
    <p:extLst>
      <p:ext uri="{BB962C8B-B14F-4D97-AF65-F5344CB8AC3E}">
        <p14:creationId xmlns:p14="http://schemas.microsoft.com/office/powerpoint/2010/main" val="11540785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AB66460-F988-4461-AD60-4243286F677A}" type="slidenum">
              <a:rPr lang="en-IN" smtClean="0"/>
              <a:t>19</a:t>
            </a:fld>
            <a:endParaRPr lang="en-IN"/>
          </a:p>
        </p:txBody>
      </p:sp>
    </p:spTree>
    <p:extLst>
      <p:ext uri="{BB962C8B-B14F-4D97-AF65-F5344CB8AC3E}">
        <p14:creationId xmlns:p14="http://schemas.microsoft.com/office/powerpoint/2010/main" val="12951874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381000" y="685800"/>
            <a:ext cx="6096000" cy="3429000"/>
          </a:xfrm>
          <a:ln/>
        </p:spPr>
      </p:sp>
      <p:sp>
        <p:nvSpPr>
          <p:cNvPr id="64515" name="Rectangle 3"/>
          <p:cNvSpPr>
            <a:spLocks noGrp="1" noChangeArrowheads="1"/>
          </p:cNvSpPr>
          <p:nvPr>
            <p:ph type="body" idx="1"/>
          </p:nvPr>
        </p:nvSpPr>
        <p:spPr/>
        <p:txBody>
          <a:bodyPr/>
          <a:lstStyle/>
          <a:p>
            <a:endParaRPr lang="en-US" dirty="0">
              <a:latin typeface="Times New Roman" pitchFamily="18" charset="0"/>
            </a:endParaRPr>
          </a:p>
        </p:txBody>
      </p:sp>
    </p:spTree>
    <p:extLst>
      <p:ext uri="{BB962C8B-B14F-4D97-AF65-F5344CB8AC3E}">
        <p14:creationId xmlns:p14="http://schemas.microsoft.com/office/powerpoint/2010/main" val="30223069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9580079-03B4-44C8-9719-58C103F547C3}" type="datetimeFigureOut">
              <a:rPr lang="en-IN" smtClean="0"/>
              <a:t>15-01-2026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F3CE99-0E75-48DA-86E5-B73F9D9F5125}" type="slidenum">
              <a:rPr lang="en-IN" smtClean="0"/>
              <a:t>‹#›</a:t>
            </a:fld>
            <a:endParaRPr lang="en-IN"/>
          </a:p>
        </p:txBody>
      </p:sp>
    </p:spTree>
    <p:extLst>
      <p:ext uri="{BB962C8B-B14F-4D97-AF65-F5344CB8AC3E}">
        <p14:creationId xmlns:p14="http://schemas.microsoft.com/office/powerpoint/2010/main" val="167335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580079-03B4-44C8-9719-58C103F547C3}" type="datetimeFigureOut">
              <a:rPr lang="en-IN" smtClean="0"/>
              <a:t>15-01-2026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F3CE99-0E75-48DA-86E5-B73F9D9F5125}" type="slidenum">
              <a:rPr lang="en-IN" smtClean="0"/>
              <a:t>‹#›</a:t>
            </a:fld>
            <a:endParaRPr lang="en-IN"/>
          </a:p>
        </p:txBody>
      </p:sp>
    </p:spTree>
    <p:extLst>
      <p:ext uri="{BB962C8B-B14F-4D97-AF65-F5344CB8AC3E}">
        <p14:creationId xmlns:p14="http://schemas.microsoft.com/office/powerpoint/2010/main" val="1964165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580079-03B4-44C8-9719-58C103F547C3}" type="datetimeFigureOut">
              <a:rPr lang="en-IN" smtClean="0"/>
              <a:t>15-01-2026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F3CE99-0E75-48DA-86E5-B73F9D9F5125}" type="slidenum">
              <a:rPr lang="en-IN" smtClean="0"/>
              <a:t>‹#›</a:t>
            </a:fld>
            <a:endParaRPr lang="en-IN"/>
          </a:p>
        </p:txBody>
      </p:sp>
    </p:spTree>
    <p:extLst>
      <p:ext uri="{BB962C8B-B14F-4D97-AF65-F5344CB8AC3E}">
        <p14:creationId xmlns:p14="http://schemas.microsoft.com/office/powerpoint/2010/main" val="1260987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580079-03B4-44C8-9719-58C103F547C3}" type="datetimeFigureOut">
              <a:rPr lang="en-IN" smtClean="0"/>
              <a:t>15-01-2026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F3CE99-0E75-48DA-86E5-B73F9D9F5125}" type="slidenum">
              <a:rPr lang="en-IN" smtClean="0"/>
              <a:t>‹#›</a:t>
            </a:fld>
            <a:endParaRPr lang="en-IN"/>
          </a:p>
        </p:txBody>
      </p:sp>
    </p:spTree>
    <p:extLst>
      <p:ext uri="{BB962C8B-B14F-4D97-AF65-F5344CB8AC3E}">
        <p14:creationId xmlns:p14="http://schemas.microsoft.com/office/powerpoint/2010/main" val="554519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580079-03B4-44C8-9719-58C103F547C3}" type="datetimeFigureOut">
              <a:rPr lang="en-IN" smtClean="0"/>
              <a:t>15-01-2026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FF3CE99-0E75-48DA-86E5-B73F9D9F5125}" type="slidenum">
              <a:rPr lang="en-IN" smtClean="0"/>
              <a:t>‹#›</a:t>
            </a:fld>
            <a:endParaRPr lang="en-IN"/>
          </a:p>
        </p:txBody>
      </p:sp>
    </p:spTree>
    <p:extLst>
      <p:ext uri="{BB962C8B-B14F-4D97-AF65-F5344CB8AC3E}">
        <p14:creationId xmlns:p14="http://schemas.microsoft.com/office/powerpoint/2010/main" val="2636774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580079-03B4-44C8-9719-58C103F547C3}" type="datetimeFigureOut">
              <a:rPr lang="en-IN" smtClean="0"/>
              <a:t>15-01-2026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F3CE99-0E75-48DA-86E5-B73F9D9F5125}" type="slidenum">
              <a:rPr lang="en-IN" smtClean="0"/>
              <a:t>‹#›</a:t>
            </a:fld>
            <a:endParaRPr lang="en-IN"/>
          </a:p>
        </p:txBody>
      </p:sp>
    </p:spTree>
    <p:extLst>
      <p:ext uri="{BB962C8B-B14F-4D97-AF65-F5344CB8AC3E}">
        <p14:creationId xmlns:p14="http://schemas.microsoft.com/office/powerpoint/2010/main" val="1413955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C9580079-03B4-44C8-9719-58C103F547C3}" type="datetimeFigureOut">
              <a:rPr lang="en-IN" smtClean="0"/>
              <a:t>15-01-2026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FF3CE99-0E75-48DA-86E5-B73F9D9F5125}" type="slidenum">
              <a:rPr lang="en-IN" smtClean="0"/>
              <a:t>‹#›</a:t>
            </a:fld>
            <a:endParaRPr lang="en-IN"/>
          </a:p>
        </p:txBody>
      </p:sp>
    </p:spTree>
    <p:extLst>
      <p:ext uri="{BB962C8B-B14F-4D97-AF65-F5344CB8AC3E}">
        <p14:creationId xmlns:p14="http://schemas.microsoft.com/office/powerpoint/2010/main" val="3520751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580079-03B4-44C8-9719-58C103F547C3}" type="datetimeFigureOut">
              <a:rPr lang="en-IN" smtClean="0"/>
              <a:t>15-01-2026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F3CE99-0E75-48DA-86E5-B73F9D9F5125}" type="slidenum">
              <a:rPr lang="en-IN" smtClean="0"/>
              <a:t>‹#›</a:t>
            </a:fld>
            <a:endParaRPr lang="en-IN"/>
          </a:p>
        </p:txBody>
      </p:sp>
    </p:spTree>
    <p:extLst>
      <p:ext uri="{BB962C8B-B14F-4D97-AF65-F5344CB8AC3E}">
        <p14:creationId xmlns:p14="http://schemas.microsoft.com/office/powerpoint/2010/main" val="2748167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580079-03B4-44C8-9719-58C103F547C3}" type="datetimeFigureOut">
              <a:rPr lang="en-IN" smtClean="0"/>
              <a:t>15-01-2026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F3CE99-0E75-48DA-86E5-B73F9D9F5125}" type="slidenum">
              <a:rPr lang="en-IN" smtClean="0"/>
              <a:t>‹#›</a:t>
            </a:fld>
            <a:endParaRPr lang="en-IN"/>
          </a:p>
        </p:txBody>
      </p:sp>
    </p:spTree>
    <p:extLst>
      <p:ext uri="{BB962C8B-B14F-4D97-AF65-F5344CB8AC3E}">
        <p14:creationId xmlns:p14="http://schemas.microsoft.com/office/powerpoint/2010/main" val="3590581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580079-03B4-44C8-9719-58C103F547C3}" type="datetimeFigureOut">
              <a:rPr lang="en-IN" smtClean="0"/>
              <a:t>15-01-2026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F3CE99-0E75-48DA-86E5-B73F9D9F5125}" type="slidenum">
              <a:rPr lang="en-IN" smtClean="0"/>
              <a:t>‹#›</a:t>
            </a:fld>
            <a:endParaRPr lang="en-IN"/>
          </a:p>
        </p:txBody>
      </p:sp>
    </p:spTree>
    <p:extLst>
      <p:ext uri="{BB962C8B-B14F-4D97-AF65-F5344CB8AC3E}">
        <p14:creationId xmlns:p14="http://schemas.microsoft.com/office/powerpoint/2010/main" val="3372970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580079-03B4-44C8-9719-58C103F547C3}" type="datetimeFigureOut">
              <a:rPr lang="en-IN" smtClean="0"/>
              <a:t>15-01-2026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F3CE99-0E75-48DA-86E5-B73F9D9F5125}" type="slidenum">
              <a:rPr lang="en-IN" smtClean="0"/>
              <a:t>‹#›</a:t>
            </a:fld>
            <a:endParaRPr lang="en-IN"/>
          </a:p>
        </p:txBody>
      </p:sp>
    </p:spTree>
    <p:extLst>
      <p:ext uri="{BB962C8B-B14F-4D97-AF65-F5344CB8AC3E}">
        <p14:creationId xmlns:p14="http://schemas.microsoft.com/office/powerpoint/2010/main" val="6318003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580079-03B4-44C8-9719-58C103F547C3}" type="datetimeFigureOut">
              <a:rPr lang="en-IN" smtClean="0"/>
              <a:t>15-01-2026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F3CE99-0E75-48DA-86E5-B73F9D9F5125}"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5935857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580079-03B4-44C8-9719-58C103F547C3}" type="datetimeFigureOut">
              <a:rPr lang="en-IN" smtClean="0"/>
              <a:t>15-01-2026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F3CE99-0E75-48DA-86E5-B73F9D9F5125}" type="slidenum">
              <a:rPr lang="en-IN" smtClean="0"/>
              <a:t>‹#›</a:t>
            </a:fld>
            <a:endParaRPr lang="en-IN"/>
          </a:p>
        </p:txBody>
      </p:sp>
    </p:spTree>
    <p:extLst>
      <p:ext uri="{BB962C8B-B14F-4D97-AF65-F5344CB8AC3E}">
        <p14:creationId xmlns:p14="http://schemas.microsoft.com/office/powerpoint/2010/main" val="24866224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9580079-03B4-44C8-9719-58C103F547C3}" type="datetimeFigureOut">
              <a:rPr lang="en-IN" smtClean="0"/>
              <a:t>15-01-2026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F3CE99-0E75-48DA-86E5-B73F9D9F5125}" type="slidenum">
              <a:rPr lang="en-IN" smtClean="0"/>
              <a:t>‹#›</a:t>
            </a:fld>
            <a:endParaRPr lang="en-IN"/>
          </a:p>
        </p:txBody>
      </p:sp>
    </p:spTree>
    <p:extLst>
      <p:ext uri="{BB962C8B-B14F-4D97-AF65-F5344CB8AC3E}">
        <p14:creationId xmlns:p14="http://schemas.microsoft.com/office/powerpoint/2010/main" val="4240300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9580079-03B4-44C8-9719-58C103F547C3}" type="datetimeFigureOut">
              <a:rPr lang="en-IN" smtClean="0"/>
              <a:t>15-01-2026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F3CE99-0E75-48DA-86E5-B73F9D9F5125}" type="slidenum">
              <a:rPr lang="en-IN" smtClean="0"/>
              <a:t>‹#›</a:t>
            </a:fld>
            <a:endParaRPr lang="en-IN"/>
          </a:p>
        </p:txBody>
      </p:sp>
    </p:spTree>
    <p:extLst>
      <p:ext uri="{BB962C8B-B14F-4D97-AF65-F5344CB8AC3E}">
        <p14:creationId xmlns:p14="http://schemas.microsoft.com/office/powerpoint/2010/main" val="186692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580079-03B4-44C8-9719-58C103F547C3}" type="datetimeFigureOut">
              <a:rPr lang="en-IN" smtClean="0"/>
              <a:t>15-01-2026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F3CE99-0E75-48DA-86E5-B73F9D9F5125}" type="slidenum">
              <a:rPr lang="en-IN" smtClean="0"/>
              <a:t>‹#›</a:t>
            </a:fld>
            <a:endParaRPr lang="en-IN"/>
          </a:p>
        </p:txBody>
      </p:sp>
    </p:spTree>
    <p:extLst>
      <p:ext uri="{BB962C8B-B14F-4D97-AF65-F5344CB8AC3E}">
        <p14:creationId xmlns:p14="http://schemas.microsoft.com/office/powerpoint/2010/main" val="23636609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580079-03B4-44C8-9719-58C103F547C3}" type="datetimeFigureOut">
              <a:rPr lang="en-IN" smtClean="0"/>
              <a:t>15-01-2026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F3CE99-0E75-48DA-86E5-B73F9D9F5125}" type="slidenum">
              <a:rPr lang="en-IN" smtClean="0"/>
              <a:t>‹#›</a:t>
            </a:fld>
            <a:endParaRPr lang="en-IN"/>
          </a:p>
        </p:txBody>
      </p:sp>
    </p:spTree>
    <p:extLst>
      <p:ext uri="{BB962C8B-B14F-4D97-AF65-F5344CB8AC3E}">
        <p14:creationId xmlns:p14="http://schemas.microsoft.com/office/powerpoint/2010/main" val="15304839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580079-03B4-44C8-9719-58C103F547C3}" type="datetimeFigureOut">
              <a:rPr lang="en-IN" smtClean="0"/>
              <a:t>15-01-2026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F3CE99-0E75-48DA-86E5-B73F9D9F5125}" type="slidenum">
              <a:rPr lang="en-IN" smtClean="0"/>
              <a:t>‹#›</a:t>
            </a:fld>
            <a:endParaRPr lang="en-IN"/>
          </a:p>
        </p:txBody>
      </p:sp>
    </p:spTree>
    <p:extLst>
      <p:ext uri="{BB962C8B-B14F-4D97-AF65-F5344CB8AC3E}">
        <p14:creationId xmlns:p14="http://schemas.microsoft.com/office/powerpoint/2010/main" val="1963872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C9580079-03B4-44C8-9719-58C103F547C3}" type="datetimeFigureOut">
              <a:rPr lang="en-IN" smtClean="0"/>
              <a:t>15-01-2026</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EFF3CE99-0E75-48DA-86E5-B73F9D9F5125}" type="slidenum">
              <a:rPr lang="en-IN" smtClean="0"/>
              <a:t>‹#›</a:t>
            </a:fld>
            <a:endParaRPr lang="en-IN"/>
          </a:p>
        </p:txBody>
      </p:sp>
    </p:spTree>
    <p:extLst>
      <p:ext uri="{BB962C8B-B14F-4D97-AF65-F5344CB8AC3E}">
        <p14:creationId xmlns:p14="http://schemas.microsoft.com/office/powerpoint/2010/main" val="3347578740"/>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 id="2147483724"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0.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62A46-5869-4F98-9997-F3B777210222}"/>
              </a:ext>
            </a:extLst>
          </p:cNvPr>
          <p:cNvSpPr>
            <a:spLocks noGrp="1"/>
          </p:cNvSpPr>
          <p:nvPr>
            <p:ph type="ctrTitle"/>
          </p:nvPr>
        </p:nvSpPr>
        <p:spPr>
          <a:xfrm>
            <a:off x="717365" y="3264965"/>
            <a:ext cx="10757269" cy="1193410"/>
          </a:xfrm>
        </p:spPr>
        <p:txBody>
          <a:bodyPr>
            <a:normAutofit/>
          </a:bodyPr>
          <a:lstStyle/>
          <a:p>
            <a:pPr algn="ctr"/>
            <a:r>
              <a:rPr lang="en-IN" sz="2400" dirty="0"/>
              <a:t>Topic:</a:t>
            </a:r>
            <a:br>
              <a:rPr lang="en-IN" dirty="0"/>
            </a:br>
            <a:r>
              <a:rPr lang="en-IN" sz="3600" b="1" dirty="0"/>
              <a:t>Introduction of Problem Solving</a:t>
            </a:r>
            <a:endParaRPr lang="en-IN" sz="2950" b="1" dirty="0"/>
          </a:p>
        </p:txBody>
      </p:sp>
      <p:sp>
        <p:nvSpPr>
          <p:cNvPr id="4" name="Title 1">
            <a:extLst>
              <a:ext uri="{FF2B5EF4-FFF2-40B4-BE49-F238E27FC236}">
                <a16:creationId xmlns:a16="http://schemas.microsoft.com/office/drawing/2014/main" id="{464C3169-E5CD-41DC-9297-CBF41876F9CC}"/>
              </a:ext>
            </a:extLst>
          </p:cNvPr>
          <p:cNvSpPr txBox="1">
            <a:spLocks/>
          </p:cNvSpPr>
          <p:nvPr/>
        </p:nvSpPr>
        <p:spPr>
          <a:xfrm>
            <a:off x="1888063" y="714424"/>
            <a:ext cx="8415874" cy="1097281"/>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IN" sz="3600" b="1" dirty="0"/>
              <a:t>Symbiosis Institute of Technology, Nagpur</a:t>
            </a:r>
            <a:endParaRPr lang="en-IN" sz="1800" b="1" dirty="0"/>
          </a:p>
        </p:txBody>
      </p:sp>
      <p:sp>
        <p:nvSpPr>
          <p:cNvPr id="6" name="Title 1">
            <a:extLst>
              <a:ext uri="{FF2B5EF4-FFF2-40B4-BE49-F238E27FC236}">
                <a16:creationId xmlns:a16="http://schemas.microsoft.com/office/drawing/2014/main" id="{358D44AF-C26E-42D9-81DB-6A1BADAC0B19}"/>
              </a:ext>
            </a:extLst>
          </p:cNvPr>
          <p:cNvSpPr txBox="1">
            <a:spLocks/>
          </p:cNvSpPr>
          <p:nvPr/>
        </p:nvSpPr>
        <p:spPr>
          <a:xfrm>
            <a:off x="1414842" y="2115419"/>
            <a:ext cx="9362316" cy="880912"/>
          </a:xfrm>
          <a:prstGeom prst="rect">
            <a:avLst/>
          </a:prstGeom>
        </p:spPr>
        <p:txBody>
          <a:bodyPr vert="horz" lIns="91440" tIns="45720" rIns="91440" bIns="45720" rtlCol="0" anchor="ctr" anchorCtr="0">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IN" sz="2800" b="1" dirty="0"/>
              <a:t>Department of Computer Science and Engineering</a:t>
            </a:r>
          </a:p>
        </p:txBody>
      </p:sp>
    </p:spTree>
    <p:extLst>
      <p:ext uri="{BB962C8B-B14F-4D97-AF65-F5344CB8AC3E}">
        <p14:creationId xmlns:p14="http://schemas.microsoft.com/office/powerpoint/2010/main" val="2534017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8586" y="468920"/>
            <a:ext cx="8596668" cy="660400"/>
          </a:xfrm>
        </p:spPr>
        <p:txBody>
          <a:bodyPr>
            <a:normAutofit/>
          </a:bodyPr>
          <a:lstStyle/>
          <a:p>
            <a:r>
              <a:rPr lang="en-US" dirty="0"/>
              <a:t>Problem Solving</a:t>
            </a:r>
          </a:p>
        </p:txBody>
      </p:sp>
      <p:sp>
        <p:nvSpPr>
          <p:cNvPr id="14" name="Date Placeholder 4">
            <a:extLst>
              <a:ext uri="{FF2B5EF4-FFF2-40B4-BE49-F238E27FC236}">
                <a16:creationId xmlns:a16="http://schemas.microsoft.com/office/drawing/2014/main" id="{5B58D44B-AA58-4668-B0D4-0E603879D65D}"/>
              </a:ext>
            </a:extLst>
          </p:cNvPr>
          <p:cNvSpPr>
            <a:spLocks noGrp="1"/>
          </p:cNvSpPr>
          <p:nvPr>
            <p:ph type="dt" sz="half" idx="10"/>
          </p:nvPr>
        </p:nvSpPr>
        <p:spPr>
          <a:xfrm>
            <a:off x="8595919" y="0"/>
            <a:ext cx="1195597" cy="365125"/>
          </a:xfrm>
        </p:spPr>
        <p:txBody>
          <a:bodyPr/>
          <a:lstStyle/>
          <a:p>
            <a:fld id="{929302B8-7BAD-4A13-95E5-EF0128F24EDF}" type="datetime1">
              <a:rPr lang="en-US" smtClean="0"/>
              <a:pPr/>
              <a:t>1/15/2026</a:t>
            </a:fld>
            <a:endParaRPr lang="en-US" dirty="0"/>
          </a:p>
        </p:txBody>
      </p:sp>
      <p:sp>
        <p:nvSpPr>
          <p:cNvPr id="15" name="Slide Number Placeholder 5">
            <a:extLst>
              <a:ext uri="{FF2B5EF4-FFF2-40B4-BE49-F238E27FC236}">
                <a16:creationId xmlns:a16="http://schemas.microsoft.com/office/drawing/2014/main" id="{31F109DC-5597-406C-8AA8-1868F874554A}"/>
              </a:ext>
            </a:extLst>
          </p:cNvPr>
          <p:cNvSpPr>
            <a:spLocks noGrp="1"/>
          </p:cNvSpPr>
          <p:nvPr>
            <p:ph type="sldNum" sz="quarter" idx="12"/>
          </p:nvPr>
        </p:nvSpPr>
        <p:spPr>
          <a:xfrm>
            <a:off x="5130049" y="0"/>
            <a:ext cx="683339" cy="365125"/>
          </a:xfrm>
        </p:spPr>
        <p:txBody>
          <a:bodyPr/>
          <a:lstStyle/>
          <a:p>
            <a:fld id="{E3E9EF9F-93D1-4F46-8D5F-ACEA15647A9D}" type="slidenum">
              <a:rPr lang="en-US" smtClean="0"/>
              <a:pPr/>
              <a:t>2</a:t>
            </a:fld>
            <a:endParaRPr lang="en-US" dirty="0"/>
          </a:p>
        </p:txBody>
      </p:sp>
      <p:sp>
        <p:nvSpPr>
          <p:cNvPr id="6" name="TextBox 5">
            <a:extLst>
              <a:ext uri="{FF2B5EF4-FFF2-40B4-BE49-F238E27FC236}">
                <a16:creationId xmlns:a16="http://schemas.microsoft.com/office/drawing/2014/main" id="{847CE252-8596-40C7-8CC9-34FC819345D2}"/>
              </a:ext>
            </a:extLst>
          </p:cNvPr>
          <p:cNvSpPr txBox="1"/>
          <p:nvPr/>
        </p:nvSpPr>
        <p:spPr>
          <a:xfrm>
            <a:off x="1568586" y="1356360"/>
            <a:ext cx="3193626" cy="400110"/>
          </a:xfrm>
          <a:prstGeom prst="rect">
            <a:avLst/>
          </a:prstGeom>
          <a:noFill/>
        </p:spPr>
        <p:txBody>
          <a:bodyPr wrap="square" rtlCol="0">
            <a:spAutoFit/>
          </a:bodyPr>
          <a:lstStyle/>
          <a:p>
            <a:r>
              <a:rPr lang="en-IN" sz="2000" dirty="0"/>
              <a:t>What is a Problem?</a:t>
            </a:r>
          </a:p>
        </p:txBody>
      </p:sp>
      <p:sp>
        <p:nvSpPr>
          <p:cNvPr id="7" name="TextBox 6">
            <a:extLst>
              <a:ext uri="{FF2B5EF4-FFF2-40B4-BE49-F238E27FC236}">
                <a16:creationId xmlns:a16="http://schemas.microsoft.com/office/drawing/2014/main" id="{02C1B137-2D31-49F6-92FB-052EB48A7AAF}"/>
              </a:ext>
            </a:extLst>
          </p:cNvPr>
          <p:cNvSpPr txBox="1"/>
          <p:nvPr/>
        </p:nvSpPr>
        <p:spPr>
          <a:xfrm>
            <a:off x="1800487" y="1771710"/>
            <a:ext cx="5945858" cy="400110"/>
          </a:xfrm>
          <a:prstGeom prst="rect">
            <a:avLst/>
          </a:prstGeom>
          <a:noFill/>
        </p:spPr>
        <p:txBody>
          <a:bodyPr wrap="none" rtlCol="0">
            <a:spAutoFit/>
          </a:bodyPr>
          <a:lstStyle/>
          <a:p>
            <a:r>
              <a:rPr lang="en-IN" sz="2000" b="1" dirty="0">
                <a:solidFill>
                  <a:schemeClr val="accent1">
                    <a:lumMod val="75000"/>
                  </a:schemeClr>
                </a:solidFill>
              </a:rPr>
              <a:t>Anything that you are trying to Solve is Problem</a:t>
            </a:r>
          </a:p>
        </p:txBody>
      </p:sp>
      <p:sp>
        <p:nvSpPr>
          <p:cNvPr id="11" name="TextBox 10">
            <a:extLst>
              <a:ext uri="{FF2B5EF4-FFF2-40B4-BE49-F238E27FC236}">
                <a16:creationId xmlns:a16="http://schemas.microsoft.com/office/drawing/2014/main" id="{B6F9F958-A4CB-463B-9AB2-40F3639864CF}"/>
              </a:ext>
            </a:extLst>
          </p:cNvPr>
          <p:cNvSpPr txBox="1"/>
          <p:nvPr/>
        </p:nvSpPr>
        <p:spPr>
          <a:xfrm>
            <a:off x="1568585" y="2398860"/>
            <a:ext cx="3975687" cy="400110"/>
          </a:xfrm>
          <a:prstGeom prst="rect">
            <a:avLst/>
          </a:prstGeom>
          <a:noFill/>
        </p:spPr>
        <p:txBody>
          <a:bodyPr wrap="square" rtlCol="0">
            <a:spAutoFit/>
          </a:bodyPr>
          <a:lstStyle/>
          <a:p>
            <a:r>
              <a:rPr lang="en-IN" sz="2000" dirty="0"/>
              <a:t>How is a Problem Defined?</a:t>
            </a:r>
          </a:p>
        </p:txBody>
      </p:sp>
      <p:sp>
        <p:nvSpPr>
          <p:cNvPr id="12" name="TextBox 11">
            <a:extLst>
              <a:ext uri="{FF2B5EF4-FFF2-40B4-BE49-F238E27FC236}">
                <a16:creationId xmlns:a16="http://schemas.microsoft.com/office/drawing/2014/main" id="{490D89B5-1D5D-449D-BCC4-97D72E035187}"/>
              </a:ext>
            </a:extLst>
          </p:cNvPr>
          <p:cNvSpPr txBox="1"/>
          <p:nvPr/>
        </p:nvSpPr>
        <p:spPr>
          <a:xfrm>
            <a:off x="1831052" y="2798970"/>
            <a:ext cx="8509317" cy="400110"/>
          </a:xfrm>
          <a:prstGeom prst="rect">
            <a:avLst/>
          </a:prstGeom>
          <a:noFill/>
        </p:spPr>
        <p:txBody>
          <a:bodyPr wrap="none" rtlCol="0">
            <a:spAutoFit/>
          </a:bodyPr>
          <a:lstStyle/>
          <a:p>
            <a:r>
              <a:rPr lang="en-IN" sz="2000" b="1" dirty="0">
                <a:solidFill>
                  <a:schemeClr val="accent1">
                    <a:lumMod val="75000"/>
                  </a:schemeClr>
                </a:solidFill>
              </a:rPr>
              <a:t>A problem is defined with some set of inputs, and the desired output</a:t>
            </a:r>
          </a:p>
        </p:txBody>
      </p:sp>
      <p:sp>
        <p:nvSpPr>
          <p:cNvPr id="13" name="TextBox 12">
            <a:extLst>
              <a:ext uri="{FF2B5EF4-FFF2-40B4-BE49-F238E27FC236}">
                <a16:creationId xmlns:a16="http://schemas.microsoft.com/office/drawing/2014/main" id="{C99CCF5F-49A7-446B-8F4E-A2AFEB2A79A4}"/>
              </a:ext>
            </a:extLst>
          </p:cNvPr>
          <p:cNvSpPr txBox="1"/>
          <p:nvPr/>
        </p:nvSpPr>
        <p:spPr>
          <a:xfrm>
            <a:off x="1831052" y="3215641"/>
            <a:ext cx="5400040" cy="400110"/>
          </a:xfrm>
          <a:prstGeom prst="rect">
            <a:avLst/>
          </a:prstGeom>
          <a:noFill/>
        </p:spPr>
        <p:txBody>
          <a:bodyPr wrap="square" rtlCol="0">
            <a:spAutoFit/>
          </a:bodyPr>
          <a:lstStyle/>
          <a:p>
            <a:r>
              <a:rPr lang="en-IN" sz="2000" dirty="0"/>
              <a:t>For Example: Given X, Determine Y</a:t>
            </a:r>
          </a:p>
        </p:txBody>
      </p:sp>
      <p:sp>
        <p:nvSpPr>
          <p:cNvPr id="16" name="TextBox 15">
            <a:extLst>
              <a:ext uri="{FF2B5EF4-FFF2-40B4-BE49-F238E27FC236}">
                <a16:creationId xmlns:a16="http://schemas.microsoft.com/office/drawing/2014/main" id="{16FB59CF-E142-4734-88B0-D0FCC66FCE36}"/>
              </a:ext>
            </a:extLst>
          </p:cNvPr>
          <p:cNvSpPr txBox="1"/>
          <p:nvPr/>
        </p:nvSpPr>
        <p:spPr>
          <a:xfrm>
            <a:off x="1568586" y="3673830"/>
            <a:ext cx="4077546" cy="400110"/>
          </a:xfrm>
          <a:prstGeom prst="rect">
            <a:avLst/>
          </a:prstGeom>
          <a:noFill/>
        </p:spPr>
        <p:txBody>
          <a:bodyPr wrap="square" rtlCol="0">
            <a:spAutoFit/>
          </a:bodyPr>
          <a:lstStyle/>
          <a:p>
            <a:r>
              <a:rPr lang="en-IN" sz="2000" dirty="0"/>
              <a:t>What is a Problem Solving?</a:t>
            </a:r>
          </a:p>
        </p:txBody>
      </p:sp>
      <p:sp>
        <p:nvSpPr>
          <p:cNvPr id="18" name="TextBox 17">
            <a:extLst>
              <a:ext uri="{FF2B5EF4-FFF2-40B4-BE49-F238E27FC236}">
                <a16:creationId xmlns:a16="http://schemas.microsoft.com/office/drawing/2014/main" id="{B67B5B0F-B2A4-408A-B6D5-DBB570CEE2DF}"/>
              </a:ext>
            </a:extLst>
          </p:cNvPr>
          <p:cNvSpPr txBox="1"/>
          <p:nvPr/>
        </p:nvSpPr>
        <p:spPr>
          <a:xfrm>
            <a:off x="1831053" y="4100330"/>
            <a:ext cx="5156199" cy="23441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IN" sz="2000" dirty="0">
                <a:solidFill>
                  <a:schemeClr val="accent1">
                    <a:lumMod val="75000"/>
                  </a:schemeClr>
                </a:solidFill>
              </a:rPr>
              <a:t>It is the act of defining Problem,</a:t>
            </a:r>
          </a:p>
          <a:p>
            <a:pPr marL="342900" indent="-342900">
              <a:lnSpc>
                <a:spcPct val="150000"/>
              </a:lnSpc>
              <a:buFont typeface="Arial" panose="020B0604020202020204" pitchFamily="34" charset="0"/>
              <a:buChar char="•"/>
            </a:pPr>
            <a:r>
              <a:rPr lang="en-IN" sz="2000" dirty="0">
                <a:solidFill>
                  <a:schemeClr val="accent1">
                    <a:lumMod val="75000"/>
                  </a:schemeClr>
                </a:solidFill>
              </a:rPr>
              <a:t>Determining the cause of the problem,</a:t>
            </a:r>
          </a:p>
          <a:p>
            <a:pPr marL="342900" indent="-342900">
              <a:lnSpc>
                <a:spcPct val="150000"/>
              </a:lnSpc>
              <a:buFont typeface="Arial" panose="020B0604020202020204" pitchFamily="34" charset="0"/>
              <a:buChar char="•"/>
            </a:pPr>
            <a:r>
              <a:rPr lang="en-IN" sz="2000" dirty="0">
                <a:solidFill>
                  <a:schemeClr val="accent1">
                    <a:lumMod val="75000"/>
                  </a:schemeClr>
                </a:solidFill>
              </a:rPr>
              <a:t>Identifying, prioritizing, and selecting alternatives for a solution,</a:t>
            </a:r>
          </a:p>
          <a:p>
            <a:pPr marL="342900" indent="-342900">
              <a:lnSpc>
                <a:spcPct val="150000"/>
              </a:lnSpc>
              <a:buFont typeface="Arial" panose="020B0604020202020204" pitchFamily="34" charset="0"/>
              <a:buChar char="•"/>
            </a:pPr>
            <a:r>
              <a:rPr lang="en-IN" sz="2000" dirty="0">
                <a:solidFill>
                  <a:schemeClr val="accent1">
                    <a:lumMod val="75000"/>
                  </a:schemeClr>
                </a:solidFill>
              </a:rPr>
              <a:t>Implementing a solution</a:t>
            </a:r>
          </a:p>
        </p:txBody>
      </p:sp>
      <p:graphicFrame>
        <p:nvGraphicFramePr>
          <p:cNvPr id="8" name="Diagram 7">
            <a:extLst>
              <a:ext uri="{FF2B5EF4-FFF2-40B4-BE49-F238E27FC236}">
                <a16:creationId xmlns:a16="http://schemas.microsoft.com/office/drawing/2014/main" id="{EB4842FB-F1D5-428F-AF59-15DC47031703}"/>
              </a:ext>
            </a:extLst>
          </p:cNvPr>
          <p:cNvGraphicFramePr/>
          <p:nvPr>
            <p:extLst>
              <p:ext uri="{D42A27DB-BD31-4B8C-83A1-F6EECF244321}">
                <p14:modId xmlns:p14="http://schemas.microsoft.com/office/powerpoint/2010/main" val="151798141"/>
              </p:ext>
            </p:extLst>
          </p:nvPr>
        </p:nvGraphicFramePr>
        <p:xfrm>
          <a:off x="6987251" y="3282922"/>
          <a:ext cx="3353117" cy="30236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74392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graphicEl>
                                              <a:dgm id="{5280E1BA-2BE6-4224-8F17-140373976955}"/>
                                            </p:graphic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graphicEl>
                                              <a:dgm id="{46F7E1A0-B1D4-4E6C-A857-E120DE17A7C0}"/>
                                            </p:graphic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
                                            <p:graphicEl>
                                              <a:dgm id="{7C642AD5-7669-4088-8AF5-808237A54D6F}"/>
                                            </p:graphic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8">
                                            <p:graphicEl>
                                              <a:dgm id="{D899F50C-E838-4ADB-9644-13133D92A983}"/>
                                            </p:graphic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
                                            <p:graphicEl>
                                              <a:dgm id="{F7BCBD8B-2200-4896-B0DC-79C3599FEB29}"/>
                                            </p:graphic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8">
                                            <p:graphicEl>
                                              <a:dgm id="{00705746-B283-4C4A-9AB5-EB9B30A45D0A}"/>
                                            </p:graphic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
                                            <p:graphicEl>
                                              <a:dgm id="{4D3F5CCD-3F27-49B5-96C7-1D35A98E7D62}"/>
                                            </p:graphic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
                                            <p:graphicEl>
                                              <a:dgm id="{ACBC7523-F504-4847-8453-7ADC07674244}"/>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P spid="12" grpId="0"/>
      <p:bldP spid="13" grpId="0"/>
      <p:bldP spid="16" grpId="0"/>
      <p:bldP spid="18" grpId="0" uiExpand="1" build="p"/>
      <p:bldGraphic spid="8" grpId="0" uiExpand="1">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0159" y="468920"/>
            <a:ext cx="8596668" cy="660400"/>
          </a:xfrm>
        </p:spPr>
        <p:txBody>
          <a:bodyPr vert="horz" lIns="91440" tIns="45720" rIns="91440" bIns="45720" rtlCol="0" anchor="t">
            <a:normAutofit/>
          </a:bodyPr>
          <a:lstStyle/>
          <a:p>
            <a:r>
              <a:rPr lang="en-US" dirty="0"/>
              <a:t>Programming</a:t>
            </a:r>
          </a:p>
        </p:txBody>
      </p:sp>
      <p:sp>
        <p:nvSpPr>
          <p:cNvPr id="3" name="Content Placeholder 2"/>
          <p:cNvSpPr>
            <a:spLocks noGrp="1"/>
          </p:cNvSpPr>
          <p:nvPr>
            <p:ph idx="1"/>
          </p:nvPr>
        </p:nvSpPr>
        <p:spPr>
          <a:xfrm>
            <a:off x="544010" y="1048295"/>
            <a:ext cx="10845479" cy="3625898"/>
          </a:xfrm>
        </p:spPr>
        <p:txBody>
          <a:bodyPr>
            <a:noAutofit/>
          </a:bodyPr>
          <a:lstStyle/>
          <a:p>
            <a:r>
              <a:rPr lang="en-US" sz="2000" dirty="0">
                <a:solidFill>
                  <a:schemeClr val="tx1">
                    <a:lumMod val="95000"/>
                    <a:lumOff val="5000"/>
                  </a:schemeClr>
                </a:solidFill>
              </a:rPr>
              <a:t>Writing series of instructions for Computer to accomplish a task</a:t>
            </a:r>
          </a:p>
          <a:p>
            <a:r>
              <a:rPr lang="en-US" sz="2000" dirty="0">
                <a:solidFill>
                  <a:schemeClr val="tx1">
                    <a:lumMod val="95000"/>
                    <a:lumOff val="5000"/>
                  </a:schemeClr>
                </a:solidFill>
              </a:rPr>
              <a:t>Instructions must be written in a way the Computer can understand</a:t>
            </a:r>
          </a:p>
          <a:p>
            <a:r>
              <a:rPr lang="en-US" sz="2000" dirty="0">
                <a:solidFill>
                  <a:schemeClr val="tx1">
                    <a:lumMod val="95000"/>
                    <a:lumOff val="5000"/>
                  </a:schemeClr>
                </a:solidFill>
              </a:rPr>
              <a:t>Programming Languages are used to write programs</a:t>
            </a:r>
          </a:p>
          <a:p>
            <a:r>
              <a:rPr lang="en-US" sz="2000" dirty="0">
                <a:solidFill>
                  <a:schemeClr val="tx1">
                    <a:lumMod val="95000"/>
                    <a:lumOff val="5000"/>
                  </a:schemeClr>
                </a:solidFill>
              </a:rPr>
              <a:t>If a code is written it must be executed</a:t>
            </a:r>
          </a:p>
          <a:p>
            <a:r>
              <a:rPr lang="en-US" sz="2000" dirty="0">
                <a:solidFill>
                  <a:schemeClr val="tx1">
                    <a:lumMod val="95000"/>
                    <a:lumOff val="5000"/>
                  </a:schemeClr>
                </a:solidFill>
              </a:rPr>
              <a:t>Run (keywords) can be used for execution</a:t>
            </a:r>
          </a:p>
          <a:p>
            <a:r>
              <a:rPr lang="en-US" sz="2000" dirty="0">
                <a:solidFill>
                  <a:schemeClr val="tx1">
                    <a:lumMod val="95000"/>
                    <a:lumOff val="5000"/>
                  </a:schemeClr>
                </a:solidFill>
              </a:rPr>
              <a:t>Some languages(java/</a:t>
            </a:r>
            <a:r>
              <a:rPr lang="en-US" sz="2000" dirty="0" err="1">
                <a:solidFill>
                  <a:schemeClr val="tx1">
                    <a:lumMod val="95000"/>
                    <a:lumOff val="5000"/>
                  </a:schemeClr>
                </a:solidFill>
              </a:rPr>
              <a:t>c++</a:t>
            </a:r>
            <a:r>
              <a:rPr lang="en-US" sz="2000" dirty="0">
                <a:solidFill>
                  <a:schemeClr val="tx1">
                    <a:lumMod val="95000"/>
                    <a:lumOff val="5000"/>
                  </a:schemeClr>
                </a:solidFill>
              </a:rPr>
              <a:t>) requires code to be translated/compiled before it can be started</a:t>
            </a:r>
          </a:p>
          <a:p>
            <a:r>
              <a:rPr lang="en-US" sz="2000" dirty="0">
                <a:solidFill>
                  <a:schemeClr val="tx1">
                    <a:lumMod val="95000"/>
                    <a:lumOff val="5000"/>
                  </a:schemeClr>
                </a:solidFill>
              </a:rPr>
              <a:t>Others Languages (</a:t>
            </a:r>
            <a:r>
              <a:rPr lang="en-US" sz="2000" dirty="0" err="1">
                <a:solidFill>
                  <a:schemeClr val="tx1">
                    <a:lumMod val="95000"/>
                    <a:lumOff val="5000"/>
                  </a:schemeClr>
                </a:solidFill>
              </a:rPr>
              <a:t>javascript</a:t>
            </a:r>
            <a:r>
              <a:rPr lang="en-US" sz="2000" dirty="0">
                <a:solidFill>
                  <a:schemeClr val="tx1">
                    <a:lumMod val="95000"/>
                    <a:lumOff val="5000"/>
                  </a:schemeClr>
                </a:solidFill>
              </a:rPr>
              <a:t>, python) are interpreted, each line translated separately</a:t>
            </a:r>
          </a:p>
        </p:txBody>
      </p:sp>
      <p:sp>
        <p:nvSpPr>
          <p:cNvPr id="14" name="Date Placeholder 4">
            <a:extLst>
              <a:ext uri="{FF2B5EF4-FFF2-40B4-BE49-F238E27FC236}">
                <a16:creationId xmlns:a16="http://schemas.microsoft.com/office/drawing/2014/main" id="{5B58D44B-AA58-4668-B0D4-0E603879D65D}"/>
              </a:ext>
            </a:extLst>
          </p:cNvPr>
          <p:cNvSpPr>
            <a:spLocks noGrp="1"/>
          </p:cNvSpPr>
          <p:nvPr>
            <p:ph type="dt" sz="half" idx="10"/>
          </p:nvPr>
        </p:nvSpPr>
        <p:spPr>
          <a:xfrm>
            <a:off x="8607492" y="0"/>
            <a:ext cx="1195597" cy="365125"/>
          </a:xfrm>
        </p:spPr>
        <p:txBody>
          <a:bodyPr/>
          <a:lstStyle/>
          <a:p>
            <a:fld id="{929302B8-7BAD-4A13-95E5-EF0128F24EDF}" type="datetime1">
              <a:rPr lang="en-US" smtClean="0"/>
              <a:pPr/>
              <a:t>1/15/2026</a:t>
            </a:fld>
            <a:endParaRPr lang="en-US" dirty="0"/>
          </a:p>
        </p:txBody>
      </p:sp>
      <p:sp>
        <p:nvSpPr>
          <p:cNvPr id="15" name="Slide Number Placeholder 5">
            <a:extLst>
              <a:ext uri="{FF2B5EF4-FFF2-40B4-BE49-F238E27FC236}">
                <a16:creationId xmlns:a16="http://schemas.microsoft.com/office/drawing/2014/main" id="{31F109DC-5597-406C-8AA8-1868F874554A}"/>
              </a:ext>
            </a:extLst>
          </p:cNvPr>
          <p:cNvSpPr>
            <a:spLocks noGrp="1"/>
          </p:cNvSpPr>
          <p:nvPr>
            <p:ph type="sldNum" sz="quarter" idx="12"/>
          </p:nvPr>
        </p:nvSpPr>
        <p:spPr>
          <a:xfrm>
            <a:off x="5141622" y="0"/>
            <a:ext cx="683339" cy="365125"/>
          </a:xfrm>
        </p:spPr>
        <p:txBody>
          <a:bodyPr/>
          <a:lstStyle/>
          <a:p>
            <a:fld id="{E3E9EF9F-93D1-4F46-8D5F-ACEA15647A9D}" type="slidenum">
              <a:rPr lang="en-US" smtClean="0"/>
              <a:pPr/>
              <a:t>3</a:t>
            </a:fld>
            <a:endParaRPr lang="en-US" dirty="0"/>
          </a:p>
        </p:txBody>
      </p:sp>
      <p:pic>
        <p:nvPicPr>
          <p:cNvPr id="1028" name="Picture 4" descr="Man hands crossed illustration - Transparent PNG &amp; SVG vector file">
            <a:extLst>
              <a:ext uri="{FF2B5EF4-FFF2-40B4-BE49-F238E27FC236}">
                <a16:creationId xmlns:a16="http://schemas.microsoft.com/office/drawing/2014/main" id="{F7B90737-2FE2-45AA-84D2-1B3DA6ED3A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9761" y="4596892"/>
            <a:ext cx="2236763" cy="223676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lack Silhouette Man Standing With White Background. Royalty Free ...">
            <a:extLst>
              <a:ext uri="{FF2B5EF4-FFF2-40B4-BE49-F238E27FC236}">
                <a16:creationId xmlns:a16="http://schemas.microsoft.com/office/drawing/2014/main" id="{4A4F4BCC-BDE0-4308-B246-1FEB22E088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6260" y="4719708"/>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hair Silhouette Clip art - sitting man png download - 512*512 ...">
            <a:extLst>
              <a:ext uri="{FF2B5EF4-FFF2-40B4-BE49-F238E27FC236}">
                <a16:creationId xmlns:a16="http://schemas.microsoft.com/office/drawing/2014/main" id="{CF7AF4B4-5C8A-4AA8-ADF7-CAAB4854E9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1290" y="4719708"/>
            <a:ext cx="3608719" cy="21431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63213D5-3794-4552-B4F1-22E6F984ED2B}"/>
              </a:ext>
            </a:extLst>
          </p:cNvPr>
          <p:cNvSpPr txBox="1"/>
          <p:nvPr/>
        </p:nvSpPr>
        <p:spPr>
          <a:xfrm>
            <a:off x="3288198" y="4895898"/>
            <a:ext cx="1059906" cy="369332"/>
          </a:xfrm>
          <a:prstGeom prst="rect">
            <a:avLst/>
          </a:prstGeom>
          <a:noFill/>
        </p:spPr>
        <p:txBody>
          <a:bodyPr wrap="none" rtlCol="0">
            <a:spAutoFit/>
          </a:bodyPr>
          <a:lstStyle/>
          <a:p>
            <a:r>
              <a:rPr lang="en-IN" b="1" dirty="0" err="1"/>
              <a:t>Standup</a:t>
            </a:r>
            <a:endParaRPr lang="en-IN" b="1" dirty="0"/>
          </a:p>
        </p:txBody>
      </p:sp>
      <p:sp>
        <p:nvSpPr>
          <p:cNvPr id="12" name="TextBox 11">
            <a:extLst>
              <a:ext uri="{FF2B5EF4-FFF2-40B4-BE49-F238E27FC236}">
                <a16:creationId xmlns:a16="http://schemas.microsoft.com/office/drawing/2014/main" id="{FFE22877-A1AC-4F8A-901F-5AF6582C58C6}"/>
              </a:ext>
            </a:extLst>
          </p:cNvPr>
          <p:cNvSpPr txBox="1"/>
          <p:nvPr/>
        </p:nvSpPr>
        <p:spPr>
          <a:xfrm>
            <a:off x="3344177" y="5493057"/>
            <a:ext cx="1059906" cy="369332"/>
          </a:xfrm>
          <a:prstGeom prst="rect">
            <a:avLst/>
          </a:prstGeom>
          <a:noFill/>
        </p:spPr>
        <p:txBody>
          <a:bodyPr wrap="none" rtlCol="0">
            <a:spAutoFit/>
          </a:bodyPr>
          <a:lstStyle/>
          <a:p>
            <a:r>
              <a:rPr lang="en-IN" b="1" dirty="0" err="1"/>
              <a:t>SitDown</a:t>
            </a:r>
            <a:endParaRPr lang="en-IN" b="1" dirty="0"/>
          </a:p>
        </p:txBody>
      </p:sp>
      <p:sp>
        <p:nvSpPr>
          <p:cNvPr id="8" name="TextBox 7">
            <a:extLst>
              <a:ext uri="{FF2B5EF4-FFF2-40B4-BE49-F238E27FC236}">
                <a16:creationId xmlns:a16="http://schemas.microsoft.com/office/drawing/2014/main" id="{FD36227A-00E4-45A9-B64A-3159519F4B37}"/>
              </a:ext>
            </a:extLst>
          </p:cNvPr>
          <p:cNvSpPr txBox="1"/>
          <p:nvPr/>
        </p:nvSpPr>
        <p:spPr>
          <a:xfrm>
            <a:off x="1301728" y="5279298"/>
            <a:ext cx="1511119" cy="646331"/>
          </a:xfrm>
          <a:prstGeom prst="rect">
            <a:avLst/>
          </a:prstGeom>
          <a:noFill/>
        </p:spPr>
        <p:txBody>
          <a:bodyPr wrap="none" rtlCol="0">
            <a:spAutoFit/>
          </a:bodyPr>
          <a:lstStyle/>
          <a:p>
            <a:pPr algn="ctr"/>
            <a:r>
              <a:rPr lang="en-IN" b="1" dirty="0"/>
              <a:t>Instructor/</a:t>
            </a:r>
          </a:p>
          <a:p>
            <a:pPr algn="ctr"/>
            <a:r>
              <a:rPr lang="en-IN" b="1" dirty="0"/>
              <a:t>Programmer</a:t>
            </a:r>
          </a:p>
        </p:txBody>
      </p:sp>
      <p:sp>
        <p:nvSpPr>
          <p:cNvPr id="16" name="TextBox 15">
            <a:extLst>
              <a:ext uri="{FF2B5EF4-FFF2-40B4-BE49-F238E27FC236}">
                <a16:creationId xmlns:a16="http://schemas.microsoft.com/office/drawing/2014/main" id="{C2D9B4BC-6759-40F1-B8D4-20C9BEB7D1EE}"/>
              </a:ext>
            </a:extLst>
          </p:cNvPr>
          <p:cNvSpPr txBox="1"/>
          <p:nvPr/>
        </p:nvSpPr>
        <p:spPr>
          <a:xfrm>
            <a:off x="8703402" y="5279298"/>
            <a:ext cx="1145635" cy="646331"/>
          </a:xfrm>
          <a:prstGeom prst="rect">
            <a:avLst/>
          </a:prstGeom>
          <a:noFill/>
        </p:spPr>
        <p:txBody>
          <a:bodyPr wrap="none" rtlCol="0">
            <a:spAutoFit/>
          </a:bodyPr>
          <a:lstStyle/>
          <a:p>
            <a:pPr algn="ctr"/>
            <a:r>
              <a:rPr lang="en-IN" b="1" dirty="0"/>
              <a:t>Student/</a:t>
            </a:r>
          </a:p>
          <a:p>
            <a:pPr algn="ctr"/>
            <a:r>
              <a:rPr lang="en-IN" b="1" dirty="0"/>
              <a:t>Machine</a:t>
            </a:r>
          </a:p>
        </p:txBody>
      </p:sp>
    </p:spTree>
    <p:extLst>
      <p:ext uri="{BB962C8B-B14F-4D97-AF65-F5344CB8AC3E}">
        <p14:creationId xmlns:p14="http://schemas.microsoft.com/office/powerpoint/2010/main" val="2787721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32"/>
                                        </p:tgtEl>
                                        <p:attrNameLst>
                                          <p:attrName>style.visibility</p:attrName>
                                        </p:attrNameLst>
                                      </p:cBhvr>
                                      <p:to>
                                        <p:strVal val="visible"/>
                                      </p:to>
                                    </p:set>
                                  </p:childTnLst>
                                </p:cTn>
                              </p:par>
                              <p:par>
                                <p:cTn id="31" presetID="1" presetClass="exit" presetSubtype="0" fill="hold" nodeType="withEffect">
                                  <p:stCondLst>
                                    <p:cond delay="0"/>
                                  </p:stCondLst>
                                  <p:childTnLst>
                                    <p:set>
                                      <p:cBhvr>
                                        <p:cTn id="32" dur="1" fill="hold">
                                          <p:stCondLst>
                                            <p:cond delay="0"/>
                                          </p:stCondLst>
                                        </p:cTn>
                                        <p:tgtEl>
                                          <p:spTgt spid="1030"/>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4"/>
                                        </p:tgtEl>
                                        <p:attrNameLst>
                                          <p:attrName>style.visibility</p:attrName>
                                        </p:attrNameLst>
                                      </p:cBhvr>
                                      <p:to>
                                        <p:strVal val="hidden"/>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30"/>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12"/>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2" nodeType="clickEffect">
                                  <p:stCondLst>
                                    <p:cond delay="0"/>
                                  </p:stCondLst>
                                  <p:childTnLst>
                                    <p:set>
                                      <p:cBhvr>
                                        <p:cTn id="48" dur="1" fill="hold">
                                          <p:stCondLst>
                                            <p:cond delay="0"/>
                                          </p:stCondLst>
                                        </p:cTn>
                                        <p:tgtEl>
                                          <p:spTgt spid="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03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1030"/>
                                        </p:tgtEl>
                                        <p:attrNameLst>
                                          <p:attrName>style.visibility</p:attrName>
                                        </p:attrNameLst>
                                      </p:cBhvr>
                                      <p:to>
                                        <p:strVal val="hidden"/>
                                      </p:to>
                                    </p:set>
                                  </p:childTnLst>
                                </p:cTn>
                              </p:par>
                              <p:par>
                                <p:cTn id="55" presetID="1" presetClass="exit" presetSubtype="0" fill="hold" grpId="3" nodeType="withEffect">
                                  <p:stCondLst>
                                    <p:cond delay="0"/>
                                  </p:stCondLst>
                                  <p:childTnLst>
                                    <p:set>
                                      <p:cBhvr>
                                        <p:cTn id="56" dur="1" fill="hold">
                                          <p:stCondLst>
                                            <p:cond delay="0"/>
                                          </p:stCondLst>
                                        </p:cTn>
                                        <p:tgtEl>
                                          <p:spTgt spid="4"/>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2" nodeType="clickEffect">
                                  <p:stCondLst>
                                    <p:cond delay="0"/>
                                  </p:stCondLst>
                                  <p:childTnLst>
                                    <p:set>
                                      <p:cBhvr>
                                        <p:cTn id="60" dur="1" fill="hold">
                                          <p:stCondLst>
                                            <p:cond delay="0"/>
                                          </p:stCondLst>
                                        </p:cTn>
                                        <p:tgtEl>
                                          <p:spTgt spid="1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030"/>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grpId="3" nodeType="clickEffect">
                                  <p:stCondLst>
                                    <p:cond delay="0"/>
                                  </p:stCondLst>
                                  <p:childTnLst>
                                    <p:set>
                                      <p:cBhvr>
                                        <p:cTn id="68" dur="1" fill="hold">
                                          <p:stCondLst>
                                            <p:cond delay="0"/>
                                          </p:stCondLst>
                                        </p:cTn>
                                        <p:tgtEl>
                                          <p:spTgt spid="12"/>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4" grpId="1"/>
      <p:bldP spid="4" grpId="2"/>
      <p:bldP spid="4" grpId="3"/>
      <p:bldP spid="12" grpId="0"/>
      <p:bldP spid="12" grpId="1"/>
      <p:bldP spid="12" grpId="2"/>
      <p:bldP spid="12" grpId="3"/>
      <p:bldP spid="8"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713F82-C05B-41B8-AAC1-5521E4947B95}"/>
              </a:ext>
            </a:extLst>
          </p:cNvPr>
          <p:cNvSpPr>
            <a:spLocks noGrp="1"/>
          </p:cNvSpPr>
          <p:nvPr>
            <p:ph type="title"/>
          </p:nvPr>
        </p:nvSpPr>
        <p:spPr>
          <a:xfrm>
            <a:off x="1938973" y="468920"/>
            <a:ext cx="8596668" cy="660400"/>
          </a:xfrm>
        </p:spPr>
        <p:txBody>
          <a:bodyPr>
            <a:normAutofit/>
          </a:bodyPr>
          <a:lstStyle/>
          <a:p>
            <a:r>
              <a:rPr lang="en-US" dirty="0"/>
              <a:t>Computational Thinking</a:t>
            </a:r>
          </a:p>
        </p:txBody>
      </p:sp>
      <p:sp>
        <p:nvSpPr>
          <p:cNvPr id="6" name="TextBox 5">
            <a:extLst>
              <a:ext uri="{FF2B5EF4-FFF2-40B4-BE49-F238E27FC236}">
                <a16:creationId xmlns:a16="http://schemas.microsoft.com/office/drawing/2014/main" id="{1CC399B7-577B-48D9-9876-A7D1559B4038}"/>
              </a:ext>
            </a:extLst>
          </p:cNvPr>
          <p:cNvSpPr txBox="1"/>
          <p:nvPr/>
        </p:nvSpPr>
        <p:spPr>
          <a:xfrm>
            <a:off x="1938973" y="1129320"/>
            <a:ext cx="9658860" cy="400110"/>
          </a:xfrm>
          <a:prstGeom prst="rect">
            <a:avLst/>
          </a:prstGeom>
          <a:noFill/>
        </p:spPr>
        <p:txBody>
          <a:bodyPr wrap="square" rtlCol="0">
            <a:spAutoFit/>
          </a:bodyPr>
          <a:lstStyle/>
          <a:p>
            <a:r>
              <a:rPr lang="en-IN" sz="2000" dirty="0">
                <a:solidFill>
                  <a:schemeClr val="accent1">
                    <a:lumMod val="75000"/>
                  </a:schemeClr>
                </a:solidFill>
              </a:rPr>
              <a:t>Computational Thinking is the fundamental skill everyone will use or is using</a:t>
            </a:r>
          </a:p>
        </p:txBody>
      </p:sp>
      <p:sp>
        <p:nvSpPr>
          <p:cNvPr id="7" name="TextBox 6">
            <a:extLst>
              <a:ext uri="{FF2B5EF4-FFF2-40B4-BE49-F238E27FC236}">
                <a16:creationId xmlns:a16="http://schemas.microsoft.com/office/drawing/2014/main" id="{919A46EC-3A63-4C8C-B408-DFD251E2CE76}"/>
              </a:ext>
            </a:extLst>
          </p:cNvPr>
          <p:cNvSpPr txBox="1"/>
          <p:nvPr/>
        </p:nvSpPr>
        <p:spPr>
          <a:xfrm>
            <a:off x="1938973" y="1628842"/>
            <a:ext cx="3193626" cy="400110"/>
          </a:xfrm>
          <a:prstGeom prst="rect">
            <a:avLst/>
          </a:prstGeom>
          <a:noFill/>
        </p:spPr>
        <p:txBody>
          <a:bodyPr wrap="square" rtlCol="0">
            <a:spAutoFit/>
          </a:bodyPr>
          <a:lstStyle/>
          <a:p>
            <a:r>
              <a:rPr lang="en-IN" sz="2000" dirty="0"/>
              <a:t>What is Computing?</a:t>
            </a:r>
          </a:p>
        </p:txBody>
      </p:sp>
      <p:sp>
        <p:nvSpPr>
          <p:cNvPr id="8" name="TextBox 7">
            <a:extLst>
              <a:ext uri="{FF2B5EF4-FFF2-40B4-BE49-F238E27FC236}">
                <a16:creationId xmlns:a16="http://schemas.microsoft.com/office/drawing/2014/main" id="{303C01DB-3FB5-4FF1-9F68-748EFF187CCD}"/>
              </a:ext>
            </a:extLst>
          </p:cNvPr>
          <p:cNvSpPr txBox="1"/>
          <p:nvPr/>
        </p:nvSpPr>
        <p:spPr>
          <a:xfrm>
            <a:off x="2201438" y="2028952"/>
            <a:ext cx="6734217" cy="400110"/>
          </a:xfrm>
          <a:prstGeom prst="rect">
            <a:avLst/>
          </a:prstGeom>
          <a:noFill/>
        </p:spPr>
        <p:txBody>
          <a:bodyPr wrap="square" rtlCol="0">
            <a:spAutoFit/>
          </a:bodyPr>
          <a:lstStyle/>
          <a:p>
            <a:r>
              <a:rPr lang="en-IN" sz="2000" b="1" dirty="0">
                <a:solidFill>
                  <a:schemeClr val="accent1">
                    <a:lumMod val="75000"/>
                  </a:schemeClr>
                </a:solidFill>
              </a:rPr>
              <a:t>Computing is the AUTOMATION of ABSTRACTION</a:t>
            </a:r>
          </a:p>
        </p:txBody>
      </p:sp>
      <p:sp>
        <p:nvSpPr>
          <p:cNvPr id="11" name="TextBox 10">
            <a:extLst>
              <a:ext uri="{FF2B5EF4-FFF2-40B4-BE49-F238E27FC236}">
                <a16:creationId xmlns:a16="http://schemas.microsoft.com/office/drawing/2014/main" id="{2445B20F-494C-4EC5-83A2-77E92D6E3EA4}"/>
              </a:ext>
            </a:extLst>
          </p:cNvPr>
          <p:cNvSpPr txBox="1"/>
          <p:nvPr/>
        </p:nvSpPr>
        <p:spPr>
          <a:xfrm>
            <a:off x="2577681" y="4692463"/>
            <a:ext cx="2202663" cy="523220"/>
          </a:xfrm>
          <a:prstGeom prst="rect">
            <a:avLst/>
          </a:prstGeom>
          <a:noFill/>
        </p:spPr>
        <p:txBody>
          <a:bodyPr wrap="square">
            <a:spAutoFit/>
          </a:bodyPr>
          <a:lstStyle/>
          <a:p>
            <a:pPr algn="ctr"/>
            <a:r>
              <a:rPr lang="en-IN" sz="2800" b="1" dirty="0">
                <a:solidFill>
                  <a:schemeClr val="accent1">
                    <a:lumMod val="75000"/>
                  </a:schemeClr>
                </a:solidFill>
              </a:rPr>
              <a:t>Automation</a:t>
            </a:r>
            <a:endParaRPr lang="en-IN" sz="2800" dirty="0"/>
          </a:p>
        </p:txBody>
      </p:sp>
      <p:sp>
        <p:nvSpPr>
          <p:cNvPr id="13" name="TextBox 12">
            <a:extLst>
              <a:ext uri="{FF2B5EF4-FFF2-40B4-BE49-F238E27FC236}">
                <a16:creationId xmlns:a16="http://schemas.microsoft.com/office/drawing/2014/main" id="{872BE75B-A38B-418C-B2D9-CC7AE55A7A1B}"/>
              </a:ext>
            </a:extLst>
          </p:cNvPr>
          <p:cNvSpPr txBox="1"/>
          <p:nvPr/>
        </p:nvSpPr>
        <p:spPr>
          <a:xfrm>
            <a:off x="2577680" y="5671587"/>
            <a:ext cx="2202663" cy="523220"/>
          </a:xfrm>
          <a:prstGeom prst="rect">
            <a:avLst/>
          </a:prstGeom>
          <a:noFill/>
        </p:spPr>
        <p:txBody>
          <a:bodyPr wrap="square">
            <a:spAutoFit/>
          </a:bodyPr>
          <a:lstStyle>
            <a:defPPr>
              <a:defRPr lang="en-US"/>
            </a:defPPr>
            <a:lvl1pPr>
              <a:defRPr sz="2800" b="1">
                <a:solidFill>
                  <a:schemeClr val="accent1">
                    <a:lumMod val="75000"/>
                  </a:schemeClr>
                </a:solidFill>
              </a:defRPr>
            </a:lvl1pPr>
          </a:lstStyle>
          <a:p>
            <a:pPr algn="ctr"/>
            <a:r>
              <a:rPr lang="en-IN" dirty="0"/>
              <a:t>Abstraction</a:t>
            </a:r>
          </a:p>
        </p:txBody>
      </p:sp>
      <p:sp>
        <p:nvSpPr>
          <p:cNvPr id="14" name="Arrow: Curved Left 13">
            <a:extLst>
              <a:ext uri="{FF2B5EF4-FFF2-40B4-BE49-F238E27FC236}">
                <a16:creationId xmlns:a16="http://schemas.microsoft.com/office/drawing/2014/main" id="{FA9DC77C-86D0-4D81-B0A7-21594F15943F}"/>
              </a:ext>
            </a:extLst>
          </p:cNvPr>
          <p:cNvSpPr/>
          <p:nvPr/>
        </p:nvSpPr>
        <p:spPr>
          <a:xfrm>
            <a:off x="4696904" y="4909769"/>
            <a:ext cx="386233" cy="1106906"/>
          </a:xfrm>
          <a:prstGeom prst="curvedLeftArrow">
            <a:avLst>
              <a:gd name="adj1" fmla="val 33442"/>
              <a:gd name="adj2" fmla="val 45813"/>
              <a:gd name="adj3" fmla="val 25000"/>
            </a:avLst>
          </a:prstGeom>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Arrow: Curved Left 14">
            <a:extLst>
              <a:ext uri="{FF2B5EF4-FFF2-40B4-BE49-F238E27FC236}">
                <a16:creationId xmlns:a16="http://schemas.microsoft.com/office/drawing/2014/main" id="{8D63205E-EFEC-479E-A39D-26B9BC506BF5}"/>
              </a:ext>
            </a:extLst>
          </p:cNvPr>
          <p:cNvSpPr/>
          <p:nvPr/>
        </p:nvSpPr>
        <p:spPr>
          <a:xfrm rot="11045850">
            <a:off x="2204634" y="4925425"/>
            <a:ext cx="386233" cy="1106906"/>
          </a:xfrm>
          <a:prstGeom prst="curvedLeftArrow">
            <a:avLst>
              <a:gd name="adj1" fmla="val 33442"/>
              <a:gd name="adj2" fmla="val 45813"/>
              <a:gd name="adj3" fmla="val 25000"/>
            </a:avLst>
          </a:prstGeom>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TextBox 15">
            <a:extLst>
              <a:ext uri="{FF2B5EF4-FFF2-40B4-BE49-F238E27FC236}">
                <a16:creationId xmlns:a16="http://schemas.microsoft.com/office/drawing/2014/main" id="{CDA5BCA5-97AA-4130-BFE0-A2003C8C8A23}"/>
              </a:ext>
            </a:extLst>
          </p:cNvPr>
          <p:cNvSpPr txBox="1"/>
          <p:nvPr/>
        </p:nvSpPr>
        <p:spPr>
          <a:xfrm>
            <a:off x="1938972" y="2500244"/>
            <a:ext cx="6996683" cy="400110"/>
          </a:xfrm>
          <a:prstGeom prst="rect">
            <a:avLst/>
          </a:prstGeom>
          <a:noFill/>
        </p:spPr>
        <p:txBody>
          <a:bodyPr wrap="square" rtlCol="0">
            <a:spAutoFit/>
          </a:bodyPr>
          <a:lstStyle/>
          <a:p>
            <a:r>
              <a:rPr lang="en-IN" sz="2000" dirty="0">
                <a:solidFill>
                  <a:schemeClr val="accent1">
                    <a:lumMod val="75000"/>
                  </a:schemeClr>
                </a:solidFill>
              </a:rPr>
              <a:t>Mathematical Formulation of Real-World Phenomenon</a:t>
            </a:r>
          </a:p>
        </p:txBody>
      </p:sp>
      <p:sp>
        <p:nvSpPr>
          <p:cNvPr id="17" name="TextBox 16">
            <a:extLst>
              <a:ext uri="{FF2B5EF4-FFF2-40B4-BE49-F238E27FC236}">
                <a16:creationId xmlns:a16="http://schemas.microsoft.com/office/drawing/2014/main" id="{3A88BF4B-67EC-46B0-B3F8-6DC3F7C1F870}"/>
              </a:ext>
            </a:extLst>
          </p:cNvPr>
          <p:cNvSpPr txBox="1"/>
          <p:nvPr/>
        </p:nvSpPr>
        <p:spPr>
          <a:xfrm>
            <a:off x="1938971" y="2939452"/>
            <a:ext cx="8669286" cy="400110"/>
          </a:xfrm>
          <a:prstGeom prst="rect">
            <a:avLst/>
          </a:prstGeom>
          <a:noFill/>
        </p:spPr>
        <p:txBody>
          <a:bodyPr wrap="square" rtlCol="0">
            <a:spAutoFit/>
          </a:bodyPr>
          <a:lstStyle/>
          <a:p>
            <a:r>
              <a:rPr lang="en-IN" sz="2000" dirty="0"/>
              <a:t>Computational Thinking focuses on the Process of ABSTRACTION</a:t>
            </a:r>
          </a:p>
        </p:txBody>
      </p:sp>
      <p:sp>
        <p:nvSpPr>
          <p:cNvPr id="18" name="TextBox 17">
            <a:extLst>
              <a:ext uri="{FF2B5EF4-FFF2-40B4-BE49-F238E27FC236}">
                <a16:creationId xmlns:a16="http://schemas.microsoft.com/office/drawing/2014/main" id="{7220CFE3-2E60-4601-B974-F2CE4BD78530}"/>
              </a:ext>
            </a:extLst>
          </p:cNvPr>
          <p:cNvSpPr txBox="1"/>
          <p:nvPr/>
        </p:nvSpPr>
        <p:spPr>
          <a:xfrm>
            <a:off x="2217614" y="3515648"/>
            <a:ext cx="8669287" cy="1015663"/>
          </a:xfrm>
          <a:prstGeom prst="rect">
            <a:avLst/>
          </a:prstGeom>
          <a:noFill/>
        </p:spPr>
        <p:txBody>
          <a:bodyPr wrap="square" rtlCol="0">
            <a:spAutoFit/>
          </a:bodyPr>
          <a:lstStyle/>
          <a:p>
            <a:pPr marL="342900" indent="-342900">
              <a:buFont typeface="Arial" panose="020B0604020202020204" pitchFamily="34" charset="0"/>
              <a:buChar char="•"/>
            </a:pPr>
            <a:r>
              <a:rPr lang="en-IN" sz="2000" b="1" dirty="0">
                <a:solidFill>
                  <a:schemeClr val="accent1">
                    <a:lumMod val="75000"/>
                  </a:schemeClr>
                </a:solidFill>
              </a:rPr>
              <a:t>Choosing the right abstraction</a:t>
            </a:r>
          </a:p>
          <a:p>
            <a:pPr marL="342900" indent="-342900">
              <a:buFont typeface="Arial" panose="020B0604020202020204" pitchFamily="34" charset="0"/>
              <a:buChar char="•"/>
            </a:pPr>
            <a:r>
              <a:rPr lang="en-IN" sz="2000" b="1" dirty="0">
                <a:solidFill>
                  <a:schemeClr val="accent1">
                    <a:lumMod val="75000"/>
                  </a:schemeClr>
                </a:solidFill>
              </a:rPr>
              <a:t>Operating in terms of multiple layers of abstraction simultaneously</a:t>
            </a:r>
          </a:p>
          <a:p>
            <a:pPr marL="342900" indent="-342900">
              <a:buFont typeface="Arial" panose="020B0604020202020204" pitchFamily="34" charset="0"/>
              <a:buChar char="•"/>
            </a:pPr>
            <a:r>
              <a:rPr lang="en-IN" sz="2000" b="1" dirty="0">
                <a:solidFill>
                  <a:schemeClr val="accent1">
                    <a:lumMod val="75000"/>
                  </a:schemeClr>
                </a:solidFill>
              </a:rPr>
              <a:t>Defining the relationships between layers</a:t>
            </a:r>
          </a:p>
        </p:txBody>
      </p:sp>
      <p:sp>
        <p:nvSpPr>
          <p:cNvPr id="19" name="TextBox 18">
            <a:extLst>
              <a:ext uri="{FF2B5EF4-FFF2-40B4-BE49-F238E27FC236}">
                <a16:creationId xmlns:a16="http://schemas.microsoft.com/office/drawing/2014/main" id="{5382602D-F18D-4433-8333-665C54E64FDC}"/>
              </a:ext>
            </a:extLst>
          </p:cNvPr>
          <p:cNvSpPr txBox="1"/>
          <p:nvPr/>
        </p:nvSpPr>
        <p:spPr>
          <a:xfrm>
            <a:off x="5267410" y="4790510"/>
            <a:ext cx="4364733" cy="1323439"/>
          </a:xfrm>
          <a:prstGeom prst="rect">
            <a:avLst/>
          </a:prstGeom>
          <a:noFill/>
        </p:spPr>
        <p:txBody>
          <a:bodyPr wrap="square" rtlCol="0">
            <a:spAutoFit/>
          </a:bodyPr>
          <a:lstStyle/>
          <a:p>
            <a:pPr marL="457200" indent="-457200">
              <a:buAutoNum type="arabicPeriod"/>
            </a:pPr>
            <a:r>
              <a:rPr lang="en-IN" sz="2000" b="1" dirty="0">
                <a:solidFill>
                  <a:schemeClr val="accent1">
                    <a:lumMod val="75000"/>
                  </a:schemeClr>
                </a:solidFill>
              </a:rPr>
              <a:t>Machine</a:t>
            </a:r>
          </a:p>
          <a:p>
            <a:pPr marL="457200" indent="-457200">
              <a:buAutoNum type="arabicPeriod"/>
            </a:pPr>
            <a:r>
              <a:rPr lang="en-IN" sz="2000" b="1" dirty="0">
                <a:solidFill>
                  <a:schemeClr val="accent1">
                    <a:lumMod val="75000"/>
                  </a:schemeClr>
                </a:solidFill>
              </a:rPr>
              <a:t>Human</a:t>
            </a:r>
          </a:p>
          <a:p>
            <a:pPr marL="457200" indent="-457200">
              <a:buAutoNum type="arabicPeriod"/>
            </a:pPr>
            <a:r>
              <a:rPr lang="en-IN" sz="2000" b="1" dirty="0">
                <a:solidFill>
                  <a:schemeClr val="accent1">
                    <a:lumMod val="75000"/>
                  </a:schemeClr>
                </a:solidFill>
              </a:rPr>
              <a:t>Human + Machine</a:t>
            </a:r>
          </a:p>
          <a:p>
            <a:pPr marL="457200" indent="-457200">
              <a:buAutoNum type="arabicPeriod"/>
            </a:pPr>
            <a:r>
              <a:rPr lang="en-IN" sz="2000" b="1" dirty="0">
                <a:solidFill>
                  <a:schemeClr val="accent1">
                    <a:lumMod val="75000"/>
                  </a:schemeClr>
                </a:solidFill>
              </a:rPr>
              <a:t>Network of Machine &amp; Human</a:t>
            </a:r>
          </a:p>
        </p:txBody>
      </p:sp>
      <p:sp>
        <p:nvSpPr>
          <p:cNvPr id="20" name="TextBox 19">
            <a:extLst>
              <a:ext uri="{FF2B5EF4-FFF2-40B4-BE49-F238E27FC236}">
                <a16:creationId xmlns:a16="http://schemas.microsoft.com/office/drawing/2014/main" id="{B700DB05-B10C-4BC9-BA46-082986DD07AC}"/>
              </a:ext>
            </a:extLst>
          </p:cNvPr>
          <p:cNvSpPr txBox="1"/>
          <p:nvPr/>
        </p:nvSpPr>
        <p:spPr>
          <a:xfrm>
            <a:off x="6491284" y="3315724"/>
            <a:ext cx="5187571" cy="584775"/>
          </a:xfrm>
          <a:prstGeom prst="rect">
            <a:avLst/>
          </a:prstGeom>
          <a:noFill/>
        </p:spPr>
        <p:txBody>
          <a:bodyPr wrap="square" rtlCol="0">
            <a:spAutoFit/>
          </a:bodyPr>
          <a:lstStyle/>
          <a:p>
            <a:r>
              <a:rPr lang="en-IN" sz="1600" dirty="0"/>
              <a:t>Ignoring Irrelevant details (layer 1)</a:t>
            </a:r>
          </a:p>
          <a:p>
            <a:r>
              <a:rPr lang="en-IN" sz="1600" dirty="0"/>
              <a:t>Encapsulating the details of importance (layer 2) </a:t>
            </a:r>
          </a:p>
        </p:txBody>
      </p:sp>
    </p:spTree>
    <p:extLst>
      <p:ext uri="{BB962C8B-B14F-4D97-AF65-F5344CB8AC3E}">
        <p14:creationId xmlns:p14="http://schemas.microsoft.com/office/powerpoint/2010/main" val="3786405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713F82-C05B-41B8-AAC1-5521E4947B95}"/>
              </a:ext>
            </a:extLst>
          </p:cNvPr>
          <p:cNvSpPr>
            <a:spLocks noGrp="1"/>
          </p:cNvSpPr>
          <p:nvPr>
            <p:ph type="title"/>
          </p:nvPr>
        </p:nvSpPr>
        <p:spPr>
          <a:xfrm>
            <a:off x="1649601" y="468920"/>
            <a:ext cx="8596668" cy="660400"/>
          </a:xfrm>
        </p:spPr>
        <p:txBody>
          <a:bodyPr>
            <a:normAutofit/>
          </a:bodyPr>
          <a:lstStyle/>
          <a:p>
            <a:r>
              <a:rPr lang="en-US" sz="4000" dirty="0"/>
              <a:t>Measure of “Good” Abstraction</a:t>
            </a:r>
          </a:p>
        </p:txBody>
      </p:sp>
      <p:sp>
        <p:nvSpPr>
          <p:cNvPr id="7" name="TextBox 6">
            <a:extLst>
              <a:ext uri="{FF2B5EF4-FFF2-40B4-BE49-F238E27FC236}">
                <a16:creationId xmlns:a16="http://schemas.microsoft.com/office/drawing/2014/main" id="{919A46EC-3A63-4C8C-B408-DFD251E2CE76}"/>
              </a:ext>
            </a:extLst>
          </p:cNvPr>
          <p:cNvSpPr txBox="1"/>
          <p:nvPr/>
        </p:nvSpPr>
        <p:spPr>
          <a:xfrm>
            <a:off x="1703388" y="1198541"/>
            <a:ext cx="3193626" cy="461665"/>
          </a:xfrm>
          <a:prstGeom prst="rect">
            <a:avLst/>
          </a:prstGeom>
          <a:noFill/>
        </p:spPr>
        <p:txBody>
          <a:bodyPr wrap="square" rtlCol="0">
            <a:spAutoFit/>
          </a:bodyPr>
          <a:lstStyle/>
          <a:p>
            <a:r>
              <a:rPr lang="en-IN" sz="2400" b="1" dirty="0"/>
              <a:t>Efficiency</a:t>
            </a:r>
          </a:p>
        </p:txBody>
      </p:sp>
      <p:sp>
        <p:nvSpPr>
          <p:cNvPr id="8" name="TextBox 7">
            <a:extLst>
              <a:ext uri="{FF2B5EF4-FFF2-40B4-BE49-F238E27FC236}">
                <a16:creationId xmlns:a16="http://schemas.microsoft.com/office/drawing/2014/main" id="{303C01DB-3FB5-4FF1-9F68-748EFF187CCD}"/>
              </a:ext>
            </a:extLst>
          </p:cNvPr>
          <p:cNvSpPr txBox="1"/>
          <p:nvPr/>
        </p:nvSpPr>
        <p:spPr>
          <a:xfrm>
            <a:off x="1965854" y="1598651"/>
            <a:ext cx="2680788" cy="1200329"/>
          </a:xfrm>
          <a:prstGeom prst="rect">
            <a:avLst/>
          </a:prstGeom>
          <a:noFill/>
        </p:spPr>
        <p:txBody>
          <a:bodyPr wrap="square" rtlCol="0">
            <a:spAutoFit/>
          </a:bodyPr>
          <a:lstStyle/>
          <a:p>
            <a:pPr marL="342900" indent="-342900">
              <a:buFont typeface="Arial" panose="020B0604020202020204" pitchFamily="34" charset="0"/>
              <a:buChar char="•"/>
            </a:pPr>
            <a:r>
              <a:rPr lang="en-IN" sz="2400" dirty="0">
                <a:solidFill>
                  <a:schemeClr val="accent1">
                    <a:lumMod val="75000"/>
                  </a:schemeClr>
                </a:solidFill>
              </a:rPr>
              <a:t>How Fast?</a:t>
            </a:r>
          </a:p>
          <a:p>
            <a:pPr marL="342900" indent="-342900">
              <a:buFont typeface="Arial" panose="020B0604020202020204" pitchFamily="34" charset="0"/>
              <a:buChar char="•"/>
            </a:pPr>
            <a:r>
              <a:rPr lang="en-IN" sz="2400" dirty="0">
                <a:solidFill>
                  <a:schemeClr val="accent1">
                    <a:lumMod val="75000"/>
                  </a:schemeClr>
                </a:solidFill>
              </a:rPr>
              <a:t>How much space?</a:t>
            </a:r>
          </a:p>
          <a:p>
            <a:pPr marL="342900" indent="-342900">
              <a:buFont typeface="Arial" panose="020B0604020202020204" pitchFamily="34" charset="0"/>
              <a:buChar char="•"/>
            </a:pPr>
            <a:r>
              <a:rPr lang="en-IN" sz="2400" dirty="0">
                <a:solidFill>
                  <a:schemeClr val="accent1">
                    <a:lumMod val="75000"/>
                  </a:schemeClr>
                </a:solidFill>
              </a:rPr>
              <a:t>How much Power?</a:t>
            </a:r>
          </a:p>
        </p:txBody>
      </p:sp>
      <p:sp>
        <p:nvSpPr>
          <p:cNvPr id="20" name="TextBox 19">
            <a:extLst>
              <a:ext uri="{FF2B5EF4-FFF2-40B4-BE49-F238E27FC236}">
                <a16:creationId xmlns:a16="http://schemas.microsoft.com/office/drawing/2014/main" id="{AA3AB749-5E5B-4282-B34E-AE4ADE75C5F8}"/>
              </a:ext>
            </a:extLst>
          </p:cNvPr>
          <p:cNvSpPr txBox="1"/>
          <p:nvPr/>
        </p:nvSpPr>
        <p:spPr>
          <a:xfrm>
            <a:off x="5585444" y="1195249"/>
            <a:ext cx="3193626" cy="461665"/>
          </a:xfrm>
          <a:prstGeom prst="rect">
            <a:avLst/>
          </a:prstGeom>
          <a:noFill/>
        </p:spPr>
        <p:txBody>
          <a:bodyPr wrap="square" rtlCol="0">
            <a:spAutoFit/>
          </a:bodyPr>
          <a:lstStyle/>
          <a:p>
            <a:r>
              <a:rPr lang="en-IN" sz="2400" b="1" dirty="0"/>
              <a:t>Correctness</a:t>
            </a:r>
          </a:p>
        </p:txBody>
      </p:sp>
      <p:sp>
        <p:nvSpPr>
          <p:cNvPr id="21" name="TextBox 20">
            <a:extLst>
              <a:ext uri="{FF2B5EF4-FFF2-40B4-BE49-F238E27FC236}">
                <a16:creationId xmlns:a16="http://schemas.microsoft.com/office/drawing/2014/main" id="{37E8AA4E-97FF-4C7F-A2F8-12471DDA2507}"/>
              </a:ext>
            </a:extLst>
          </p:cNvPr>
          <p:cNvSpPr txBox="1"/>
          <p:nvPr/>
        </p:nvSpPr>
        <p:spPr>
          <a:xfrm>
            <a:off x="5847909" y="1595359"/>
            <a:ext cx="3963553" cy="1200329"/>
          </a:xfrm>
          <a:prstGeom prst="rect">
            <a:avLst/>
          </a:prstGeom>
          <a:noFill/>
        </p:spPr>
        <p:txBody>
          <a:bodyPr wrap="square" rtlCol="0">
            <a:spAutoFit/>
          </a:bodyPr>
          <a:lstStyle/>
          <a:p>
            <a:pPr marL="342900" indent="-342900">
              <a:buFont typeface="Arial" panose="020B0604020202020204" pitchFamily="34" charset="0"/>
              <a:buChar char="•"/>
            </a:pPr>
            <a:r>
              <a:rPr lang="en-IN" sz="2400" dirty="0">
                <a:solidFill>
                  <a:schemeClr val="accent1">
                    <a:lumMod val="75000"/>
                  </a:schemeClr>
                </a:solidFill>
              </a:rPr>
              <a:t>Does it do the right thing?</a:t>
            </a:r>
          </a:p>
          <a:p>
            <a:pPr marL="342900" indent="-342900">
              <a:buFont typeface="Arial" panose="020B0604020202020204" pitchFamily="34" charset="0"/>
              <a:buChar char="•"/>
            </a:pPr>
            <a:r>
              <a:rPr lang="en-IN" sz="2400" dirty="0">
                <a:solidFill>
                  <a:schemeClr val="accent1">
                    <a:lumMod val="75000"/>
                  </a:schemeClr>
                </a:solidFill>
              </a:rPr>
              <a:t>Does it produce an answer? (Halting Problem)</a:t>
            </a:r>
          </a:p>
        </p:txBody>
      </p:sp>
      <p:sp>
        <p:nvSpPr>
          <p:cNvPr id="22" name="TextBox 21">
            <a:extLst>
              <a:ext uri="{FF2B5EF4-FFF2-40B4-BE49-F238E27FC236}">
                <a16:creationId xmlns:a16="http://schemas.microsoft.com/office/drawing/2014/main" id="{190C83D2-8996-4D12-978D-A3C1611AC35F}"/>
              </a:ext>
            </a:extLst>
          </p:cNvPr>
          <p:cNvSpPr txBox="1"/>
          <p:nvPr/>
        </p:nvSpPr>
        <p:spPr>
          <a:xfrm>
            <a:off x="1703389" y="2921487"/>
            <a:ext cx="3193626" cy="461665"/>
          </a:xfrm>
          <a:prstGeom prst="rect">
            <a:avLst/>
          </a:prstGeom>
          <a:noFill/>
        </p:spPr>
        <p:txBody>
          <a:bodyPr wrap="square" rtlCol="0">
            <a:spAutoFit/>
          </a:bodyPr>
          <a:lstStyle/>
          <a:p>
            <a:r>
              <a:rPr lang="en-IN" sz="2400" b="1" dirty="0"/>
              <a:t>Other Qualities</a:t>
            </a:r>
          </a:p>
        </p:txBody>
      </p:sp>
      <p:sp>
        <p:nvSpPr>
          <p:cNvPr id="23" name="TextBox 22">
            <a:extLst>
              <a:ext uri="{FF2B5EF4-FFF2-40B4-BE49-F238E27FC236}">
                <a16:creationId xmlns:a16="http://schemas.microsoft.com/office/drawing/2014/main" id="{77BD9EA9-12E0-4AFA-8756-73B316EFF11E}"/>
              </a:ext>
            </a:extLst>
          </p:cNvPr>
          <p:cNvSpPr txBox="1"/>
          <p:nvPr/>
        </p:nvSpPr>
        <p:spPr>
          <a:xfrm>
            <a:off x="1965854" y="3321597"/>
            <a:ext cx="3963553" cy="1938992"/>
          </a:xfrm>
          <a:prstGeom prst="rect">
            <a:avLst/>
          </a:prstGeom>
          <a:noFill/>
        </p:spPr>
        <p:txBody>
          <a:bodyPr wrap="square" rtlCol="0">
            <a:spAutoFit/>
          </a:bodyPr>
          <a:lstStyle/>
          <a:p>
            <a:pPr marL="342900" indent="-342900">
              <a:buFont typeface="Arial" panose="020B0604020202020204" pitchFamily="34" charset="0"/>
              <a:buChar char="•"/>
            </a:pPr>
            <a:r>
              <a:rPr lang="en-IN" sz="2400" dirty="0">
                <a:solidFill>
                  <a:schemeClr val="accent1">
                    <a:lumMod val="75000"/>
                  </a:schemeClr>
                </a:solidFill>
              </a:rPr>
              <a:t>Is it Usable?</a:t>
            </a:r>
          </a:p>
          <a:p>
            <a:pPr marL="342900" indent="-342900">
              <a:buFont typeface="Arial" panose="020B0604020202020204" pitchFamily="34" charset="0"/>
              <a:buChar char="•"/>
            </a:pPr>
            <a:r>
              <a:rPr lang="en-IN" sz="2400" dirty="0">
                <a:solidFill>
                  <a:schemeClr val="accent1">
                    <a:lumMod val="75000"/>
                  </a:schemeClr>
                </a:solidFill>
              </a:rPr>
              <a:t>Is it Modifiable?</a:t>
            </a:r>
          </a:p>
          <a:p>
            <a:pPr marL="342900" indent="-342900">
              <a:buFont typeface="Arial" panose="020B0604020202020204" pitchFamily="34" charset="0"/>
              <a:buChar char="•"/>
            </a:pPr>
            <a:r>
              <a:rPr lang="en-IN" sz="2400" dirty="0">
                <a:solidFill>
                  <a:schemeClr val="accent1">
                    <a:lumMod val="75000"/>
                  </a:schemeClr>
                </a:solidFill>
              </a:rPr>
              <a:t>Is it Maintainable?</a:t>
            </a:r>
          </a:p>
          <a:p>
            <a:pPr marL="342900" indent="-342900">
              <a:buFont typeface="Arial" panose="020B0604020202020204" pitchFamily="34" charset="0"/>
              <a:buChar char="•"/>
            </a:pPr>
            <a:r>
              <a:rPr lang="en-IN" sz="2400" dirty="0">
                <a:solidFill>
                  <a:schemeClr val="accent1">
                    <a:lumMod val="75000"/>
                  </a:schemeClr>
                </a:solidFill>
              </a:rPr>
              <a:t>Is it too costly?</a:t>
            </a:r>
          </a:p>
          <a:p>
            <a:pPr marL="342900" indent="-342900">
              <a:buFont typeface="Arial" panose="020B0604020202020204" pitchFamily="34" charset="0"/>
              <a:buChar char="•"/>
            </a:pPr>
            <a:r>
              <a:rPr lang="en-IN" sz="2400" dirty="0">
                <a:solidFill>
                  <a:schemeClr val="accent1">
                    <a:lumMod val="75000"/>
                  </a:schemeClr>
                </a:solidFill>
              </a:rPr>
              <a:t>Is it simple &amp; elegant?</a:t>
            </a:r>
          </a:p>
        </p:txBody>
      </p:sp>
    </p:spTree>
    <p:extLst>
      <p:ext uri="{BB962C8B-B14F-4D97-AF65-F5344CB8AC3E}">
        <p14:creationId xmlns:p14="http://schemas.microsoft.com/office/powerpoint/2010/main" val="3232751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20" grpId="0"/>
      <p:bldP spid="21" grpId="0"/>
      <p:bldP spid="22" grpId="0"/>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7B6A7AC-4A9B-4B9F-B096-F6A01B2042DB}"/>
              </a:ext>
            </a:extLst>
          </p:cNvPr>
          <p:cNvSpPr>
            <a:spLocks noGrp="1"/>
          </p:cNvSpPr>
          <p:nvPr>
            <p:ph type="title"/>
          </p:nvPr>
        </p:nvSpPr>
        <p:spPr>
          <a:xfrm>
            <a:off x="607884" y="645458"/>
            <a:ext cx="9982951" cy="770965"/>
          </a:xfrm>
        </p:spPr>
        <p:txBody>
          <a:bodyPr>
            <a:normAutofit fontScale="90000"/>
          </a:bodyPr>
          <a:lstStyle/>
          <a:p>
            <a:r>
              <a:rPr lang="en-IN" sz="3600" dirty="0"/>
              <a:t>Computational Thinking: What it is and is not?</a:t>
            </a:r>
          </a:p>
        </p:txBody>
      </p:sp>
      <p:sp>
        <p:nvSpPr>
          <p:cNvPr id="2" name="TextBox 1">
            <a:extLst>
              <a:ext uri="{FF2B5EF4-FFF2-40B4-BE49-F238E27FC236}">
                <a16:creationId xmlns:a16="http://schemas.microsoft.com/office/drawing/2014/main" id="{1FDBC590-6449-E281-163F-9F1F5397EEFB}"/>
              </a:ext>
            </a:extLst>
          </p:cNvPr>
          <p:cNvSpPr txBox="1"/>
          <p:nvPr/>
        </p:nvSpPr>
        <p:spPr>
          <a:xfrm>
            <a:off x="79841" y="1416423"/>
            <a:ext cx="12042710" cy="5324535"/>
          </a:xfrm>
          <a:prstGeom prst="rect">
            <a:avLst/>
          </a:prstGeom>
          <a:noFill/>
        </p:spPr>
        <p:txBody>
          <a:bodyPr wrap="square" rtlCol="0">
            <a:spAutoFit/>
          </a:bodyPr>
          <a:lstStyle/>
          <a:p>
            <a:pPr algn="just"/>
            <a:r>
              <a:rPr lang="en-US" sz="1700" b="1" i="0" dirty="0">
                <a:solidFill>
                  <a:srgbClr val="374151"/>
                </a:solidFill>
                <a:effectLst/>
                <a:latin typeface="Söhne"/>
              </a:rPr>
              <a:t>Key Components of Computational Thinking:</a:t>
            </a:r>
            <a:endParaRPr lang="en-US" sz="1700" b="0" i="0" dirty="0">
              <a:solidFill>
                <a:srgbClr val="374151"/>
              </a:solidFill>
              <a:effectLst/>
              <a:latin typeface="Söhne"/>
            </a:endParaRPr>
          </a:p>
          <a:p>
            <a:pPr algn="just">
              <a:buFont typeface="+mj-lt"/>
              <a:buAutoNum type="arabicPeriod"/>
            </a:pPr>
            <a:r>
              <a:rPr lang="en-US" sz="1700" b="1" i="0" dirty="0">
                <a:solidFill>
                  <a:srgbClr val="374151"/>
                </a:solidFill>
                <a:effectLst/>
                <a:latin typeface="Söhne"/>
              </a:rPr>
              <a:t> Decomposition:</a:t>
            </a:r>
            <a:endParaRPr lang="en-US" sz="1700" b="0" i="0" dirty="0">
              <a:solidFill>
                <a:srgbClr val="374151"/>
              </a:solidFill>
              <a:effectLst/>
              <a:latin typeface="Söhne"/>
            </a:endParaRPr>
          </a:p>
          <a:p>
            <a:pPr lvl="1" algn="just"/>
            <a:r>
              <a:rPr lang="en-US" sz="1700" b="0" i="0" dirty="0">
                <a:solidFill>
                  <a:srgbClr val="374151"/>
                </a:solidFill>
                <a:effectLst/>
                <a:latin typeface="Söhne"/>
              </a:rPr>
              <a:t>Breaking down a problem into smaller, more manageable sub-problems or tasks.</a:t>
            </a:r>
          </a:p>
          <a:p>
            <a:pPr algn="just">
              <a:buFont typeface="+mj-lt"/>
              <a:buAutoNum type="arabicPeriod"/>
            </a:pPr>
            <a:r>
              <a:rPr lang="en-US" sz="1700" b="1" i="0" dirty="0">
                <a:solidFill>
                  <a:srgbClr val="374151"/>
                </a:solidFill>
                <a:effectLst/>
                <a:latin typeface="Söhne"/>
              </a:rPr>
              <a:t> Pattern Recognition:</a:t>
            </a:r>
            <a:endParaRPr lang="en-US" sz="1700" b="0" i="0" dirty="0">
              <a:solidFill>
                <a:srgbClr val="374151"/>
              </a:solidFill>
              <a:effectLst/>
              <a:latin typeface="Söhne"/>
            </a:endParaRPr>
          </a:p>
          <a:p>
            <a:pPr lvl="1" algn="just"/>
            <a:r>
              <a:rPr lang="en-US" sz="1700" b="0" i="0" dirty="0">
                <a:solidFill>
                  <a:srgbClr val="374151"/>
                </a:solidFill>
                <a:effectLst/>
                <a:latin typeface="Söhne"/>
              </a:rPr>
              <a:t>Identifying trends, commonalities, or patterns within data or problems to simplify the solution process.</a:t>
            </a:r>
          </a:p>
          <a:p>
            <a:pPr algn="just">
              <a:buFont typeface="+mj-lt"/>
              <a:buAutoNum type="arabicPeriod"/>
            </a:pPr>
            <a:r>
              <a:rPr lang="en-US" sz="1700" b="1" i="0" dirty="0">
                <a:solidFill>
                  <a:srgbClr val="374151"/>
                </a:solidFill>
                <a:effectLst/>
                <a:latin typeface="Söhne"/>
              </a:rPr>
              <a:t> Abstraction:</a:t>
            </a:r>
            <a:endParaRPr lang="en-US" sz="1700" b="0" i="0" dirty="0">
              <a:solidFill>
                <a:srgbClr val="374151"/>
              </a:solidFill>
              <a:effectLst/>
              <a:latin typeface="Söhne"/>
            </a:endParaRPr>
          </a:p>
          <a:p>
            <a:pPr lvl="1" algn="just"/>
            <a:r>
              <a:rPr lang="en-US" sz="1700" b="0" i="0" dirty="0">
                <a:solidFill>
                  <a:srgbClr val="374151"/>
                </a:solidFill>
                <a:effectLst/>
                <a:latin typeface="Söhne"/>
              </a:rPr>
              <a:t>Focusing on the essential details while ignoring irrelevant information, creating a simplified representation of the problem.</a:t>
            </a:r>
          </a:p>
          <a:p>
            <a:pPr algn="just">
              <a:buFont typeface="+mj-lt"/>
              <a:buAutoNum type="arabicPeriod"/>
            </a:pPr>
            <a:r>
              <a:rPr lang="en-US" sz="1700" b="1" i="0" dirty="0">
                <a:solidFill>
                  <a:srgbClr val="374151"/>
                </a:solidFill>
                <a:effectLst/>
                <a:latin typeface="Söhne"/>
              </a:rPr>
              <a:t> Algorithmic Design:</a:t>
            </a:r>
            <a:endParaRPr lang="en-US" sz="1700" b="0" i="0" dirty="0">
              <a:solidFill>
                <a:srgbClr val="374151"/>
              </a:solidFill>
              <a:effectLst/>
              <a:latin typeface="Söhne"/>
            </a:endParaRPr>
          </a:p>
          <a:p>
            <a:pPr lvl="1" algn="just"/>
            <a:r>
              <a:rPr lang="en-US" sz="1700" b="0" i="0" dirty="0">
                <a:solidFill>
                  <a:srgbClr val="374151"/>
                </a:solidFill>
                <a:effectLst/>
                <a:latin typeface="Söhne"/>
              </a:rPr>
              <a:t>Developing a step-by-step solution or set of instructions to solve a problem, much like creating a recipe.</a:t>
            </a:r>
          </a:p>
          <a:p>
            <a:pPr algn="just"/>
            <a:endParaRPr lang="en-GB" sz="1700" dirty="0"/>
          </a:p>
          <a:p>
            <a:pPr algn="just"/>
            <a:r>
              <a:rPr lang="en-US" sz="1700" b="1" i="0" dirty="0">
                <a:solidFill>
                  <a:srgbClr val="374151"/>
                </a:solidFill>
                <a:effectLst/>
                <a:latin typeface="Söhne"/>
              </a:rPr>
              <a:t>What Computational Thinking is NOT:</a:t>
            </a:r>
            <a:endParaRPr lang="en-US" sz="1700" b="0" i="0" dirty="0">
              <a:solidFill>
                <a:srgbClr val="374151"/>
              </a:solidFill>
              <a:effectLst/>
              <a:latin typeface="Söhne"/>
            </a:endParaRPr>
          </a:p>
          <a:p>
            <a:pPr algn="just">
              <a:buFont typeface="+mj-lt"/>
              <a:buAutoNum type="arabicPeriod"/>
            </a:pPr>
            <a:r>
              <a:rPr lang="en-US" sz="1700" b="1" i="0" dirty="0">
                <a:solidFill>
                  <a:srgbClr val="374151"/>
                </a:solidFill>
                <a:effectLst/>
                <a:latin typeface="Söhne"/>
              </a:rPr>
              <a:t> Programming-only:</a:t>
            </a:r>
            <a:endParaRPr lang="en-US" sz="1700" b="0" i="0" dirty="0">
              <a:solidFill>
                <a:srgbClr val="374151"/>
              </a:solidFill>
              <a:effectLst/>
              <a:latin typeface="Söhne"/>
            </a:endParaRPr>
          </a:p>
          <a:p>
            <a:pPr lvl="1" algn="just"/>
            <a:r>
              <a:rPr lang="en-US" sz="1700" b="0" i="0" dirty="0">
                <a:solidFill>
                  <a:srgbClr val="374151"/>
                </a:solidFill>
                <a:effectLst/>
                <a:latin typeface="Söhne"/>
              </a:rPr>
              <a:t>Computational thinking is not limited to programming. While coding is a useful application, CT is a broader problem-solving approach applicable in various disciplines.</a:t>
            </a:r>
          </a:p>
          <a:p>
            <a:pPr algn="just">
              <a:buFont typeface="+mj-lt"/>
              <a:buAutoNum type="arabicPeriod"/>
            </a:pPr>
            <a:r>
              <a:rPr lang="en-US" sz="1700" b="1" i="0" dirty="0">
                <a:solidFill>
                  <a:srgbClr val="374151"/>
                </a:solidFill>
                <a:effectLst/>
                <a:latin typeface="Söhne"/>
              </a:rPr>
              <a:t> Technology-exclusive:</a:t>
            </a:r>
            <a:endParaRPr lang="en-US" sz="1700" b="0" i="0" dirty="0">
              <a:solidFill>
                <a:srgbClr val="374151"/>
              </a:solidFill>
              <a:effectLst/>
              <a:latin typeface="Söhne"/>
            </a:endParaRPr>
          </a:p>
          <a:p>
            <a:pPr lvl="1" algn="just"/>
            <a:r>
              <a:rPr lang="en-US" sz="1700" b="0" i="0" dirty="0">
                <a:solidFill>
                  <a:srgbClr val="374151"/>
                </a:solidFill>
                <a:effectLst/>
                <a:latin typeface="Söhne"/>
              </a:rPr>
              <a:t>CT is not exclusive to technology fields. Its principles can be applied in diverse areas, such as business, science, and everyday life.</a:t>
            </a:r>
          </a:p>
          <a:p>
            <a:pPr algn="just">
              <a:buFont typeface="+mj-lt"/>
              <a:buAutoNum type="arabicPeriod"/>
            </a:pPr>
            <a:r>
              <a:rPr lang="en-US" sz="1700" b="1" i="0" dirty="0">
                <a:solidFill>
                  <a:srgbClr val="374151"/>
                </a:solidFill>
                <a:effectLst/>
                <a:latin typeface="Söhne"/>
              </a:rPr>
              <a:t> Reserved for Experts:</a:t>
            </a:r>
            <a:endParaRPr lang="en-US" sz="1700" b="0" i="0" dirty="0">
              <a:solidFill>
                <a:srgbClr val="374151"/>
              </a:solidFill>
              <a:effectLst/>
              <a:latin typeface="Söhne"/>
            </a:endParaRPr>
          </a:p>
          <a:p>
            <a:pPr lvl="1" algn="just"/>
            <a:r>
              <a:rPr lang="en-US" sz="1700" b="0" i="0" dirty="0">
                <a:solidFill>
                  <a:srgbClr val="374151"/>
                </a:solidFill>
                <a:effectLst/>
                <a:latin typeface="Söhne"/>
              </a:rPr>
              <a:t>CT is not only for computer scientists or experts. It is a skill that can be developed and applied by individuals from various backgrounds and age groups.</a:t>
            </a:r>
          </a:p>
          <a:p>
            <a:pPr algn="just"/>
            <a:endParaRPr lang="en-GB" sz="1700" dirty="0"/>
          </a:p>
        </p:txBody>
      </p:sp>
    </p:spTree>
    <p:extLst>
      <p:ext uri="{BB962C8B-B14F-4D97-AF65-F5344CB8AC3E}">
        <p14:creationId xmlns:p14="http://schemas.microsoft.com/office/powerpoint/2010/main" val="3268006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B5E763-A37F-4993-BB57-4B72DA535683}"/>
              </a:ext>
            </a:extLst>
          </p:cNvPr>
          <p:cNvSpPr txBox="1"/>
          <p:nvPr/>
        </p:nvSpPr>
        <p:spPr>
          <a:xfrm>
            <a:off x="1473204" y="1739153"/>
            <a:ext cx="3302996" cy="430887"/>
          </a:xfrm>
          <a:prstGeom prst="rect">
            <a:avLst/>
          </a:prstGeom>
          <a:ln w="38100">
            <a:tailEnd type="stealth" w="lg" len="lg"/>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en-US"/>
            </a:defPPr>
            <a:lvl1pPr marL="342900" indent="-342900">
              <a:buFont typeface="Arial" panose="020B0604020202020204" pitchFamily="34" charset="0"/>
              <a:buChar char="•"/>
              <a:defRPr sz="2000" b="1">
                <a:solidFill>
                  <a:schemeClr val="accent1">
                    <a:lumMod val="75000"/>
                  </a:schemeClr>
                </a:solidFill>
              </a:defRPr>
            </a:lvl1pPr>
            <a:lvl2pPr marL="800100" lvl="1" indent="-342900">
              <a:buFont typeface="Arial" panose="020B0604020202020204" pitchFamily="34" charset="0"/>
              <a:buChar char="•"/>
              <a:defRPr sz="2000"/>
            </a:lvl2pPr>
          </a:lstStyle>
          <a:p>
            <a:pPr marL="104775" lvl="1" indent="0" algn="ctr" defTabSz="447675">
              <a:buNone/>
            </a:pPr>
            <a:r>
              <a:rPr lang="en-US" sz="2200" b="1" dirty="0">
                <a:solidFill>
                  <a:schemeClr val="accent1">
                    <a:lumMod val="75000"/>
                  </a:schemeClr>
                </a:solidFill>
              </a:rPr>
              <a:t>Formulating a Problem</a:t>
            </a:r>
            <a:endParaRPr lang="en-IN" sz="2200" b="1" dirty="0">
              <a:solidFill>
                <a:schemeClr val="accent1">
                  <a:lumMod val="75000"/>
                </a:schemeClr>
              </a:solidFill>
            </a:endParaRPr>
          </a:p>
        </p:txBody>
      </p:sp>
      <p:sp>
        <p:nvSpPr>
          <p:cNvPr id="6" name="Title 1">
            <a:extLst>
              <a:ext uri="{FF2B5EF4-FFF2-40B4-BE49-F238E27FC236}">
                <a16:creationId xmlns:a16="http://schemas.microsoft.com/office/drawing/2014/main" id="{17B6A7AC-4A9B-4B9F-B096-F6A01B2042DB}"/>
              </a:ext>
            </a:extLst>
          </p:cNvPr>
          <p:cNvSpPr>
            <a:spLocks noGrp="1"/>
          </p:cNvSpPr>
          <p:nvPr>
            <p:ph type="title"/>
          </p:nvPr>
        </p:nvSpPr>
        <p:spPr>
          <a:xfrm>
            <a:off x="677333" y="645459"/>
            <a:ext cx="9040407" cy="645460"/>
          </a:xfrm>
        </p:spPr>
        <p:txBody>
          <a:bodyPr>
            <a:normAutofit/>
          </a:bodyPr>
          <a:lstStyle/>
          <a:p>
            <a:r>
              <a:rPr lang="en-IN" sz="3600" dirty="0"/>
              <a:t>Computational Thinking</a:t>
            </a:r>
          </a:p>
        </p:txBody>
      </p:sp>
      <p:sp>
        <p:nvSpPr>
          <p:cNvPr id="12" name="TextBox 11">
            <a:extLst>
              <a:ext uri="{FF2B5EF4-FFF2-40B4-BE49-F238E27FC236}">
                <a16:creationId xmlns:a16="http://schemas.microsoft.com/office/drawing/2014/main" id="{F257239B-2FA9-4EFB-895B-B56F9201F2CB}"/>
              </a:ext>
            </a:extLst>
          </p:cNvPr>
          <p:cNvSpPr txBox="1"/>
          <p:nvPr/>
        </p:nvSpPr>
        <p:spPr>
          <a:xfrm>
            <a:off x="910414" y="3791241"/>
            <a:ext cx="8233586" cy="1200329"/>
          </a:xfrm>
          <a:prstGeom prst="rect">
            <a:avLst/>
          </a:prstGeom>
          <a:noFill/>
        </p:spPr>
        <p:txBody>
          <a:bodyPr wrap="square" rtlCol="0">
            <a:spAutoFit/>
          </a:bodyPr>
          <a:lstStyle/>
          <a:p>
            <a:r>
              <a:rPr lang="en-IN" sz="2400" dirty="0">
                <a:solidFill>
                  <a:schemeClr val="accent1">
                    <a:lumMod val="75000"/>
                  </a:schemeClr>
                </a:solidFill>
              </a:rPr>
              <a:t>For Example:</a:t>
            </a:r>
          </a:p>
          <a:p>
            <a:pPr marL="342900" indent="-342900">
              <a:buFont typeface="Arial" panose="020B0604020202020204" pitchFamily="34" charset="0"/>
              <a:buChar char="•"/>
            </a:pPr>
            <a:r>
              <a:rPr lang="en-IN" sz="2400" dirty="0">
                <a:solidFill>
                  <a:schemeClr val="accent1">
                    <a:lumMod val="75000"/>
                  </a:schemeClr>
                </a:solidFill>
              </a:rPr>
              <a:t>Brushing Teeth</a:t>
            </a:r>
          </a:p>
          <a:p>
            <a:pPr marL="342900" indent="-342900">
              <a:buFont typeface="Arial" panose="020B0604020202020204" pitchFamily="34" charset="0"/>
              <a:buChar char="•"/>
            </a:pPr>
            <a:r>
              <a:rPr lang="en-IN" sz="2400" dirty="0">
                <a:solidFill>
                  <a:schemeClr val="accent1">
                    <a:lumMod val="75000"/>
                  </a:schemeClr>
                </a:solidFill>
              </a:rPr>
              <a:t>Reaching Home to College, etc</a:t>
            </a:r>
          </a:p>
        </p:txBody>
      </p:sp>
      <p:grpSp>
        <p:nvGrpSpPr>
          <p:cNvPr id="16" name="Group 15">
            <a:extLst>
              <a:ext uri="{FF2B5EF4-FFF2-40B4-BE49-F238E27FC236}">
                <a16:creationId xmlns:a16="http://schemas.microsoft.com/office/drawing/2014/main" id="{16D32429-D6EA-441C-BACB-1AAA411FC5C5}"/>
              </a:ext>
            </a:extLst>
          </p:cNvPr>
          <p:cNvGrpSpPr/>
          <p:nvPr/>
        </p:nvGrpSpPr>
        <p:grpSpPr>
          <a:xfrm>
            <a:off x="4776200" y="1739153"/>
            <a:ext cx="4134718" cy="430887"/>
            <a:chOff x="4776200" y="1739153"/>
            <a:chExt cx="4134718" cy="430887"/>
          </a:xfrm>
        </p:grpSpPr>
        <p:sp>
          <p:nvSpPr>
            <p:cNvPr id="7" name="TextBox 6">
              <a:extLst>
                <a:ext uri="{FF2B5EF4-FFF2-40B4-BE49-F238E27FC236}">
                  <a16:creationId xmlns:a16="http://schemas.microsoft.com/office/drawing/2014/main" id="{546D37E0-4977-4F73-96F8-E2A11D774171}"/>
                </a:ext>
              </a:extLst>
            </p:cNvPr>
            <p:cNvSpPr txBox="1"/>
            <p:nvPr/>
          </p:nvSpPr>
          <p:spPr>
            <a:xfrm>
              <a:off x="5607922" y="1739153"/>
              <a:ext cx="3302996" cy="430887"/>
            </a:xfrm>
            <a:prstGeom prst="rect">
              <a:avLst/>
            </a:prstGeom>
            <a:ln w="38100">
              <a:tailEnd type="stealth" w="lg" len="lg"/>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en-US"/>
              </a:defPPr>
              <a:lvl1pPr marL="342900" indent="-342900">
                <a:buFont typeface="Arial" panose="020B0604020202020204" pitchFamily="34" charset="0"/>
                <a:buChar char="•"/>
                <a:defRPr sz="2000" b="1">
                  <a:solidFill>
                    <a:schemeClr val="accent1">
                      <a:lumMod val="75000"/>
                    </a:schemeClr>
                  </a:solidFill>
                </a:defRPr>
              </a:lvl1pPr>
              <a:lvl2pPr marL="800100" lvl="1" indent="-342900">
                <a:buFont typeface="Arial" panose="020B0604020202020204" pitchFamily="34" charset="0"/>
                <a:buChar char="•"/>
                <a:defRPr sz="2000"/>
              </a:lvl2pPr>
            </a:lstStyle>
            <a:p>
              <a:pPr marL="104775" lvl="1" indent="0" algn="ctr" defTabSz="447675">
                <a:buNone/>
              </a:pPr>
              <a:r>
                <a:rPr lang="en-US" sz="2200" b="1" dirty="0">
                  <a:solidFill>
                    <a:schemeClr val="accent1">
                      <a:lumMod val="75000"/>
                    </a:schemeClr>
                  </a:solidFill>
                </a:rPr>
                <a:t>Expressing its solution</a:t>
              </a:r>
              <a:endParaRPr lang="en-IN" sz="2200" b="1" dirty="0">
                <a:solidFill>
                  <a:schemeClr val="accent1">
                    <a:lumMod val="75000"/>
                  </a:schemeClr>
                </a:solidFill>
              </a:endParaRPr>
            </a:p>
          </p:txBody>
        </p:sp>
        <p:cxnSp>
          <p:nvCxnSpPr>
            <p:cNvPr id="3" name="Straight Arrow Connector 2">
              <a:extLst>
                <a:ext uri="{FF2B5EF4-FFF2-40B4-BE49-F238E27FC236}">
                  <a16:creationId xmlns:a16="http://schemas.microsoft.com/office/drawing/2014/main" id="{49934B96-25B3-49D0-AED7-C102A8D207A5}"/>
                </a:ext>
              </a:extLst>
            </p:cNvPr>
            <p:cNvCxnSpPr>
              <a:stCxn id="5" idx="3"/>
              <a:endCxn id="7" idx="1"/>
            </p:cNvCxnSpPr>
            <p:nvPr/>
          </p:nvCxnSpPr>
          <p:spPr>
            <a:xfrm>
              <a:off x="4776200" y="1954597"/>
              <a:ext cx="831722" cy="0"/>
            </a:xfrm>
            <a:prstGeom prst="straightConnector1">
              <a:avLst/>
            </a:prstGeom>
            <a:ln w="38100">
              <a:tailEnd type="stealth" w="lg" len="lg"/>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D3B811A7-4CF0-4171-A8F7-F37FF9A41408}"/>
              </a:ext>
            </a:extLst>
          </p:cNvPr>
          <p:cNvGrpSpPr/>
          <p:nvPr/>
        </p:nvGrpSpPr>
        <p:grpSpPr>
          <a:xfrm>
            <a:off x="2969807" y="2170040"/>
            <a:ext cx="4417113" cy="1154383"/>
            <a:chOff x="2969807" y="2170040"/>
            <a:chExt cx="4417113" cy="1154383"/>
          </a:xfrm>
        </p:grpSpPr>
        <p:sp>
          <p:nvSpPr>
            <p:cNvPr id="8" name="TextBox 7">
              <a:extLst>
                <a:ext uri="{FF2B5EF4-FFF2-40B4-BE49-F238E27FC236}">
                  <a16:creationId xmlns:a16="http://schemas.microsoft.com/office/drawing/2014/main" id="{F1D7F794-C93A-43F3-B8A9-644D44BDACCF}"/>
                </a:ext>
              </a:extLst>
            </p:cNvPr>
            <p:cNvSpPr txBox="1"/>
            <p:nvPr/>
          </p:nvSpPr>
          <p:spPr>
            <a:xfrm>
              <a:off x="2969807" y="2893536"/>
              <a:ext cx="4417113" cy="430887"/>
            </a:xfrm>
            <a:prstGeom prst="rect">
              <a:avLst/>
            </a:prstGeom>
            <a:ln w="38100">
              <a:tailEnd type="stealth" w="lg" len="lg"/>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en-US"/>
              </a:defPPr>
              <a:lvl1pPr marL="342900" indent="-342900">
                <a:buFont typeface="Arial" panose="020B0604020202020204" pitchFamily="34" charset="0"/>
                <a:buChar char="•"/>
                <a:defRPr sz="2000" b="1">
                  <a:solidFill>
                    <a:schemeClr val="accent1">
                      <a:lumMod val="75000"/>
                    </a:schemeClr>
                  </a:solidFill>
                </a:defRPr>
              </a:lvl1pPr>
              <a:lvl2pPr marL="800100" lvl="1" indent="-342900">
                <a:buFont typeface="Arial" panose="020B0604020202020204" pitchFamily="34" charset="0"/>
                <a:buChar char="•"/>
                <a:defRPr sz="2000"/>
              </a:lvl2pPr>
            </a:lstStyle>
            <a:p>
              <a:pPr marL="104775" lvl="1" indent="0" algn="ctr" defTabSz="447675">
                <a:buNone/>
              </a:pPr>
              <a:r>
                <a:rPr lang="en-US" sz="2200" b="1" dirty="0">
                  <a:solidFill>
                    <a:schemeClr val="accent1">
                      <a:lumMod val="75000"/>
                    </a:schemeClr>
                  </a:solidFill>
                </a:rPr>
                <a:t>Computer, Human, or Machine</a:t>
              </a:r>
              <a:endParaRPr lang="en-IN" sz="2200" b="1" dirty="0">
                <a:solidFill>
                  <a:schemeClr val="accent1">
                    <a:lumMod val="75000"/>
                  </a:schemeClr>
                </a:solidFill>
              </a:endParaRPr>
            </a:p>
          </p:txBody>
        </p:sp>
        <p:cxnSp>
          <p:nvCxnSpPr>
            <p:cNvPr id="10" name="Straight Arrow Connector 9">
              <a:extLst>
                <a:ext uri="{FF2B5EF4-FFF2-40B4-BE49-F238E27FC236}">
                  <a16:creationId xmlns:a16="http://schemas.microsoft.com/office/drawing/2014/main" id="{E082AE84-75AB-4D05-8C8B-5295185AAF85}"/>
                </a:ext>
              </a:extLst>
            </p:cNvPr>
            <p:cNvCxnSpPr>
              <a:cxnSpLocks/>
              <a:stCxn id="5" idx="2"/>
              <a:endCxn id="8" idx="0"/>
            </p:cNvCxnSpPr>
            <p:nvPr/>
          </p:nvCxnSpPr>
          <p:spPr>
            <a:xfrm>
              <a:off x="3124702" y="2170040"/>
              <a:ext cx="2053662" cy="723496"/>
            </a:xfrm>
            <a:prstGeom prst="straightConnector1">
              <a:avLst/>
            </a:prstGeom>
            <a:ln w="38100">
              <a:tailEnd type="stealth"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780066D-7DA7-4AE5-BD96-76CEA3017866}"/>
                </a:ext>
              </a:extLst>
            </p:cNvPr>
            <p:cNvCxnSpPr>
              <a:cxnSpLocks/>
              <a:stCxn id="7" idx="2"/>
              <a:endCxn id="8" idx="0"/>
            </p:cNvCxnSpPr>
            <p:nvPr/>
          </p:nvCxnSpPr>
          <p:spPr>
            <a:xfrm flipH="1">
              <a:off x="5178364" y="2170040"/>
              <a:ext cx="2081056" cy="723496"/>
            </a:xfrm>
            <a:prstGeom prst="straightConnector1">
              <a:avLst/>
            </a:prstGeom>
            <a:ln w="38100">
              <a:tailEnd type="stealth"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07792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B5E763-A37F-4993-BB57-4B72DA535683}"/>
              </a:ext>
            </a:extLst>
          </p:cNvPr>
          <p:cNvSpPr txBox="1"/>
          <p:nvPr/>
        </p:nvSpPr>
        <p:spPr>
          <a:xfrm>
            <a:off x="677332" y="1416423"/>
            <a:ext cx="8807327" cy="4308872"/>
          </a:xfrm>
          <a:prstGeom prst="rect">
            <a:avLst/>
          </a:prstGeom>
          <a:noFill/>
        </p:spPr>
        <p:txBody>
          <a:bodyPr wrap="square" rtlCol="0">
            <a:spAutoFit/>
          </a:bodyPr>
          <a:lstStyle>
            <a:defPPr>
              <a:defRPr lang="en-US"/>
            </a:defPPr>
            <a:lvl1pPr marL="342900" indent="-342900">
              <a:buFont typeface="Arial" panose="020B0604020202020204" pitchFamily="34" charset="0"/>
              <a:buChar char="•"/>
              <a:defRPr sz="2000" b="1">
                <a:solidFill>
                  <a:schemeClr val="accent1">
                    <a:lumMod val="75000"/>
                  </a:schemeClr>
                </a:solidFill>
              </a:defRPr>
            </a:lvl1pPr>
            <a:lvl2pPr marL="800100" lvl="1" indent="-342900">
              <a:buFont typeface="Arial" panose="020B0604020202020204" pitchFamily="34" charset="0"/>
              <a:buChar char="•"/>
              <a:defRPr sz="2000"/>
            </a:lvl2pPr>
          </a:lstStyle>
          <a:p>
            <a:pPr marL="104775" lvl="1" indent="0" algn="just" defTabSz="447675">
              <a:buNone/>
            </a:pPr>
            <a:r>
              <a:rPr lang="en-US" sz="2200" dirty="0">
                <a:solidFill>
                  <a:schemeClr val="accent1">
                    <a:lumMod val="75000"/>
                  </a:schemeClr>
                </a:solidFill>
              </a:rPr>
              <a:t>Let’s say you need to decide what to do with your class. If all of you like different things, you would need to decide:</a:t>
            </a:r>
          </a:p>
          <a:p>
            <a:pPr marL="904875" lvl="3" indent="-342900" algn="just" defTabSz="447675">
              <a:buFont typeface="Arial" panose="020B0604020202020204" pitchFamily="34" charset="0"/>
              <a:buChar char="•"/>
            </a:pPr>
            <a:r>
              <a:rPr lang="en-US" sz="2000" dirty="0"/>
              <a:t>What you could do?</a:t>
            </a:r>
          </a:p>
          <a:p>
            <a:pPr marL="904875" lvl="3" indent="-342900" algn="just" defTabSz="447675">
              <a:buFont typeface="Arial" panose="020B0604020202020204" pitchFamily="34" charset="0"/>
              <a:buChar char="•"/>
            </a:pPr>
            <a:r>
              <a:rPr lang="en-US" sz="2000" dirty="0"/>
              <a:t>Where you could go?</a:t>
            </a:r>
          </a:p>
          <a:p>
            <a:pPr marL="904875" lvl="3" indent="-342900" algn="just" defTabSz="447675">
              <a:buFont typeface="Arial" panose="020B0604020202020204" pitchFamily="34" charset="0"/>
              <a:buChar char="•"/>
            </a:pPr>
            <a:r>
              <a:rPr lang="en-US" sz="2000" dirty="0"/>
              <a:t>Who wants to do what?</a:t>
            </a:r>
          </a:p>
          <a:p>
            <a:pPr marL="904875" lvl="3" indent="-342900" algn="just" defTabSz="447675">
              <a:buFont typeface="Arial" panose="020B0604020202020204" pitchFamily="34" charset="0"/>
              <a:buChar char="•"/>
            </a:pPr>
            <a:r>
              <a:rPr lang="en-US" sz="2000" dirty="0"/>
              <a:t>What have you previously done that has been a success in the past?</a:t>
            </a:r>
          </a:p>
          <a:p>
            <a:pPr marL="904875" lvl="3" indent="-342900" algn="just" defTabSz="447675">
              <a:buFont typeface="Arial" panose="020B0604020202020204" pitchFamily="34" charset="0"/>
              <a:buChar char="•"/>
            </a:pPr>
            <a:r>
              <a:rPr lang="en-US" sz="2000" dirty="0"/>
              <a:t>How much money you have and the cost of any of the options?</a:t>
            </a:r>
          </a:p>
          <a:p>
            <a:pPr marL="904875" lvl="3" indent="-342900" algn="just" defTabSz="447675">
              <a:buFont typeface="Arial" panose="020B0604020202020204" pitchFamily="34" charset="0"/>
              <a:buChar char="•"/>
            </a:pPr>
            <a:r>
              <a:rPr lang="en-US" sz="2000" dirty="0"/>
              <a:t>How much time you have?</a:t>
            </a:r>
          </a:p>
          <a:p>
            <a:pPr marL="104775" lvl="1" indent="0" algn="just" defTabSz="447675">
              <a:buNone/>
            </a:pPr>
            <a:r>
              <a:rPr lang="en-US" sz="2200" dirty="0">
                <a:solidFill>
                  <a:schemeClr val="accent1">
                    <a:lumMod val="75000"/>
                  </a:schemeClr>
                </a:solidFill>
              </a:rPr>
              <a:t>From this information, you and your class could decide more easily where to go and what to do – in order to keep most of your friends happy. You could also use a computer to help you to collect and analyze the data to devise the best solution to the problem, both now and even in a future scenario.</a:t>
            </a:r>
            <a:endParaRPr lang="en-IN" sz="2200" dirty="0">
              <a:solidFill>
                <a:schemeClr val="accent1">
                  <a:lumMod val="75000"/>
                </a:schemeClr>
              </a:solidFill>
            </a:endParaRPr>
          </a:p>
        </p:txBody>
      </p:sp>
      <p:sp>
        <p:nvSpPr>
          <p:cNvPr id="6" name="Title 1">
            <a:extLst>
              <a:ext uri="{FF2B5EF4-FFF2-40B4-BE49-F238E27FC236}">
                <a16:creationId xmlns:a16="http://schemas.microsoft.com/office/drawing/2014/main" id="{17B6A7AC-4A9B-4B9F-B096-F6A01B2042DB}"/>
              </a:ext>
            </a:extLst>
          </p:cNvPr>
          <p:cNvSpPr>
            <a:spLocks noGrp="1"/>
          </p:cNvSpPr>
          <p:nvPr>
            <p:ph type="title"/>
          </p:nvPr>
        </p:nvSpPr>
        <p:spPr>
          <a:xfrm>
            <a:off x="677333" y="645459"/>
            <a:ext cx="9040407" cy="645460"/>
          </a:xfrm>
        </p:spPr>
        <p:txBody>
          <a:bodyPr>
            <a:normAutofit/>
          </a:bodyPr>
          <a:lstStyle/>
          <a:p>
            <a:r>
              <a:rPr lang="en-IN" sz="3600" dirty="0"/>
              <a:t>Computational Thinking: An Example</a:t>
            </a:r>
          </a:p>
        </p:txBody>
      </p:sp>
      <p:sp>
        <p:nvSpPr>
          <p:cNvPr id="11" name="TextBox 10">
            <a:extLst>
              <a:ext uri="{FF2B5EF4-FFF2-40B4-BE49-F238E27FC236}">
                <a16:creationId xmlns:a16="http://schemas.microsoft.com/office/drawing/2014/main" id="{3A3EA110-8134-4A2D-9C7F-497AA9473D40}"/>
              </a:ext>
            </a:extLst>
          </p:cNvPr>
          <p:cNvSpPr txBox="1"/>
          <p:nvPr/>
        </p:nvSpPr>
        <p:spPr>
          <a:xfrm>
            <a:off x="677332" y="5725295"/>
            <a:ext cx="6530292" cy="400110"/>
          </a:xfrm>
          <a:prstGeom prst="rect">
            <a:avLst/>
          </a:prstGeom>
          <a:noFill/>
        </p:spPr>
        <p:txBody>
          <a:bodyPr wrap="square" rtlCol="0">
            <a:spAutoFit/>
          </a:bodyPr>
          <a:lstStyle/>
          <a:p>
            <a:r>
              <a:rPr lang="en-IN" sz="2000" b="1" dirty="0"/>
              <a:t>Four Key Techniques of Computational Thinking</a:t>
            </a:r>
          </a:p>
        </p:txBody>
      </p:sp>
      <p:sp>
        <p:nvSpPr>
          <p:cNvPr id="12" name="TextBox 11">
            <a:extLst>
              <a:ext uri="{FF2B5EF4-FFF2-40B4-BE49-F238E27FC236}">
                <a16:creationId xmlns:a16="http://schemas.microsoft.com/office/drawing/2014/main" id="{F257239B-2FA9-4EFB-895B-B56F9201F2CB}"/>
              </a:ext>
            </a:extLst>
          </p:cNvPr>
          <p:cNvSpPr txBox="1"/>
          <p:nvPr/>
        </p:nvSpPr>
        <p:spPr>
          <a:xfrm>
            <a:off x="677332" y="6161264"/>
            <a:ext cx="8233586" cy="400110"/>
          </a:xfrm>
          <a:prstGeom prst="rect">
            <a:avLst/>
          </a:prstGeom>
          <a:noFill/>
        </p:spPr>
        <p:txBody>
          <a:bodyPr wrap="square" rtlCol="0">
            <a:spAutoFit/>
          </a:bodyPr>
          <a:lstStyle/>
          <a:p>
            <a:r>
              <a:rPr lang="en-IN" sz="2000" b="1" dirty="0">
                <a:solidFill>
                  <a:schemeClr val="accent1">
                    <a:lumMod val="75000"/>
                  </a:schemeClr>
                </a:solidFill>
              </a:rPr>
              <a:t>Decomposition </a:t>
            </a:r>
            <a:r>
              <a:rPr lang="en-IN" sz="2000" b="1" dirty="0">
                <a:solidFill>
                  <a:schemeClr val="accent1">
                    <a:lumMod val="75000"/>
                  </a:schemeClr>
                </a:solidFill>
                <a:sym typeface="Wingdings" panose="05000000000000000000" pitchFamily="2" charset="2"/>
              </a:rPr>
              <a:t> Pattern Recognition  Abstraction  Algorithms</a:t>
            </a:r>
            <a:endParaRPr lang="en-IN" sz="2000" b="1" dirty="0">
              <a:solidFill>
                <a:schemeClr val="accent1">
                  <a:lumMod val="75000"/>
                </a:schemeClr>
              </a:solidFill>
            </a:endParaRPr>
          </a:p>
        </p:txBody>
      </p:sp>
    </p:spTree>
    <p:extLst>
      <p:ext uri="{BB962C8B-B14F-4D97-AF65-F5344CB8AC3E}">
        <p14:creationId xmlns:p14="http://schemas.microsoft.com/office/powerpoint/2010/main" val="3810454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bldLvl="2"/>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87D266-B3AB-0948-E3F1-9DF8DE411B98}"/>
              </a:ext>
            </a:extLst>
          </p:cNvPr>
          <p:cNvSpPr>
            <a:spLocks noGrp="1"/>
          </p:cNvSpPr>
          <p:nvPr>
            <p:ph idx="1"/>
          </p:nvPr>
        </p:nvSpPr>
        <p:spPr>
          <a:xfrm>
            <a:off x="261257" y="149997"/>
            <a:ext cx="11681927" cy="5798766"/>
          </a:xfrm>
        </p:spPr>
        <p:txBody>
          <a:bodyPr>
            <a:noAutofit/>
          </a:bodyPr>
          <a:lstStyle/>
          <a:p>
            <a:pPr marL="0" indent="0" algn="l">
              <a:buNone/>
            </a:pPr>
            <a:r>
              <a:rPr lang="en-US" sz="1800" b="1" i="0" dirty="0">
                <a:solidFill>
                  <a:srgbClr val="374151"/>
                </a:solidFill>
                <a:effectLst/>
                <a:latin typeface="Söhne"/>
              </a:rPr>
              <a:t>Example: Planning a Vacation Trip</a:t>
            </a:r>
            <a:endParaRPr lang="en-US" sz="1800" b="0" i="0" dirty="0">
              <a:solidFill>
                <a:srgbClr val="374151"/>
              </a:solidFill>
              <a:effectLst/>
              <a:latin typeface="Söhne"/>
            </a:endParaRPr>
          </a:p>
          <a:p>
            <a:pPr marL="0" indent="0" algn="l">
              <a:buNone/>
            </a:pPr>
            <a:r>
              <a:rPr lang="en-US" sz="1800" b="1" i="0" dirty="0">
                <a:solidFill>
                  <a:srgbClr val="374151"/>
                </a:solidFill>
                <a:effectLst/>
                <a:latin typeface="Söhne"/>
              </a:rPr>
              <a:t>1. Decomposition:</a:t>
            </a:r>
            <a:r>
              <a:rPr lang="en-US" sz="1800" b="0" i="0" dirty="0">
                <a:solidFill>
                  <a:srgbClr val="374151"/>
                </a:solidFill>
                <a:effectLst/>
                <a:latin typeface="Söhne"/>
              </a:rPr>
              <a:t> Break down the task into smaller components: destination selection, budget planning, itinerary creation, accommodation booking, and packing.</a:t>
            </a:r>
          </a:p>
          <a:p>
            <a:pPr marL="0" indent="0" algn="l">
              <a:buNone/>
            </a:pPr>
            <a:r>
              <a:rPr lang="en-US" sz="1800" b="1" i="0" dirty="0">
                <a:solidFill>
                  <a:srgbClr val="374151"/>
                </a:solidFill>
                <a:effectLst/>
                <a:latin typeface="Söhne"/>
              </a:rPr>
              <a:t>2. Pattern Recognition:</a:t>
            </a:r>
            <a:r>
              <a:rPr lang="en-US" sz="1800" dirty="0">
                <a:solidFill>
                  <a:srgbClr val="374151"/>
                </a:solidFill>
                <a:latin typeface="Söhne"/>
              </a:rPr>
              <a:t> </a:t>
            </a:r>
            <a:r>
              <a:rPr lang="en-US" sz="1800" dirty="0"/>
              <a:t>What have you previously done that has been a success in the past</a:t>
            </a:r>
            <a:endParaRPr lang="en-US" sz="1800" b="0" i="0" dirty="0">
              <a:solidFill>
                <a:srgbClr val="374151"/>
              </a:solidFill>
              <a:effectLst/>
              <a:latin typeface="Söhne"/>
            </a:endParaRPr>
          </a:p>
          <a:p>
            <a:pPr marL="0" indent="0" algn="l">
              <a:buNone/>
            </a:pPr>
            <a:r>
              <a:rPr lang="en-US" sz="1800" b="1" i="0" dirty="0">
                <a:solidFill>
                  <a:srgbClr val="374151"/>
                </a:solidFill>
                <a:effectLst/>
                <a:latin typeface="Söhne"/>
              </a:rPr>
              <a:t>3. Abstraction:</a:t>
            </a:r>
            <a:r>
              <a:rPr lang="en-US" sz="1800" b="0" i="0" dirty="0">
                <a:solidFill>
                  <a:srgbClr val="374151"/>
                </a:solidFill>
                <a:effectLst/>
                <a:latin typeface="Söhne"/>
              </a:rPr>
              <a:t> Simplify the planning process by focusing on key elements like destination preferences, budget constraints, and the need for transportation and accommodation.</a:t>
            </a:r>
          </a:p>
          <a:p>
            <a:pPr marL="0" indent="0" algn="l">
              <a:buNone/>
            </a:pPr>
            <a:r>
              <a:rPr lang="en-US" sz="1800" b="1" i="0" dirty="0">
                <a:solidFill>
                  <a:srgbClr val="374151"/>
                </a:solidFill>
                <a:effectLst/>
                <a:latin typeface="Söhne"/>
              </a:rPr>
              <a:t>4. Algorithmic Design:</a:t>
            </a:r>
            <a:endParaRPr lang="en-US" sz="1800"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Identify destination preferences.</a:t>
            </a:r>
          </a:p>
          <a:p>
            <a:pPr marL="742950" lvl="1" indent="-285750" algn="l">
              <a:buFont typeface="Arial" panose="020B0604020202020204" pitchFamily="34" charset="0"/>
              <a:buChar char="•"/>
            </a:pPr>
            <a:r>
              <a:rPr lang="en-US" b="0" i="0" dirty="0">
                <a:solidFill>
                  <a:srgbClr val="374151"/>
                </a:solidFill>
                <a:effectLst/>
                <a:latin typeface="Söhne"/>
              </a:rPr>
              <a:t>Set a budget for the trip.</a:t>
            </a:r>
          </a:p>
          <a:p>
            <a:pPr marL="742950" lvl="1" indent="-285750" algn="l">
              <a:buFont typeface="Arial" panose="020B0604020202020204" pitchFamily="34" charset="0"/>
              <a:buChar char="•"/>
            </a:pPr>
            <a:r>
              <a:rPr lang="en-US" b="0" i="0" dirty="0">
                <a:solidFill>
                  <a:srgbClr val="374151"/>
                </a:solidFill>
                <a:effectLst/>
                <a:latin typeface="Söhne"/>
              </a:rPr>
              <a:t>Research and choose accommodation.</a:t>
            </a:r>
          </a:p>
          <a:p>
            <a:pPr marL="742950" lvl="1" indent="-285750" algn="l">
              <a:buFont typeface="Arial" panose="020B0604020202020204" pitchFamily="34" charset="0"/>
              <a:buChar char="•"/>
            </a:pPr>
            <a:r>
              <a:rPr lang="en-US" b="0" i="0" dirty="0">
                <a:solidFill>
                  <a:srgbClr val="374151"/>
                </a:solidFill>
                <a:effectLst/>
                <a:latin typeface="Söhne"/>
              </a:rPr>
              <a:t>Plan the itinerary with activities and attractions.</a:t>
            </a:r>
          </a:p>
          <a:p>
            <a:pPr marL="742950" lvl="1" indent="-285750" algn="l">
              <a:buFont typeface="Arial" panose="020B0604020202020204" pitchFamily="34" charset="0"/>
              <a:buChar char="•"/>
            </a:pPr>
            <a:r>
              <a:rPr lang="en-US" b="0" i="0" dirty="0">
                <a:solidFill>
                  <a:srgbClr val="374151"/>
                </a:solidFill>
                <a:effectLst/>
                <a:latin typeface="Söhne"/>
              </a:rPr>
              <a:t>Arrange transportation.</a:t>
            </a:r>
          </a:p>
          <a:p>
            <a:pPr marL="742950" lvl="1" indent="-285750" algn="l">
              <a:buFont typeface="Arial" panose="020B0604020202020204" pitchFamily="34" charset="0"/>
              <a:buChar char="•"/>
            </a:pPr>
            <a:r>
              <a:rPr lang="en-US" b="0" i="0" dirty="0">
                <a:solidFill>
                  <a:srgbClr val="374151"/>
                </a:solidFill>
                <a:effectLst/>
                <a:latin typeface="Söhne"/>
              </a:rPr>
              <a:t>Pack essentials based on the destination and planned activities.</a:t>
            </a:r>
          </a:p>
          <a:p>
            <a:pPr algn="l"/>
            <a:r>
              <a:rPr lang="en-US" sz="1800" b="1" i="0" dirty="0">
                <a:solidFill>
                  <a:srgbClr val="374151"/>
                </a:solidFill>
                <a:effectLst/>
                <a:latin typeface="Söhne"/>
              </a:rPr>
              <a:t>Outcome:</a:t>
            </a:r>
            <a:endParaRPr lang="en-US" sz="1800" b="0" i="0" dirty="0">
              <a:solidFill>
                <a:srgbClr val="374151"/>
              </a:solidFill>
              <a:effectLst/>
              <a:latin typeface="Söhne"/>
            </a:endParaRPr>
          </a:p>
          <a:p>
            <a:pPr algn="l">
              <a:buFont typeface="Arial" panose="020B0604020202020204" pitchFamily="34" charset="0"/>
              <a:buChar char="•"/>
            </a:pPr>
            <a:r>
              <a:rPr lang="en-US" sz="1800" b="0" i="0" dirty="0">
                <a:solidFill>
                  <a:srgbClr val="374151"/>
                </a:solidFill>
                <a:effectLst/>
                <a:latin typeface="Söhne"/>
              </a:rPr>
              <a:t>By applying computational thinking, the vacation planning process becomes more organized and manageable. Each step is clearly defined, making it easier to execute and adapt the plan as needed. </a:t>
            </a:r>
          </a:p>
          <a:p>
            <a:endParaRPr lang="en-GB" sz="1800" dirty="0"/>
          </a:p>
        </p:txBody>
      </p:sp>
    </p:spTree>
    <p:extLst>
      <p:ext uri="{BB962C8B-B14F-4D97-AF65-F5344CB8AC3E}">
        <p14:creationId xmlns:p14="http://schemas.microsoft.com/office/powerpoint/2010/main" val="816537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ADB64-CEDB-474C-8792-A3767E392937}"/>
              </a:ext>
            </a:extLst>
          </p:cNvPr>
          <p:cNvSpPr>
            <a:spLocks noGrp="1"/>
          </p:cNvSpPr>
          <p:nvPr>
            <p:ph type="title"/>
          </p:nvPr>
        </p:nvSpPr>
        <p:spPr>
          <a:xfrm>
            <a:off x="565774" y="541517"/>
            <a:ext cx="8847666" cy="1114130"/>
          </a:xfrm>
        </p:spPr>
        <p:txBody>
          <a:bodyPr>
            <a:normAutofit fontScale="90000"/>
          </a:bodyPr>
          <a:lstStyle/>
          <a:p>
            <a:pPr algn="ctr"/>
            <a:r>
              <a:rPr lang="en-US" sz="3200" dirty="0"/>
              <a:t>Problem 2:</a:t>
            </a:r>
            <a:br>
              <a:rPr lang="en-US" sz="3200" dirty="0"/>
            </a:br>
            <a:r>
              <a:rPr lang="en-US" sz="3200" dirty="0"/>
              <a:t>To find the sum of all numbers between 1 to 200</a:t>
            </a:r>
            <a:endParaRPr lang="en-IN" sz="3200" dirty="0"/>
          </a:p>
        </p:txBody>
      </p:sp>
      <p:sp>
        <p:nvSpPr>
          <p:cNvPr id="3" name="Content Placeholder 2">
            <a:extLst>
              <a:ext uri="{FF2B5EF4-FFF2-40B4-BE49-F238E27FC236}">
                <a16:creationId xmlns:a16="http://schemas.microsoft.com/office/drawing/2014/main" id="{E6F9052F-3044-45E9-84F5-D6E262B942E7}"/>
              </a:ext>
            </a:extLst>
          </p:cNvPr>
          <p:cNvSpPr>
            <a:spLocks noGrp="1"/>
          </p:cNvSpPr>
          <p:nvPr>
            <p:ph idx="1"/>
          </p:nvPr>
        </p:nvSpPr>
        <p:spPr>
          <a:xfrm>
            <a:off x="677334" y="3180275"/>
            <a:ext cx="3894666" cy="1629288"/>
          </a:xfrm>
        </p:spPr>
        <p:txBody>
          <a:bodyPr>
            <a:normAutofit lnSpcReduction="10000"/>
          </a:bodyPr>
          <a:lstStyle/>
          <a:p>
            <a:pPr marL="0" indent="0">
              <a:buNone/>
            </a:pPr>
            <a:r>
              <a:rPr lang="en-US" sz="2400" dirty="0"/>
              <a:t>1+2=3</a:t>
            </a:r>
          </a:p>
          <a:p>
            <a:pPr marL="0" indent="0">
              <a:buNone/>
            </a:pPr>
            <a:r>
              <a:rPr lang="en-US" sz="2400" dirty="0"/>
              <a:t>3+4=7</a:t>
            </a:r>
          </a:p>
          <a:p>
            <a:pPr marL="0" indent="0">
              <a:buNone/>
            </a:pPr>
            <a:r>
              <a:rPr lang="en-US" sz="2400" dirty="0"/>
              <a:t>5+6=11… and so on</a:t>
            </a:r>
          </a:p>
        </p:txBody>
      </p:sp>
      <p:sp>
        <p:nvSpPr>
          <p:cNvPr id="4" name="Multiplication Sign 3">
            <a:extLst>
              <a:ext uri="{FF2B5EF4-FFF2-40B4-BE49-F238E27FC236}">
                <a16:creationId xmlns:a16="http://schemas.microsoft.com/office/drawing/2014/main" id="{B1E310A8-722C-4BBA-BAEC-D7810EE414A3}"/>
              </a:ext>
            </a:extLst>
          </p:cNvPr>
          <p:cNvSpPr/>
          <p:nvPr/>
        </p:nvSpPr>
        <p:spPr>
          <a:xfrm>
            <a:off x="3514168" y="3514163"/>
            <a:ext cx="1272989" cy="1367118"/>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FF0000"/>
              </a:solidFill>
            </a:endParaRPr>
          </a:p>
        </p:txBody>
      </p:sp>
      <p:sp>
        <p:nvSpPr>
          <p:cNvPr id="5" name="Content Placeholder 2">
            <a:extLst>
              <a:ext uri="{FF2B5EF4-FFF2-40B4-BE49-F238E27FC236}">
                <a16:creationId xmlns:a16="http://schemas.microsoft.com/office/drawing/2014/main" id="{C0349F5D-C313-4FC9-B69F-D6917DAD9848}"/>
              </a:ext>
            </a:extLst>
          </p:cNvPr>
          <p:cNvSpPr txBox="1">
            <a:spLocks/>
          </p:cNvSpPr>
          <p:nvPr/>
        </p:nvSpPr>
        <p:spPr>
          <a:xfrm>
            <a:off x="5386069" y="3180275"/>
            <a:ext cx="3190923" cy="2034893"/>
          </a:xfrm>
          <a:prstGeom prst="rect">
            <a:avLst/>
          </a:prstGeom>
        </p:spPr>
        <p:txBody>
          <a:bodyPr vert="horz" lIns="91440" tIns="45720" rIns="91440" bIns="45720" rtlCol="0">
            <a:normAutofit fontScale="925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2400" dirty="0"/>
              <a:t>200+1=201</a:t>
            </a:r>
          </a:p>
          <a:p>
            <a:pPr marL="0" indent="0">
              <a:buFont typeface="Wingdings 3" charset="2"/>
              <a:buNone/>
            </a:pPr>
            <a:r>
              <a:rPr lang="en-US" sz="2400" dirty="0"/>
              <a:t>199+2=201</a:t>
            </a:r>
          </a:p>
          <a:p>
            <a:pPr marL="0" indent="0">
              <a:buFont typeface="Wingdings 3" charset="2"/>
              <a:buNone/>
            </a:pPr>
            <a:r>
              <a:rPr lang="en-US" sz="2400" dirty="0"/>
              <a:t>198+3=201</a:t>
            </a:r>
          </a:p>
          <a:p>
            <a:pPr marL="0" indent="0">
              <a:buFont typeface="Wingdings 3" charset="2"/>
              <a:buNone/>
            </a:pPr>
            <a:r>
              <a:rPr lang="en-US" sz="2400" dirty="0"/>
              <a:t>197+4=201…and so on</a:t>
            </a:r>
          </a:p>
        </p:txBody>
      </p:sp>
      <p:sp>
        <p:nvSpPr>
          <p:cNvPr id="7" name="TextBox 6">
            <a:extLst>
              <a:ext uri="{FF2B5EF4-FFF2-40B4-BE49-F238E27FC236}">
                <a16:creationId xmlns:a16="http://schemas.microsoft.com/office/drawing/2014/main" id="{76D9CFFE-B8D9-4138-AC3E-D7842741BCB5}"/>
              </a:ext>
            </a:extLst>
          </p:cNvPr>
          <p:cNvSpPr txBox="1"/>
          <p:nvPr/>
        </p:nvSpPr>
        <p:spPr>
          <a:xfrm>
            <a:off x="8433564" y="3553388"/>
            <a:ext cx="963706" cy="1446550"/>
          </a:xfrm>
          <a:prstGeom prst="rect">
            <a:avLst/>
          </a:prstGeom>
          <a:noFill/>
        </p:spPr>
        <p:txBody>
          <a:bodyPr wrap="square">
            <a:spAutoFit/>
          </a:bodyPr>
          <a:lstStyle/>
          <a:p>
            <a:r>
              <a:rPr lang="en-US" sz="8800" dirty="0">
                <a:solidFill>
                  <a:schemeClr val="accent1">
                    <a:lumMod val="60000"/>
                    <a:lumOff val="40000"/>
                  </a:schemeClr>
                </a:solidFill>
                <a:sym typeface="Wingdings 2" panose="05020102010507070707" pitchFamily="18" charset="2"/>
              </a:rPr>
              <a:t></a:t>
            </a:r>
            <a:endParaRPr lang="en-IN" sz="8800" dirty="0">
              <a:solidFill>
                <a:schemeClr val="accent1">
                  <a:lumMod val="60000"/>
                  <a:lumOff val="40000"/>
                </a:schemeClr>
              </a:solidFill>
            </a:endParaRPr>
          </a:p>
        </p:txBody>
      </p:sp>
      <p:sp>
        <p:nvSpPr>
          <p:cNvPr id="9" name="TextBox 8">
            <a:extLst>
              <a:ext uri="{FF2B5EF4-FFF2-40B4-BE49-F238E27FC236}">
                <a16:creationId xmlns:a16="http://schemas.microsoft.com/office/drawing/2014/main" id="{3576D8B2-7950-4EF6-A59E-01B5EEC873B5}"/>
              </a:ext>
            </a:extLst>
          </p:cNvPr>
          <p:cNvSpPr txBox="1"/>
          <p:nvPr/>
        </p:nvSpPr>
        <p:spPr>
          <a:xfrm>
            <a:off x="677334" y="1634588"/>
            <a:ext cx="6115050" cy="523220"/>
          </a:xfrm>
          <a:prstGeom prst="rect">
            <a:avLst/>
          </a:prstGeom>
        </p:spPr>
        <p:txBody>
          <a:bodyPr vert="horz" lIns="91440" tIns="45720" rIns="91440" bIns="45720" rtlCol="0" anchor="t">
            <a:normAutofit/>
          </a:bodyPr>
          <a:lstStyle>
            <a:lvl1pPr>
              <a:spcBef>
                <a:spcPct val="0"/>
              </a:spcBef>
              <a:buNone/>
              <a:defRPr sz="2800">
                <a:solidFill>
                  <a:schemeClr val="accent1"/>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n-US" dirty="0"/>
              <a:t>Step 1: Decomposition</a:t>
            </a:r>
          </a:p>
        </p:txBody>
      </p:sp>
      <p:sp>
        <p:nvSpPr>
          <p:cNvPr id="10" name="Content Placeholder 2">
            <a:extLst>
              <a:ext uri="{FF2B5EF4-FFF2-40B4-BE49-F238E27FC236}">
                <a16:creationId xmlns:a16="http://schemas.microsoft.com/office/drawing/2014/main" id="{19396C56-94F5-43C7-867C-4E1A67AD95BA}"/>
              </a:ext>
            </a:extLst>
          </p:cNvPr>
          <p:cNvSpPr txBox="1">
            <a:spLocks/>
          </p:cNvSpPr>
          <p:nvPr/>
        </p:nvSpPr>
        <p:spPr>
          <a:xfrm>
            <a:off x="677334" y="2190749"/>
            <a:ext cx="8596668" cy="84829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buFont typeface="Arial" panose="020B0604020202020204" pitchFamily="34" charset="0"/>
              <a:buChar char="•"/>
            </a:pPr>
            <a:r>
              <a:rPr lang="en-US" sz="2400" dirty="0"/>
              <a:t>Breaking complex problems into smaller and more manageable parts</a:t>
            </a:r>
          </a:p>
        </p:txBody>
      </p:sp>
    </p:spTree>
    <p:extLst>
      <p:ext uri="{BB962C8B-B14F-4D97-AF65-F5344CB8AC3E}">
        <p14:creationId xmlns:p14="http://schemas.microsoft.com/office/powerpoint/2010/main" val="3428758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animBg="1"/>
      <p:bldP spid="5" grpId="0"/>
      <p:bldP spid="7" grpId="0"/>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9E6B1-D8FE-4BF3-86E2-623C6B83E80D}"/>
              </a:ext>
            </a:extLst>
          </p:cNvPr>
          <p:cNvSpPr>
            <a:spLocks noGrp="1"/>
          </p:cNvSpPr>
          <p:nvPr>
            <p:ph type="title"/>
          </p:nvPr>
        </p:nvSpPr>
        <p:spPr>
          <a:xfrm>
            <a:off x="677334" y="1580589"/>
            <a:ext cx="8596668" cy="660400"/>
          </a:xfrm>
        </p:spPr>
        <p:txBody>
          <a:bodyPr>
            <a:normAutofit/>
          </a:bodyPr>
          <a:lstStyle/>
          <a:p>
            <a:r>
              <a:rPr lang="en-US" sz="2800" dirty="0"/>
              <a:t>Step 2: Pattern Recognition</a:t>
            </a:r>
            <a:endParaRPr lang="en-IN" sz="2800" dirty="0"/>
          </a:p>
        </p:txBody>
      </p:sp>
      <p:sp>
        <p:nvSpPr>
          <p:cNvPr id="3" name="Content Placeholder 2">
            <a:extLst>
              <a:ext uri="{FF2B5EF4-FFF2-40B4-BE49-F238E27FC236}">
                <a16:creationId xmlns:a16="http://schemas.microsoft.com/office/drawing/2014/main" id="{540B4342-7BAE-4654-A436-50BF2B66608F}"/>
              </a:ext>
            </a:extLst>
          </p:cNvPr>
          <p:cNvSpPr>
            <a:spLocks noGrp="1"/>
          </p:cNvSpPr>
          <p:nvPr>
            <p:ph idx="1"/>
          </p:nvPr>
        </p:nvSpPr>
        <p:spPr>
          <a:xfrm>
            <a:off x="677334" y="2190750"/>
            <a:ext cx="8596668" cy="481202"/>
          </a:xfrm>
        </p:spPr>
        <p:txBody>
          <a:bodyPr vert="horz" lIns="91440" tIns="45720" rIns="91440" bIns="45720" rtlCol="0">
            <a:noAutofit/>
          </a:bodyPr>
          <a:lstStyle/>
          <a:p>
            <a:pPr algn="just">
              <a:buFont typeface="Arial" panose="020B0604020202020204" pitchFamily="34" charset="0"/>
              <a:buChar char="•"/>
            </a:pPr>
            <a:r>
              <a:rPr lang="en-US" sz="2400" dirty="0"/>
              <a:t>Identification of patterns or trends within a problem </a:t>
            </a:r>
          </a:p>
        </p:txBody>
      </p:sp>
      <p:sp>
        <p:nvSpPr>
          <p:cNvPr id="4" name="Content Placeholder 2">
            <a:extLst>
              <a:ext uri="{FF2B5EF4-FFF2-40B4-BE49-F238E27FC236}">
                <a16:creationId xmlns:a16="http://schemas.microsoft.com/office/drawing/2014/main" id="{C7DFA74B-E2E1-4451-973B-B2A24B47EB41}"/>
              </a:ext>
            </a:extLst>
          </p:cNvPr>
          <p:cNvSpPr txBox="1">
            <a:spLocks/>
          </p:cNvSpPr>
          <p:nvPr/>
        </p:nvSpPr>
        <p:spPr>
          <a:xfrm>
            <a:off x="865592" y="2952474"/>
            <a:ext cx="4064996" cy="13208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000" b="1" dirty="0"/>
              <a:t>Therefore, we identified output of all nos. =201</a:t>
            </a:r>
          </a:p>
        </p:txBody>
      </p:sp>
      <p:sp>
        <p:nvSpPr>
          <p:cNvPr id="5" name="Content Placeholder 2">
            <a:extLst>
              <a:ext uri="{FF2B5EF4-FFF2-40B4-BE49-F238E27FC236}">
                <a16:creationId xmlns:a16="http://schemas.microsoft.com/office/drawing/2014/main" id="{F95BA683-6500-42BB-B05F-4FCA4F8CCB69}"/>
              </a:ext>
            </a:extLst>
          </p:cNvPr>
          <p:cNvSpPr txBox="1">
            <a:spLocks/>
          </p:cNvSpPr>
          <p:nvPr/>
        </p:nvSpPr>
        <p:spPr>
          <a:xfrm>
            <a:off x="5098932" y="2952473"/>
            <a:ext cx="4349868" cy="13208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000" b="1" dirty="0"/>
              <a:t>Adding largest and smallest number, then adding second and second last number and so on…</a:t>
            </a:r>
            <a:endParaRPr lang="en-IN" sz="2000" b="1" dirty="0"/>
          </a:p>
        </p:txBody>
      </p:sp>
      <p:sp>
        <p:nvSpPr>
          <p:cNvPr id="6" name="Content Placeholder 2">
            <a:extLst>
              <a:ext uri="{FF2B5EF4-FFF2-40B4-BE49-F238E27FC236}">
                <a16:creationId xmlns:a16="http://schemas.microsoft.com/office/drawing/2014/main" id="{83D204FB-F9AD-467D-85C8-D4467956CB95}"/>
              </a:ext>
            </a:extLst>
          </p:cNvPr>
          <p:cNvSpPr txBox="1">
            <a:spLocks/>
          </p:cNvSpPr>
          <p:nvPr/>
        </p:nvSpPr>
        <p:spPr>
          <a:xfrm>
            <a:off x="677334" y="4273273"/>
            <a:ext cx="8333316" cy="61846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400" b="1" dirty="0"/>
              <a:t>We need to figure out how many such patterns we need?</a:t>
            </a:r>
            <a:endParaRPr lang="en-IN" sz="2400" b="1" dirty="0"/>
          </a:p>
        </p:txBody>
      </p:sp>
      <p:sp>
        <p:nvSpPr>
          <p:cNvPr id="7" name="Content Placeholder 2">
            <a:extLst>
              <a:ext uri="{FF2B5EF4-FFF2-40B4-BE49-F238E27FC236}">
                <a16:creationId xmlns:a16="http://schemas.microsoft.com/office/drawing/2014/main" id="{FC1EB077-1463-4B11-9073-E0D8CB6FA6BC}"/>
              </a:ext>
            </a:extLst>
          </p:cNvPr>
          <p:cNvSpPr txBox="1">
            <a:spLocks/>
          </p:cNvSpPr>
          <p:nvPr/>
        </p:nvSpPr>
        <p:spPr>
          <a:xfrm>
            <a:off x="865592" y="4891742"/>
            <a:ext cx="3352800" cy="98285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400" dirty="0"/>
              <a:t>i.e. Highest number/2</a:t>
            </a:r>
          </a:p>
          <a:p>
            <a:pPr marL="0" indent="0">
              <a:buNone/>
            </a:pPr>
            <a:r>
              <a:rPr lang="en-US" sz="2400" dirty="0"/>
              <a:t>200/2=100 such pairs</a:t>
            </a:r>
            <a:endParaRPr lang="en-IN" sz="2400" dirty="0"/>
          </a:p>
        </p:txBody>
      </p:sp>
      <p:sp>
        <p:nvSpPr>
          <p:cNvPr id="8" name="Title 1">
            <a:extLst>
              <a:ext uri="{FF2B5EF4-FFF2-40B4-BE49-F238E27FC236}">
                <a16:creationId xmlns:a16="http://schemas.microsoft.com/office/drawing/2014/main" id="{38AD3B32-9D5A-40C2-BD06-961C22660475}"/>
              </a:ext>
            </a:extLst>
          </p:cNvPr>
          <p:cNvSpPr txBox="1">
            <a:spLocks/>
          </p:cNvSpPr>
          <p:nvPr/>
        </p:nvSpPr>
        <p:spPr>
          <a:xfrm>
            <a:off x="565774" y="408167"/>
            <a:ext cx="8847666" cy="111413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200" dirty="0"/>
              <a:t>Problem 2:</a:t>
            </a:r>
            <a:br>
              <a:rPr lang="en-US" sz="3200" dirty="0"/>
            </a:br>
            <a:r>
              <a:rPr lang="en-US" sz="3200" dirty="0"/>
              <a:t>To find the sum of all numbers between 1 to 200</a:t>
            </a:r>
            <a:endParaRPr lang="en-IN" sz="3200" dirty="0"/>
          </a:p>
        </p:txBody>
      </p:sp>
    </p:spTree>
    <p:extLst>
      <p:ext uri="{BB962C8B-B14F-4D97-AF65-F5344CB8AC3E}">
        <p14:creationId xmlns:p14="http://schemas.microsoft.com/office/powerpoint/2010/main" val="3583629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P spid="5" grpId="0"/>
      <p:bldP spid="6"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9E6B1-D8FE-4BF3-86E2-623C6B83E80D}"/>
              </a:ext>
            </a:extLst>
          </p:cNvPr>
          <p:cNvSpPr>
            <a:spLocks noGrp="1"/>
          </p:cNvSpPr>
          <p:nvPr>
            <p:ph type="title"/>
          </p:nvPr>
        </p:nvSpPr>
        <p:spPr>
          <a:xfrm>
            <a:off x="677334" y="1580589"/>
            <a:ext cx="8596668" cy="660400"/>
          </a:xfrm>
        </p:spPr>
        <p:txBody>
          <a:bodyPr>
            <a:normAutofit/>
          </a:bodyPr>
          <a:lstStyle/>
          <a:p>
            <a:r>
              <a:rPr lang="en-US" sz="2800" dirty="0"/>
              <a:t>Step 3: Pattern Abstraction</a:t>
            </a:r>
            <a:endParaRPr lang="en-IN" sz="2800" dirty="0"/>
          </a:p>
        </p:txBody>
      </p:sp>
      <p:sp>
        <p:nvSpPr>
          <p:cNvPr id="3" name="Content Placeholder 2">
            <a:extLst>
              <a:ext uri="{FF2B5EF4-FFF2-40B4-BE49-F238E27FC236}">
                <a16:creationId xmlns:a16="http://schemas.microsoft.com/office/drawing/2014/main" id="{540B4342-7BAE-4654-A436-50BF2B66608F}"/>
              </a:ext>
            </a:extLst>
          </p:cNvPr>
          <p:cNvSpPr>
            <a:spLocks noGrp="1"/>
          </p:cNvSpPr>
          <p:nvPr>
            <p:ph idx="1"/>
          </p:nvPr>
        </p:nvSpPr>
        <p:spPr>
          <a:xfrm>
            <a:off x="677334" y="2208678"/>
            <a:ext cx="8596668" cy="911039"/>
          </a:xfrm>
        </p:spPr>
        <p:txBody>
          <a:bodyPr vert="horz" lIns="91440" tIns="45720" rIns="91440" bIns="45720" rtlCol="0">
            <a:noAutofit/>
          </a:bodyPr>
          <a:lstStyle/>
          <a:p>
            <a:pPr algn="just">
              <a:buFont typeface="Arial" panose="020B0604020202020204" pitchFamily="34" charset="0"/>
              <a:buChar char="•"/>
            </a:pPr>
            <a:r>
              <a:rPr lang="en-US" sz="2400" dirty="0"/>
              <a:t>Identify specific similarities &amp; differences among similar problems, to work towards a solution</a:t>
            </a:r>
          </a:p>
        </p:txBody>
      </p:sp>
      <p:sp>
        <p:nvSpPr>
          <p:cNvPr id="4" name="Content Placeholder 2">
            <a:extLst>
              <a:ext uri="{FF2B5EF4-FFF2-40B4-BE49-F238E27FC236}">
                <a16:creationId xmlns:a16="http://schemas.microsoft.com/office/drawing/2014/main" id="{C7DFA74B-E2E1-4451-973B-B2A24B47EB41}"/>
              </a:ext>
            </a:extLst>
          </p:cNvPr>
          <p:cNvSpPr txBox="1">
            <a:spLocks/>
          </p:cNvSpPr>
          <p:nvPr/>
        </p:nvSpPr>
        <p:spPr>
          <a:xfrm>
            <a:off x="1152461" y="3684677"/>
            <a:ext cx="3168526" cy="44207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solidFill>
                  <a:srgbClr val="FF0000"/>
                </a:solidFill>
              </a:rPr>
              <a:t>All pairs have same SUM</a:t>
            </a:r>
          </a:p>
        </p:txBody>
      </p:sp>
      <p:sp>
        <p:nvSpPr>
          <p:cNvPr id="8" name="Title 1">
            <a:extLst>
              <a:ext uri="{FF2B5EF4-FFF2-40B4-BE49-F238E27FC236}">
                <a16:creationId xmlns:a16="http://schemas.microsoft.com/office/drawing/2014/main" id="{38AD3B32-9D5A-40C2-BD06-961C22660475}"/>
              </a:ext>
            </a:extLst>
          </p:cNvPr>
          <p:cNvSpPr txBox="1">
            <a:spLocks/>
          </p:cNvSpPr>
          <p:nvPr/>
        </p:nvSpPr>
        <p:spPr>
          <a:xfrm>
            <a:off x="565774" y="408167"/>
            <a:ext cx="8847666" cy="111413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200" dirty="0"/>
              <a:t>Problem 2:</a:t>
            </a:r>
            <a:br>
              <a:rPr lang="en-US" sz="3200" dirty="0"/>
            </a:br>
            <a:r>
              <a:rPr lang="en-US" sz="3200" dirty="0"/>
              <a:t>To find the sum of all numbers between 1 to 200</a:t>
            </a:r>
            <a:endParaRPr lang="en-IN" sz="3200"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6682AFA-2EF2-4E04-901F-C426A8B1B3A5}"/>
                  </a:ext>
                </a:extLst>
              </p:cNvPr>
              <p:cNvSpPr txBox="1"/>
              <p:nvPr/>
            </p:nvSpPr>
            <p:spPr>
              <a:xfrm>
                <a:off x="4198542" y="3488504"/>
                <a:ext cx="2883584" cy="69147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IN" sz="2400" b="1" i="1" smtClean="0">
                              <a:solidFill>
                                <a:schemeClr val="accent1">
                                  <a:lumMod val="75000"/>
                                </a:schemeClr>
                              </a:solidFill>
                              <a:latin typeface="Cambria Math" panose="02040503050406030204" pitchFamily="18" charset="0"/>
                            </a:rPr>
                          </m:ctrlPr>
                        </m:dPr>
                        <m:e>
                          <m:r>
                            <a:rPr lang="en-IN" sz="2400" b="1" i="1">
                              <a:solidFill>
                                <a:schemeClr val="accent1">
                                  <a:lumMod val="75000"/>
                                </a:schemeClr>
                              </a:solidFill>
                              <a:latin typeface="Cambria Math" panose="02040503050406030204" pitchFamily="18" charset="0"/>
                            </a:rPr>
                            <m:t>𝟐𝟎𝟎</m:t>
                          </m:r>
                          <m:r>
                            <a:rPr lang="en-IN" sz="2400" b="1" i="0">
                              <a:solidFill>
                                <a:schemeClr val="accent1">
                                  <a:lumMod val="75000"/>
                                </a:schemeClr>
                              </a:solidFill>
                              <a:latin typeface="Cambria Math" panose="02040503050406030204" pitchFamily="18" charset="0"/>
                            </a:rPr>
                            <m:t>+</m:t>
                          </m:r>
                          <m:r>
                            <a:rPr lang="en-IN" sz="2400" b="1" i="0">
                              <a:solidFill>
                                <a:schemeClr val="accent1">
                                  <a:lumMod val="75000"/>
                                </a:schemeClr>
                              </a:solidFill>
                              <a:latin typeface="Cambria Math" panose="02040503050406030204" pitchFamily="18" charset="0"/>
                            </a:rPr>
                            <m:t>𝟏</m:t>
                          </m:r>
                        </m:e>
                      </m:d>
                      <m:r>
                        <a:rPr lang="en-IN" sz="2400" b="1" i="0">
                          <a:latin typeface="Cambria Math" panose="02040503050406030204" pitchFamily="18" charset="0"/>
                        </a:rPr>
                        <m:t>∗</m:t>
                      </m:r>
                      <m:f>
                        <m:fPr>
                          <m:ctrlPr>
                            <a:rPr lang="en-IN" sz="2400" b="1" i="1" smtClean="0">
                              <a:solidFill>
                                <a:srgbClr val="FF0000"/>
                              </a:solidFill>
                              <a:latin typeface="Cambria Math" panose="02040503050406030204" pitchFamily="18" charset="0"/>
                            </a:rPr>
                          </m:ctrlPr>
                        </m:fPr>
                        <m:num>
                          <m:r>
                            <a:rPr lang="en-IN" sz="2400" b="1" i="0">
                              <a:solidFill>
                                <a:srgbClr val="FF0000"/>
                              </a:solidFill>
                              <a:latin typeface="Cambria Math" panose="02040503050406030204" pitchFamily="18" charset="0"/>
                            </a:rPr>
                            <m:t>𝟐𝟎𝟎</m:t>
                          </m:r>
                        </m:num>
                        <m:den>
                          <m:r>
                            <a:rPr lang="en-IN" sz="2400" b="1" i="0">
                              <a:solidFill>
                                <a:srgbClr val="FF0000"/>
                              </a:solidFill>
                              <a:latin typeface="Cambria Math" panose="02040503050406030204" pitchFamily="18" charset="0"/>
                            </a:rPr>
                            <m:t>𝟐</m:t>
                          </m:r>
                        </m:den>
                      </m:f>
                    </m:oMath>
                  </m:oMathPara>
                </a14:m>
                <a:endParaRPr lang="en-IN" sz="2400" b="1" dirty="0"/>
              </a:p>
            </p:txBody>
          </p:sp>
        </mc:Choice>
        <mc:Fallback xmlns="">
          <p:sp>
            <p:nvSpPr>
              <p:cNvPr id="9" name="TextBox 8">
                <a:extLst>
                  <a:ext uri="{FF2B5EF4-FFF2-40B4-BE49-F238E27FC236}">
                    <a16:creationId xmlns:a16="http://schemas.microsoft.com/office/drawing/2014/main" id="{36682AFA-2EF2-4E04-901F-C426A8B1B3A5}"/>
                  </a:ext>
                </a:extLst>
              </p:cNvPr>
              <p:cNvSpPr txBox="1">
                <a:spLocks noRot="1" noChangeAspect="1" noMove="1" noResize="1" noEditPoints="1" noAdjustHandles="1" noChangeArrowheads="1" noChangeShapeType="1" noTextEdit="1"/>
              </p:cNvSpPr>
              <p:nvPr/>
            </p:nvSpPr>
            <p:spPr>
              <a:xfrm>
                <a:off x="4198542" y="3488504"/>
                <a:ext cx="2883584" cy="691471"/>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5413760-DFAC-411A-9CCD-98AA964719BC}"/>
                  </a:ext>
                </a:extLst>
              </p:cNvPr>
              <p:cNvSpPr txBox="1"/>
              <p:nvPr/>
            </p:nvSpPr>
            <p:spPr>
              <a:xfrm>
                <a:off x="7064198" y="3667502"/>
                <a:ext cx="1440266" cy="369332"/>
              </a:xfrm>
              <a:prstGeom prst="rect">
                <a:avLst/>
              </a:prstGeom>
              <a:noFill/>
            </p:spPr>
            <p:txBody>
              <a:bodyPr wrap="square" lIns="0" tIns="0" rIns="0" bIns="0" rtlCol="0">
                <a:spAutoFit/>
              </a:bodyPr>
              <a:lstStyle>
                <a:defPPr>
                  <a:defRPr lang="en-US"/>
                </a:defPPr>
                <a:lvl1pPr>
                  <a:defRPr sz="2400" b="1">
                    <a:solidFill>
                      <a:srgbClr val="836967"/>
                    </a:solidFill>
                    <a:latin typeface="Cambria Math" panose="02040503050406030204" pitchFamily="18" charset="0"/>
                  </a:defRPr>
                </a:lvl1pPr>
              </a:lstStyle>
              <a:p>
                <a14:m>
                  <m:oMath xmlns:m="http://schemas.openxmlformats.org/officeDocument/2006/math">
                    <m:r>
                      <a:rPr lang="en-US" smtClean="0">
                        <a:solidFill>
                          <a:schemeClr val="tx1"/>
                        </a:solidFill>
                        <a:latin typeface="Cambria Math" panose="02040503050406030204" pitchFamily="18" charset="0"/>
                      </a:rPr>
                      <m:t>=</m:t>
                    </m:r>
                  </m:oMath>
                </a14:m>
                <a:r>
                  <a:rPr lang="en-IN" dirty="0">
                    <a:solidFill>
                      <a:schemeClr val="tx1"/>
                    </a:solidFill>
                  </a:rPr>
                  <a:t> 20100</a:t>
                </a:r>
              </a:p>
            </p:txBody>
          </p:sp>
        </mc:Choice>
        <mc:Fallback xmlns="">
          <p:sp>
            <p:nvSpPr>
              <p:cNvPr id="10" name="TextBox 9">
                <a:extLst>
                  <a:ext uri="{FF2B5EF4-FFF2-40B4-BE49-F238E27FC236}">
                    <a16:creationId xmlns:a16="http://schemas.microsoft.com/office/drawing/2014/main" id="{C5413760-DFAC-411A-9CCD-98AA964719BC}"/>
                  </a:ext>
                </a:extLst>
              </p:cNvPr>
              <p:cNvSpPr txBox="1">
                <a:spLocks noRot="1" noChangeAspect="1" noMove="1" noResize="1" noEditPoints="1" noAdjustHandles="1" noChangeArrowheads="1" noChangeShapeType="1" noTextEdit="1"/>
              </p:cNvSpPr>
              <p:nvPr/>
            </p:nvSpPr>
            <p:spPr>
              <a:xfrm>
                <a:off x="7064198" y="3667502"/>
                <a:ext cx="1440266" cy="369332"/>
              </a:xfrm>
              <a:prstGeom prst="rect">
                <a:avLst/>
              </a:prstGeom>
              <a:blipFill>
                <a:blip r:embed="rId3"/>
                <a:stretch>
                  <a:fillRect l="-4661" t="-26667" b="-50000"/>
                </a:stretch>
              </a:blipFill>
            </p:spPr>
            <p:txBody>
              <a:bodyPr/>
              <a:lstStyle/>
              <a:p>
                <a:r>
                  <a:rPr lang="en-IN">
                    <a:noFill/>
                  </a:rPr>
                  <a:t> </a:t>
                </a:r>
              </a:p>
            </p:txBody>
          </p:sp>
        </mc:Fallback>
      </mc:AlternateContent>
      <p:cxnSp>
        <p:nvCxnSpPr>
          <p:cNvPr id="12" name="Straight Arrow Connector 11">
            <a:extLst>
              <a:ext uri="{FF2B5EF4-FFF2-40B4-BE49-F238E27FC236}">
                <a16:creationId xmlns:a16="http://schemas.microsoft.com/office/drawing/2014/main" id="{4AD2E448-7A0B-4DEF-952F-472512482CD9}"/>
              </a:ext>
            </a:extLst>
          </p:cNvPr>
          <p:cNvCxnSpPr>
            <a:cxnSpLocks/>
            <a:endCxn id="14" idx="0"/>
          </p:cNvCxnSpPr>
          <p:nvPr/>
        </p:nvCxnSpPr>
        <p:spPr>
          <a:xfrm flipH="1">
            <a:off x="5207370" y="4198772"/>
            <a:ext cx="15319" cy="1102959"/>
          </a:xfrm>
          <a:prstGeom prst="straightConnector1">
            <a:avLst/>
          </a:prstGeom>
          <a:ln w="38100">
            <a:tailEnd type="stealth"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A4AAD7E-606F-4A44-8FA6-CFFE7952C206}"/>
              </a:ext>
            </a:extLst>
          </p:cNvPr>
          <p:cNvCxnSpPr>
            <a:cxnSpLocks/>
          </p:cNvCxnSpPr>
          <p:nvPr/>
        </p:nvCxnSpPr>
        <p:spPr>
          <a:xfrm>
            <a:off x="6453019" y="4356847"/>
            <a:ext cx="0" cy="377728"/>
          </a:xfrm>
          <a:prstGeom prst="straightConnector1">
            <a:avLst/>
          </a:prstGeom>
          <a:ln w="381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637CC101-6C08-433D-AC5C-3273AA887D12}"/>
              </a:ext>
            </a:extLst>
          </p:cNvPr>
          <p:cNvSpPr txBox="1"/>
          <p:nvPr/>
        </p:nvSpPr>
        <p:spPr>
          <a:xfrm>
            <a:off x="4213957" y="5301731"/>
            <a:ext cx="1986826"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b="1" dirty="0"/>
              <a:t>Sum of Each Pair</a:t>
            </a:r>
            <a:endParaRPr lang="en-IN" b="1" dirty="0"/>
          </a:p>
        </p:txBody>
      </p:sp>
      <p:sp>
        <p:nvSpPr>
          <p:cNvPr id="15" name="TextBox 14">
            <a:extLst>
              <a:ext uri="{FF2B5EF4-FFF2-40B4-BE49-F238E27FC236}">
                <a16:creationId xmlns:a16="http://schemas.microsoft.com/office/drawing/2014/main" id="{1BA01F31-F457-4B04-8B37-E30100D3FDB9}"/>
              </a:ext>
            </a:extLst>
          </p:cNvPr>
          <p:cNvSpPr txBox="1"/>
          <p:nvPr/>
        </p:nvSpPr>
        <p:spPr>
          <a:xfrm>
            <a:off x="5763399" y="4677797"/>
            <a:ext cx="1422569" cy="369332"/>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b="1" dirty="0"/>
              <a:t>No. of Pairs</a:t>
            </a:r>
            <a:endParaRPr lang="en-IN" b="1" dirty="0"/>
          </a:p>
        </p:txBody>
      </p:sp>
    </p:spTree>
    <p:extLst>
      <p:ext uri="{BB962C8B-B14F-4D97-AF65-F5344CB8AC3E}">
        <p14:creationId xmlns:p14="http://schemas.microsoft.com/office/powerpoint/2010/main" val="3271241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P spid="9" grpId="0"/>
      <p:bldP spid="10" grpId="0"/>
      <p:bldP spid="14"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9E6B1-D8FE-4BF3-86E2-623C6B83E80D}"/>
              </a:ext>
            </a:extLst>
          </p:cNvPr>
          <p:cNvSpPr>
            <a:spLocks noGrp="1"/>
          </p:cNvSpPr>
          <p:nvPr>
            <p:ph type="title"/>
          </p:nvPr>
        </p:nvSpPr>
        <p:spPr>
          <a:xfrm>
            <a:off x="677334" y="1580589"/>
            <a:ext cx="8596668" cy="660400"/>
          </a:xfrm>
        </p:spPr>
        <p:txBody>
          <a:bodyPr>
            <a:normAutofit/>
          </a:bodyPr>
          <a:lstStyle/>
          <a:p>
            <a:r>
              <a:rPr lang="en-US" sz="2800" dirty="0"/>
              <a:t>Step 4: Algorithm Design</a:t>
            </a:r>
            <a:endParaRPr lang="en-IN" sz="2800" dirty="0"/>
          </a:p>
        </p:txBody>
      </p:sp>
      <p:sp>
        <p:nvSpPr>
          <p:cNvPr id="3" name="Content Placeholder 2">
            <a:extLst>
              <a:ext uri="{FF2B5EF4-FFF2-40B4-BE49-F238E27FC236}">
                <a16:creationId xmlns:a16="http://schemas.microsoft.com/office/drawing/2014/main" id="{540B4342-7BAE-4654-A436-50BF2B66608F}"/>
              </a:ext>
            </a:extLst>
          </p:cNvPr>
          <p:cNvSpPr>
            <a:spLocks noGrp="1"/>
          </p:cNvSpPr>
          <p:nvPr>
            <p:ph idx="1"/>
          </p:nvPr>
        </p:nvSpPr>
        <p:spPr>
          <a:xfrm>
            <a:off x="677334" y="2208678"/>
            <a:ext cx="8596668" cy="1359275"/>
          </a:xfrm>
        </p:spPr>
        <p:txBody>
          <a:bodyPr>
            <a:noAutofit/>
          </a:bodyPr>
          <a:lstStyle/>
          <a:p>
            <a:pPr algn="just">
              <a:buFont typeface="Arial" panose="020B0604020202020204" pitchFamily="34" charset="0"/>
              <a:buChar char="•"/>
            </a:pPr>
            <a:r>
              <a:rPr lang="en-US" sz="2400" dirty="0"/>
              <a:t>Developing step by step instructions for solving the problem.</a:t>
            </a:r>
          </a:p>
          <a:p>
            <a:pPr algn="just">
              <a:buFont typeface="Arial" panose="020B0604020202020204" pitchFamily="34" charset="0"/>
              <a:buChar char="•"/>
            </a:pPr>
            <a:r>
              <a:rPr lang="en-US" sz="2400" dirty="0"/>
              <a:t>These steps can be used again to solve similar problems</a:t>
            </a:r>
          </a:p>
        </p:txBody>
      </p:sp>
      <p:sp>
        <p:nvSpPr>
          <p:cNvPr id="8" name="Title 1">
            <a:extLst>
              <a:ext uri="{FF2B5EF4-FFF2-40B4-BE49-F238E27FC236}">
                <a16:creationId xmlns:a16="http://schemas.microsoft.com/office/drawing/2014/main" id="{38AD3B32-9D5A-40C2-BD06-961C22660475}"/>
              </a:ext>
            </a:extLst>
          </p:cNvPr>
          <p:cNvSpPr txBox="1">
            <a:spLocks/>
          </p:cNvSpPr>
          <p:nvPr/>
        </p:nvSpPr>
        <p:spPr>
          <a:xfrm>
            <a:off x="565774" y="408167"/>
            <a:ext cx="8847666" cy="111413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200" dirty="0"/>
              <a:t>Problem 2:</a:t>
            </a:r>
            <a:br>
              <a:rPr lang="en-US" sz="3200" dirty="0"/>
            </a:br>
            <a:r>
              <a:rPr lang="en-US" sz="3200" dirty="0"/>
              <a:t>To find the sum of all numbers between 1 to 200</a:t>
            </a:r>
            <a:endParaRPr lang="en-IN" sz="3200" dirty="0"/>
          </a:p>
        </p:txBody>
      </p:sp>
      <p:sp>
        <p:nvSpPr>
          <p:cNvPr id="16" name="Content Placeholder 2">
            <a:extLst>
              <a:ext uri="{FF2B5EF4-FFF2-40B4-BE49-F238E27FC236}">
                <a16:creationId xmlns:a16="http://schemas.microsoft.com/office/drawing/2014/main" id="{5076D5B5-AFA4-45C7-BA65-2DAB02165920}"/>
              </a:ext>
            </a:extLst>
          </p:cNvPr>
          <p:cNvSpPr txBox="1">
            <a:spLocks/>
          </p:cNvSpPr>
          <p:nvPr/>
        </p:nvSpPr>
        <p:spPr>
          <a:xfrm>
            <a:off x="1147482" y="3639669"/>
            <a:ext cx="8014960" cy="135927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en-US" sz="2400" b="1" dirty="0"/>
              <a:t>Step 1: X = N + 1</a:t>
            </a:r>
          </a:p>
          <a:p>
            <a:pPr marL="0" indent="0" algn="just">
              <a:buNone/>
            </a:pPr>
            <a:r>
              <a:rPr lang="en-US" sz="2400" b="1" dirty="0"/>
              <a:t>Step 2: Y = N/2</a:t>
            </a:r>
          </a:p>
          <a:p>
            <a:pPr marL="0" indent="0" algn="just">
              <a:buNone/>
            </a:pPr>
            <a:r>
              <a:rPr lang="en-US" sz="2400" b="1" dirty="0"/>
              <a:t>Step 3: Result = X * Y</a:t>
            </a:r>
          </a:p>
        </p:txBody>
      </p:sp>
    </p:spTree>
    <p:extLst>
      <p:ext uri="{BB962C8B-B14F-4D97-AF65-F5344CB8AC3E}">
        <p14:creationId xmlns:p14="http://schemas.microsoft.com/office/powerpoint/2010/main" val="369290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9E6B1-D8FE-4BF3-86E2-623C6B83E80D}"/>
              </a:ext>
            </a:extLst>
          </p:cNvPr>
          <p:cNvSpPr>
            <a:spLocks noGrp="1"/>
          </p:cNvSpPr>
          <p:nvPr>
            <p:ph type="title"/>
          </p:nvPr>
        </p:nvSpPr>
        <p:spPr>
          <a:xfrm>
            <a:off x="677334" y="1078569"/>
            <a:ext cx="8596668" cy="875740"/>
          </a:xfrm>
        </p:spPr>
        <p:txBody>
          <a:bodyPr>
            <a:normAutofit/>
          </a:bodyPr>
          <a:lstStyle/>
          <a:p>
            <a:r>
              <a:rPr lang="en-US" sz="2800" dirty="0"/>
              <a:t>What is the total cost to construct a class room of 60 students</a:t>
            </a:r>
            <a:endParaRPr lang="en-IN" sz="2800" dirty="0"/>
          </a:p>
        </p:txBody>
      </p:sp>
      <p:sp>
        <p:nvSpPr>
          <p:cNvPr id="8" name="Title 1">
            <a:extLst>
              <a:ext uri="{FF2B5EF4-FFF2-40B4-BE49-F238E27FC236}">
                <a16:creationId xmlns:a16="http://schemas.microsoft.com/office/drawing/2014/main" id="{38AD3B32-9D5A-40C2-BD06-961C22660475}"/>
              </a:ext>
            </a:extLst>
          </p:cNvPr>
          <p:cNvSpPr txBox="1">
            <a:spLocks/>
          </p:cNvSpPr>
          <p:nvPr/>
        </p:nvSpPr>
        <p:spPr>
          <a:xfrm>
            <a:off x="565774" y="408167"/>
            <a:ext cx="8847666" cy="66040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200" dirty="0"/>
              <a:t>Task 1</a:t>
            </a:r>
            <a:endParaRPr lang="en-IN" sz="3200" dirty="0"/>
          </a:p>
        </p:txBody>
      </p:sp>
      <p:pic>
        <p:nvPicPr>
          <p:cNvPr id="1026" name="Picture 2" descr="Classroom Design for an Optimized Learning Space - myViewBoard Blog">
            <a:extLst>
              <a:ext uri="{FF2B5EF4-FFF2-40B4-BE49-F238E27FC236}">
                <a16:creationId xmlns:a16="http://schemas.microsoft.com/office/drawing/2014/main" id="{CB1C7995-DAA4-475F-BB5E-28B61D681BA9}"/>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677334" y="1964311"/>
            <a:ext cx="5661500" cy="3629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6611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9E6B1-D8FE-4BF3-86E2-623C6B83E80D}"/>
              </a:ext>
            </a:extLst>
          </p:cNvPr>
          <p:cNvSpPr>
            <a:spLocks noGrp="1"/>
          </p:cNvSpPr>
          <p:nvPr>
            <p:ph type="title"/>
          </p:nvPr>
        </p:nvSpPr>
        <p:spPr>
          <a:xfrm>
            <a:off x="0" y="662902"/>
            <a:ext cx="12409714" cy="875740"/>
          </a:xfrm>
        </p:spPr>
        <p:txBody>
          <a:bodyPr>
            <a:normAutofit/>
          </a:bodyPr>
          <a:lstStyle/>
          <a:p>
            <a:r>
              <a:rPr lang="en-US" sz="2800" dirty="0"/>
              <a:t>What is the total cost to construct a class room of 60 students</a:t>
            </a:r>
            <a:br>
              <a:rPr lang="en-US" sz="2800" dirty="0"/>
            </a:br>
            <a:endParaRPr lang="en-IN" sz="2800" dirty="0"/>
          </a:p>
        </p:txBody>
      </p:sp>
      <p:sp>
        <p:nvSpPr>
          <p:cNvPr id="8" name="Title 1">
            <a:extLst>
              <a:ext uri="{FF2B5EF4-FFF2-40B4-BE49-F238E27FC236}">
                <a16:creationId xmlns:a16="http://schemas.microsoft.com/office/drawing/2014/main" id="{38AD3B32-9D5A-40C2-BD06-961C22660475}"/>
              </a:ext>
            </a:extLst>
          </p:cNvPr>
          <p:cNvSpPr txBox="1">
            <a:spLocks/>
          </p:cNvSpPr>
          <p:nvPr/>
        </p:nvSpPr>
        <p:spPr>
          <a:xfrm>
            <a:off x="1672167" y="210336"/>
            <a:ext cx="8847666" cy="452566"/>
          </a:xfrm>
          <a:prstGeom prst="rect">
            <a:avLst/>
          </a:prstGeom>
        </p:spPr>
        <p:txBody>
          <a:bodyPr vert="horz" lIns="91440" tIns="45720" rIns="91440" bIns="45720" rtlCol="0" anchor="t">
            <a:normAutofit fontScale="900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200" dirty="0"/>
              <a:t>Task 1</a:t>
            </a:r>
            <a:endParaRPr lang="en-IN" sz="3200" dirty="0"/>
          </a:p>
        </p:txBody>
      </p:sp>
      <p:sp>
        <p:nvSpPr>
          <p:cNvPr id="5" name="TextBox 4">
            <a:extLst>
              <a:ext uri="{FF2B5EF4-FFF2-40B4-BE49-F238E27FC236}">
                <a16:creationId xmlns:a16="http://schemas.microsoft.com/office/drawing/2014/main" id="{D05A75B8-6CC9-BB85-04E2-1093107BC603}"/>
              </a:ext>
            </a:extLst>
          </p:cNvPr>
          <p:cNvSpPr txBox="1"/>
          <p:nvPr/>
        </p:nvSpPr>
        <p:spPr>
          <a:xfrm>
            <a:off x="0" y="1268964"/>
            <a:ext cx="11999167" cy="5632311"/>
          </a:xfrm>
          <a:prstGeom prst="rect">
            <a:avLst/>
          </a:prstGeom>
          <a:noFill/>
        </p:spPr>
        <p:txBody>
          <a:bodyPr wrap="square" rtlCol="0">
            <a:spAutoFit/>
          </a:bodyPr>
          <a:lstStyle/>
          <a:p>
            <a:pPr algn="l"/>
            <a:r>
              <a:rPr lang="en-US" b="1" i="0" dirty="0">
                <a:solidFill>
                  <a:srgbClr val="374151"/>
                </a:solidFill>
                <a:effectLst/>
                <a:latin typeface="Söhne"/>
              </a:rPr>
              <a:t>1. Decomposition:</a:t>
            </a:r>
            <a:r>
              <a:rPr lang="en-US" dirty="0">
                <a:solidFill>
                  <a:srgbClr val="374151"/>
                </a:solidFill>
                <a:latin typeface="Söhne"/>
              </a:rPr>
              <a:t> </a:t>
            </a:r>
            <a:r>
              <a:rPr lang="en-US" b="0" i="0" dirty="0">
                <a:solidFill>
                  <a:srgbClr val="374151"/>
                </a:solidFill>
                <a:effectLst/>
                <a:latin typeface="Söhne"/>
              </a:rPr>
              <a:t>Break down the task into smaller components: construction materials, labor costs, furniture, and miscellaneous expenses.</a:t>
            </a:r>
          </a:p>
          <a:p>
            <a:pPr algn="l"/>
            <a:r>
              <a:rPr lang="en-US" b="1" i="0" dirty="0">
                <a:solidFill>
                  <a:srgbClr val="374151"/>
                </a:solidFill>
                <a:effectLst/>
                <a:latin typeface="Söhne"/>
              </a:rPr>
              <a:t>2. Pattern Recognition:</a:t>
            </a:r>
            <a:r>
              <a:rPr lang="en-US" b="0" i="0" dirty="0">
                <a:solidFill>
                  <a:srgbClr val="374151"/>
                </a:solidFill>
                <a:effectLst/>
                <a:latin typeface="Söhne"/>
              </a:rPr>
              <a:t> Recognize that constructing a classroom involves common elements like building materials, labor, and furnishings, which contribute to the overall cost.</a:t>
            </a:r>
          </a:p>
          <a:p>
            <a:pPr algn="l"/>
            <a:r>
              <a:rPr lang="en-US" b="1" i="0" dirty="0">
                <a:solidFill>
                  <a:srgbClr val="374151"/>
                </a:solidFill>
                <a:effectLst/>
                <a:latin typeface="Söhne"/>
              </a:rPr>
              <a:t>3. Abstraction:</a:t>
            </a:r>
            <a:r>
              <a:rPr lang="en-US" dirty="0">
                <a:solidFill>
                  <a:srgbClr val="374151"/>
                </a:solidFill>
                <a:latin typeface="Söhne"/>
              </a:rPr>
              <a:t> </a:t>
            </a:r>
            <a:r>
              <a:rPr lang="en-US" b="0" i="0" dirty="0">
                <a:solidFill>
                  <a:srgbClr val="374151"/>
                </a:solidFill>
                <a:effectLst/>
                <a:latin typeface="Söhne"/>
              </a:rPr>
              <a:t>Simplify by focusing on key cost components - construction materials, labor, and furnishings - without getting into overly detailed specifics.</a:t>
            </a:r>
          </a:p>
          <a:p>
            <a:pPr algn="l"/>
            <a:r>
              <a:rPr lang="en-US" b="1" i="0" dirty="0">
                <a:solidFill>
                  <a:srgbClr val="374151"/>
                </a:solidFill>
                <a:effectLst/>
                <a:latin typeface="Söhne"/>
              </a:rPr>
              <a:t>4. Algorithmic Design:</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Estimate the cost of construction materials (bricks, cement, etc.).</a:t>
            </a:r>
          </a:p>
          <a:p>
            <a:pPr marL="742950" lvl="1" indent="-285750" algn="l">
              <a:buFont typeface="Arial" panose="020B0604020202020204" pitchFamily="34" charset="0"/>
              <a:buChar char="•"/>
            </a:pPr>
            <a:r>
              <a:rPr lang="en-US" b="0" i="0" dirty="0">
                <a:solidFill>
                  <a:srgbClr val="374151"/>
                </a:solidFill>
                <a:effectLst/>
                <a:latin typeface="Söhne"/>
              </a:rPr>
              <a:t>Calculate labor costs based on the number of workers and hours needed.</a:t>
            </a:r>
          </a:p>
          <a:p>
            <a:pPr marL="742950" lvl="1" indent="-285750" algn="l">
              <a:buFont typeface="Arial" panose="020B0604020202020204" pitchFamily="34" charset="0"/>
              <a:buChar char="•"/>
            </a:pPr>
            <a:r>
              <a:rPr lang="en-US" b="0" i="0" dirty="0">
                <a:solidFill>
                  <a:srgbClr val="374151"/>
                </a:solidFill>
                <a:effectLst/>
                <a:latin typeface="Söhne"/>
              </a:rPr>
              <a:t>Determine the cost of furniture and equipment.</a:t>
            </a:r>
          </a:p>
          <a:p>
            <a:pPr marL="742950" lvl="1" indent="-285750" algn="l">
              <a:buFont typeface="Arial" panose="020B0604020202020204" pitchFamily="34" charset="0"/>
              <a:buChar char="•"/>
            </a:pPr>
            <a:r>
              <a:rPr lang="en-US" b="0" i="0" dirty="0">
                <a:solidFill>
                  <a:srgbClr val="374151"/>
                </a:solidFill>
                <a:effectLst/>
                <a:latin typeface="Söhne"/>
              </a:rPr>
              <a:t>Add miscellaneous expenses (permits, utilities, etc.).</a:t>
            </a:r>
          </a:p>
          <a:p>
            <a:pPr marL="742950" lvl="1" indent="-285750" algn="l">
              <a:buFont typeface="Arial" panose="020B0604020202020204" pitchFamily="34" charset="0"/>
              <a:buChar char="•"/>
            </a:pPr>
            <a:r>
              <a:rPr lang="en-US" b="0" i="0" dirty="0">
                <a:solidFill>
                  <a:srgbClr val="374151"/>
                </a:solidFill>
                <a:effectLst/>
                <a:latin typeface="Söhne"/>
              </a:rPr>
              <a:t>Sum up all these costs to find the total construction cost.</a:t>
            </a:r>
          </a:p>
          <a:p>
            <a:pPr algn="l"/>
            <a:r>
              <a:rPr lang="en-US" b="1" i="0" dirty="0">
                <a:solidFill>
                  <a:srgbClr val="374151"/>
                </a:solidFill>
                <a:effectLst/>
                <a:latin typeface="Söhne"/>
              </a:rPr>
              <a:t>Solution:</a:t>
            </a:r>
            <a:endParaRPr lang="en-US" b="0" i="0" dirty="0">
              <a:solidFill>
                <a:srgbClr val="374151"/>
              </a:solidFill>
              <a:effectLst/>
              <a:latin typeface="Söhne"/>
            </a:endParaRPr>
          </a:p>
          <a:p>
            <a:pPr algn="l">
              <a:buFont typeface="Arial" panose="020B0604020202020204" pitchFamily="34" charset="0"/>
              <a:buChar char="•"/>
            </a:pPr>
            <a:r>
              <a:rPr lang="en-US" b="0" i="0" dirty="0">
                <a:solidFill>
                  <a:srgbClr val="374151"/>
                </a:solidFill>
                <a:effectLst/>
                <a:latin typeface="Söhne"/>
              </a:rPr>
              <a:t>Let's consider hypothetical values:</a:t>
            </a:r>
          </a:p>
          <a:p>
            <a:pPr marL="742950" lvl="1" indent="-285750" algn="l">
              <a:buFont typeface="Arial" panose="020B0604020202020204" pitchFamily="34" charset="0"/>
              <a:buChar char="•"/>
            </a:pPr>
            <a:r>
              <a:rPr lang="en-US" b="0" i="0" dirty="0">
                <a:solidFill>
                  <a:srgbClr val="374151"/>
                </a:solidFill>
                <a:effectLst/>
                <a:latin typeface="Söhne"/>
              </a:rPr>
              <a:t>Construction Materials: ₹ 50,000</a:t>
            </a:r>
          </a:p>
          <a:p>
            <a:pPr marL="742950" lvl="1" indent="-285750" algn="l">
              <a:buFont typeface="Arial" panose="020B0604020202020204" pitchFamily="34" charset="0"/>
              <a:buChar char="•"/>
            </a:pPr>
            <a:r>
              <a:rPr lang="en-US" b="0" i="0" dirty="0">
                <a:solidFill>
                  <a:srgbClr val="374151"/>
                </a:solidFill>
                <a:effectLst/>
                <a:latin typeface="Söhne"/>
              </a:rPr>
              <a:t>Labor Costs: ₹ 20,000</a:t>
            </a:r>
          </a:p>
          <a:p>
            <a:pPr marL="742950" lvl="1" indent="-285750" algn="l">
              <a:buFont typeface="Arial" panose="020B0604020202020204" pitchFamily="34" charset="0"/>
              <a:buChar char="•"/>
            </a:pPr>
            <a:r>
              <a:rPr lang="en-US" b="0" i="0" dirty="0">
                <a:solidFill>
                  <a:srgbClr val="374151"/>
                </a:solidFill>
                <a:effectLst/>
                <a:latin typeface="Söhne"/>
              </a:rPr>
              <a:t>Furniture and Equipment: ₹ 20,000</a:t>
            </a:r>
          </a:p>
          <a:p>
            <a:pPr marL="742950" lvl="1" indent="-285750" algn="l">
              <a:buFont typeface="Arial" panose="020B0604020202020204" pitchFamily="34" charset="0"/>
              <a:buChar char="•"/>
            </a:pPr>
            <a:r>
              <a:rPr lang="en-US" b="0" i="0" dirty="0">
                <a:solidFill>
                  <a:srgbClr val="374151"/>
                </a:solidFill>
                <a:effectLst/>
                <a:latin typeface="Söhne"/>
              </a:rPr>
              <a:t>Miscellaneous Expenses: ₹ 7,000</a:t>
            </a:r>
          </a:p>
          <a:p>
            <a:pPr algn="l">
              <a:buFont typeface="Arial" panose="020B0604020202020204" pitchFamily="34" charset="0"/>
              <a:buChar char="•"/>
            </a:pPr>
            <a:r>
              <a:rPr lang="en-US" b="1" i="0" dirty="0">
                <a:solidFill>
                  <a:srgbClr val="374151"/>
                </a:solidFill>
                <a:effectLst/>
                <a:latin typeface="Söhne"/>
              </a:rPr>
              <a:t>Total Cost = Construction Materials + Labor Costs + Furniture + Miscellaneous Expenses</a:t>
            </a:r>
            <a:endParaRPr lang="en-US" b="0" i="0" dirty="0">
              <a:solidFill>
                <a:srgbClr val="374151"/>
              </a:solidFill>
              <a:effectLst/>
              <a:latin typeface="Söhne"/>
            </a:endParaRPr>
          </a:p>
          <a:p>
            <a:pPr>
              <a:buFont typeface="Arial" panose="020B0604020202020204" pitchFamily="34" charset="0"/>
              <a:buChar char="•"/>
            </a:pPr>
            <a:r>
              <a:rPr lang="en-US" b="1" i="0" dirty="0">
                <a:solidFill>
                  <a:srgbClr val="374151"/>
                </a:solidFill>
                <a:effectLst/>
                <a:latin typeface="Söhne"/>
              </a:rPr>
              <a:t>Total Cost = ₹ 50,000 + ₹ 20,000 + ₹ 20,000 + ₹ 7,000 = ₹ 97,000 </a:t>
            </a:r>
            <a:r>
              <a:rPr lang="en-IN" dirty="0"/>
              <a:t>≈ ₹ 1,00,000</a:t>
            </a:r>
            <a:endParaRPr lang="en-US" b="0" i="0" dirty="0">
              <a:solidFill>
                <a:srgbClr val="374151"/>
              </a:solidFill>
              <a:effectLst/>
              <a:latin typeface="Söhne"/>
            </a:endParaRPr>
          </a:p>
        </p:txBody>
      </p:sp>
    </p:spTree>
    <p:extLst>
      <p:ext uri="{BB962C8B-B14F-4D97-AF65-F5344CB8AC3E}">
        <p14:creationId xmlns:p14="http://schemas.microsoft.com/office/powerpoint/2010/main" val="3612835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70722" y="30745"/>
            <a:ext cx="8911687" cy="1280890"/>
          </a:xfrm>
        </p:spPr>
        <p:txBody>
          <a:bodyPr/>
          <a:lstStyle/>
          <a:p>
            <a:r>
              <a:rPr lang="en-US" dirty="0"/>
              <a:t>Algorithm 			</a:t>
            </a:r>
            <a:endParaRPr lang="en-IN" dirty="0"/>
          </a:p>
        </p:txBody>
      </p:sp>
      <p:sp>
        <p:nvSpPr>
          <p:cNvPr id="3" name="Content Placeholder 2"/>
          <p:cNvSpPr>
            <a:spLocks noGrp="1"/>
          </p:cNvSpPr>
          <p:nvPr>
            <p:ph idx="1"/>
          </p:nvPr>
        </p:nvSpPr>
        <p:spPr/>
        <p:txBody>
          <a:bodyPr/>
          <a:lstStyle/>
          <a:p>
            <a:endParaRPr lang="en-US" dirty="0"/>
          </a:p>
          <a:p>
            <a:endParaRPr lang="en-IN" dirty="0"/>
          </a:p>
        </p:txBody>
      </p:sp>
      <p:sp>
        <p:nvSpPr>
          <p:cNvPr id="5" name="Cloud 4"/>
          <p:cNvSpPr/>
          <p:nvPr/>
        </p:nvSpPr>
        <p:spPr>
          <a:xfrm>
            <a:off x="197427" y="1244312"/>
            <a:ext cx="2992582" cy="1922318"/>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Logical step by step method to solve a problem.</a:t>
            </a:r>
          </a:p>
        </p:txBody>
      </p:sp>
      <p:sp>
        <p:nvSpPr>
          <p:cNvPr id="6" name="Cloud 5"/>
          <p:cNvSpPr/>
          <p:nvPr/>
        </p:nvSpPr>
        <p:spPr>
          <a:xfrm>
            <a:off x="3604931" y="1265382"/>
            <a:ext cx="2921635" cy="1922318"/>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It is a procedure to solve a problem.</a:t>
            </a:r>
          </a:p>
        </p:txBody>
      </p:sp>
      <p:sp>
        <p:nvSpPr>
          <p:cNvPr id="7" name="Cloud 6"/>
          <p:cNvSpPr/>
          <p:nvPr/>
        </p:nvSpPr>
        <p:spPr>
          <a:xfrm>
            <a:off x="1816291" y="3843482"/>
            <a:ext cx="2747436" cy="1922318"/>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Used to solve a mathematical or computer problem.</a:t>
            </a:r>
          </a:p>
        </p:txBody>
      </p:sp>
      <p:sp>
        <p:nvSpPr>
          <p:cNvPr id="8" name="Cloud 7"/>
          <p:cNvSpPr/>
          <p:nvPr/>
        </p:nvSpPr>
        <p:spPr>
          <a:xfrm>
            <a:off x="6996146" y="1199430"/>
            <a:ext cx="2757763" cy="1922318"/>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Algorithm is the first step of the process.</a:t>
            </a:r>
          </a:p>
        </p:txBody>
      </p:sp>
      <p:sp>
        <p:nvSpPr>
          <p:cNvPr id="9" name="Cloud 8"/>
          <p:cNvSpPr/>
          <p:nvPr/>
        </p:nvSpPr>
        <p:spPr>
          <a:xfrm>
            <a:off x="5557299" y="3777530"/>
            <a:ext cx="3347710" cy="1922318"/>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Algorithm includes calculations reasoning and data processing.</a:t>
            </a:r>
          </a:p>
        </p:txBody>
      </p:sp>
    </p:spTree>
    <p:extLst>
      <p:ext uri="{BB962C8B-B14F-4D97-AF65-F5344CB8AC3E}">
        <p14:creationId xmlns:p14="http://schemas.microsoft.com/office/powerpoint/2010/main" val="3491030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72391"/>
          </a:xfrm>
        </p:spPr>
        <p:txBody>
          <a:bodyPr/>
          <a:lstStyle/>
          <a:p>
            <a:r>
              <a:rPr lang="en-US" dirty="0"/>
              <a:t>Example	</a:t>
            </a:r>
            <a:endParaRPr lang="en-IN" dirty="0"/>
          </a:p>
        </p:txBody>
      </p:sp>
      <p:sp>
        <p:nvSpPr>
          <p:cNvPr id="3" name="Content Placeholder 2"/>
          <p:cNvSpPr>
            <a:spLocks noGrp="1"/>
          </p:cNvSpPr>
          <p:nvPr>
            <p:ph idx="1"/>
          </p:nvPr>
        </p:nvSpPr>
        <p:spPr/>
        <p:txBody>
          <a:bodyPr/>
          <a:lstStyle/>
          <a:p>
            <a:r>
              <a:rPr lang="en-US" dirty="0"/>
              <a:t>Write an algorithm for adding three numbers</a:t>
            </a:r>
          </a:p>
          <a:p>
            <a:endParaRPr lang="en-US" dirty="0"/>
          </a:p>
          <a:p>
            <a:r>
              <a:rPr lang="en-US" dirty="0"/>
              <a:t>Step 1: Start</a:t>
            </a:r>
          </a:p>
          <a:p>
            <a:r>
              <a:rPr lang="en-US" dirty="0"/>
              <a:t>Step 2: Read num1, num2, num3</a:t>
            </a:r>
          </a:p>
          <a:p>
            <a:r>
              <a:rPr lang="en-US" dirty="0"/>
              <a:t>Step 3: Result= num1+num2+num3</a:t>
            </a:r>
          </a:p>
          <a:p>
            <a:r>
              <a:rPr lang="en-US" dirty="0"/>
              <a:t>Step 4: Print Result</a:t>
            </a:r>
          </a:p>
          <a:p>
            <a:r>
              <a:rPr lang="en-US" dirty="0"/>
              <a:t>Step 5: End</a:t>
            </a:r>
            <a:endParaRPr lang="en-IN" dirty="0"/>
          </a:p>
        </p:txBody>
      </p:sp>
    </p:spTree>
    <p:extLst>
      <p:ext uri="{BB962C8B-B14F-4D97-AF65-F5344CB8AC3E}">
        <p14:creationId xmlns:p14="http://schemas.microsoft.com/office/powerpoint/2010/main" val="2232953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17864"/>
          </a:xfrm>
        </p:spPr>
        <p:txBody>
          <a:bodyPr/>
          <a:lstStyle/>
          <a:p>
            <a:r>
              <a:rPr lang="en-US" dirty="0"/>
              <a:t>Characteristics and Advantages</a:t>
            </a:r>
            <a:endParaRPr lang="en-IN" dirty="0"/>
          </a:p>
        </p:txBody>
      </p:sp>
      <p:sp>
        <p:nvSpPr>
          <p:cNvPr id="3" name="Content Placeholder 2"/>
          <p:cNvSpPr>
            <a:spLocks noGrp="1"/>
          </p:cNvSpPr>
          <p:nvPr>
            <p:ph idx="1"/>
          </p:nvPr>
        </p:nvSpPr>
        <p:spPr>
          <a:xfrm>
            <a:off x="677334" y="2121803"/>
            <a:ext cx="8596668" cy="2047729"/>
          </a:xfrm>
        </p:spPr>
        <p:txBody>
          <a:bodyPr>
            <a:normAutofit fontScale="85000" lnSpcReduction="10000"/>
          </a:bodyPr>
          <a:lstStyle/>
          <a:p>
            <a:r>
              <a:rPr lang="en-US" dirty="0"/>
              <a:t>Clear and Unambiguous : Steps, input/output must be clear and must lead to one meaning.</a:t>
            </a:r>
          </a:p>
          <a:p>
            <a:r>
              <a:rPr lang="en-US" dirty="0"/>
              <a:t>Finiteness : Algorithm must terminate after finite number of steps.</a:t>
            </a:r>
          </a:p>
          <a:p>
            <a:r>
              <a:rPr lang="en-US" dirty="0"/>
              <a:t>Feasibility: Should be feasible with available resources</a:t>
            </a:r>
          </a:p>
          <a:p>
            <a:r>
              <a:rPr lang="en-US" dirty="0"/>
              <a:t>Independent: Algorithm must be independent of any programming code</a:t>
            </a:r>
          </a:p>
          <a:p>
            <a:pPr marL="0" indent="0">
              <a:buNone/>
            </a:pPr>
            <a:endParaRPr lang="en-US" dirty="0"/>
          </a:p>
          <a:p>
            <a:pPr marL="0" indent="0">
              <a:buNone/>
            </a:pPr>
            <a:endParaRPr lang="en-US" dirty="0"/>
          </a:p>
        </p:txBody>
      </p:sp>
      <p:sp>
        <p:nvSpPr>
          <p:cNvPr id="4" name="Rectangle 3"/>
          <p:cNvSpPr/>
          <p:nvPr/>
        </p:nvSpPr>
        <p:spPr>
          <a:xfrm>
            <a:off x="1093748" y="1659360"/>
            <a:ext cx="1795684" cy="369332"/>
          </a:xfrm>
          <a:prstGeom prst="rect">
            <a:avLst/>
          </a:prstGeom>
        </p:spPr>
        <p:txBody>
          <a:bodyPr wrap="none">
            <a:spAutoFit/>
          </a:bodyPr>
          <a:lstStyle/>
          <a:p>
            <a:r>
              <a:rPr lang="en-US" dirty="0"/>
              <a:t>Characteristics </a:t>
            </a:r>
            <a:endParaRPr lang="en-IN" dirty="0"/>
          </a:p>
        </p:txBody>
      </p:sp>
      <p:sp>
        <p:nvSpPr>
          <p:cNvPr id="6" name="Rectangle 5"/>
          <p:cNvSpPr/>
          <p:nvPr/>
        </p:nvSpPr>
        <p:spPr>
          <a:xfrm>
            <a:off x="965482" y="4394540"/>
            <a:ext cx="1359668" cy="369332"/>
          </a:xfrm>
          <a:prstGeom prst="rect">
            <a:avLst/>
          </a:prstGeom>
        </p:spPr>
        <p:txBody>
          <a:bodyPr wrap="none">
            <a:spAutoFit/>
          </a:bodyPr>
          <a:lstStyle/>
          <a:p>
            <a:r>
              <a:rPr lang="en-US" dirty="0"/>
              <a:t>Advantages</a:t>
            </a:r>
            <a:endParaRPr lang="en-IN" dirty="0"/>
          </a:p>
        </p:txBody>
      </p:sp>
      <p:sp>
        <p:nvSpPr>
          <p:cNvPr id="7" name="Content Placeholder 2"/>
          <p:cNvSpPr txBox="1">
            <a:spLocks/>
          </p:cNvSpPr>
          <p:nvPr/>
        </p:nvSpPr>
        <p:spPr>
          <a:xfrm>
            <a:off x="677334" y="4763872"/>
            <a:ext cx="8596668" cy="204772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Easy to understand motive of program.</a:t>
            </a:r>
          </a:p>
          <a:p>
            <a:r>
              <a:rPr lang="en-US" dirty="0"/>
              <a:t>Helps in searching/ identifying the error.</a:t>
            </a:r>
          </a:p>
          <a:p>
            <a:r>
              <a:rPr lang="en-US" dirty="0"/>
              <a:t>Helps in correcting the error.</a:t>
            </a:r>
          </a:p>
          <a:p>
            <a:r>
              <a:rPr lang="en-US" dirty="0"/>
              <a:t>Complex problem in an easy way as it represents step for solving a problem.  </a:t>
            </a:r>
          </a:p>
          <a:p>
            <a:pPr marL="0" indent="0">
              <a:buFont typeface="Wingdings 3" charset="2"/>
              <a:buNone/>
            </a:pPr>
            <a:endParaRPr lang="en-US" dirty="0"/>
          </a:p>
        </p:txBody>
      </p:sp>
    </p:spTree>
    <p:extLst>
      <p:ext uri="{BB962C8B-B14F-4D97-AF65-F5344CB8AC3E}">
        <p14:creationId xmlns:p14="http://schemas.microsoft.com/office/powerpoint/2010/main" val="2567882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0541" y="176193"/>
            <a:ext cx="8911687" cy="1280890"/>
          </a:xfrm>
        </p:spPr>
        <p:txBody>
          <a:bodyPr/>
          <a:lstStyle/>
          <a:p>
            <a:r>
              <a:rPr lang="en-US" dirty="0"/>
              <a:t>Flowchart	</a:t>
            </a:r>
            <a:endParaRPr lang="en-IN" dirty="0"/>
          </a:p>
        </p:txBody>
      </p:sp>
      <p:sp>
        <p:nvSpPr>
          <p:cNvPr id="3" name="Content Placeholder 2"/>
          <p:cNvSpPr>
            <a:spLocks noGrp="1"/>
          </p:cNvSpPr>
          <p:nvPr>
            <p:ph idx="1"/>
          </p:nvPr>
        </p:nvSpPr>
        <p:spPr>
          <a:xfrm>
            <a:off x="677334" y="1317171"/>
            <a:ext cx="8596668" cy="4724191"/>
          </a:xfrm>
        </p:spPr>
        <p:txBody>
          <a:bodyPr/>
          <a:lstStyle/>
          <a:p>
            <a:r>
              <a:rPr lang="en-US" dirty="0"/>
              <a:t>A graphical or pictorial representation of an algorithm with the help of different symbols, shapes and arrows to demonstrate a process or a program. </a:t>
            </a:r>
          </a:p>
          <a:p>
            <a:r>
              <a:rPr lang="en-US" dirty="0"/>
              <a:t>The main purpose of flowchart is to analyze different methods.</a:t>
            </a:r>
          </a:p>
          <a:p>
            <a:r>
              <a:rPr lang="en-US" dirty="0"/>
              <a:t>Symbols used in flowchart are: </a:t>
            </a:r>
          </a:p>
          <a:p>
            <a:endParaRPr lang="en-US" dirty="0"/>
          </a:p>
          <a:p>
            <a:endParaRPr lang="en-US" dirty="0"/>
          </a:p>
          <a:p>
            <a:pPr marL="0" indent="0">
              <a:buNone/>
            </a:pPr>
            <a:r>
              <a:rPr lang="en-US" dirty="0"/>
              <a:t> </a:t>
            </a:r>
          </a:p>
        </p:txBody>
      </p:sp>
      <p:sp>
        <p:nvSpPr>
          <p:cNvPr id="6" name="Flowchart: Terminator 5"/>
          <p:cNvSpPr/>
          <p:nvPr/>
        </p:nvSpPr>
        <p:spPr>
          <a:xfrm>
            <a:off x="1138767" y="3543976"/>
            <a:ext cx="3091543" cy="881743"/>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Terminal box- Start / End</a:t>
            </a:r>
            <a:endParaRPr lang="en-IN" dirty="0"/>
          </a:p>
        </p:txBody>
      </p:sp>
      <p:sp>
        <p:nvSpPr>
          <p:cNvPr id="7" name="Flowchart: Data 6"/>
          <p:cNvSpPr/>
          <p:nvPr/>
        </p:nvSpPr>
        <p:spPr>
          <a:xfrm>
            <a:off x="4695245" y="3543976"/>
            <a:ext cx="2677886" cy="88174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Input/Output</a:t>
            </a:r>
            <a:endParaRPr lang="en-IN" dirty="0"/>
          </a:p>
        </p:txBody>
      </p:sp>
      <p:sp>
        <p:nvSpPr>
          <p:cNvPr id="8" name="Flowchart: Process 7"/>
          <p:cNvSpPr/>
          <p:nvPr/>
        </p:nvSpPr>
        <p:spPr>
          <a:xfrm>
            <a:off x="1569854" y="5133290"/>
            <a:ext cx="1524000" cy="96882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Process/ Instructions</a:t>
            </a:r>
            <a:endParaRPr lang="en-IN" dirty="0"/>
          </a:p>
        </p:txBody>
      </p:sp>
      <p:sp>
        <p:nvSpPr>
          <p:cNvPr id="9" name="Flowchart: Decision 8"/>
          <p:cNvSpPr/>
          <p:nvPr/>
        </p:nvSpPr>
        <p:spPr>
          <a:xfrm>
            <a:off x="4833256" y="5133290"/>
            <a:ext cx="2166259" cy="1121019"/>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Decision</a:t>
            </a:r>
            <a:endParaRPr lang="en-IN" dirty="0"/>
          </a:p>
        </p:txBody>
      </p:sp>
      <p:cxnSp>
        <p:nvCxnSpPr>
          <p:cNvPr id="11" name="Straight Arrow Connector 10"/>
          <p:cNvCxnSpPr/>
          <p:nvPr/>
        </p:nvCxnSpPr>
        <p:spPr>
          <a:xfrm>
            <a:off x="7889100" y="4949707"/>
            <a:ext cx="2002972" cy="21771"/>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961692" y="4372035"/>
            <a:ext cx="2548449" cy="369332"/>
          </a:xfrm>
          <a:prstGeom prst="rect">
            <a:avLst/>
          </a:prstGeom>
          <a:noFill/>
        </p:spPr>
        <p:txBody>
          <a:bodyPr wrap="square" rtlCol="0">
            <a:spAutoFit/>
          </a:bodyPr>
          <a:lstStyle/>
          <a:p>
            <a:r>
              <a:rPr lang="en-US" dirty="0"/>
              <a:t>Connector/Arrow</a:t>
            </a:r>
            <a:endParaRPr lang="en-IN" dirty="0"/>
          </a:p>
        </p:txBody>
      </p:sp>
    </p:spTree>
    <p:extLst>
      <p:ext uri="{BB962C8B-B14F-4D97-AF65-F5344CB8AC3E}">
        <p14:creationId xmlns:p14="http://schemas.microsoft.com/office/powerpoint/2010/main" val="3898725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1000"/>
                                        <p:tgtEl>
                                          <p:spTgt spid="9"/>
                                        </p:tgtEl>
                                      </p:cBhvr>
                                    </p:animEffect>
                                    <p:anim calcmode="lin" valueType="num">
                                      <p:cBhvr>
                                        <p:cTn id="38" dur="1000" fill="hold"/>
                                        <p:tgtEl>
                                          <p:spTgt spid="9"/>
                                        </p:tgtEl>
                                        <p:attrNameLst>
                                          <p:attrName>ppt_x</p:attrName>
                                        </p:attrNameLst>
                                      </p:cBhvr>
                                      <p:tavLst>
                                        <p:tav tm="0">
                                          <p:val>
                                            <p:strVal val="#ppt_x"/>
                                          </p:val>
                                        </p:tav>
                                        <p:tav tm="100000">
                                          <p:val>
                                            <p:strVal val="#ppt_x"/>
                                          </p:val>
                                        </p:tav>
                                      </p:tavLst>
                                    </p:anim>
                                    <p:anim calcmode="lin" valueType="num">
                                      <p:cBhvr>
                                        <p:cTn id="39" dur="1000" fill="hold"/>
                                        <p:tgtEl>
                                          <p:spTgt spid="9"/>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1000"/>
                                        <p:tgtEl>
                                          <p:spTgt spid="8"/>
                                        </p:tgtEl>
                                      </p:cBhvr>
                                    </p:animEffect>
                                    <p:anim calcmode="lin" valueType="num">
                                      <p:cBhvr>
                                        <p:cTn id="43" dur="1000" fill="hold"/>
                                        <p:tgtEl>
                                          <p:spTgt spid="8"/>
                                        </p:tgtEl>
                                        <p:attrNameLst>
                                          <p:attrName>ppt_x</p:attrName>
                                        </p:attrNameLst>
                                      </p:cBhvr>
                                      <p:tavLst>
                                        <p:tav tm="0">
                                          <p:val>
                                            <p:strVal val="#ppt_x"/>
                                          </p:val>
                                        </p:tav>
                                        <p:tav tm="100000">
                                          <p:val>
                                            <p:strVal val="#ppt_x"/>
                                          </p:val>
                                        </p:tav>
                                      </p:tavLst>
                                    </p:anim>
                                    <p:anim calcmode="lin" valueType="num">
                                      <p:cBhvr>
                                        <p:cTn id="44" dur="1000" fill="hold"/>
                                        <p:tgtEl>
                                          <p:spTgt spid="8"/>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1000"/>
                                        <p:tgtEl>
                                          <p:spTgt spid="11"/>
                                        </p:tgtEl>
                                      </p:cBhvr>
                                    </p:animEffect>
                                    <p:anim calcmode="lin" valueType="num">
                                      <p:cBhvr>
                                        <p:cTn id="48" dur="1000" fill="hold"/>
                                        <p:tgtEl>
                                          <p:spTgt spid="11"/>
                                        </p:tgtEl>
                                        <p:attrNameLst>
                                          <p:attrName>ppt_x</p:attrName>
                                        </p:attrNameLst>
                                      </p:cBhvr>
                                      <p:tavLst>
                                        <p:tav tm="0">
                                          <p:val>
                                            <p:strVal val="#ppt_x"/>
                                          </p:val>
                                        </p:tav>
                                        <p:tav tm="100000">
                                          <p:val>
                                            <p:strVal val="#ppt_x"/>
                                          </p:val>
                                        </p:tav>
                                      </p:tavLst>
                                    </p:anim>
                                    <p:anim calcmode="lin" valueType="num">
                                      <p:cBhvr>
                                        <p:cTn id="49" dur="1000" fill="hold"/>
                                        <p:tgtEl>
                                          <p:spTgt spid="11"/>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1000"/>
                                        <p:tgtEl>
                                          <p:spTgt spid="12"/>
                                        </p:tgtEl>
                                      </p:cBhvr>
                                    </p:animEffect>
                                    <p:anim calcmode="lin" valueType="num">
                                      <p:cBhvr>
                                        <p:cTn id="53" dur="1000" fill="hold"/>
                                        <p:tgtEl>
                                          <p:spTgt spid="12"/>
                                        </p:tgtEl>
                                        <p:attrNameLst>
                                          <p:attrName>ppt_x</p:attrName>
                                        </p:attrNameLst>
                                      </p:cBhvr>
                                      <p:tavLst>
                                        <p:tav tm="0">
                                          <p:val>
                                            <p:strVal val="#ppt_x"/>
                                          </p:val>
                                        </p:tav>
                                        <p:tav tm="100000">
                                          <p:val>
                                            <p:strVal val="#ppt_x"/>
                                          </p:val>
                                        </p:tav>
                                      </p:tavLst>
                                    </p:anim>
                                    <p:anim calcmode="lin" valueType="num">
                                      <p:cBhvr>
                                        <p:cTn id="5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7" grpId="0" animBg="1"/>
      <p:bldP spid="8" grpId="0" animBg="1"/>
      <p:bldP spid="9" grpId="0" animBg="1"/>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41218"/>
          </a:xfrm>
        </p:spPr>
        <p:txBody>
          <a:bodyPr/>
          <a:lstStyle/>
          <a:p>
            <a:r>
              <a:rPr lang="en-US" dirty="0"/>
              <a:t>Problem Statements  </a:t>
            </a:r>
            <a:endParaRPr lang="en-IN" dirty="0"/>
          </a:p>
        </p:txBody>
      </p:sp>
      <p:sp>
        <p:nvSpPr>
          <p:cNvPr id="3" name="Content Placeholder 2"/>
          <p:cNvSpPr>
            <a:spLocks noGrp="1"/>
          </p:cNvSpPr>
          <p:nvPr>
            <p:ph idx="1"/>
          </p:nvPr>
        </p:nvSpPr>
        <p:spPr>
          <a:xfrm>
            <a:off x="677334" y="2296391"/>
            <a:ext cx="8596668" cy="3744971"/>
          </a:xfrm>
        </p:spPr>
        <p:txBody>
          <a:bodyPr>
            <a:normAutofit/>
          </a:bodyPr>
          <a:lstStyle/>
          <a:p>
            <a:endParaRPr lang="en-US" dirty="0"/>
          </a:p>
          <a:p>
            <a:r>
              <a:rPr lang="en-US" dirty="0"/>
              <a:t>Compute the average of three numbers.</a:t>
            </a:r>
          </a:p>
          <a:p>
            <a:endParaRPr lang="en-US" dirty="0"/>
          </a:p>
          <a:p>
            <a:r>
              <a:rPr lang="en-US" dirty="0"/>
              <a:t>Determine whether the number given by the user is odd or even.</a:t>
            </a:r>
          </a:p>
          <a:p>
            <a:endParaRPr lang="en-US" dirty="0"/>
          </a:p>
          <a:p>
            <a:r>
              <a:rPr lang="en-US" dirty="0"/>
              <a:t>Find the largest among three numbers given by the user.</a:t>
            </a:r>
          </a:p>
          <a:p>
            <a:endParaRPr lang="en-US" dirty="0"/>
          </a:p>
          <a:p>
            <a:pPr marL="0" indent="0">
              <a:buNone/>
            </a:pPr>
            <a:endParaRPr lang="en-US" dirty="0"/>
          </a:p>
          <a:p>
            <a:endParaRPr lang="en-US" dirty="0"/>
          </a:p>
        </p:txBody>
      </p:sp>
      <p:sp>
        <p:nvSpPr>
          <p:cNvPr id="4" name="Rectangle 3"/>
          <p:cNvSpPr/>
          <p:nvPr/>
        </p:nvSpPr>
        <p:spPr>
          <a:xfrm>
            <a:off x="677334" y="1758434"/>
            <a:ext cx="5827236" cy="369332"/>
          </a:xfrm>
          <a:prstGeom prst="rect">
            <a:avLst/>
          </a:prstGeom>
        </p:spPr>
        <p:txBody>
          <a:bodyPr wrap="none">
            <a:spAutoFit/>
          </a:bodyPr>
          <a:lstStyle/>
          <a:p>
            <a:r>
              <a:rPr lang="en-US" b="1" dirty="0"/>
              <a:t>Design an algorithm and flowchart for the following:</a:t>
            </a:r>
          </a:p>
        </p:txBody>
      </p:sp>
    </p:spTree>
    <p:extLst>
      <p:ext uri="{BB962C8B-B14F-4D97-AF65-F5344CB8AC3E}">
        <p14:creationId xmlns:p14="http://schemas.microsoft.com/office/powerpoint/2010/main" val="9243869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F1646-CD77-A52B-0520-4FF1980653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65B0F1-C732-97C8-C800-80117B514AB4}"/>
              </a:ext>
            </a:extLst>
          </p:cNvPr>
          <p:cNvSpPr>
            <a:spLocks noGrp="1"/>
          </p:cNvSpPr>
          <p:nvPr>
            <p:ph type="title"/>
          </p:nvPr>
        </p:nvSpPr>
        <p:spPr>
          <a:xfrm>
            <a:off x="677334" y="609600"/>
            <a:ext cx="8596668" cy="741218"/>
          </a:xfrm>
        </p:spPr>
        <p:txBody>
          <a:bodyPr/>
          <a:lstStyle/>
          <a:p>
            <a:r>
              <a:rPr lang="en-US" dirty="0"/>
              <a:t>Problem Statements  </a:t>
            </a:r>
            <a:endParaRPr lang="en-IN" dirty="0"/>
          </a:p>
        </p:txBody>
      </p:sp>
      <p:pic>
        <p:nvPicPr>
          <p:cNvPr id="1026" name="Picture 2" descr="flowchart to find average of three numbers | Flow chart, Algorithm ...">
            <a:extLst>
              <a:ext uri="{FF2B5EF4-FFF2-40B4-BE49-F238E27FC236}">
                <a16:creationId xmlns:a16="http://schemas.microsoft.com/office/drawing/2014/main" id="{C4C2B817-4876-855D-BD36-447CFE3CEDB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1550"/>
          <a:stretch/>
        </p:blipFill>
        <p:spPr bwMode="auto">
          <a:xfrm>
            <a:off x="2414016" y="1475613"/>
            <a:ext cx="5388864" cy="4608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8322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58787-1ED6-DA30-F0DB-E7A82BAFB1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11B824-1AED-6E44-CE30-2BFFC6E2E01C}"/>
              </a:ext>
            </a:extLst>
          </p:cNvPr>
          <p:cNvSpPr>
            <a:spLocks noGrp="1"/>
          </p:cNvSpPr>
          <p:nvPr>
            <p:ph type="title"/>
          </p:nvPr>
        </p:nvSpPr>
        <p:spPr>
          <a:xfrm>
            <a:off x="0" y="-13422"/>
            <a:ext cx="4965539" cy="741218"/>
          </a:xfrm>
        </p:spPr>
        <p:txBody>
          <a:bodyPr/>
          <a:lstStyle/>
          <a:p>
            <a:r>
              <a:rPr lang="en-US" dirty="0"/>
              <a:t>Problem Statements  </a:t>
            </a:r>
            <a:endParaRPr lang="en-IN" dirty="0"/>
          </a:p>
        </p:txBody>
      </p:sp>
      <p:pic>
        <p:nvPicPr>
          <p:cNvPr id="2050" name="Picture 2" descr="Identify whether the number is Even or Odd in Python | MeshWorld">
            <a:extLst>
              <a:ext uri="{FF2B5EF4-FFF2-40B4-BE49-F238E27FC236}">
                <a16:creationId xmlns:a16="http://schemas.microsoft.com/office/drawing/2014/main" id="{161C580E-D9C9-74D3-1ED8-474F0E321C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5087" y="206716"/>
            <a:ext cx="6981825" cy="6143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04437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07473"/>
          </a:xfrm>
        </p:spPr>
        <p:txBody>
          <a:bodyPr/>
          <a:lstStyle/>
          <a:p>
            <a:r>
              <a:rPr lang="en-US" dirty="0"/>
              <a:t>Objectives of Problem solving</a:t>
            </a:r>
            <a:endParaRPr lang="en-IN" dirty="0"/>
          </a:p>
        </p:txBody>
      </p:sp>
      <p:sp>
        <p:nvSpPr>
          <p:cNvPr id="4" name="Rectangle 3"/>
          <p:cNvSpPr/>
          <p:nvPr/>
        </p:nvSpPr>
        <p:spPr>
          <a:xfrm>
            <a:off x="1650575" y="1867330"/>
            <a:ext cx="3325091" cy="7377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Identify	</a:t>
            </a:r>
            <a:endParaRPr lang="en-IN" dirty="0"/>
          </a:p>
        </p:txBody>
      </p:sp>
      <p:sp>
        <p:nvSpPr>
          <p:cNvPr id="5" name="Rectangle 4"/>
          <p:cNvSpPr/>
          <p:nvPr/>
        </p:nvSpPr>
        <p:spPr>
          <a:xfrm>
            <a:off x="1650575" y="3021870"/>
            <a:ext cx="3325091" cy="7377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Develop</a:t>
            </a:r>
            <a:endParaRPr lang="en-IN" dirty="0"/>
          </a:p>
        </p:txBody>
      </p:sp>
      <p:sp>
        <p:nvSpPr>
          <p:cNvPr id="6" name="Rectangle 5"/>
          <p:cNvSpPr/>
          <p:nvPr/>
        </p:nvSpPr>
        <p:spPr>
          <a:xfrm>
            <a:off x="1650575" y="4148041"/>
            <a:ext cx="3325091" cy="7377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Execute</a:t>
            </a:r>
            <a:endParaRPr lang="en-IN" dirty="0"/>
          </a:p>
        </p:txBody>
      </p:sp>
      <p:sp>
        <p:nvSpPr>
          <p:cNvPr id="7" name="Rectangle 6"/>
          <p:cNvSpPr/>
          <p:nvPr/>
        </p:nvSpPr>
        <p:spPr>
          <a:xfrm>
            <a:off x="1650577" y="5301371"/>
            <a:ext cx="3325091" cy="7377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Assess</a:t>
            </a:r>
            <a:endParaRPr lang="en-IN" dirty="0"/>
          </a:p>
        </p:txBody>
      </p:sp>
    </p:spTree>
    <p:extLst>
      <p:ext uri="{BB962C8B-B14F-4D97-AF65-F5344CB8AC3E}">
        <p14:creationId xmlns:p14="http://schemas.microsoft.com/office/powerpoint/2010/main" val="28261783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2368952" y="141790"/>
            <a:ext cx="7772400" cy="792480"/>
          </a:xfrm>
        </p:spPr>
        <p:txBody>
          <a:bodyPr>
            <a:normAutofit/>
          </a:bodyPr>
          <a:lstStyle/>
          <a:p>
            <a:pPr algn="ctr" eaLnBrk="1" hangingPunct="1"/>
            <a:r>
              <a:rPr lang="en-US" b="1" dirty="0">
                <a:solidFill>
                  <a:schemeClr val="tx1"/>
                </a:solidFill>
                <a:latin typeface="Times New Roman" pitchFamily="18" charset="0"/>
                <a:cs typeface="Times New Roman" pitchFamily="18" charset="0"/>
              </a:rPr>
              <a:t>Computer system</a:t>
            </a:r>
            <a:endParaRPr lang="en-US" sz="1867" dirty="0">
              <a:latin typeface="Times New Roman" pitchFamily="18" charset="0"/>
              <a:cs typeface="Times New Roman" pitchFamily="18" charset="0"/>
            </a:endParaRPr>
          </a:p>
        </p:txBody>
      </p:sp>
      <p:sp>
        <p:nvSpPr>
          <p:cNvPr id="19459" name="Rectangle 3"/>
          <p:cNvSpPr>
            <a:spLocks noGrp="1" noChangeArrowheads="1"/>
          </p:cNvSpPr>
          <p:nvPr>
            <p:ph idx="1"/>
          </p:nvPr>
        </p:nvSpPr>
        <p:spPr>
          <a:xfrm>
            <a:off x="1215341" y="823925"/>
            <a:ext cx="10255169" cy="4632960"/>
          </a:xfrm>
        </p:spPr>
        <p:txBody>
          <a:bodyPr>
            <a:noAutofit/>
          </a:bodyPr>
          <a:lstStyle/>
          <a:p>
            <a:r>
              <a:rPr lang="en-US" sz="2267" b="1" dirty="0">
                <a:latin typeface="Times New Roman" pitchFamily="18" charset="0"/>
                <a:cs typeface="Times New Roman" pitchFamily="18" charset="0"/>
              </a:rPr>
              <a:t>Computer system can be divided into four components</a:t>
            </a:r>
          </a:p>
          <a:p>
            <a:pPr lvl="1"/>
            <a:r>
              <a:rPr lang="en-US" sz="2267" b="1" dirty="0">
                <a:latin typeface="Times New Roman" pitchFamily="18" charset="0"/>
                <a:cs typeface="Times New Roman" pitchFamily="18" charset="0"/>
              </a:rPr>
              <a:t>Hardware</a:t>
            </a:r>
            <a:r>
              <a:rPr lang="en-US" sz="2267" dirty="0">
                <a:latin typeface="Times New Roman" pitchFamily="18" charset="0"/>
                <a:cs typeface="Times New Roman" pitchFamily="18" charset="0"/>
              </a:rPr>
              <a:t> – provides basic computing resources</a:t>
            </a:r>
          </a:p>
          <a:p>
            <a:pPr lvl="2"/>
            <a:r>
              <a:rPr lang="en-US" sz="1933" dirty="0">
                <a:latin typeface="Times New Roman" pitchFamily="18" charset="0"/>
                <a:cs typeface="Times New Roman" pitchFamily="18" charset="0"/>
              </a:rPr>
              <a:t>CPU, memory, I/O devices</a:t>
            </a:r>
          </a:p>
          <a:p>
            <a:pPr lvl="1"/>
            <a:r>
              <a:rPr lang="en-US" sz="2267" b="1" dirty="0">
                <a:latin typeface="Times New Roman" pitchFamily="18" charset="0"/>
                <a:cs typeface="Times New Roman" pitchFamily="18" charset="0"/>
              </a:rPr>
              <a:t>Operating system</a:t>
            </a:r>
          </a:p>
          <a:p>
            <a:pPr lvl="2"/>
            <a:r>
              <a:rPr lang="en-US" sz="1933" dirty="0">
                <a:latin typeface="Times New Roman" pitchFamily="18" charset="0"/>
                <a:cs typeface="Times New Roman" pitchFamily="18" charset="0"/>
              </a:rPr>
              <a:t>Controls and coordinates use of hardware among various applications and users</a:t>
            </a:r>
          </a:p>
          <a:p>
            <a:pPr lvl="1"/>
            <a:r>
              <a:rPr lang="en-US" sz="2267" b="1" dirty="0">
                <a:latin typeface="Times New Roman" pitchFamily="18" charset="0"/>
                <a:cs typeface="Times New Roman" pitchFamily="18" charset="0"/>
              </a:rPr>
              <a:t>Application programs </a:t>
            </a:r>
            <a:r>
              <a:rPr lang="en-US" sz="2267" dirty="0">
                <a:latin typeface="Times New Roman" pitchFamily="18" charset="0"/>
                <a:cs typeface="Times New Roman" pitchFamily="18" charset="0"/>
              </a:rPr>
              <a:t>– define the ways in which the system resources are used to solve the computing problems of the users</a:t>
            </a:r>
          </a:p>
          <a:p>
            <a:pPr lvl="2"/>
            <a:r>
              <a:rPr lang="en-US" sz="1933" dirty="0">
                <a:latin typeface="Times New Roman" pitchFamily="18" charset="0"/>
                <a:cs typeface="Times New Roman" pitchFamily="18" charset="0"/>
              </a:rPr>
              <a:t>Word processors, compilers, web browsers, database systems, video games</a:t>
            </a:r>
          </a:p>
          <a:p>
            <a:pPr lvl="1"/>
            <a:r>
              <a:rPr lang="en-US" sz="2267" b="1" dirty="0">
                <a:latin typeface="Times New Roman" pitchFamily="18" charset="0"/>
                <a:cs typeface="Times New Roman" pitchFamily="18" charset="0"/>
              </a:rPr>
              <a:t>Users</a:t>
            </a:r>
          </a:p>
          <a:p>
            <a:pPr lvl="2"/>
            <a:r>
              <a:rPr lang="en-US" sz="1933" dirty="0">
                <a:latin typeface="Times New Roman" pitchFamily="18" charset="0"/>
                <a:cs typeface="Times New Roman" pitchFamily="18" charset="0"/>
              </a:rPr>
              <a:t>People, machines, other computers</a:t>
            </a:r>
          </a:p>
        </p:txBody>
      </p:sp>
    </p:spTree>
    <p:extLst>
      <p:ext uri="{BB962C8B-B14F-4D97-AF65-F5344CB8AC3E}">
        <p14:creationId xmlns:p14="http://schemas.microsoft.com/office/powerpoint/2010/main" val="2179709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 calcmode="lin" valueType="num">
                                      <p:cBhvr additive="base">
                                        <p:cTn id="7"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459">
                                            <p:txEl>
                                              <p:pRg st="2" end="2"/>
                                            </p:txEl>
                                          </p:spTgt>
                                        </p:tgtEl>
                                        <p:attrNameLst>
                                          <p:attrName>style.visibility</p:attrName>
                                        </p:attrNameLst>
                                      </p:cBhvr>
                                      <p:to>
                                        <p:strVal val="visible"/>
                                      </p:to>
                                    </p:set>
                                    <p:anim calcmode="lin" valueType="num">
                                      <p:cBhvr additive="base">
                                        <p:cTn id="11"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9459">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9459">
                                            <p:txEl>
                                              <p:pRg st="3" end="3"/>
                                            </p:txEl>
                                          </p:spTgt>
                                        </p:tgtEl>
                                        <p:attrNameLst>
                                          <p:attrName>style.visibility</p:attrName>
                                        </p:attrNameLst>
                                      </p:cBhvr>
                                      <p:to>
                                        <p:strVal val="visible"/>
                                      </p:to>
                                    </p:set>
                                    <p:anim calcmode="lin" valueType="num">
                                      <p:cBhvr additive="base">
                                        <p:cTn id="15"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9459">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9459">
                                            <p:txEl>
                                              <p:pRg st="4" end="4"/>
                                            </p:txEl>
                                          </p:spTgt>
                                        </p:tgtEl>
                                        <p:attrNameLst>
                                          <p:attrName>style.visibility</p:attrName>
                                        </p:attrNameLst>
                                      </p:cBhvr>
                                      <p:to>
                                        <p:strVal val="visible"/>
                                      </p:to>
                                    </p:set>
                                    <p:anim calcmode="lin" valueType="num">
                                      <p:cBhvr additive="base">
                                        <p:cTn id="19"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9459">
                                            <p:txEl>
                                              <p:pRg st="5" end="5"/>
                                            </p:txEl>
                                          </p:spTgt>
                                        </p:tgtEl>
                                        <p:attrNameLst>
                                          <p:attrName>style.visibility</p:attrName>
                                        </p:attrNameLst>
                                      </p:cBhvr>
                                      <p:to>
                                        <p:strVal val="visible"/>
                                      </p:to>
                                    </p:set>
                                    <p:anim calcmode="lin" valueType="num">
                                      <p:cBhvr additive="base">
                                        <p:cTn id="23"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9459">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9459">
                                            <p:txEl>
                                              <p:pRg st="6" end="6"/>
                                            </p:txEl>
                                          </p:spTgt>
                                        </p:tgtEl>
                                        <p:attrNameLst>
                                          <p:attrName>style.visibility</p:attrName>
                                        </p:attrNameLst>
                                      </p:cBhvr>
                                      <p:to>
                                        <p:strVal val="visible"/>
                                      </p:to>
                                    </p:set>
                                    <p:anim calcmode="lin" valueType="num">
                                      <p:cBhvr additive="base">
                                        <p:cTn id="27" dur="500" fill="hold"/>
                                        <p:tgtEl>
                                          <p:spTgt spid="19459">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9459">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9459">
                                            <p:txEl>
                                              <p:pRg st="7" end="7"/>
                                            </p:txEl>
                                          </p:spTgt>
                                        </p:tgtEl>
                                        <p:attrNameLst>
                                          <p:attrName>style.visibility</p:attrName>
                                        </p:attrNameLst>
                                      </p:cBhvr>
                                      <p:to>
                                        <p:strVal val="visible"/>
                                      </p:to>
                                    </p:set>
                                    <p:anim calcmode="lin" valueType="num">
                                      <p:cBhvr additive="base">
                                        <p:cTn id="31" dur="500" fill="hold"/>
                                        <p:tgtEl>
                                          <p:spTgt spid="19459">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459">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9459">
                                            <p:txEl>
                                              <p:pRg st="8" end="8"/>
                                            </p:txEl>
                                          </p:spTgt>
                                        </p:tgtEl>
                                        <p:attrNameLst>
                                          <p:attrName>style.visibility</p:attrName>
                                        </p:attrNameLst>
                                      </p:cBhvr>
                                      <p:to>
                                        <p:strVal val="visible"/>
                                      </p:to>
                                    </p:set>
                                    <p:anim calcmode="lin" valueType="num">
                                      <p:cBhvr additive="base">
                                        <p:cTn id="35" dur="500" fill="hold"/>
                                        <p:tgtEl>
                                          <p:spTgt spid="19459">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945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descr="Introduction to Operating System"/>
          <p:cNvPicPr>
            <a:picLocks noChangeAspect="1" noChangeArrowheads="1"/>
          </p:cNvPicPr>
          <p:nvPr/>
        </p:nvPicPr>
        <p:blipFill rotWithShape="1">
          <a:blip r:embed="rId2"/>
          <a:srcRect t="3846" r="14734" b="26923"/>
          <a:stretch/>
        </p:blipFill>
        <p:spPr bwMode="auto">
          <a:xfrm>
            <a:off x="1828800" y="0"/>
            <a:ext cx="8534400" cy="3200400"/>
          </a:xfrm>
          <a:prstGeom prst="rect">
            <a:avLst/>
          </a:prstGeom>
          <a:noFill/>
        </p:spPr>
      </p:pic>
      <p:pic>
        <p:nvPicPr>
          <p:cNvPr id="3" name="Picture 2">
            <a:extLst>
              <a:ext uri="{FF2B5EF4-FFF2-40B4-BE49-F238E27FC236}">
                <a16:creationId xmlns:a16="http://schemas.microsoft.com/office/drawing/2014/main" id="{35B126CB-8F0D-FFB9-624A-306E7CD9C02C}"/>
              </a:ext>
            </a:extLst>
          </p:cNvPr>
          <p:cNvPicPr>
            <a:picLocks noChangeAspect="1"/>
          </p:cNvPicPr>
          <p:nvPr/>
        </p:nvPicPr>
        <p:blipFill rotWithShape="1">
          <a:blip r:embed="rId3"/>
          <a:srcRect l="28333" t="32126" r="35834" b="33696"/>
          <a:stretch/>
        </p:blipFill>
        <p:spPr>
          <a:xfrm>
            <a:off x="3657600" y="3199108"/>
            <a:ext cx="5334000" cy="3657600"/>
          </a:xfrm>
          <a:prstGeom prst="rect">
            <a:avLst/>
          </a:prstGeom>
        </p:spPr>
      </p:pic>
    </p:spTree>
    <p:extLst>
      <p:ext uri="{BB962C8B-B14F-4D97-AF65-F5344CB8AC3E}">
        <p14:creationId xmlns:p14="http://schemas.microsoft.com/office/powerpoint/2010/main" val="32351141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Operating system.ppt (1)"/>
          <p:cNvPicPr>
            <a:picLocks noChangeAspect="1" noChangeArrowheads="1"/>
          </p:cNvPicPr>
          <p:nvPr/>
        </p:nvPicPr>
        <p:blipFill>
          <a:blip r:embed="rId2"/>
          <a:srcRect/>
          <a:stretch>
            <a:fillRect/>
          </a:stretch>
        </p:blipFill>
        <p:spPr bwMode="auto">
          <a:xfrm>
            <a:off x="1524000" y="228600"/>
            <a:ext cx="8763000" cy="6172200"/>
          </a:xfrm>
          <a:prstGeom prst="rect">
            <a:avLst/>
          </a:prstGeom>
          <a:noFill/>
        </p:spPr>
      </p:pic>
    </p:spTree>
    <p:extLst>
      <p:ext uri="{BB962C8B-B14F-4D97-AF65-F5344CB8AC3E}">
        <p14:creationId xmlns:p14="http://schemas.microsoft.com/office/powerpoint/2010/main" val="31835275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DBD78EB-5CC5-510F-C40A-FBFC1738F083}"/>
              </a:ext>
            </a:extLst>
          </p:cNvPr>
          <p:cNvGraphicFramePr>
            <a:graphicFrameLocks noGrp="1"/>
          </p:cNvGraphicFramePr>
          <p:nvPr/>
        </p:nvGraphicFramePr>
        <p:xfrm>
          <a:off x="1828800" y="304801"/>
          <a:ext cx="8686800" cy="6248399"/>
        </p:xfrm>
        <a:graphic>
          <a:graphicData uri="http://schemas.openxmlformats.org/drawingml/2006/table">
            <a:tbl>
              <a:tblPr/>
              <a:tblGrid>
                <a:gridCol w="4343400">
                  <a:extLst>
                    <a:ext uri="{9D8B030D-6E8A-4147-A177-3AD203B41FA5}">
                      <a16:colId xmlns:a16="http://schemas.microsoft.com/office/drawing/2014/main" val="1914324626"/>
                    </a:ext>
                  </a:extLst>
                </a:gridCol>
                <a:gridCol w="4343400">
                  <a:extLst>
                    <a:ext uri="{9D8B030D-6E8A-4147-A177-3AD203B41FA5}">
                      <a16:colId xmlns:a16="http://schemas.microsoft.com/office/drawing/2014/main" val="2175056077"/>
                    </a:ext>
                  </a:extLst>
                </a:gridCol>
              </a:tblGrid>
              <a:tr h="353246">
                <a:tc>
                  <a:txBody>
                    <a:bodyPr/>
                    <a:lstStyle/>
                    <a:p>
                      <a:pPr algn="ctr" fontAlgn="base"/>
                      <a:r>
                        <a:rPr lang="en-GB" sz="1400" b="1" dirty="0">
                          <a:effectLst/>
                        </a:rPr>
                        <a:t>System Software</a:t>
                      </a:r>
                    </a:p>
                  </a:txBody>
                  <a:tcPr marL="24126" marR="24126" marT="60314" marB="6031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1400" b="1">
                          <a:effectLst/>
                        </a:rPr>
                        <a:t>Application Software</a:t>
                      </a:r>
                    </a:p>
                  </a:txBody>
                  <a:tcPr marL="60314" marR="60314" marT="60314" marB="6031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107077857"/>
                  </a:ext>
                </a:extLst>
              </a:tr>
              <a:tr h="629943">
                <a:tc>
                  <a:txBody>
                    <a:bodyPr/>
                    <a:lstStyle/>
                    <a:p>
                      <a:pPr algn="ctr" fontAlgn="ctr"/>
                      <a:r>
                        <a:rPr lang="en-US" sz="1400" b="0">
                          <a:effectLst/>
                        </a:rPr>
                        <a:t>System Software maintains the system resources and gives the path for application software to run.</a:t>
                      </a:r>
                    </a:p>
                  </a:txBody>
                  <a:tcPr marL="60314" marR="60314" marT="84440" marB="8444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400" b="0">
                          <a:effectLst/>
                        </a:rPr>
                        <a:t>Application software is built for specific tasks.</a:t>
                      </a:r>
                    </a:p>
                  </a:txBody>
                  <a:tcPr marL="60314" marR="60314" marT="84440" marB="8444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429887134"/>
                  </a:ext>
                </a:extLst>
              </a:tr>
              <a:tr h="629943">
                <a:tc>
                  <a:txBody>
                    <a:bodyPr/>
                    <a:lstStyle/>
                    <a:p>
                      <a:pPr algn="ctr" fontAlgn="ctr"/>
                      <a:r>
                        <a:rPr lang="en-US" sz="1400" b="0">
                          <a:effectLst/>
                        </a:rPr>
                        <a:t>Low-level languages are used to write the system software.</a:t>
                      </a:r>
                    </a:p>
                  </a:txBody>
                  <a:tcPr marL="60314" marR="60314" marT="84440" marB="8444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400" b="0">
                          <a:effectLst/>
                        </a:rPr>
                        <a:t>While high-level languages are used to write the application software.</a:t>
                      </a:r>
                    </a:p>
                  </a:txBody>
                  <a:tcPr marL="60314" marR="60314" marT="84440" marB="8444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571282113"/>
                  </a:ext>
                </a:extLst>
              </a:tr>
              <a:tr h="404281">
                <a:tc>
                  <a:txBody>
                    <a:bodyPr/>
                    <a:lstStyle/>
                    <a:p>
                      <a:pPr algn="ctr" fontAlgn="ctr"/>
                      <a:r>
                        <a:rPr lang="en-GB" sz="1400" b="0">
                          <a:effectLst/>
                        </a:rPr>
                        <a:t>It is general-purpose software.</a:t>
                      </a:r>
                    </a:p>
                  </a:txBody>
                  <a:tcPr marL="60314" marR="60314" marT="84440" marB="8444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400" b="0">
                          <a:effectLst/>
                        </a:rPr>
                        <a:t>While it’s a specific purpose software.</a:t>
                      </a:r>
                    </a:p>
                  </a:txBody>
                  <a:tcPr marL="60314" marR="60314" marT="84440" marB="8444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605175567"/>
                  </a:ext>
                </a:extLst>
              </a:tr>
              <a:tr h="629943">
                <a:tc>
                  <a:txBody>
                    <a:bodyPr/>
                    <a:lstStyle/>
                    <a:p>
                      <a:pPr algn="ctr" fontAlgn="ctr"/>
                      <a:r>
                        <a:rPr lang="en-US" sz="1400" b="0">
                          <a:effectLst/>
                        </a:rPr>
                        <a:t>Without system software, the system stops and can’t run.</a:t>
                      </a:r>
                    </a:p>
                  </a:txBody>
                  <a:tcPr marL="60314" marR="60314" marT="84440" marB="8444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400" b="0">
                          <a:effectLst/>
                        </a:rPr>
                        <a:t>While Without application software system always runs.</a:t>
                      </a:r>
                    </a:p>
                  </a:txBody>
                  <a:tcPr marL="60314" marR="60314" marT="84440" marB="8444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049769070"/>
                  </a:ext>
                </a:extLst>
              </a:tr>
              <a:tr h="629943">
                <a:tc>
                  <a:txBody>
                    <a:bodyPr/>
                    <a:lstStyle/>
                    <a:p>
                      <a:pPr algn="ctr" fontAlgn="ctr"/>
                      <a:r>
                        <a:rPr lang="en-US" sz="1400" b="0">
                          <a:effectLst/>
                        </a:rPr>
                        <a:t>System software runs when the system is turned on and stops when the system is turned off.</a:t>
                      </a:r>
                    </a:p>
                  </a:txBody>
                  <a:tcPr marL="60314" marR="60314" marT="84440" marB="8444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400" b="0" dirty="0">
                          <a:effectLst/>
                        </a:rPr>
                        <a:t>While application software runs as per the user’s request.</a:t>
                      </a:r>
                    </a:p>
                  </a:txBody>
                  <a:tcPr marL="60314" marR="60314" marT="84440" marB="8444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232219390"/>
                  </a:ext>
                </a:extLst>
              </a:tr>
              <a:tr h="629943">
                <a:tc>
                  <a:txBody>
                    <a:bodyPr/>
                    <a:lstStyle/>
                    <a:p>
                      <a:pPr algn="ctr" fontAlgn="ctr"/>
                      <a:r>
                        <a:rPr lang="en-US" sz="1400" b="0" dirty="0">
                          <a:effectLst/>
                        </a:rPr>
                        <a:t>System Software programming is more complex than application software.</a:t>
                      </a:r>
                    </a:p>
                  </a:txBody>
                  <a:tcPr marL="60314" marR="60314" marT="84440" marB="8444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400" b="0" dirty="0">
                          <a:effectLst/>
                        </a:rPr>
                        <a:t>Application software programming is simpler in comparison to system software.</a:t>
                      </a:r>
                    </a:p>
                  </a:txBody>
                  <a:tcPr marL="60314" marR="60314" marT="84440" marB="8444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561578836"/>
                  </a:ext>
                </a:extLst>
              </a:tr>
              <a:tr h="855607">
                <a:tc>
                  <a:txBody>
                    <a:bodyPr/>
                    <a:lstStyle/>
                    <a:p>
                      <a:pPr algn="ctr" fontAlgn="ctr"/>
                      <a:r>
                        <a:rPr lang="en-US" sz="1400" b="0">
                          <a:effectLst/>
                        </a:rPr>
                        <a:t>The Software that is designed to control, integrate and manage the individual hardware components and application software is known as system software.</a:t>
                      </a:r>
                    </a:p>
                  </a:txBody>
                  <a:tcPr marL="60314" marR="60314" marT="84440" marB="8444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400" b="0">
                          <a:effectLst/>
                        </a:rPr>
                        <a:t>A set of computer programs installed in the user’s system and designed to perform a specific task is known as application software.</a:t>
                      </a:r>
                    </a:p>
                  </a:txBody>
                  <a:tcPr marL="60314" marR="60314" marT="84440" marB="8444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539681304"/>
                  </a:ext>
                </a:extLst>
              </a:tr>
              <a:tr h="855607">
                <a:tc>
                  <a:txBody>
                    <a:bodyPr/>
                    <a:lstStyle/>
                    <a:p>
                      <a:pPr algn="ctr" fontAlgn="ctr"/>
                      <a:r>
                        <a:rPr lang="en-US" sz="1400" b="0">
                          <a:effectLst/>
                        </a:rPr>
                        <a:t>The system software has no interaction with users. It serves as an interface between hardware and the end user.</a:t>
                      </a:r>
                    </a:p>
                  </a:txBody>
                  <a:tcPr marL="60314" marR="60314" marT="84440" marB="8444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400" b="0" dirty="0">
                          <a:effectLst/>
                        </a:rPr>
                        <a:t>Application software connects an intermediary between the user and the computer.</a:t>
                      </a:r>
                    </a:p>
                  </a:txBody>
                  <a:tcPr marL="60314" marR="60314" marT="84440" marB="8444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657376325"/>
                  </a:ext>
                </a:extLst>
              </a:tr>
              <a:tr h="629943">
                <a:tc>
                  <a:txBody>
                    <a:bodyPr/>
                    <a:lstStyle/>
                    <a:p>
                      <a:pPr algn="ctr" fontAlgn="ctr"/>
                      <a:r>
                        <a:rPr lang="en-GB" sz="1400" b="0">
                          <a:effectLst/>
                        </a:rPr>
                        <a:t>System software runs independently.</a:t>
                      </a:r>
                    </a:p>
                  </a:txBody>
                  <a:tcPr marL="60314" marR="60314" marT="84440" marB="8444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400" b="0" dirty="0">
                          <a:effectLst/>
                        </a:rPr>
                        <a:t>Application software is dependent on system software because they need a set platform for its functioning.</a:t>
                      </a:r>
                    </a:p>
                  </a:txBody>
                  <a:tcPr marL="60314" marR="60314" marT="84440" marB="8444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117184808"/>
                  </a:ext>
                </a:extLst>
              </a:tr>
            </a:tbl>
          </a:graphicData>
        </a:graphic>
      </p:graphicFrame>
    </p:spTree>
    <p:extLst>
      <p:ext uri="{BB962C8B-B14F-4D97-AF65-F5344CB8AC3E}">
        <p14:creationId xmlns:p14="http://schemas.microsoft.com/office/powerpoint/2010/main" val="12451115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14400"/>
          </a:xfrm>
        </p:spPr>
        <p:txBody>
          <a:bodyPr/>
          <a:lstStyle/>
          <a:p>
            <a:r>
              <a:rPr lang="en-US" dirty="0"/>
              <a:t>Computer Hardware Architecture</a:t>
            </a:r>
            <a:endParaRPr lang="en-IN" dirty="0"/>
          </a:p>
        </p:txBody>
      </p:sp>
      <p:sp>
        <p:nvSpPr>
          <p:cNvPr id="3" name="Content Placeholder 2"/>
          <p:cNvSpPr>
            <a:spLocks noGrp="1"/>
          </p:cNvSpPr>
          <p:nvPr>
            <p:ph idx="1"/>
          </p:nvPr>
        </p:nvSpPr>
        <p:spPr>
          <a:xfrm>
            <a:off x="0" y="1600201"/>
            <a:ext cx="3766457" cy="4441162"/>
          </a:xfrm>
        </p:spPr>
        <p:txBody>
          <a:bodyPr/>
          <a:lstStyle/>
          <a:p>
            <a:r>
              <a:rPr lang="en-US" dirty="0"/>
              <a:t>Lets see how computes are built:</a:t>
            </a:r>
          </a:p>
          <a:p>
            <a:pPr marL="0" indent="0">
              <a:buNone/>
            </a:pPr>
            <a:endParaRPr lang="en-IN" dirty="0"/>
          </a:p>
        </p:txBody>
      </p:sp>
      <p:pic>
        <p:nvPicPr>
          <p:cNvPr id="4" name="Picture 3"/>
          <p:cNvPicPr>
            <a:picLocks noChangeAspect="1"/>
          </p:cNvPicPr>
          <p:nvPr/>
        </p:nvPicPr>
        <p:blipFill>
          <a:blip r:embed="rId2"/>
          <a:stretch>
            <a:fillRect/>
          </a:stretch>
        </p:blipFill>
        <p:spPr>
          <a:xfrm>
            <a:off x="0" y="2637183"/>
            <a:ext cx="3986214" cy="2367198"/>
          </a:xfrm>
          <a:prstGeom prst="rect">
            <a:avLst/>
          </a:prstGeom>
        </p:spPr>
      </p:pic>
      <p:sp>
        <p:nvSpPr>
          <p:cNvPr id="7" name="TextBox 6"/>
          <p:cNvSpPr txBox="1"/>
          <p:nvPr/>
        </p:nvSpPr>
        <p:spPr>
          <a:xfrm>
            <a:off x="3842658" y="1524000"/>
            <a:ext cx="7260772" cy="5355312"/>
          </a:xfrm>
          <a:prstGeom prst="rect">
            <a:avLst/>
          </a:prstGeom>
          <a:noFill/>
        </p:spPr>
        <p:txBody>
          <a:bodyPr wrap="square" rtlCol="0">
            <a:spAutoFit/>
          </a:bodyPr>
          <a:lstStyle/>
          <a:p>
            <a:pPr algn="just"/>
            <a:r>
              <a:rPr lang="en-US" dirty="0"/>
              <a:t>CPU: is built to be obsessed with “what is next?” If your computer is rated at 3.0 Gigahertz, it means that the CPU will ask “What next?” three billion times per second. </a:t>
            </a:r>
          </a:p>
          <a:p>
            <a:pPr algn="just"/>
            <a:endParaRPr lang="en-US" dirty="0"/>
          </a:p>
          <a:p>
            <a:pPr algn="just"/>
            <a:r>
              <a:rPr lang="en-US" dirty="0"/>
              <a:t>Main Memory: is used to store information that the CPU needs in a hurry. The main memory is nearly as fast as the CPU. But the information stored in the main memory vanishes when the computer is turned off. </a:t>
            </a:r>
          </a:p>
          <a:p>
            <a:pPr algn="just"/>
            <a:endParaRPr lang="en-US" dirty="0"/>
          </a:p>
          <a:p>
            <a:pPr algn="just"/>
            <a:r>
              <a:rPr lang="en-US" dirty="0"/>
              <a:t>Secondary Memory: is also used to store information, but it is much slower than the main memory. It can store information even when there is no power to the computer. Examples of secondary memory are disk drives or flash memory (typically found in USB sticks and portable music players). </a:t>
            </a:r>
          </a:p>
          <a:p>
            <a:pPr algn="just"/>
            <a:endParaRPr lang="en-US" dirty="0"/>
          </a:p>
          <a:p>
            <a:pPr algn="just"/>
            <a:r>
              <a:rPr lang="en-US" dirty="0"/>
              <a:t>The Input and Output Devices are simply our screen, keyboard, mouse, microphone, speaker, touchpad, etc. </a:t>
            </a:r>
          </a:p>
          <a:p>
            <a:pPr algn="just"/>
            <a:endParaRPr lang="en-US" dirty="0"/>
          </a:p>
          <a:p>
            <a:pPr algn="just"/>
            <a:r>
              <a:rPr lang="en-US" dirty="0"/>
              <a:t>Network Connection to retrieve information over a network. </a:t>
            </a:r>
            <a:endParaRPr lang="en-IN" dirty="0"/>
          </a:p>
        </p:txBody>
      </p:sp>
    </p:spTree>
    <p:extLst>
      <p:ext uri="{BB962C8B-B14F-4D97-AF65-F5344CB8AC3E}">
        <p14:creationId xmlns:p14="http://schemas.microsoft.com/office/powerpoint/2010/main" val="10176912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51114"/>
          </a:xfrm>
        </p:spPr>
        <p:txBody>
          <a:bodyPr/>
          <a:lstStyle/>
          <a:p>
            <a:r>
              <a:rPr lang="en-IN" dirty="0"/>
              <a:t>Why Programming?</a:t>
            </a:r>
          </a:p>
        </p:txBody>
      </p:sp>
      <p:pic>
        <p:nvPicPr>
          <p:cNvPr id="4" name="Content Placeholder 3"/>
          <p:cNvPicPr>
            <a:picLocks noGrp="1" noChangeAspect="1"/>
          </p:cNvPicPr>
          <p:nvPr>
            <p:ph idx="1"/>
          </p:nvPr>
        </p:nvPicPr>
        <p:blipFill>
          <a:blip r:embed="rId2"/>
          <a:stretch>
            <a:fillRect/>
          </a:stretch>
        </p:blipFill>
        <p:spPr>
          <a:xfrm>
            <a:off x="584313" y="1384461"/>
            <a:ext cx="3515864" cy="2063409"/>
          </a:xfrm>
          <a:prstGeom prst="rect">
            <a:avLst/>
          </a:prstGeom>
        </p:spPr>
      </p:pic>
      <p:sp>
        <p:nvSpPr>
          <p:cNvPr id="5" name="Rectangle 4"/>
          <p:cNvSpPr/>
          <p:nvPr/>
        </p:nvSpPr>
        <p:spPr>
          <a:xfrm>
            <a:off x="4528458" y="1384461"/>
            <a:ext cx="4822371" cy="1477328"/>
          </a:xfrm>
          <a:prstGeom prst="rect">
            <a:avLst/>
          </a:prstGeom>
        </p:spPr>
        <p:txBody>
          <a:bodyPr wrap="square">
            <a:spAutoFit/>
          </a:bodyPr>
          <a:lstStyle/>
          <a:p>
            <a:pPr algn="just"/>
            <a:r>
              <a:rPr lang="en-US" dirty="0"/>
              <a:t>As a programmer you will mostly be “talking” to the CPU and telling it what to do next. Sometimes you will tell the CPU to use the main memory, secondary memory, network, or the input/output devices. </a:t>
            </a:r>
            <a:endParaRPr lang="en-IN" dirty="0"/>
          </a:p>
        </p:txBody>
      </p:sp>
      <p:sp>
        <p:nvSpPr>
          <p:cNvPr id="6" name="Rectangle 5"/>
          <p:cNvSpPr/>
          <p:nvPr/>
        </p:nvSpPr>
        <p:spPr>
          <a:xfrm>
            <a:off x="1052177" y="3663077"/>
            <a:ext cx="8298652" cy="2585323"/>
          </a:xfrm>
          <a:prstGeom prst="rect">
            <a:avLst/>
          </a:prstGeom>
        </p:spPr>
        <p:txBody>
          <a:bodyPr wrap="square">
            <a:spAutoFit/>
          </a:bodyPr>
          <a:lstStyle/>
          <a:p>
            <a:pPr marL="285750" indent="-285750" algn="just">
              <a:buFont typeface="Arial" panose="020B0604020202020204" pitchFamily="34" charset="0"/>
              <a:buChar char="•"/>
            </a:pPr>
            <a:r>
              <a:rPr lang="en-US" dirty="0"/>
              <a:t>You need to be the person who answers the CPU’s “What next?” question.</a:t>
            </a:r>
          </a:p>
          <a:p>
            <a:r>
              <a:rPr lang="en-US" dirty="0"/>
              <a:t> </a:t>
            </a:r>
          </a:p>
          <a:p>
            <a:pPr marL="285750" indent="-285750" algn="just">
              <a:buFont typeface="Arial" panose="020B0604020202020204" pitchFamily="34" charset="0"/>
              <a:buChar char="•"/>
            </a:pPr>
            <a:r>
              <a:rPr lang="en-US" dirty="0"/>
              <a:t>It would be very uncomfortable to shrink you down to 5mm tall and insert you into the computer just so you could issue a command three billion times per second.</a:t>
            </a:r>
          </a:p>
          <a:p>
            <a:pPr algn="just"/>
            <a:r>
              <a:rPr lang="en-US" dirty="0"/>
              <a:t> </a:t>
            </a:r>
          </a:p>
          <a:p>
            <a:pPr marL="285750" indent="-285750" algn="just">
              <a:buFont typeface="Arial" panose="020B0604020202020204" pitchFamily="34" charset="0"/>
              <a:buChar char="•"/>
            </a:pPr>
            <a:r>
              <a:rPr lang="en-US" dirty="0"/>
              <a:t>So instead, we write down the instructions in advance. We call these stored instructions a program and the act of writing these instructions down and getting the instructions to be correct programming.</a:t>
            </a:r>
            <a:endParaRPr lang="en-IN" dirty="0"/>
          </a:p>
        </p:txBody>
      </p:sp>
    </p:spTree>
    <p:extLst>
      <p:ext uri="{BB962C8B-B14F-4D97-AF65-F5344CB8AC3E}">
        <p14:creationId xmlns:p14="http://schemas.microsoft.com/office/powerpoint/2010/main" val="3373883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028" y="88641"/>
            <a:ext cx="8596668" cy="555171"/>
          </a:xfrm>
        </p:spPr>
        <p:txBody>
          <a:bodyPr>
            <a:normAutofit fontScale="90000"/>
          </a:bodyPr>
          <a:lstStyle/>
          <a:p>
            <a:r>
              <a:rPr lang="en-IN" dirty="0"/>
              <a:t>Data Representation</a:t>
            </a:r>
          </a:p>
        </p:txBody>
      </p:sp>
      <p:sp>
        <p:nvSpPr>
          <p:cNvPr id="12" name="Content Placeholder 11">
            <a:extLst>
              <a:ext uri="{FF2B5EF4-FFF2-40B4-BE49-F238E27FC236}">
                <a16:creationId xmlns:a16="http://schemas.microsoft.com/office/drawing/2014/main" id="{4DA5F2FA-C838-321A-1420-5B7C887D9109}"/>
              </a:ext>
            </a:extLst>
          </p:cNvPr>
          <p:cNvSpPr>
            <a:spLocks noGrp="1"/>
          </p:cNvSpPr>
          <p:nvPr>
            <p:ph idx="1"/>
          </p:nvPr>
        </p:nvSpPr>
        <p:spPr>
          <a:xfrm>
            <a:off x="136158" y="835089"/>
            <a:ext cx="11601752" cy="5187821"/>
          </a:xfrm>
        </p:spPr>
        <p:txBody>
          <a:bodyPr>
            <a:noAutofit/>
          </a:bodyPr>
          <a:lstStyle/>
          <a:p>
            <a:r>
              <a:rPr lang="en-US" sz="1600" b="0" i="0" dirty="0">
                <a:solidFill>
                  <a:srgbClr val="000000"/>
                </a:solidFill>
                <a:effectLst/>
                <a:latin typeface="Verdana" panose="020B0604030504040204" pitchFamily="34" charset="0"/>
              </a:rPr>
              <a:t>Computer does not understand human language. Any data, viz., letters, symbols, pictures, audio, videos, etc., fed to computer should be converted to machine language first. Computers represent data in three forms − Number system, Bits and Bytes, Text Code</a:t>
            </a:r>
            <a:endParaRPr lang="en-GB" sz="1600" dirty="0">
              <a:solidFill>
                <a:srgbClr val="000000"/>
              </a:solidFill>
              <a:latin typeface="var(--ff-lato)"/>
            </a:endParaRPr>
          </a:p>
          <a:p>
            <a:r>
              <a:rPr lang="en-GB" sz="1600" b="0" i="0" dirty="0">
                <a:solidFill>
                  <a:srgbClr val="000000"/>
                </a:solidFill>
                <a:effectLst/>
                <a:latin typeface="Verdana" panose="020B0604030504040204" pitchFamily="34" charset="0"/>
                <a:ea typeface="Verdana" panose="020B0604030504040204" pitchFamily="34" charset="0"/>
              </a:rPr>
              <a:t>Number System: </a:t>
            </a:r>
            <a:r>
              <a:rPr lang="en-US" sz="1600" b="0" i="0" dirty="0">
                <a:solidFill>
                  <a:srgbClr val="000000"/>
                </a:solidFill>
                <a:effectLst/>
                <a:latin typeface="Verdana" panose="020B0604030504040204" pitchFamily="34" charset="0"/>
                <a:ea typeface="Verdana" panose="020B0604030504040204" pitchFamily="34" charset="0"/>
              </a:rPr>
              <a:t> To a computer, everything is a number, i.e., alphabets, pictures, sounds, etc., are numbers. Number system is categorized into four types −</a:t>
            </a:r>
          </a:p>
          <a:p>
            <a:endParaRPr lang="en-US" sz="1600" dirty="0">
              <a:solidFill>
                <a:srgbClr val="000000"/>
              </a:solidFill>
              <a:latin typeface="Verdana" panose="020B0604030504040204" pitchFamily="34" charset="0"/>
              <a:ea typeface="Verdana" panose="020B0604030504040204" pitchFamily="34" charset="0"/>
            </a:endParaRPr>
          </a:p>
          <a:p>
            <a:endParaRPr lang="en-US" sz="1600" b="0" i="0" dirty="0">
              <a:solidFill>
                <a:srgbClr val="000000"/>
              </a:solidFill>
              <a:effectLst/>
              <a:latin typeface="var(--ff-lato)"/>
            </a:endParaRPr>
          </a:p>
          <a:p>
            <a:endParaRPr lang="en-US" sz="1600" dirty="0">
              <a:solidFill>
                <a:srgbClr val="000000"/>
              </a:solidFill>
              <a:latin typeface="var(--ff-lato)"/>
            </a:endParaRPr>
          </a:p>
          <a:p>
            <a:endParaRPr lang="en-US" sz="1600" b="0" i="0" dirty="0">
              <a:solidFill>
                <a:srgbClr val="000000"/>
              </a:solidFill>
              <a:effectLst/>
              <a:latin typeface="var(--ff-lato)"/>
            </a:endParaRPr>
          </a:p>
          <a:p>
            <a:endParaRPr lang="en-US" sz="1600" dirty="0">
              <a:solidFill>
                <a:srgbClr val="000000"/>
              </a:solidFill>
              <a:latin typeface="var(--ff-lato)"/>
            </a:endParaRPr>
          </a:p>
          <a:p>
            <a:endParaRPr lang="en-US" sz="1600" b="0" i="0" dirty="0">
              <a:solidFill>
                <a:srgbClr val="000000"/>
              </a:solidFill>
              <a:effectLst/>
              <a:latin typeface="var(--ff-lato)"/>
            </a:endParaRPr>
          </a:p>
          <a:p>
            <a:endParaRPr lang="en-US" sz="1600" dirty="0">
              <a:solidFill>
                <a:srgbClr val="000000"/>
              </a:solidFill>
              <a:latin typeface="var(--ff-lato)"/>
            </a:endParaRPr>
          </a:p>
          <a:p>
            <a:r>
              <a:rPr lang="en-US" sz="1600" dirty="0">
                <a:solidFill>
                  <a:srgbClr val="000000"/>
                </a:solidFill>
                <a:latin typeface="Verdana" panose="020B0604030504040204" pitchFamily="34" charset="0"/>
                <a:ea typeface="Verdana" panose="020B0604030504040204" pitchFamily="34" charset="0"/>
              </a:rPr>
              <a:t>Bits and Bytes: Bits − A bit is a smallest possible unit of data that a computer can recognize or use. Computer usually uses bits in groups. Bytes − group of eight bits is called a byte. Half a byte is called a nibble.</a:t>
            </a:r>
            <a:endParaRPr lang="en-US" sz="1600" b="0" i="0" dirty="0">
              <a:solidFill>
                <a:srgbClr val="000000"/>
              </a:solidFill>
              <a:effectLst/>
              <a:latin typeface="Verdana" panose="020B0604030504040204" pitchFamily="34" charset="0"/>
              <a:ea typeface="Verdana" panose="020B0604030504040204" pitchFamily="34" charset="0"/>
            </a:endParaRPr>
          </a:p>
          <a:p>
            <a:r>
              <a:rPr lang="en-US" sz="1600" dirty="0">
                <a:solidFill>
                  <a:srgbClr val="000000"/>
                </a:solidFill>
                <a:latin typeface="Verdana" panose="020B0604030504040204" pitchFamily="34" charset="0"/>
                <a:ea typeface="Verdana" panose="020B0604030504040204" pitchFamily="34" charset="0"/>
              </a:rPr>
              <a:t>Text Code</a:t>
            </a:r>
          </a:p>
          <a:p>
            <a:r>
              <a:rPr lang="en-US" sz="1600" dirty="0">
                <a:solidFill>
                  <a:srgbClr val="000000"/>
                </a:solidFill>
                <a:latin typeface="Verdana" panose="020B0604030504040204" pitchFamily="34" charset="0"/>
                <a:ea typeface="Verdana" panose="020B0604030504040204" pitchFamily="34" charset="0"/>
              </a:rPr>
              <a:t>Text code is format used commonly to represent alphabets, punctuation marks and other symbols. Four most popular text code systems are − EBCDIC, ASCII, Extended ASCII, Unicode</a:t>
            </a:r>
          </a:p>
          <a:p>
            <a:endParaRPr lang="en-US" sz="1600" b="0" i="0" dirty="0">
              <a:solidFill>
                <a:srgbClr val="000000"/>
              </a:solidFill>
              <a:effectLst/>
              <a:latin typeface="var(--ff-lato)"/>
            </a:endParaRPr>
          </a:p>
          <a:p>
            <a:endParaRPr lang="en-US" sz="1600" dirty="0">
              <a:solidFill>
                <a:srgbClr val="000000"/>
              </a:solidFill>
              <a:latin typeface="var(--ff-lato)"/>
            </a:endParaRPr>
          </a:p>
          <a:p>
            <a:endParaRPr lang="en-US" sz="1600" b="0" i="0" dirty="0">
              <a:solidFill>
                <a:srgbClr val="000000"/>
              </a:solidFill>
              <a:effectLst/>
              <a:latin typeface="var(--ff-lato)"/>
            </a:endParaRPr>
          </a:p>
          <a:p>
            <a:endParaRPr lang="en-US" sz="1600" dirty="0">
              <a:solidFill>
                <a:srgbClr val="000000"/>
              </a:solidFill>
              <a:latin typeface="var(--ff-lato)"/>
            </a:endParaRPr>
          </a:p>
          <a:p>
            <a:endParaRPr lang="en-US" sz="1600" b="0" i="0" dirty="0">
              <a:solidFill>
                <a:srgbClr val="000000"/>
              </a:solidFill>
              <a:effectLst/>
              <a:latin typeface="var(--ff-lato)"/>
            </a:endParaRPr>
          </a:p>
          <a:p>
            <a:endParaRPr lang="en-US" sz="1600" b="0" i="0" dirty="0">
              <a:solidFill>
                <a:srgbClr val="000000"/>
              </a:solidFill>
              <a:effectLst/>
              <a:latin typeface="var(--ff-lato)"/>
            </a:endParaRPr>
          </a:p>
          <a:p>
            <a:pPr marL="0" indent="0">
              <a:buNone/>
            </a:pPr>
            <a:endParaRPr lang="en-GB" sz="1600" b="0" i="0" dirty="0">
              <a:solidFill>
                <a:srgbClr val="000000"/>
              </a:solidFill>
              <a:effectLst/>
              <a:latin typeface="var(--ff-lato)"/>
            </a:endParaRPr>
          </a:p>
          <a:p>
            <a:endParaRPr lang="en-GB" sz="1600" dirty="0"/>
          </a:p>
        </p:txBody>
      </p:sp>
      <p:pic>
        <p:nvPicPr>
          <p:cNvPr id="16" name="Picture 15">
            <a:extLst>
              <a:ext uri="{FF2B5EF4-FFF2-40B4-BE49-F238E27FC236}">
                <a16:creationId xmlns:a16="http://schemas.microsoft.com/office/drawing/2014/main" id="{D23F2F2E-4956-D3B6-F865-EA3265450BC9}"/>
              </a:ext>
            </a:extLst>
          </p:cNvPr>
          <p:cNvPicPr>
            <a:picLocks noChangeAspect="1"/>
          </p:cNvPicPr>
          <p:nvPr/>
        </p:nvPicPr>
        <p:blipFill rotWithShape="1">
          <a:blip r:embed="rId2"/>
          <a:srcRect l="29489" t="38634" r="27755" b="29514"/>
          <a:stretch/>
        </p:blipFill>
        <p:spPr>
          <a:xfrm>
            <a:off x="1710546" y="2505268"/>
            <a:ext cx="5212768" cy="2183363"/>
          </a:xfrm>
          <a:prstGeom prst="rect">
            <a:avLst/>
          </a:prstGeom>
        </p:spPr>
      </p:pic>
    </p:spTree>
    <p:extLst>
      <p:ext uri="{BB962C8B-B14F-4D97-AF65-F5344CB8AC3E}">
        <p14:creationId xmlns:p14="http://schemas.microsoft.com/office/powerpoint/2010/main" val="384072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028" y="88641"/>
            <a:ext cx="8596668" cy="555171"/>
          </a:xfrm>
        </p:spPr>
        <p:txBody>
          <a:bodyPr>
            <a:normAutofit fontScale="90000"/>
          </a:bodyPr>
          <a:lstStyle/>
          <a:p>
            <a:r>
              <a:rPr lang="en-IN" dirty="0"/>
              <a:t>Data Representation</a:t>
            </a:r>
          </a:p>
        </p:txBody>
      </p:sp>
      <p:sp>
        <p:nvSpPr>
          <p:cNvPr id="5" name="TextBox 4">
            <a:extLst>
              <a:ext uri="{FF2B5EF4-FFF2-40B4-BE49-F238E27FC236}">
                <a16:creationId xmlns:a16="http://schemas.microsoft.com/office/drawing/2014/main" id="{571C36B6-82A6-D2A9-E718-DA368BB55CC7}"/>
              </a:ext>
            </a:extLst>
          </p:cNvPr>
          <p:cNvSpPr txBox="1"/>
          <p:nvPr/>
        </p:nvSpPr>
        <p:spPr>
          <a:xfrm>
            <a:off x="584028" y="1101012"/>
            <a:ext cx="9679645" cy="5078313"/>
          </a:xfrm>
          <a:prstGeom prst="rect">
            <a:avLst/>
          </a:prstGeom>
          <a:noFill/>
        </p:spPr>
        <p:txBody>
          <a:bodyPr wrap="square" rtlCol="0">
            <a:spAutoFit/>
          </a:bodyPr>
          <a:lstStyle/>
          <a:p>
            <a:pPr algn="l"/>
            <a:r>
              <a:rPr lang="en-US" b="0" i="0" dirty="0">
                <a:effectLst/>
                <a:latin typeface="Verdana" panose="020B0604030504040204" pitchFamily="34" charset="0"/>
              </a:rPr>
              <a:t>EBCDIC</a:t>
            </a:r>
          </a:p>
          <a:p>
            <a:pPr algn="l"/>
            <a:r>
              <a:rPr lang="en-US" b="0" i="0" dirty="0">
                <a:solidFill>
                  <a:srgbClr val="000000"/>
                </a:solidFill>
                <a:effectLst/>
                <a:latin typeface="Verdana" panose="020B0604030504040204" pitchFamily="34" charset="0"/>
              </a:rPr>
              <a:t>Extended Binary Coded Decimal Interchange Code is an 8-bit code that defines 256 symbols.</a:t>
            </a:r>
          </a:p>
          <a:p>
            <a:endParaRPr lang="en-GB" dirty="0"/>
          </a:p>
          <a:p>
            <a:endParaRPr lang="en-GB" dirty="0"/>
          </a:p>
          <a:p>
            <a:pPr algn="l"/>
            <a:r>
              <a:rPr lang="en-US" b="0" i="0" dirty="0">
                <a:effectLst/>
                <a:latin typeface="Verdana" panose="020B0604030504040204" pitchFamily="34" charset="0"/>
              </a:rPr>
              <a:t>ASCII</a:t>
            </a:r>
          </a:p>
          <a:p>
            <a:pPr algn="l"/>
            <a:r>
              <a:rPr lang="en-US" b="0" i="0" dirty="0">
                <a:solidFill>
                  <a:srgbClr val="000000"/>
                </a:solidFill>
                <a:effectLst/>
                <a:latin typeface="Verdana" panose="020B0604030504040204" pitchFamily="34" charset="0"/>
              </a:rPr>
              <a:t>American Standard Code for Information Interchange is an 8-bit code that specifies character values from 0 to 127.</a:t>
            </a:r>
          </a:p>
          <a:p>
            <a:endParaRPr lang="en-GB" dirty="0"/>
          </a:p>
          <a:p>
            <a:pPr algn="l"/>
            <a:r>
              <a:rPr lang="en-US" b="0" i="0" dirty="0">
                <a:effectLst/>
                <a:latin typeface="Verdana" panose="020B0604030504040204" pitchFamily="34" charset="0"/>
              </a:rPr>
              <a:t>Extended ASCII</a:t>
            </a:r>
          </a:p>
          <a:p>
            <a:pPr algn="l"/>
            <a:r>
              <a:rPr lang="en-US" b="0" i="0" dirty="0">
                <a:solidFill>
                  <a:srgbClr val="000000"/>
                </a:solidFill>
                <a:effectLst/>
                <a:latin typeface="Verdana" panose="020B0604030504040204" pitchFamily="34" charset="0"/>
              </a:rPr>
              <a:t>Extended American Standard Code for Information Interchange is an 8-bit code that specifies character values from 128 to 255.</a:t>
            </a:r>
          </a:p>
          <a:p>
            <a:endParaRPr lang="en-GB" dirty="0"/>
          </a:p>
          <a:p>
            <a:endParaRPr lang="en-GB" dirty="0"/>
          </a:p>
          <a:p>
            <a:pPr algn="l"/>
            <a:r>
              <a:rPr lang="en-US" b="0" i="0" dirty="0">
                <a:effectLst/>
                <a:latin typeface="Verdana" panose="020B0604030504040204" pitchFamily="34" charset="0"/>
              </a:rPr>
              <a:t>Unicode</a:t>
            </a:r>
          </a:p>
          <a:p>
            <a:pPr algn="l"/>
            <a:r>
              <a:rPr lang="en-US" b="0" i="0" dirty="0">
                <a:solidFill>
                  <a:srgbClr val="000000"/>
                </a:solidFill>
                <a:effectLst/>
                <a:latin typeface="Verdana" panose="020B0604030504040204" pitchFamily="34" charset="0"/>
              </a:rPr>
              <a:t>Unicode Worldwide Character Standard uses 4 to 32 bits to represent letters, numbers and symbol.</a:t>
            </a:r>
          </a:p>
          <a:p>
            <a:endParaRPr lang="en-GB" dirty="0"/>
          </a:p>
        </p:txBody>
      </p:sp>
    </p:spTree>
    <p:extLst>
      <p:ext uri="{BB962C8B-B14F-4D97-AF65-F5344CB8AC3E}">
        <p14:creationId xmlns:p14="http://schemas.microsoft.com/office/powerpoint/2010/main" val="22351871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A3F9924-2209-474D-89E3-56A2964D5554}"/>
              </a:ext>
            </a:extLst>
          </p:cNvPr>
          <p:cNvSpPr txBox="1"/>
          <p:nvPr/>
        </p:nvSpPr>
        <p:spPr>
          <a:xfrm>
            <a:off x="421077" y="798383"/>
            <a:ext cx="8767893" cy="1384995"/>
          </a:xfrm>
          <a:prstGeom prst="rect">
            <a:avLst/>
          </a:prstGeom>
          <a:noFill/>
        </p:spPr>
        <p:txBody>
          <a:bodyPr wrap="square" rtlCol="0">
            <a:spAutoFit/>
          </a:bodyPr>
          <a:lstStyle/>
          <a:p>
            <a:pPr algn="ctr"/>
            <a:r>
              <a:rPr lang="en-US" sz="2800" b="1" i="1" dirty="0">
                <a:solidFill>
                  <a:srgbClr val="FF0000"/>
                </a:solidFill>
              </a:rPr>
              <a:t>“The only way to learn New Programming language is by writing programs in it”</a:t>
            </a:r>
          </a:p>
          <a:p>
            <a:pPr algn="ctr"/>
            <a:r>
              <a:rPr lang="en-US" sz="2800" b="1" i="1" dirty="0">
                <a:solidFill>
                  <a:srgbClr val="FF0000"/>
                </a:solidFill>
              </a:rPr>
              <a:t>– Dennis Ritchie</a:t>
            </a:r>
            <a:endParaRPr lang="en-IN" sz="2800" b="1" dirty="0">
              <a:solidFill>
                <a:srgbClr val="FF0000"/>
              </a:solidFill>
            </a:endParaRPr>
          </a:p>
        </p:txBody>
      </p:sp>
      <p:sp>
        <p:nvSpPr>
          <p:cNvPr id="2" name="Rectangle 1">
            <a:extLst>
              <a:ext uri="{FF2B5EF4-FFF2-40B4-BE49-F238E27FC236}">
                <a16:creationId xmlns:a16="http://schemas.microsoft.com/office/drawing/2014/main" id="{49598AD9-2833-456D-8ABE-2133619B5E7F}"/>
              </a:ext>
            </a:extLst>
          </p:cNvPr>
          <p:cNvSpPr/>
          <p:nvPr/>
        </p:nvSpPr>
        <p:spPr>
          <a:xfrm>
            <a:off x="3018604" y="2967335"/>
            <a:ext cx="3572838"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rPr>
              <a:t>Thank You!</a:t>
            </a:r>
          </a:p>
        </p:txBody>
      </p:sp>
      <p:sp>
        <p:nvSpPr>
          <p:cNvPr id="5" name="Date Placeholder 4">
            <a:extLst>
              <a:ext uri="{FF2B5EF4-FFF2-40B4-BE49-F238E27FC236}">
                <a16:creationId xmlns:a16="http://schemas.microsoft.com/office/drawing/2014/main" id="{BC47A2A4-4B4A-4DA2-BD54-852BED955E1C}"/>
              </a:ext>
            </a:extLst>
          </p:cNvPr>
          <p:cNvSpPr>
            <a:spLocks noGrp="1"/>
          </p:cNvSpPr>
          <p:nvPr>
            <p:ph type="dt" sz="half" idx="10"/>
          </p:nvPr>
        </p:nvSpPr>
        <p:spPr>
          <a:xfrm>
            <a:off x="7704667" y="0"/>
            <a:ext cx="1195597" cy="365125"/>
          </a:xfrm>
        </p:spPr>
        <p:txBody>
          <a:bodyPr/>
          <a:lstStyle/>
          <a:p>
            <a:fld id="{929302B8-7BAD-4A13-95E5-EF0128F24EDF}" type="datetime1">
              <a:rPr lang="en-US" smtClean="0"/>
              <a:pPr/>
              <a:t>1/15/2026</a:t>
            </a:fld>
            <a:endParaRPr lang="en-US" dirty="0"/>
          </a:p>
        </p:txBody>
      </p:sp>
      <p:sp>
        <p:nvSpPr>
          <p:cNvPr id="6" name="Slide Number Placeholder 5">
            <a:extLst>
              <a:ext uri="{FF2B5EF4-FFF2-40B4-BE49-F238E27FC236}">
                <a16:creationId xmlns:a16="http://schemas.microsoft.com/office/drawing/2014/main" id="{396C42EF-94DE-411E-9E45-DE605571B084}"/>
              </a:ext>
            </a:extLst>
          </p:cNvPr>
          <p:cNvSpPr>
            <a:spLocks noGrp="1"/>
          </p:cNvSpPr>
          <p:nvPr>
            <p:ph type="sldNum" sz="quarter" idx="12"/>
          </p:nvPr>
        </p:nvSpPr>
        <p:spPr>
          <a:xfrm>
            <a:off x="4238797" y="0"/>
            <a:ext cx="683339" cy="365125"/>
          </a:xfrm>
        </p:spPr>
        <p:txBody>
          <a:bodyPr/>
          <a:lstStyle/>
          <a:p>
            <a:fld id="{E3E9EF9F-93D1-4F46-8D5F-ACEA15647A9D}" type="slidenum">
              <a:rPr lang="en-US" smtClean="0"/>
              <a:pPr/>
              <a:t>32</a:t>
            </a:fld>
            <a:endParaRPr lang="en-US" dirty="0"/>
          </a:p>
        </p:txBody>
      </p:sp>
    </p:spTree>
    <p:extLst>
      <p:ext uri="{BB962C8B-B14F-4D97-AF65-F5344CB8AC3E}">
        <p14:creationId xmlns:p14="http://schemas.microsoft.com/office/powerpoint/2010/main" val="2601788265"/>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3323</TotalTime>
  <Words>2742</Words>
  <Application>Microsoft Office PowerPoint</Application>
  <PresentationFormat>Widescreen</PresentationFormat>
  <Paragraphs>320</Paragraphs>
  <Slides>32</Slides>
  <Notes>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32</vt:i4>
      </vt:variant>
    </vt:vector>
  </HeadingPairs>
  <TitlesOfParts>
    <vt:vector size="44" baseType="lpstr">
      <vt:lpstr>Arial</vt:lpstr>
      <vt:lpstr>Calibri</vt:lpstr>
      <vt:lpstr>Cambria Math</vt:lpstr>
      <vt:lpstr>Söhne</vt:lpstr>
      <vt:lpstr>Times New Roman</vt:lpstr>
      <vt:lpstr>Tw Cen MT</vt:lpstr>
      <vt:lpstr>var(--ff-lato)</vt:lpstr>
      <vt:lpstr>Verdana</vt:lpstr>
      <vt:lpstr>Wingdings</vt:lpstr>
      <vt:lpstr>Wingdings 2</vt:lpstr>
      <vt:lpstr>Wingdings 3</vt:lpstr>
      <vt:lpstr>Droplet</vt:lpstr>
      <vt:lpstr>Topic: Introduction of Problem Solving</vt:lpstr>
      <vt:lpstr>Problem Solving</vt:lpstr>
      <vt:lpstr>Programming</vt:lpstr>
      <vt:lpstr>Computational Thinking</vt:lpstr>
      <vt:lpstr>Measure of “Good” Abstraction</vt:lpstr>
      <vt:lpstr>Computational Thinking: What it is and is not?</vt:lpstr>
      <vt:lpstr>Computational Thinking</vt:lpstr>
      <vt:lpstr>Computational Thinking: An Example</vt:lpstr>
      <vt:lpstr>PowerPoint Presentation</vt:lpstr>
      <vt:lpstr>Problem 2: To find the sum of all numbers between 1 to 200</vt:lpstr>
      <vt:lpstr>Step 2: Pattern Recognition</vt:lpstr>
      <vt:lpstr>Step 3: Pattern Abstraction</vt:lpstr>
      <vt:lpstr>Step 4: Algorithm Design</vt:lpstr>
      <vt:lpstr>What is the total cost to construct a class room of 60 students</vt:lpstr>
      <vt:lpstr>What is the total cost to construct a class room of 60 students </vt:lpstr>
      <vt:lpstr>Algorithm    </vt:lpstr>
      <vt:lpstr>Example </vt:lpstr>
      <vt:lpstr>Characteristics and Advantages</vt:lpstr>
      <vt:lpstr>Flowchart </vt:lpstr>
      <vt:lpstr>Problem Statements  </vt:lpstr>
      <vt:lpstr>Problem Statements  </vt:lpstr>
      <vt:lpstr>Problem Statements  </vt:lpstr>
      <vt:lpstr>Objectives of Problem solving</vt:lpstr>
      <vt:lpstr>Computer system</vt:lpstr>
      <vt:lpstr>PowerPoint Presentation</vt:lpstr>
      <vt:lpstr>PowerPoint Presentation</vt:lpstr>
      <vt:lpstr>PowerPoint Presentation</vt:lpstr>
      <vt:lpstr>Computer Hardware Architecture</vt:lpstr>
      <vt:lpstr>Why Programming?</vt:lpstr>
      <vt:lpstr>Data Representation</vt:lpstr>
      <vt:lpstr>Data Representation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Sagar Badhiye</dc:creator>
  <cp:lastModifiedBy>Nikhil Mangrulkar</cp:lastModifiedBy>
  <cp:revision>471</cp:revision>
  <dcterms:created xsi:type="dcterms:W3CDTF">2020-06-17T04:42:27Z</dcterms:created>
  <dcterms:modified xsi:type="dcterms:W3CDTF">2026-01-15T16:09:17Z</dcterms:modified>
</cp:coreProperties>
</file>