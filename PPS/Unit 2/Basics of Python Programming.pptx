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5" r:id="rId3"/>
    <p:sldId id="267" r:id="rId4"/>
    <p:sldId id="268" r:id="rId5"/>
    <p:sldId id="266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2/19/2026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2/19/2026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396" y="2573482"/>
            <a:ext cx="10873208" cy="1711037"/>
          </a:xfrm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Basics</a:t>
            </a:r>
            <a:r>
              <a:rPr lang="en-IN" dirty="0"/>
              <a:t> of </a:t>
            </a:r>
            <a:r>
              <a:rPr lang="en-IN" dirty="0">
                <a:solidFill>
                  <a:srgbClr val="00B0F0"/>
                </a:solidFill>
              </a:rPr>
              <a:t>Python</a:t>
            </a:r>
            <a:r>
              <a:rPr lang="en-IN" dirty="0"/>
              <a:t> </a:t>
            </a:r>
            <a:r>
              <a:rPr lang="en-IN" dirty="0">
                <a:solidFill>
                  <a:srgbClr val="92D050"/>
                </a:solidFill>
              </a:rPr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Literal Constants</a:t>
            </a:r>
          </a:p>
          <a:p>
            <a:r>
              <a:rPr lang="en-GB" sz="2400" dirty="0"/>
              <a:t>Variable Identifier Naming</a:t>
            </a:r>
          </a:p>
          <a:p>
            <a:r>
              <a:rPr lang="en-GB" sz="2400" dirty="0"/>
              <a:t>Basic I/O Statements</a:t>
            </a:r>
          </a:p>
          <a:p>
            <a:r>
              <a:rPr lang="en-GB" sz="2400" dirty="0"/>
              <a:t>Logical and Physical Line</a:t>
            </a:r>
          </a:p>
          <a:p>
            <a:r>
              <a:rPr lang="en-GB" sz="2400" dirty="0"/>
              <a:t>Indentation</a:t>
            </a: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E8A4-CC1E-DDB5-A325-63F26BCAE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E28A7-D9F6-0565-37BD-48D1C2CAB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 programming, a variable is a container (storage area) to hold data.</a:t>
            </a:r>
          </a:p>
          <a:p>
            <a:r>
              <a:rPr lang="en-GB" sz="2400" dirty="0"/>
              <a:t>For e.g. </a:t>
            </a:r>
          </a:p>
          <a:p>
            <a:pPr marL="0" indent="0" algn="ctr">
              <a:buNone/>
            </a:pPr>
            <a:r>
              <a:rPr lang="en-IN" sz="2400" dirty="0"/>
              <a:t>number = 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10</a:t>
            </a:r>
          </a:p>
          <a:p>
            <a:r>
              <a:rPr lang="en-GB" sz="2400" dirty="0"/>
              <a:t>Here, </a:t>
            </a:r>
            <a:r>
              <a:rPr lang="en-GB" sz="2400" i="1" dirty="0"/>
              <a:t>number</a:t>
            </a:r>
            <a:r>
              <a:rPr lang="en-GB" sz="2400" dirty="0"/>
              <a:t> is a variable storing the value </a:t>
            </a:r>
            <a:r>
              <a:rPr lang="en-GB" sz="2400" b="1" dirty="0"/>
              <a:t>10</a:t>
            </a:r>
            <a:r>
              <a:rPr lang="en-GB" sz="2400" dirty="0"/>
              <a:t>. </a:t>
            </a:r>
          </a:p>
          <a:p>
            <a:r>
              <a:rPr lang="en-GB" sz="2400" dirty="0"/>
              <a:t>Use the assignment operator = to assign a value to a variable.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455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749C-0337-85FA-6ED3-D8160B24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Changing the Value of a Variable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58AE-633F-BBA8-AA53-0C5E850A6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E.g.:</a:t>
            </a:r>
          </a:p>
          <a:p>
            <a:pPr marL="2377440" lvl="8" indent="0">
              <a:buNone/>
            </a:pPr>
            <a:r>
              <a:rPr lang="en-IN" sz="2400" dirty="0"/>
              <a:t>value = 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15</a:t>
            </a:r>
          </a:p>
          <a:p>
            <a:pPr marL="2377440" lvl="8" indent="0">
              <a:buNone/>
            </a:pPr>
            <a:r>
              <a:rPr lang="en-IN" sz="2400" dirty="0">
                <a:solidFill>
                  <a:srgbClr val="7030A0"/>
                </a:solidFill>
              </a:rPr>
              <a:t>print</a:t>
            </a:r>
            <a:r>
              <a:rPr lang="en-IN" sz="2400" dirty="0">
                <a:solidFill>
                  <a:schemeClr val="tx1"/>
                </a:solidFill>
              </a:rPr>
              <a:t>(value)</a:t>
            </a:r>
          </a:p>
          <a:p>
            <a:pPr marL="2377440" lvl="8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value = </a:t>
            </a:r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20</a:t>
            </a:r>
          </a:p>
          <a:p>
            <a:pPr marL="2377440" lvl="8" indent="0">
              <a:buNone/>
            </a:pPr>
            <a:r>
              <a:rPr lang="en-IN" sz="2400" dirty="0">
                <a:solidFill>
                  <a:srgbClr val="7030A0"/>
                </a:solidFill>
              </a:rPr>
              <a:t>print</a:t>
            </a:r>
            <a:r>
              <a:rPr lang="en-IN" sz="2400" dirty="0"/>
              <a:t>(value)</a:t>
            </a:r>
          </a:p>
          <a:p>
            <a:pPr marL="2377440" lvl="8" indent="0">
              <a:buNone/>
            </a:pPr>
            <a:endParaRPr lang="en-I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17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94C4-8123-2516-5E3B-26712E2C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4688F-F33C-3007-1A2B-AD6E8ACDA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Literals are representations of fixed values in a program. </a:t>
            </a:r>
          </a:p>
          <a:p>
            <a:r>
              <a:rPr lang="en-GB" sz="2400" dirty="0"/>
              <a:t>They can be numbers, characters, or strings, etc. </a:t>
            </a:r>
          </a:p>
          <a:p>
            <a:r>
              <a:rPr lang="en-GB" sz="2400" dirty="0"/>
              <a:t>For example, 'Hello, World!', 12, 23.0, 'C', etc.</a:t>
            </a:r>
          </a:p>
          <a:p>
            <a:r>
              <a:rPr lang="en-GB" sz="2400" dirty="0"/>
              <a:t>Literals are often used to assign values to variables or constants. For example,</a:t>
            </a:r>
          </a:p>
          <a:p>
            <a:pPr marL="0" indent="0">
              <a:buNone/>
            </a:pPr>
            <a:r>
              <a:rPr lang="en-GB" sz="2400" dirty="0"/>
              <a:t>			college = </a:t>
            </a:r>
            <a:r>
              <a:rPr lang="en-GB" sz="2400" dirty="0">
                <a:solidFill>
                  <a:schemeClr val="accent1">
                    <a:lumMod val="50000"/>
                  </a:schemeClr>
                </a:solidFill>
              </a:rPr>
              <a:t>“SIT”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tx1"/>
                </a:solidFill>
              </a:rPr>
              <a:t>college is a variable and SIT is a literal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713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1A491-2073-2E86-9655-17BAC886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Literals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994DF-935A-F08A-C873-59BEABF19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400" b="1" dirty="0"/>
              <a:t>Integer Literals</a:t>
            </a:r>
          </a:p>
          <a:p>
            <a:pPr marL="0" indent="0" algn="ctr">
              <a:buNone/>
            </a:pPr>
            <a:r>
              <a:rPr lang="en-IN" sz="2400" dirty="0"/>
              <a:t>5, -11, 0, 12</a:t>
            </a:r>
            <a:endParaRPr lang="en-IN" sz="2400" b="1" dirty="0"/>
          </a:p>
          <a:p>
            <a:r>
              <a:rPr lang="en-IN" sz="2400" b="1" dirty="0"/>
              <a:t>Floating-Point Literals</a:t>
            </a:r>
          </a:p>
          <a:p>
            <a:pPr marL="0" indent="0" algn="ctr">
              <a:buNone/>
            </a:pPr>
            <a:r>
              <a:rPr lang="en-IN" sz="2400" dirty="0"/>
              <a:t>2.5, 6.76, 0.0, -9.45</a:t>
            </a:r>
            <a:endParaRPr lang="en-IN" sz="2400" b="1" dirty="0"/>
          </a:p>
          <a:p>
            <a:r>
              <a:rPr lang="en-IN" sz="2400" b="1" dirty="0"/>
              <a:t>Complex Literals</a:t>
            </a:r>
          </a:p>
          <a:p>
            <a:pPr marL="0" indent="0" algn="ctr">
              <a:buNone/>
            </a:pPr>
            <a:r>
              <a:rPr lang="en-IN" sz="2400" dirty="0"/>
              <a:t>6+9j, 2+3j</a:t>
            </a:r>
          </a:p>
          <a:p>
            <a:r>
              <a:rPr lang="en-IN" sz="2400" b="1" dirty="0"/>
              <a:t>String Literals</a:t>
            </a:r>
          </a:p>
          <a:p>
            <a:pPr marL="0" indent="0" algn="ctr">
              <a:buNone/>
            </a:pPr>
            <a:r>
              <a:rPr lang="en-IN" sz="2400" dirty="0"/>
              <a:t>"This is a string."</a:t>
            </a:r>
          </a:p>
          <a:p>
            <a:pPr marL="0" indent="0" algn="ctr">
              <a:buNone/>
            </a:pPr>
            <a:r>
              <a:rPr lang="en-GB" sz="2400" dirty="0"/>
              <a:t>'This is also a string.'</a:t>
            </a:r>
          </a:p>
        </p:txBody>
      </p:sp>
    </p:spTree>
    <p:extLst>
      <p:ext uri="{BB962C8B-B14F-4D97-AF65-F5344CB8AC3E}">
        <p14:creationId xmlns:p14="http://schemas.microsoft.com/office/powerpoint/2010/main" val="189567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7F71-A077-09FD-078A-E8D02257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035" y="172616"/>
            <a:ext cx="9144000" cy="1143000"/>
          </a:xfrm>
        </p:spPr>
        <p:txBody>
          <a:bodyPr/>
          <a:lstStyle/>
          <a:p>
            <a:r>
              <a:rPr lang="en-IN" dirty="0"/>
              <a:t>More Python Literals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EEA7F-7F3C-3DB0-59CD-B48DADE2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035" y="1556792"/>
            <a:ext cx="9900592" cy="4912568"/>
          </a:xfrm>
        </p:spPr>
        <p:txBody>
          <a:bodyPr numCol="2">
            <a:noAutofit/>
          </a:bodyPr>
          <a:lstStyle/>
          <a:p>
            <a:r>
              <a:rPr lang="en-IN" dirty="0"/>
              <a:t>Boolean Literals </a:t>
            </a:r>
          </a:p>
          <a:p>
            <a:pPr marL="0" indent="0" algn="ctr">
              <a:buNone/>
            </a:pPr>
            <a:r>
              <a:rPr lang="en-IN" dirty="0"/>
              <a:t>True, False</a:t>
            </a:r>
          </a:p>
          <a:p>
            <a:r>
              <a:rPr lang="en-IN" dirty="0"/>
              <a:t>Character Literals</a:t>
            </a:r>
          </a:p>
          <a:p>
            <a:pPr marL="0" indent="0" algn="ctr">
              <a:buNone/>
            </a:pPr>
            <a:r>
              <a:rPr lang="en-IN" dirty="0" err="1"/>
              <a:t>some_character</a:t>
            </a:r>
            <a:r>
              <a:rPr lang="en-IN" dirty="0"/>
              <a:t> = 'S'</a:t>
            </a:r>
          </a:p>
          <a:p>
            <a:r>
              <a:rPr lang="en-IN" dirty="0"/>
              <a:t>Special Literal</a:t>
            </a:r>
          </a:p>
          <a:p>
            <a:pPr marL="0" indent="0" algn="ctr">
              <a:buNone/>
            </a:pPr>
            <a:r>
              <a:rPr lang="en-IN" dirty="0"/>
              <a:t>None</a:t>
            </a:r>
          </a:p>
          <a:p>
            <a:r>
              <a:rPr lang="en-IN" dirty="0"/>
              <a:t>Collection Literals</a:t>
            </a:r>
          </a:p>
          <a:p>
            <a:pPr lvl="1"/>
            <a:r>
              <a:rPr lang="en-IN" sz="2000" dirty="0"/>
              <a:t>list literal</a:t>
            </a:r>
          </a:p>
          <a:p>
            <a:pPr marL="365760" lvl="1" indent="0">
              <a:buNone/>
            </a:pPr>
            <a:r>
              <a:rPr lang="en-IN" sz="2000" dirty="0"/>
              <a:t>fruits = ["apple", "mango", "orange"] </a:t>
            </a:r>
          </a:p>
          <a:p>
            <a:pPr lvl="1"/>
            <a:r>
              <a:rPr lang="en-IN" sz="2000" dirty="0"/>
              <a:t>tuple literal</a:t>
            </a:r>
          </a:p>
          <a:p>
            <a:pPr marL="365760" lvl="1" indent="0">
              <a:buNone/>
            </a:pPr>
            <a:r>
              <a:rPr lang="en-IN" sz="2000" dirty="0"/>
              <a:t>numbers = (1, 2, 3) </a:t>
            </a:r>
          </a:p>
          <a:p>
            <a:pPr marL="365760" lvl="1" indent="0">
              <a:buNone/>
            </a:pPr>
            <a:endParaRPr lang="en-IN" sz="2000" dirty="0"/>
          </a:p>
          <a:p>
            <a:pPr marL="365760" lvl="1" indent="0">
              <a:buNone/>
            </a:pPr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endParaRPr lang="en-IN" sz="2000" dirty="0"/>
          </a:p>
          <a:p>
            <a:pPr lvl="1"/>
            <a:r>
              <a:rPr lang="en-IN" sz="2000" dirty="0"/>
              <a:t>dictionary literal</a:t>
            </a:r>
          </a:p>
          <a:p>
            <a:pPr marL="365760" lvl="1" indent="0">
              <a:buNone/>
            </a:pPr>
            <a:r>
              <a:rPr lang="en-IN" sz="2000" dirty="0"/>
              <a:t>alphabets = {'</a:t>
            </a:r>
            <a:r>
              <a:rPr lang="en-IN" sz="2000" dirty="0" err="1"/>
              <a:t>a':'apple</a:t>
            </a:r>
            <a:r>
              <a:rPr lang="en-IN" sz="2000" dirty="0"/>
              <a:t>', '</a:t>
            </a:r>
            <a:r>
              <a:rPr lang="en-IN" sz="2000" dirty="0" err="1"/>
              <a:t>b':'ball</a:t>
            </a:r>
            <a:r>
              <a:rPr lang="en-IN" sz="2000" dirty="0"/>
              <a:t>', '</a:t>
            </a:r>
            <a:r>
              <a:rPr lang="en-IN" sz="2000" dirty="0" err="1"/>
              <a:t>c':'cat</a:t>
            </a:r>
            <a:r>
              <a:rPr lang="en-IN" sz="2000" dirty="0"/>
              <a:t>'} </a:t>
            </a:r>
          </a:p>
          <a:p>
            <a:pPr lvl="1"/>
            <a:r>
              <a:rPr lang="en-IN" sz="2000" dirty="0"/>
              <a:t>set literal</a:t>
            </a:r>
          </a:p>
          <a:p>
            <a:pPr marL="365760" lvl="1" indent="0">
              <a:buNone/>
            </a:pPr>
            <a:r>
              <a:rPr lang="en-IN" sz="2000" dirty="0"/>
              <a:t>vowels = {'a', 'e', '</a:t>
            </a:r>
            <a:r>
              <a:rPr lang="en-IN" sz="2000" dirty="0" err="1"/>
              <a:t>i</a:t>
            </a:r>
            <a:r>
              <a:rPr lang="en-IN" sz="2000" dirty="0"/>
              <a:t>' , 'o', 'u'}</a:t>
            </a:r>
          </a:p>
        </p:txBody>
      </p:sp>
    </p:spTree>
    <p:extLst>
      <p:ext uri="{BB962C8B-B14F-4D97-AF65-F5344CB8AC3E}">
        <p14:creationId xmlns:p14="http://schemas.microsoft.com/office/powerpoint/2010/main" val="327721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1A48-7169-A9EF-B224-8A1E238A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Identifier Naming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2A552-A6DC-3084-9700-45FE21C0D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Rules for Python variables:</a:t>
            </a:r>
          </a:p>
          <a:p>
            <a:pPr lvl="1"/>
            <a:r>
              <a:rPr lang="en-GB" sz="2400" dirty="0"/>
              <a:t>A variable name must start with a letter or the underscore character</a:t>
            </a:r>
          </a:p>
          <a:p>
            <a:pPr lvl="1"/>
            <a:r>
              <a:rPr lang="en-GB" sz="2400" dirty="0"/>
              <a:t>A variable name cannot start with a number</a:t>
            </a:r>
          </a:p>
          <a:p>
            <a:pPr lvl="1"/>
            <a:r>
              <a:rPr lang="en-GB" sz="2400" dirty="0"/>
              <a:t>A variable name can only contain alpha-numeric characters and underscores (A-z, 0-9, and _ )</a:t>
            </a:r>
          </a:p>
          <a:p>
            <a:pPr lvl="1"/>
            <a:r>
              <a:rPr lang="en-GB" sz="2400" dirty="0"/>
              <a:t>Variable names are case-sensitive (roll, Roll and ROLL are three different variables)</a:t>
            </a:r>
          </a:p>
          <a:p>
            <a:pPr lvl="1"/>
            <a:r>
              <a:rPr lang="en-GB" sz="2400" dirty="0"/>
              <a:t>A variable name cannot be any of the Python keywords.</a:t>
            </a:r>
          </a:p>
        </p:txBody>
      </p:sp>
    </p:spTree>
    <p:extLst>
      <p:ext uri="{BB962C8B-B14F-4D97-AF65-F5344CB8AC3E}">
        <p14:creationId xmlns:p14="http://schemas.microsoft.com/office/powerpoint/2010/main" val="4269208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9EAE-5F6C-6DFF-50FB-51B4B431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I/O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EF061-5D7A-32C6-A625-40352AB9A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Input</a:t>
            </a:r>
          </a:p>
          <a:p>
            <a:pPr lvl="1"/>
            <a:r>
              <a:rPr lang="en-GB" sz="2400" dirty="0"/>
              <a:t>input() function is used to take user input. </a:t>
            </a:r>
          </a:p>
          <a:p>
            <a:pPr lvl="1"/>
            <a:r>
              <a:rPr lang="en-GB" sz="2400" dirty="0"/>
              <a:t>It returns the user input in form of a string.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E.g.: 	name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=</a:t>
            </a:r>
            <a:r>
              <a:rPr lang="en-GB" sz="2400" dirty="0"/>
              <a:t> input(</a:t>
            </a:r>
            <a:r>
              <a:rPr lang="en-GB" sz="2400" dirty="0">
                <a:solidFill>
                  <a:srgbClr val="FFFF00"/>
                </a:solidFill>
              </a:rPr>
              <a:t>"Enter your name: "</a:t>
            </a:r>
            <a:r>
              <a:rPr lang="en-GB" sz="2400" dirty="0"/>
              <a:t>)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The code prompts the user to input their name, stores it in the variable "name"</a:t>
            </a:r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96035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0FF6-AC1A-4993-F313-3ED2CE5C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643B-2589-CF94-85C7-3A5E26A3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I/O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BC55D-3E06-C20F-58DF-CC4470B31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Output</a:t>
            </a:r>
          </a:p>
          <a:p>
            <a:pPr lvl="1"/>
            <a:r>
              <a:rPr lang="en-GB" sz="2400" dirty="0"/>
              <a:t>print() function is used for printing output. 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E.g.: 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FFFF00"/>
                </a:solidFill>
              </a:rPr>
              <a:t>"Hello World!"</a:t>
            </a:r>
            <a:r>
              <a:rPr lang="en-GB" sz="2400" dirty="0"/>
              <a:t>)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“Hello, World!" is a string literal enclosed within double quotes. When executed, this statement will output the text to the console.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9645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AD829-CAD9-8EF6-D42F-B93ACF95D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73B1-07F6-A314-DCDD-BB1FD707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I/O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79D22-C03F-4149-BC09-2CD525F3A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Printing Variables</a:t>
            </a:r>
          </a:p>
          <a:p>
            <a:pPr lvl="1"/>
            <a:r>
              <a:rPr lang="en-GB" sz="2400" dirty="0"/>
              <a:t>We can print multiple variables by separating them with commas.. </a:t>
            </a:r>
          </a:p>
          <a:p>
            <a:pPr lvl="1"/>
            <a:endParaRPr lang="en-GB" sz="2400" dirty="0"/>
          </a:p>
          <a:p>
            <a:pPr lvl="1"/>
            <a:r>
              <a:rPr lang="en-GB" sz="2400" dirty="0"/>
              <a:t>E.g.: 	school = “</a:t>
            </a:r>
            <a:r>
              <a:rPr lang="en-GB" sz="2400" dirty="0">
                <a:solidFill>
                  <a:srgbClr val="FFFF00"/>
                </a:solidFill>
              </a:rPr>
              <a:t>SIT</a:t>
            </a:r>
            <a:r>
              <a:rPr lang="en-GB" sz="2400" dirty="0"/>
              <a:t>”</a:t>
            </a:r>
          </a:p>
          <a:p>
            <a:pPr marL="365760" lvl="1" indent="0">
              <a:buNone/>
            </a:pPr>
            <a:r>
              <a:rPr lang="en-GB" sz="2400" dirty="0"/>
              <a:t>		city = “</a:t>
            </a:r>
            <a:r>
              <a:rPr lang="en-GB" sz="2400" dirty="0">
                <a:solidFill>
                  <a:srgbClr val="FFFF00"/>
                </a:solidFill>
              </a:rPr>
              <a:t>Nagpur</a:t>
            </a:r>
            <a:r>
              <a:rPr lang="en-GB" sz="2400" dirty="0"/>
              <a:t>”</a:t>
            </a:r>
          </a:p>
          <a:p>
            <a:pPr marL="365760" lvl="1" indent="0">
              <a:buNone/>
            </a:pPr>
            <a:r>
              <a:rPr lang="en-GB" sz="2400" dirty="0"/>
              <a:t>	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(school, city)</a:t>
            </a:r>
          </a:p>
          <a:p>
            <a:pPr marL="365760" lvl="1" indent="0">
              <a:buNone/>
            </a:pPr>
            <a:r>
              <a:rPr lang="en-GB" sz="24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4516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4D64-D008-CC6A-2765-E5E3BE1A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F77F-E702-4D34-F3C9-240AF2AF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I/O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8DFC0-BC47-22D3-EDA9-9EFF522A4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Multiple Input</a:t>
            </a:r>
          </a:p>
          <a:p>
            <a:pPr lvl="1"/>
            <a:r>
              <a:rPr lang="en-GB" sz="2400" dirty="0"/>
              <a:t>We are taking multiple input from the user in a single line, splitting the values entered by the user into separate variables for each value using the split() method. </a:t>
            </a:r>
          </a:p>
          <a:p>
            <a:pPr lvl="1"/>
            <a:endParaRPr lang="en-GB" sz="2400" dirty="0"/>
          </a:p>
          <a:p>
            <a:r>
              <a:rPr lang="en-GB" sz="2400" dirty="0"/>
              <a:t>E.g.: 		x, y </a:t>
            </a:r>
            <a:r>
              <a:rPr lang="en-GB" sz="2400" dirty="0">
                <a:solidFill>
                  <a:srgbClr val="FF0000"/>
                </a:solidFill>
              </a:rPr>
              <a:t>=</a:t>
            </a:r>
            <a:r>
              <a:rPr lang="en-GB" sz="2400" dirty="0"/>
              <a:t> input(</a:t>
            </a:r>
            <a:r>
              <a:rPr lang="en-GB" sz="2400" dirty="0">
                <a:solidFill>
                  <a:srgbClr val="FFFF00"/>
                </a:solidFill>
              </a:rPr>
              <a:t>"Enter two values: "</a:t>
            </a:r>
            <a:r>
              <a:rPr lang="en-GB" sz="2400" dirty="0"/>
              <a:t>)</a:t>
            </a:r>
            <a:r>
              <a:rPr lang="en-GB" sz="2400" dirty="0">
                <a:solidFill>
                  <a:srgbClr val="FF0000"/>
                </a:solidFill>
              </a:rPr>
              <a:t>.</a:t>
            </a:r>
            <a:r>
              <a:rPr lang="en-GB" sz="2400" dirty="0"/>
              <a:t>split()</a:t>
            </a:r>
          </a:p>
          <a:p>
            <a:pPr marL="365760" lvl="1" indent="0">
              <a:buNone/>
            </a:pPr>
            <a:r>
              <a:rPr lang="en-GB" sz="2400" dirty="0"/>
              <a:t>		 x, y, z </a:t>
            </a:r>
            <a:r>
              <a:rPr lang="en-GB" sz="2400" dirty="0">
                <a:solidFill>
                  <a:srgbClr val="FF0000"/>
                </a:solidFill>
              </a:rPr>
              <a:t>=</a:t>
            </a:r>
            <a:r>
              <a:rPr lang="en-GB" sz="2400" dirty="0"/>
              <a:t> input(</a:t>
            </a:r>
            <a:r>
              <a:rPr lang="en-GB" sz="2400" dirty="0">
                <a:solidFill>
                  <a:srgbClr val="FFFF00"/>
                </a:solidFill>
              </a:rPr>
              <a:t>"Enter three values: "</a:t>
            </a:r>
            <a:r>
              <a:rPr lang="en-GB" sz="2400" dirty="0"/>
              <a:t>)</a:t>
            </a:r>
            <a:r>
              <a:rPr lang="en-GB" sz="2400" dirty="0">
                <a:solidFill>
                  <a:srgbClr val="FF0000"/>
                </a:solidFill>
              </a:rPr>
              <a:t>.</a:t>
            </a:r>
            <a:r>
              <a:rPr lang="en-GB" sz="2400" dirty="0"/>
              <a:t>split()</a:t>
            </a:r>
          </a:p>
          <a:p>
            <a:pPr marL="365760" lvl="1" indent="0">
              <a:buNone/>
            </a:pPr>
            <a:endParaRPr lang="en-GB" sz="2400" dirty="0"/>
          </a:p>
          <a:p>
            <a:pPr marL="365760" lvl="1" indent="0">
              <a:buNone/>
            </a:pPr>
            <a:r>
              <a:rPr lang="en-GB" sz="2400" b="1" dirty="0"/>
              <a:t>Note:</a:t>
            </a:r>
            <a:r>
              <a:rPr lang="en-GB" sz="2400" dirty="0"/>
              <a:t> The split() method always returns input values as strings. If you need them as numbers (int or float), you must convert them using typecasting.</a:t>
            </a:r>
          </a:p>
          <a:p>
            <a:pPr marL="365760" lvl="1" indent="0">
              <a:buNone/>
            </a:pPr>
            <a:r>
              <a:rPr lang="en-GB" sz="2400" dirty="0"/>
              <a:t> 		</a:t>
            </a:r>
          </a:p>
        </p:txBody>
      </p:sp>
    </p:spTree>
    <p:extLst>
      <p:ext uri="{BB962C8B-B14F-4D97-AF65-F5344CB8AC3E}">
        <p14:creationId xmlns:p14="http://schemas.microsoft.com/office/powerpoint/2010/main" val="4032055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E27E-34C8-65E4-EEB9-055435773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the Type of Input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5304E-A04A-EABC-63E7-3E5807704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By default, input() function helps in taking user input as string. </a:t>
            </a:r>
          </a:p>
          <a:p>
            <a:r>
              <a:rPr lang="en-GB" sz="2400" dirty="0"/>
              <a:t>If we want to take input as int or float, we just need to </a:t>
            </a:r>
            <a:r>
              <a:rPr lang="en-GB" sz="2400" dirty="0">
                <a:solidFill>
                  <a:schemeClr val="accent3"/>
                </a:solidFill>
              </a:rPr>
              <a:t>typecast</a:t>
            </a:r>
            <a:r>
              <a:rPr lang="en-GB" sz="2400" dirty="0"/>
              <a:t> it.</a:t>
            </a:r>
          </a:p>
          <a:p>
            <a:r>
              <a:rPr lang="en-GB" sz="2400" dirty="0"/>
              <a:t>E.g.:		marks </a:t>
            </a:r>
            <a:r>
              <a:rPr lang="en-GB" sz="2400" dirty="0">
                <a:solidFill>
                  <a:srgbClr val="FF0000"/>
                </a:solidFill>
              </a:rPr>
              <a:t>=</a:t>
            </a:r>
            <a:r>
              <a:rPr lang="en-GB" sz="2400" dirty="0"/>
              <a:t> int(input(</a:t>
            </a:r>
            <a:r>
              <a:rPr lang="en-GB" sz="2400" dirty="0">
                <a:solidFill>
                  <a:srgbClr val="FFFF00"/>
                </a:solidFill>
              </a:rPr>
              <a:t>“Enter Marks: ”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r>
              <a:rPr lang="en-GB" sz="2400" dirty="0"/>
              <a:t>		per </a:t>
            </a:r>
            <a:r>
              <a:rPr lang="en-GB" sz="2400" dirty="0">
                <a:solidFill>
                  <a:srgbClr val="FF0000"/>
                </a:solidFill>
              </a:rPr>
              <a:t>=</a:t>
            </a:r>
            <a:r>
              <a:rPr lang="en-GB" sz="2400" dirty="0"/>
              <a:t> float(input(</a:t>
            </a:r>
            <a:r>
              <a:rPr lang="en-GB" sz="2400" dirty="0">
                <a:solidFill>
                  <a:srgbClr val="FFFF00"/>
                </a:solidFill>
              </a:rPr>
              <a:t>“Enter Percentage: ”</a:t>
            </a:r>
            <a:r>
              <a:rPr lang="en-GB" sz="2400" dirty="0"/>
              <a:t>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058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DB8E-D6B7-9CE8-0E25-D6037F4D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and Physical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99D1-A3FA-29CB-6463-3D9A4D969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 physical line is what you see when you write the program.</a:t>
            </a:r>
          </a:p>
          <a:p>
            <a:r>
              <a:rPr lang="en-GB" sz="2400" dirty="0"/>
              <a:t>A logical line is what Python sees as a single statement.</a:t>
            </a:r>
          </a:p>
          <a:p>
            <a:r>
              <a:rPr lang="en-GB" sz="2400" dirty="0"/>
              <a:t>Python implicitly assumes that each physical line corresponds to a logical line.</a:t>
            </a:r>
          </a:p>
          <a:p>
            <a:r>
              <a:rPr lang="en-GB" sz="2400" dirty="0"/>
              <a:t>E.g.:	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FFFF00"/>
                </a:solidFill>
              </a:rPr>
              <a:t>“Hello”</a:t>
            </a:r>
            <a:r>
              <a:rPr lang="en-GB" sz="2400" dirty="0"/>
              <a:t>)</a:t>
            </a:r>
          </a:p>
          <a:p>
            <a:r>
              <a:rPr lang="en-GB" sz="2400" dirty="0"/>
              <a:t>The use of a single statement per line is encouraged as it makes code more readable.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9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185D3-D5E8-A78A-224B-DDAE789F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F868-5EBD-C32F-1272-AAC984D2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and Physical Line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F5389-DD70-6A19-F5E1-093A3797C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If you want to specify more than one logical line on a single physical line, then you have to explicitly specify this using a semicolon (;) which indicates the end of a logical line/statement.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 For example: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/>
              <a:t>		</a:t>
            </a:r>
            <a:r>
              <a:rPr lang="en-IN" sz="2400" dirty="0">
                <a:solidFill>
                  <a:srgbClr val="00B0F0"/>
                </a:solidFill>
              </a:rPr>
              <a:t>print</a:t>
            </a:r>
            <a:r>
              <a:rPr lang="en-IN" sz="2400" dirty="0"/>
              <a:t>(</a:t>
            </a:r>
            <a:r>
              <a:rPr lang="en-IN" sz="2400" dirty="0">
                <a:solidFill>
                  <a:srgbClr val="FFFF00"/>
                </a:solidFill>
              </a:rPr>
              <a:t>“Roll No.”</a:t>
            </a:r>
            <a:r>
              <a:rPr lang="en-IN" sz="2400" dirty="0"/>
              <a:t>); </a:t>
            </a:r>
            <a:r>
              <a:rPr lang="en-IN" sz="2400" dirty="0">
                <a:solidFill>
                  <a:srgbClr val="00B0F0"/>
                </a:solidFill>
              </a:rPr>
              <a:t>print</a:t>
            </a:r>
            <a:r>
              <a:rPr lang="en-IN" sz="2400" dirty="0"/>
              <a:t>(</a:t>
            </a:r>
            <a:r>
              <a:rPr lang="en-IN" sz="2400" dirty="0">
                <a:solidFill>
                  <a:srgbClr val="FFC000"/>
                </a:solidFill>
              </a:rPr>
              <a:t>5</a:t>
            </a:r>
            <a:r>
              <a:rPr lang="en-IN" sz="2400" dirty="0"/>
              <a:t>)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It is recommended to stick to one logical line on each physical line</a:t>
            </a:r>
          </a:p>
        </p:txBody>
      </p:sp>
    </p:spTree>
    <p:extLst>
      <p:ext uri="{BB962C8B-B14F-4D97-AF65-F5344CB8AC3E}">
        <p14:creationId xmlns:p14="http://schemas.microsoft.com/office/powerpoint/2010/main" val="410536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5CF3-37C1-1E47-35C3-D2EEB20F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14EF-4953-5A08-F899-12C7695A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and Physical Line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B43B0-A2B1-7BDC-EFEC-1C3CAAB3F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A long line of code, can be broken into multiple physical lines by using the backslash.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Referred to as explicit line joining.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E.g.: 			s = </a:t>
            </a:r>
            <a:r>
              <a:rPr lang="en-GB" sz="2400" dirty="0">
                <a:solidFill>
                  <a:schemeClr val="accent1"/>
                </a:solidFill>
              </a:rPr>
              <a:t>'This is a string. \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solidFill>
                  <a:schemeClr val="accent1"/>
                </a:solidFill>
              </a:rPr>
              <a:t>			This continues the string.’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/>
              <a:t>		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(s)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04479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91E6-FC87-FD2C-41DE-21EB59DE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7E63-B9EF-837C-A1B9-6BAB3F18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and Physical Line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DD189-98D4-0F3A-D212-0B5EBCE2F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Sometimes, there is an implicit assumption where there is no need to use a backslash.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This is the case where the logical line has a starting parenthesis, starting square brackets or a starting curly braces but not an ending one.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This is called implicit line joining.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3587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88B3-B0C0-D0E3-3C6C-1342411A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53B0-DF1E-65C3-E126-61658F32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In Python, indentation is used to define blocks of code.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It tells the Python interpreter that a group of statements belongs to a specific block.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All statements with the same level of indentation are considered part of the same block.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Indentation is achieved using whitespace (spaces or tabs) at the beginning of each line.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8773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071A-DD5F-D25B-4780-59EBA9DE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5071B-86BC-8AF2-858C-E603EC7E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30D8-0ED9-2D39-C1AF-56EF196B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GB" sz="2400" dirty="0"/>
              <a:t>E.g.: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solidFill>
                  <a:srgbClr val="FF0000"/>
                </a:solidFill>
              </a:rPr>
              <a:t>if</a:t>
            </a:r>
            <a:r>
              <a:rPr lang="en-GB" sz="2400" dirty="0">
                <a:solidFill>
                  <a:srgbClr val="7030A0"/>
                </a:solidFill>
              </a:rPr>
              <a:t> 10 </a:t>
            </a:r>
            <a:r>
              <a:rPr lang="en-GB" sz="2400" dirty="0"/>
              <a:t>&gt; </a:t>
            </a:r>
            <a:r>
              <a:rPr lang="en-GB" sz="2400" dirty="0">
                <a:solidFill>
                  <a:srgbClr val="7030A0"/>
                </a:solidFill>
              </a:rPr>
              <a:t>5</a:t>
            </a:r>
            <a:r>
              <a:rPr lang="en-GB" sz="24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/>
              <a:t>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FFFF00"/>
                </a:solidFill>
              </a:rPr>
              <a:t>"This is Python."</a:t>
            </a:r>
            <a:r>
              <a:rPr lang="en-GB" sz="2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/>
              <a:t>	</a:t>
            </a: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FFFF00"/>
                </a:solidFill>
              </a:rPr>
              <a:t>“A popular programming language."</a:t>
            </a:r>
            <a:r>
              <a:rPr lang="en-GB" sz="2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/>
              <a:t>(</a:t>
            </a:r>
            <a:r>
              <a:rPr lang="en-GB" sz="2400" dirty="0">
                <a:solidFill>
                  <a:srgbClr val="FFFF00"/>
                </a:solidFill>
              </a:rPr>
              <a:t>“This is out of block."</a:t>
            </a:r>
            <a:r>
              <a:rPr lang="en-GB" sz="24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>
              <a:lnSpc>
                <a:spcPct val="100000"/>
              </a:lnSpc>
            </a:pPr>
            <a:r>
              <a:rPr lang="en-GB" sz="2400" dirty="0"/>
              <a:t>Python throws error if indentation is skipped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18317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2C43-D92B-E729-7481-C744DBBF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 in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C5E0-4068-CEC9-161A-FE333425D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=  </a:t>
            </a:r>
            <a:r>
              <a:rPr lang="en-GB" dirty="0">
                <a:solidFill>
                  <a:srgbClr val="7030A0"/>
                </a:solidFill>
              </a:rPr>
              <a:t>20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if</a:t>
            </a:r>
            <a:r>
              <a:rPr lang="en-GB" dirty="0"/>
              <a:t> a &gt;= </a:t>
            </a:r>
            <a:r>
              <a:rPr lang="en-GB" dirty="0">
                <a:solidFill>
                  <a:srgbClr val="7030A0"/>
                </a:solidFill>
              </a:rPr>
              <a:t>18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>
                <a:solidFill>
                  <a:srgbClr val="00B0F0"/>
                </a:solidFill>
              </a:rPr>
              <a:t>	print</a:t>
            </a:r>
            <a:r>
              <a:rPr lang="en-GB" dirty="0"/>
              <a:t>(‘Welcome...')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else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dirty="0">
                <a:solidFill>
                  <a:srgbClr val="00B0F0"/>
                </a:solidFill>
              </a:rPr>
              <a:t>	print</a:t>
            </a:r>
            <a:r>
              <a:rPr lang="en-GB" dirty="0"/>
              <a:t>(‘Good bye…’)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00B0F0"/>
                </a:solidFill>
              </a:rPr>
              <a:t>print</a:t>
            </a:r>
            <a:r>
              <a:rPr lang="en-GB" dirty="0"/>
              <a:t>('All !')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659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85DD-DB3E-25A2-B486-4C5B40AD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CBA44-DF74-A05D-6705-06446891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Indentation in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2E86-DCB0-2075-67D4-8F99EA59B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828800"/>
            <a:ext cx="9144000" cy="4572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400" dirty="0"/>
              <a:t>j = </a:t>
            </a:r>
            <a:r>
              <a:rPr lang="en-GB" sz="2400" dirty="0">
                <a:solidFill>
                  <a:srgbClr val="7030A0"/>
                </a:solidFill>
              </a:rPr>
              <a:t>1</a:t>
            </a:r>
          </a:p>
          <a:p>
            <a:pPr marL="0" indent="0">
              <a:buNone/>
            </a:pPr>
            <a:r>
              <a:rPr lang="en-GB" sz="2400" dirty="0"/>
              <a:t> 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FF0000"/>
                </a:solidFill>
              </a:rPr>
              <a:t>while</a:t>
            </a:r>
            <a:r>
              <a:rPr lang="en-GB" sz="2400" dirty="0"/>
              <a:t>(j&lt;= </a:t>
            </a:r>
            <a:r>
              <a:rPr lang="en-GB" sz="2400" dirty="0">
                <a:solidFill>
                  <a:srgbClr val="7030A0"/>
                </a:solidFill>
              </a:rPr>
              <a:t>5</a:t>
            </a:r>
            <a:r>
              <a:rPr lang="en-GB" sz="2400" dirty="0"/>
              <a:t>):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B0F0"/>
                </a:solidFill>
              </a:rPr>
              <a:t>	print</a:t>
            </a:r>
            <a:r>
              <a:rPr lang="en-GB" sz="2400" dirty="0"/>
              <a:t>(j) </a:t>
            </a:r>
          </a:p>
          <a:p>
            <a:pPr marL="0" indent="0">
              <a:buNone/>
            </a:pPr>
            <a:r>
              <a:rPr lang="en-GB" sz="2400" dirty="0"/>
              <a:t>	j = j + </a:t>
            </a:r>
            <a:r>
              <a:rPr lang="en-GB" sz="2400" dirty="0">
                <a:solidFill>
                  <a:srgbClr val="7030A0"/>
                </a:solidFill>
              </a:rPr>
              <a:t>1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B0F0"/>
                </a:solidFill>
              </a:rPr>
              <a:t>print</a:t>
            </a:r>
            <a:r>
              <a:rPr lang="en-GB" sz="2400" dirty="0">
                <a:solidFill>
                  <a:schemeClr val="tx1"/>
                </a:solidFill>
              </a:rPr>
              <a:t>(</a:t>
            </a:r>
            <a:r>
              <a:rPr lang="en-GB" sz="2400" dirty="0">
                <a:solidFill>
                  <a:srgbClr val="FFFF00"/>
                </a:solidFill>
              </a:rPr>
              <a:t>“Done!”</a:t>
            </a:r>
            <a:r>
              <a:rPr lang="en-GB" sz="2400" dirty="0">
                <a:solidFill>
                  <a:schemeClr val="tx1"/>
                </a:solidFill>
              </a:rPr>
              <a:t>)</a:t>
            </a:r>
          </a:p>
          <a:p>
            <a:r>
              <a:rPr lang="en-GB" sz="2400" dirty="0"/>
              <a:t>To indicate a block of code in Python, we must indent each line of the block by the same whitespace.</a:t>
            </a:r>
          </a:p>
          <a:p>
            <a:r>
              <a:rPr lang="en-GB" sz="2400" dirty="0"/>
              <a:t>It is required for indicating what block of code a statement belongs to.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05634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176</TotalTime>
  <Words>1151</Words>
  <Application>Microsoft Office PowerPoint</Application>
  <PresentationFormat>Widescreen</PresentationFormat>
  <Paragraphs>158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Candara</vt:lpstr>
      <vt:lpstr>Consolas</vt:lpstr>
      <vt:lpstr>Tech Computer 16x9</vt:lpstr>
      <vt:lpstr>Basics of Python Programming</vt:lpstr>
      <vt:lpstr>Contents</vt:lpstr>
      <vt:lpstr>Python Variables</vt:lpstr>
      <vt:lpstr>Changing the Value of a Variable</vt:lpstr>
      <vt:lpstr>Literal</vt:lpstr>
      <vt:lpstr>Types of Literals in Python</vt:lpstr>
      <vt:lpstr>More Python Literals </vt:lpstr>
      <vt:lpstr>Variable Identifier Naming</vt:lpstr>
      <vt:lpstr>Basic I/O Statements</vt:lpstr>
      <vt:lpstr>Basic I/O Statements</vt:lpstr>
      <vt:lpstr>Basic I/O Statements</vt:lpstr>
      <vt:lpstr>Basic I/O Statements</vt:lpstr>
      <vt:lpstr>Change the Type of Input in Python</vt:lpstr>
      <vt:lpstr>Logical and Physical Line</vt:lpstr>
      <vt:lpstr>Logical and Physical Line (Cont…)</vt:lpstr>
      <vt:lpstr>Logical and Physical Line (Cont…)</vt:lpstr>
      <vt:lpstr>Logical and Physical Line (Cont…)</vt:lpstr>
      <vt:lpstr>Indentation</vt:lpstr>
      <vt:lpstr>Indentation (Cont…)</vt:lpstr>
      <vt:lpstr>Indentation in Conditional Statements</vt:lpstr>
      <vt:lpstr>Indentation in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Mangrulkar</dc:creator>
  <cp:lastModifiedBy>Nikhil Mangrulkar</cp:lastModifiedBy>
  <cp:revision>11</cp:revision>
  <dcterms:created xsi:type="dcterms:W3CDTF">2026-02-18T14:10:58Z</dcterms:created>
  <dcterms:modified xsi:type="dcterms:W3CDTF">2026-02-19T04:10:19Z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