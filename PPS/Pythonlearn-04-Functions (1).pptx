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31"/>
  </p:notesMasterIdLst>
  <p:sldIdLst>
    <p:sldId id="256" r:id="rId2"/>
    <p:sldId id="258" r:id="rId3"/>
    <p:sldId id="259" r:id="rId4"/>
    <p:sldId id="257" r:id="rId5"/>
    <p:sldId id="260" r:id="rId6"/>
    <p:sldId id="261" r:id="rId7"/>
    <p:sldId id="280" r:id="rId8"/>
    <p:sldId id="28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82" r:id="rId29"/>
    <p:sldId id="283" r:id="rId30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7F01"/>
    <a:srgbClr val="00FDFF"/>
    <a:srgbClr val="00FF00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8"/>
    <p:restoredTop sz="94558"/>
  </p:normalViewPr>
  <p:slideViewPr>
    <p:cSldViewPr snapToGrid="0" snapToObjects="1">
      <p:cViewPr varScale="1">
        <p:scale>
          <a:sx n="59" d="100"/>
          <a:sy n="59" d="100"/>
        </p:scale>
        <p:origin x="811" y="58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041769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0744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3" name="Shape 2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5387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7912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4120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5" name="Shape 2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2315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9" name="Shape 2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7551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9" name="Shape 2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6230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9" name="Shape 2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3741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6" name="Shape 3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506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4" name="Shape 3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84697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5317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7" name="Shape 3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9218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6" name="Shape 3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79751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3" name="Shape 3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0152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1" name="Shape 3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4148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8" name="Shape 3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8597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5" name="Shape 3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76427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2" name="Shape 3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316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1155700" y="803564"/>
            <a:ext cx="13932000" cy="17363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4000"/>
            </a:lvl1pPr>
            <a:lvl2pPr marL="10033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1155700" y="803564"/>
            <a:ext cx="13932000" cy="17363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901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4301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701" r:id="rId2"/>
    <p:sldLayoutId id="2147483704" r:id="rId3"/>
    <p:sldLayoutId id="214748370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7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40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Functions</a:t>
            </a:r>
          </a:p>
        </p:txBody>
      </p:sp>
      <p:sp>
        <p:nvSpPr>
          <p:cNvPr id="236" name="Shape 2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There are two kinds of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Python.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00"/>
              </a:buClr>
              <a:buSzPct val="100000"/>
              <a:buNone/>
            </a:pP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Built-in functions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are provided as part of Python - </a:t>
            </a: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print(),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input(), type(), float(), </a:t>
            </a:r>
            <a:r>
              <a:rPr lang="en-US" sz="3600" u="none" strike="noStrike" cap="none" dirty="0" err="1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...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00"/>
              </a:buClr>
              <a:buSzPct val="100000"/>
              <a:buNone/>
            </a:pP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Functions that we define ourselves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then use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treat </a:t>
            </a: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names as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new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reserved words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b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(i.e., we avoid them as variable names)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 Definition</a:t>
            </a:r>
          </a:p>
        </p:txBody>
      </p:sp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Python a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some reusable code that takes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(s) as input, does some computation, and then returns a result or results</a:t>
            </a:r>
          </a:p>
          <a:p>
            <a:pPr marL="749300" marR="0" lvl="0" indent="-371094" algn="l" rtl="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define a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using the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reserved word</a:t>
            </a:r>
          </a:p>
          <a:p>
            <a:pPr marL="749300" marR="0" lvl="0" indent="-371094" algn="l" rtl="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call/invoke the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by using the function name, parenthes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s, and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an expression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Stored (and reused) Steps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12869861" y="3721100"/>
            <a:ext cx="3162300" cy="3746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u="none" strike="noStrike" cap="none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Zip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</a:t>
            </a:r>
          </a:p>
        </p:txBody>
      </p:sp>
      <p:sp>
        <p:nvSpPr>
          <p:cNvPr id="215" name="Shape 215"/>
          <p:cNvSpPr txBox="1"/>
          <p:nvPr/>
        </p:nvSpPr>
        <p:spPr>
          <a:xfrm>
            <a:off x="7899399" y="2971800"/>
            <a:ext cx="3586161" cy="38004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u="none" strike="noStrike" cap="none" dirty="0">
              <a:solidFill>
                <a:srgbClr val="FF7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25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thing():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ourier New"/>
              <a:buNone/>
            </a:pP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5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5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'Hello</a:t>
            </a:r>
            <a:r>
              <a:rPr lang="en-US" sz="25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ourier New"/>
              <a:buNone/>
            </a:pP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5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5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'Fun</a:t>
            </a:r>
            <a:r>
              <a:rPr lang="en-US" sz="25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ourier New"/>
              <a:buNone/>
            </a:pPr>
            <a:r>
              <a:rPr lang="en-US" sz="25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ourier New"/>
              <a:buNone/>
            </a:pP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thing()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25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5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'Zip</a:t>
            </a:r>
            <a:r>
              <a:rPr lang="en-US" sz="25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ourier New"/>
              <a:buNone/>
            </a:pP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thing()</a:t>
            </a:r>
          </a:p>
        </p:txBody>
      </p:sp>
      <p:sp>
        <p:nvSpPr>
          <p:cNvPr id="216" name="Shape 216"/>
          <p:cNvSpPr txBox="1"/>
          <p:nvPr/>
        </p:nvSpPr>
        <p:spPr>
          <a:xfrm>
            <a:off x="762000" y="2730500"/>
            <a:ext cx="2743199" cy="5969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</a:t>
            </a:r>
          </a:p>
        </p:txBody>
      </p:sp>
      <p:cxnSp>
        <p:nvCxnSpPr>
          <p:cNvPr id="217" name="Shape 217"/>
          <p:cNvCxnSpPr/>
          <p:nvPr/>
        </p:nvCxnSpPr>
        <p:spPr>
          <a:xfrm rot="10800000">
            <a:off x="2114550" y="3313111"/>
            <a:ext cx="6349" cy="18494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8" name="Shape 218"/>
          <p:cNvCxnSpPr/>
          <p:nvPr/>
        </p:nvCxnSpPr>
        <p:spPr>
          <a:xfrm flipH="1">
            <a:off x="9366249" y="5416550"/>
            <a:ext cx="3421062" cy="342899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9" name="Shape 219"/>
          <p:cNvCxnSpPr/>
          <p:nvPr/>
        </p:nvCxnSpPr>
        <p:spPr>
          <a:xfrm rot="10800000">
            <a:off x="9423474" y="6615025"/>
            <a:ext cx="3334500" cy="270299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20" name="Shape 220"/>
          <p:cNvSpPr txBox="1"/>
          <p:nvPr/>
        </p:nvSpPr>
        <p:spPr>
          <a:xfrm>
            <a:off x="4429850" y="3608375"/>
            <a:ext cx="2743199" cy="11154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5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'Hello')</a:t>
            </a:r>
          </a:p>
          <a:p>
            <a:pPr lvl="0" algn="ctr">
              <a:buClr>
                <a:schemeClr val="lt1"/>
              </a:buClr>
              <a:buSzPct val="25000"/>
            </a:pPr>
            <a:r>
              <a:rPr lang="en-US" sz="35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('Fun')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762000" y="5092700"/>
            <a:ext cx="2743199" cy="5969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thing</a:t>
            </a: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</a:p>
        </p:txBody>
      </p:sp>
      <p:cxnSp>
        <p:nvCxnSpPr>
          <p:cNvPr id="222" name="Shape 222"/>
          <p:cNvCxnSpPr/>
          <p:nvPr/>
        </p:nvCxnSpPr>
        <p:spPr>
          <a:xfrm rot="10800000">
            <a:off x="2114549" y="5713411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3" name="Shape 223"/>
          <p:cNvCxnSpPr/>
          <p:nvPr/>
        </p:nvCxnSpPr>
        <p:spPr>
          <a:xfrm flipH="1">
            <a:off x="3491700" y="4099050"/>
            <a:ext cx="856500" cy="1024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4" name="Shape 224"/>
          <p:cNvCxnSpPr/>
          <p:nvPr/>
        </p:nvCxnSpPr>
        <p:spPr>
          <a:xfrm rot="10800000" flipH="1">
            <a:off x="3527425" y="4723637"/>
            <a:ext cx="2100300" cy="893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5" name="Shape 225"/>
          <p:cNvCxnSpPr>
            <a:endCxn id="216" idx="3"/>
          </p:cNvCxnSpPr>
          <p:nvPr/>
        </p:nvCxnSpPr>
        <p:spPr>
          <a:xfrm rot="10800000">
            <a:off x="3505199" y="3028950"/>
            <a:ext cx="951900" cy="5796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26" name="Shape 226"/>
          <p:cNvSpPr txBox="1"/>
          <p:nvPr/>
        </p:nvSpPr>
        <p:spPr>
          <a:xfrm>
            <a:off x="3850696" y="7773866"/>
            <a:ext cx="880268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call these reusable pieces of code </a:t>
            </a:r>
            <a:r>
              <a:rPr lang="en-US" sz="2800" b="0" i="0" u="none" strike="noStrike" cap="none" dirty="0">
                <a:solidFill>
                  <a:schemeClr val="lt1"/>
                </a:solidFill>
                <a:sym typeface="Arial"/>
              </a:rPr>
              <a:t>“</a:t>
            </a:r>
            <a:r>
              <a:rPr lang="en-US" sz="2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2800" b="0" i="0" u="none" strike="noStrike" cap="none" dirty="0">
                <a:solidFill>
                  <a:schemeClr val="lt1"/>
                </a:solidFill>
                <a:sym typeface="Arial"/>
              </a:rPr>
              <a:t>”</a:t>
            </a:r>
          </a:p>
        </p:txBody>
      </p:sp>
      <p:sp>
        <p:nvSpPr>
          <p:cNvPr id="227" name="Shape 227"/>
          <p:cNvSpPr txBox="1"/>
          <p:nvPr/>
        </p:nvSpPr>
        <p:spPr>
          <a:xfrm>
            <a:off x="5038724" y="2997200"/>
            <a:ext cx="1767873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thing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():</a:t>
            </a:r>
          </a:p>
        </p:txBody>
      </p:sp>
      <p:sp>
        <p:nvSpPr>
          <p:cNvPr id="228" name="Shape 228"/>
          <p:cNvSpPr txBox="1"/>
          <p:nvPr/>
        </p:nvSpPr>
        <p:spPr>
          <a:xfrm>
            <a:off x="762000" y="7302500"/>
            <a:ext cx="2743199" cy="5969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thing</a:t>
            </a: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</a:p>
        </p:txBody>
      </p:sp>
      <p:cxnSp>
        <p:nvCxnSpPr>
          <p:cNvPr id="229" name="Shape 229"/>
          <p:cNvCxnSpPr/>
          <p:nvPr/>
        </p:nvCxnSpPr>
        <p:spPr>
          <a:xfrm rot="10800000">
            <a:off x="2114549" y="6729412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30" name="Shape 230"/>
          <p:cNvSpPr txBox="1"/>
          <p:nvPr/>
        </p:nvSpPr>
        <p:spPr>
          <a:xfrm>
            <a:off x="762000" y="6223000"/>
            <a:ext cx="2743199" cy="5969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Zip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5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/>
          <p:nvPr/>
        </p:nvSpPr>
        <p:spPr>
          <a:xfrm>
            <a:off x="8564550" y="4876800"/>
            <a:ext cx="6984899" cy="3302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max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('Hello world')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tiny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min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('Hello world')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tiny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ourier New"/>
              <a:buNone/>
            </a:pPr>
            <a:endParaRPr sz="3000" b="1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</a:p>
        </p:txBody>
      </p:sp>
      <p:sp>
        <p:nvSpPr>
          <p:cNvPr id="248" name="Shape 248"/>
          <p:cNvSpPr txBox="1"/>
          <p:nvPr/>
        </p:nvSpPr>
        <p:spPr>
          <a:xfrm>
            <a:off x="2032000" y="1714500"/>
            <a:ext cx="6782399" cy="812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9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big</a:t>
            </a:r>
            <a:r>
              <a:rPr lang="en-US" sz="49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 </a:t>
            </a:r>
            <a:r>
              <a:rPr lang="en-US" sz="49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max</a:t>
            </a:r>
            <a:r>
              <a:rPr lang="en-US" sz="4900" u="none" strike="noStrike" cap="none" dirty="0">
                <a:solidFill>
                  <a:srgbClr val="FF4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49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'Hello world'</a:t>
            </a:r>
            <a:r>
              <a:rPr lang="en-US" sz="4900" u="none" strike="noStrike" cap="none" dirty="0">
                <a:solidFill>
                  <a:srgbClr val="FF4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249" name="Shape 249"/>
          <p:cNvSpPr txBox="1"/>
          <p:nvPr/>
        </p:nvSpPr>
        <p:spPr>
          <a:xfrm>
            <a:off x="8814399" y="947883"/>
            <a:ext cx="2393952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</a:t>
            </a:r>
          </a:p>
        </p:txBody>
      </p:sp>
      <p:cxnSp>
        <p:nvCxnSpPr>
          <p:cNvPr id="250" name="Shape 250"/>
          <p:cNvCxnSpPr>
            <a:endCxn id="249" idx="1"/>
          </p:cNvCxnSpPr>
          <p:nvPr/>
        </p:nvCxnSpPr>
        <p:spPr>
          <a:xfrm flipV="1">
            <a:off x="7723909" y="1259033"/>
            <a:ext cx="1090490" cy="565149"/>
          </a:xfrm>
          <a:prstGeom prst="straightConnector1">
            <a:avLst/>
          </a:prstGeom>
          <a:noFill/>
          <a:ln w="762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51" name="Shape 251"/>
          <p:cNvSpPr txBox="1"/>
          <p:nvPr/>
        </p:nvSpPr>
        <p:spPr>
          <a:xfrm>
            <a:off x="3771900" y="3460750"/>
            <a:ext cx="614361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'w'</a:t>
            </a:r>
          </a:p>
        </p:txBody>
      </p:sp>
      <p:cxnSp>
        <p:nvCxnSpPr>
          <p:cNvPr id="252" name="Shape 252"/>
          <p:cNvCxnSpPr/>
          <p:nvPr/>
        </p:nvCxnSpPr>
        <p:spPr>
          <a:xfrm>
            <a:off x="4387850" y="3927475"/>
            <a:ext cx="1214437" cy="709612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53" name="Shape 253"/>
          <p:cNvSpPr txBox="1"/>
          <p:nvPr/>
        </p:nvSpPr>
        <p:spPr>
          <a:xfrm>
            <a:off x="5751512" y="4406900"/>
            <a:ext cx="1266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4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Result</a:t>
            </a:r>
          </a:p>
        </p:txBody>
      </p:sp>
      <p:cxnSp>
        <p:nvCxnSpPr>
          <p:cNvPr id="254" name="Shape 254"/>
          <p:cNvCxnSpPr/>
          <p:nvPr/>
        </p:nvCxnSpPr>
        <p:spPr>
          <a:xfrm>
            <a:off x="2614611" y="2671761"/>
            <a:ext cx="711200" cy="5969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55" name="Shape 255"/>
          <p:cNvSpPr txBox="1"/>
          <p:nvPr/>
        </p:nvSpPr>
        <p:spPr>
          <a:xfrm>
            <a:off x="334947" y="2857500"/>
            <a:ext cx="2622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Assignment</a:t>
            </a:r>
          </a:p>
        </p:txBody>
      </p:sp>
      <p:cxnSp>
        <p:nvCxnSpPr>
          <p:cNvPr id="256" name="Shape 256"/>
          <p:cNvCxnSpPr/>
          <p:nvPr/>
        </p:nvCxnSpPr>
        <p:spPr>
          <a:xfrm rot="10800000" flipH="1">
            <a:off x="4054475" y="2633662"/>
            <a:ext cx="204786" cy="841374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Max Function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1200150" y="2616200"/>
            <a:ext cx="71321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max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('Hello world')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6845300" y="4468805"/>
            <a:ext cx="2819400" cy="28194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max()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cxnSp>
        <p:nvCxnSpPr>
          <p:cNvPr id="264" name="Shape 264"/>
          <p:cNvCxnSpPr/>
          <p:nvPr/>
        </p:nvCxnSpPr>
        <p:spPr>
          <a:xfrm flipH="1">
            <a:off x="5299074" y="5922955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5" name="Shape 265"/>
          <p:cNvSpPr txBox="1"/>
          <p:nvPr/>
        </p:nvSpPr>
        <p:spPr>
          <a:xfrm>
            <a:off x="2616200" y="5351455"/>
            <a:ext cx="2849562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world</a:t>
            </a: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3F3F3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11642725" y="5300655"/>
            <a:ext cx="2187575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00FF00"/>
                </a:solidFill>
              </a:rPr>
              <a:t>'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</a:t>
            </a:r>
            <a:r>
              <a:rPr lang="en-US" sz="3600">
                <a:solidFill>
                  <a:srgbClr val="00FF00"/>
                </a:solidFill>
              </a:rPr>
              <a:t>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cxnSp>
        <p:nvCxnSpPr>
          <p:cNvPr id="267" name="Shape 267"/>
          <p:cNvCxnSpPr/>
          <p:nvPr/>
        </p:nvCxnSpPr>
        <p:spPr>
          <a:xfrm flipH="1">
            <a:off x="9680574" y="5872155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8" name="Shape 268"/>
          <p:cNvSpPr txBox="1"/>
          <p:nvPr/>
        </p:nvSpPr>
        <p:spPr>
          <a:xfrm>
            <a:off x="10474325" y="2265220"/>
            <a:ext cx="4940400" cy="2635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 stored code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we use. A function takes some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produces an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  <p:sp>
        <p:nvSpPr>
          <p:cNvPr id="269" name="Shape 269"/>
          <p:cNvSpPr txBox="1"/>
          <p:nvPr/>
        </p:nvSpPr>
        <p:spPr>
          <a:xfrm>
            <a:off x="5953125" y="7618405"/>
            <a:ext cx="45212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Guido wrote this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Max Function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1200150" y="2616200"/>
            <a:ext cx="71321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max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('Hello world')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6669089" y="4462455"/>
            <a:ext cx="3159124" cy="28194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rgbClr val="FFFF00"/>
              </a:buClr>
              <a:buSzPct val="25000"/>
            </a:pPr>
            <a:r>
              <a:rPr lang="en-US" sz="24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max(</a:t>
            </a:r>
            <a:r>
              <a:rPr lang="en-US" sz="2400" dirty="0" err="1">
                <a:solidFill>
                  <a:srgbClr val="00FD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dirty="0" err="1">
                <a:solidFill>
                  <a:srgbClr val="00FD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blah</a:t>
            </a:r>
          </a:p>
        </p:txBody>
      </p:sp>
      <p:cxnSp>
        <p:nvCxnSpPr>
          <p:cNvPr id="264" name="Shape 264"/>
          <p:cNvCxnSpPr/>
          <p:nvPr/>
        </p:nvCxnSpPr>
        <p:spPr>
          <a:xfrm flipH="1">
            <a:off x="5299074" y="5922955"/>
            <a:ext cx="1242403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5" name="Shape 265"/>
          <p:cNvSpPr txBox="1"/>
          <p:nvPr/>
        </p:nvSpPr>
        <p:spPr>
          <a:xfrm>
            <a:off x="2616200" y="5351455"/>
            <a:ext cx="2849562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world</a:t>
            </a: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3F3F3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11642725" y="5300655"/>
            <a:ext cx="2187575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00FF00"/>
                </a:solidFill>
              </a:rPr>
              <a:t>'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</a:t>
            </a:r>
            <a:r>
              <a:rPr lang="en-US" sz="3600">
                <a:solidFill>
                  <a:srgbClr val="00FF00"/>
                </a:solidFill>
              </a:rPr>
              <a:t>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cxnSp>
        <p:nvCxnSpPr>
          <p:cNvPr id="267" name="Shape 267"/>
          <p:cNvCxnSpPr/>
          <p:nvPr/>
        </p:nvCxnSpPr>
        <p:spPr>
          <a:xfrm flipH="1">
            <a:off x="10093569" y="5872155"/>
            <a:ext cx="1079255" cy="0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8" name="Shape 268"/>
          <p:cNvSpPr txBox="1"/>
          <p:nvPr/>
        </p:nvSpPr>
        <p:spPr>
          <a:xfrm>
            <a:off x="10474325" y="2265218"/>
            <a:ext cx="4940400" cy="2635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 stored code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we use. A function takes some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produces an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  <p:sp>
        <p:nvSpPr>
          <p:cNvPr id="269" name="Shape 269"/>
          <p:cNvSpPr txBox="1"/>
          <p:nvPr/>
        </p:nvSpPr>
        <p:spPr>
          <a:xfrm>
            <a:off x="5953125" y="7618405"/>
            <a:ext cx="45212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Guido wrote this code</a:t>
            </a:r>
          </a:p>
        </p:txBody>
      </p:sp>
    </p:spTree>
    <p:extLst>
      <p:ext uri="{BB962C8B-B14F-4D97-AF65-F5344CB8AC3E}">
        <p14:creationId xmlns:p14="http://schemas.microsoft.com/office/powerpoint/2010/main" val="290090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 of Our Own</a:t>
            </a:r>
            <a:r>
              <a:rPr lang="is-IS" sz="72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…</a:t>
            </a:r>
            <a:endParaRPr lang="en-US" sz="7200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29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Building our Own Functions</a:t>
            </a:r>
          </a:p>
        </p:txBody>
      </p:sp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372586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create a new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the </a:t>
            </a:r>
            <a:r>
              <a:rPr lang="en-US" sz="36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keyword followed by optional parameters in parenthes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indent the body of the function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function but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does not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execute the body of the function</a:t>
            </a:r>
          </a:p>
        </p:txBody>
      </p:sp>
      <p:sp>
        <p:nvSpPr>
          <p:cNvPr id="303" name="Shape 303"/>
          <p:cNvSpPr txBox="1"/>
          <p:nvPr/>
        </p:nvSpPr>
        <p:spPr>
          <a:xfrm>
            <a:off x="3817000" y="6633900"/>
            <a:ext cx="9938399" cy="16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print_lyrics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"I'm okay.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")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'I work all day.')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/>
          <p:nvPr/>
        </p:nvSpPr>
        <p:spPr>
          <a:xfrm>
            <a:off x="1061599" y="1935150"/>
            <a:ext cx="10739875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'Hello')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print_lyrics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"I'm okay.</a:t>
            </a:r>
            <a:r>
              <a:rPr lang="en-US" sz="28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")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 work all day.')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‘You')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8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309" name="Shape 309"/>
          <p:cNvSpPr txBox="1"/>
          <p:nvPr/>
        </p:nvSpPr>
        <p:spPr>
          <a:xfrm>
            <a:off x="13681075" y="4229901"/>
            <a:ext cx="1119187" cy="166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9626600" y="1174754"/>
            <a:ext cx="6218238" cy="14731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  </a:t>
            </a:r>
            <a:r>
              <a:rPr lang="en-US" sz="25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2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"I'm okay."</a:t>
            </a:r>
            <a:r>
              <a:rPr lang="en-US" sz="25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r>
              <a:rPr lang="en-US" sz="2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  </a:t>
            </a:r>
            <a:r>
              <a:rPr lang="en-US" sz="25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2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'I work all day.'</a:t>
            </a:r>
            <a:r>
              <a:rPr lang="en-US" sz="25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7416799" y="1657354"/>
            <a:ext cx="2180091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print_lyrics</a:t>
            </a:r>
            <a:r>
              <a:rPr lang="en-US" sz="2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Definitions and Uses</a:t>
            </a:r>
          </a:p>
        </p:txBody>
      </p:sp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1155700" y="2482253"/>
            <a:ext cx="13932000" cy="391653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Once we have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defined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 function, we can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call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(or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invoke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 it </a:t>
            </a:r>
            <a:b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 many times as we like</a:t>
            </a:r>
          </a:p>
          <a:p>
            <a:pPr marL="749300" marR="0" lvl="0" indent="-371094" algn="l" rtl="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is the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store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reuse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pattern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 txBox="1"/>
          <p:nvPr/>
        </p:nvSpPr>
        <p:spPr>
          <a:xfrm>
            <a:off x="1078375" y="985825"/>
            <a:ext cx="11715899" cy="6092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'Hello')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print_lyrics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“I'm okay.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")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(‘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 work all day.')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‘You')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print_lyrics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8877300" y="5327650"/>
            <a:ext cx="6913685" cy="270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I'm okay.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 work all day.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</a:t>
            </a:r>
          </a:p>
        </p:txBody>
      </p:sp>
      <p:cxnSp>
        <p:nvCxnSpPr>
          <p:cNvPr id="324" name="Shape 324"/>
          <p:cNvCxnSpPr/>
          <p:nvPr/>
        </p:nvCxnSpPr>
        <p:spPr>
          <a:xfrm rot="10800000">
            <a:off x="4334486" y="5532361"/>
            <a:ext cx="4353900" cy="1343099"/>
          </a:xfrm>
          <a:prstGeom prst="straightConnector1">
            <a:avLst/>
          </a:prstGeom>
          <a:noFill/>
          <a:ln w="889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 txBox="1">
            <a:spLocks noGrp="1"/>
          </p:cNvSpPr>
          <p:nvPr>
            <p:ph type="title"/>
          </p:nvPr>
        </p:nvSpPr>
        <p:spPr>
          <a:xfrm>
            <a:off x="1155700" y="803564"/>
            <a:ext cx="13627100" cy="173633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</a:p>
        </p:txBody>
      </p:sp>
      <p:sp>
        <p:nvSpPr>
          <p:cNvPr id="330" name="Shape 330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3911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a value we pass into the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its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when we call the function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use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 we can direct the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do different kinds of work when we call it at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different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times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put the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parenthes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 after the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name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the function</a:t>
            </a:r>
          </a:p>
        </p:txBody>
      </p:sp>
      <p:sp>
        <p:nvSpPr>
          <p:cNvPr id="331" name="Shape 331"/>
          <p:cNvSpPr txBox="1"/>
          <p:nvPr/>
        </p:nvSpPr>
        <p:spPr>
          <a:xfrm>
            <a:off x="4635500" y="6718296"/>
            <a:ext cx="7580313" cy="812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9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big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49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max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49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'Hello world'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332" name="Shape 332"/>
          <p:cNvSpPr txBox="1"/>
          <p:nvPr/>
        </p:nvSpPr>
        <p:spPr>
          <a:xfrm>
            <a:off x="11498261" y="7823196"/>
            <a:ext cx="2446339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</a:t>
            </a:r>
          </a:p>
        </p:txBody>
      </p:sp>
      <p:cxnSp>
        <p:nvCxnSpPr>
          <p:cNvPr id="333" name="Shape 333"/>
          <p:cNvCxnSpPr/>
          <p:nvPr/>
        </p:nvCxnSpPr>
        <p:spPr>
          <a:xfrm>
            <a:off x="10014325" y="7538196"/>
            <a:ext cx="1288800" cy="638999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 txBox="1">
            <a:spLocks noGrp="1"/>
          </p:cNvSpPr>
          <p:nvPr>
            <p:ph type="title"/>
          </p:nvPr>
        </p:nvSpPr>
        <p:spPr>
          <a:xfrm>
            <a:off x="1155700" y="803564"/>
            <a:ext cx="13203767" cy="173633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Parameters</a:t>
            </a:r>
          </a:p>
        </p:txBody>
      </p:sp>
      <p:sp>
        <p:nvSpPr>
          <p:cNvPr id="339" name="Shape 33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988175" cy="505036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215900" indent="0">
              <a:lnSpc>
                <a:spcPct val="115000"/>
              </a:lnSpc>
              <a:spcBef>
                <a:spcPts val="0"/>
              </a:spcBef>
              <a:buSzPct val="171000"/>
              <a:buNone/>
            </a:pP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a variable which we use </a:t>
            </a:r>
            <a:r>
              <a:rPr lang="en-US" sz="36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function </a:t>
            </a:r>
            <a:r>
              <a:rPr lang="en-US" sz="36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definition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  It is a </a:t>
            </a:r>
            <a:r>
              <a:rPr lang="en-US" sz="3600" dirty="0">
                <a:solidFill>
                  <a:schemeClr val="lt1"/>
                </a:solidFill>
              </a:rPr>
              <a:t>“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handle</a:t>
            </a:r>
            <a:r>
              <a:rPr lang="en-US" sz="3600" dirty="0">
                <a:solidFill>
                  <a:schemeClr val="lt1"/>
                </a:solidFill>
              </a:rPr>
              <a:t>”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allows the code in the </a:t>
            </a:r>
            <a:r>
              <a:rPr lang="en-US" sz="3600" dirty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access the </a:t>
            </a:r>
            <a:r>
              <a:rPr lang="en-US" sz="360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for a particular </a:t>
            </a:r>
            <a:r>
              <a:rPr lang="en-US" sz="3600" dirty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invocation.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40" name="Shape 340"/>
          <p:cNvSpPr txBox="1"/>
          <p:nvPr/>
        </p:nvSpPr>
        <p:spPr>
          <a:xfrm>
            <a:off x="9867323" y="2188908"/>
            <a:ext cx="5713800" cy="6648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lang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b="1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lang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== '</a:t>
            </a:r>
            <a:r>
              <a:rPr lang="en-US" sz="26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es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  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Hola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26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b="1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lang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== '</a:t>
            </a:r>
            <a:r>
              <a:rPr lang="en-US" sz="26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fr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  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'Bonjour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print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'Hello</a:t>
            </a:r>
            <a:r>
              <a:rPr lang="en-US" sz="2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en</a:t>
            </a:r>
            <a:r>
              <a:rPr lang="en-US" sz="2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es</a:t>
            </a:r>
            <a:r>
              <a:rPr lang="en-US" sz="2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Hola</a:t>
            </a:r>
            <a:endParaRPr lang="en-US" sz="26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</a:t>
            </a:r>
            <a:r>
              <a:rPr lang="en-US" sz="2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Bonjour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7F3C64-4AA0-C08F-45A0-30F450D87F4B}"/>
              </a:ext>
            </a:extLst>
          </p:cNvPr>
          <p:cNvSpPr txBox="1"/>
          <p:nvPr/>
        </p:nvSpPr>
        <p:spPr>
          <a:xfrm>
            <a:off x="13716510" y="1665688"/>
            <a:ext cx="1864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FDFF"/>
                </a:solidFill>
              </a:rPr>
              <a:t>Parameter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7E5C3E-C88A-4692-BF3F-44A597505CD9}"/>
              </a:ext>
            </a:extLst>
          </p:cNvPr>
          <p:cNvCxnSpPr>
            <a:stCxn id="4" idx="1"/>
          </p:cNvCxnSpPr>
          <p:nvPr/>
        </p:nvCxnSpPr>
        <p:spPr>
          <a:xfrm flipH="1">
            <a:off x="13130213" y="1927298"/>
            <a:ext cx="586297" cy="3827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E79EFF0-2975-6209-F780-5B8E17BA5018}"/>
              </a:ext>
            </a:extLst>
          </p:cNvPr>
          <p:cNvSpPr txBox="1"/>
          <p:nvPr/>
        </p:nvSpPr>
        <p:spPr>
          <a:xfrm>
            <a:off x="13611735" y="8078826"/>
            <a:ext cx="17443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7F01"/>
                </a:solidFill>
              </a:rPr>
              <a:t>Argument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86BBB0-8E1E-1648-8F00-7BD14B185913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12458700" y="7756625"/>
            <a:ext cx="1153035" cy="5838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 Values</a:t>
            </a:r>
          </a:p>
        </p:txBody>
      </p:sp>
      <p:sp>
        <p:nvSpPr>
          <p:cNvPr id="346" name="Shape 346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225425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Often a function will take its arguments, do some computation, and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 value to be used as the value of the function call in the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calling expression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 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keyword is used for this.</a:t>
            </a:r>
          </a:p>
        </p:txBody>
      </p:sp>
      <p:sp>
        <p:nvSpPr>
          <p:cNvPr id="347" name="Shape 347"/>
          <p:cNvSpPr txBox="1"/>
          <p:nvPr/>
        </p:nvSpPr>
        <p:spPr>
          <a:xfrm>
            <a:off x="2911989" y="5370512"/>
            <a:ext cx="6832088" cy="28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32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2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2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2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return</a:t>
            </a:r>
            <a:r>
              <a:rPr lang="en-US" sz="32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"Hello</a:t>
            </a:r>
            <a:r>
              <a:rPr lang="en-US" sz="32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"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2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greet()</a:t>
            </a:r>
            <a:r>
              <a:rPr lang="en-US" sz="32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, "Glenn</a:t>
            </a:r>
            <a:r>
              <a:rPr lang="en-US" sz="32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")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2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greet()</a:t>
            </a:r>
            <a:r>
              <a:rPr lang="en-US" sz="32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, "Sally")</a:t>
            </a:r>
          </a:p>
        </p:txBody>
      </p:sp>
      <p:sp>
        <p:nvSpPr>
          <p:cNvPr id="348" name="Shape 348"/>
          <p:cNvSpPr txBox="1"/>
          <p:nvPr/>
        </p:nvSpPr>
        <p:spPr>
          <a:xfrm>
            <a:off x="10894613" y="5947162"/>
            <a:ext cx="4000500" cy="1193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600" i="0" u="none" strike="noStrike" cap="none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Hello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Hello Sally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 txBox="1">
            <a:spLocks noGrp="1"/>
          </p:cNvSpPr>
          <p:nvPr>
            <p:ph type="title"/>
          </p:nvPr>
        </p:nvSpPr>
        <p:spPr>
          <a:xfrm>
            <a:off x="1155700" y="803564"/>
            <a:ext cx="13542433" cy="173633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 Value</a:t>
            </a:r>
          </a:p>
        </p:txBody>
      </p:sp>
      <p:sp>
        <p:nvSpPr>
          <p:cNvPr id="354" name="Shape 35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6167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fruitful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one that produces a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result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(or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ends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execution and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sends back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result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sp>
        <p:nvSpPr>
          <p:cNvPr id="355" name="Shape 355"/>
          <p:cNvSpPr txBox="1"/>
          <p:nvPr/>
        </p:nvSpPr>
        <p:spPr>
          <a:xfrm>
            <a:off x="9002225" y="2309525"/>
            <a:ext cx="6722399" cy="6429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5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5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5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lang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</a:t>
            </a:r>
            <a:r>
              <a:rPr lang="en-US" sz="25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5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5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lang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== 'es':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25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5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return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5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'Hola</a:t>
            </a:r>
            <a:r>
              <a:rPr lang="en-US" sz="2500" b="1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25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5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lang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== '</a:t>
            </a:r>
            <a:r>
              <a:rPr lang="en-US" sz="25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fr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   </a:t>
            </a:r>
            <a:r>
              <a:rPr lang="en-US" sz="25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5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return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5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'Bonjour</a:t>
            </a:r>
            <a:r>
              <a:rPr lang="en-US" sz="2500" b="1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25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    </a:t>
            </a:r>
            <a:r>
              <a:rPr lang="en-US" sz="25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return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5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'Hello</a:t>
            </a:r>
            <a:r>
              <a:rPr lang="en-US" sz="2500" b="1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5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5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5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5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5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en</a:t>
            </a:r>
            <a:r>
              <a:rPr lang="en-US" sz="25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),'Glenn</a:t>
            </a:r>
            <a:r>
              <a:rPr lang="en-US" sz="25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5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5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5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5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'es'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),'Sally</a:t>
            </a:r>
            <a:r>
              <a:rPr lang="en-US" sz="25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Hola Sally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5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5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5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5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5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</a:t>
            </a:r>
            <a:r>
              <a:rPr lang="en-US" sz="25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),'Michael</a:t>
            </a:r>
            <a:r>
              <a:rPr lang="en-US" sz="25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Bonjour Michael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1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71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</a:t>
            </a:r>
            <a:r>
              <a:rPr lang="en-US" sz="71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1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Parameters</a:t>
            </a:r>
            <a:r>
              <a:rPr lang="en-US" sz="71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and</a:t>
            </a:r>
            <a:r>
              <a:rPr lang="en-US" sz="71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1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Results</a:t>
            </a:r>
          </a:p>
        </p:txBody>
      </p:sp>
      <p:sp>
        <p:nvSpPr>
          <p:cNvPr id="361" name="Shape 361"/>
          <p:cNvSpPr txBox="1"/>
          <p:nvPr/>
        </p:nvSpPr>
        <p:spPr>
          <a:xfrm>
            <a:off x="1155700" y="2908300"/>
            <a:ext cx="7557000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max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'Hello world'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</a:p>
        </p:txBody>
      </p:sp>
      <p:sp>
        <p:nvSpPr>
          <p:cNvPr id="362" name="Shape 362"/>
          <p:cNvSpPr txBox="1"/>
          <p:nvPr/>
        </p:nvSpPr>
        <p:spPr>
          <a:xfrm>
            <a:off x="7805637" y="4011400"/>
            <a:ext cx="3127800" cy="34833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max(</a:t>
            </a:r>
            <a:r>
              <a:rPr lang="en-US" sz="24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D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return </a:t>
            </a:r>
            <a:r>
              <a:rPr lang="en-US" sz="24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  <a:r>
              <a:rPr lang="en-US" sz="24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</p:txBody>
      </p:sp>
      <p:cxnSp>
        <p:nvCxnSpPr>
          <p:cNvPr id="363" name="Shape 363"/>
          <p:cNvCxnSpPr/>
          <p:nvPr/>
        </p:nvCxnSpPr>
        <p:spPr>
          <a:xfrm flipH="1">
            <a:off x="6569200" y="5608275"/>
            <a:ext cx="1016099" cy="3600"/>
          </a:xfrm>
          <a:prstGeom prst="straightConnector1">
            <a:avLst/>
          </a:prstGeom>
          <a:noFill/>
          <a:ln w="889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4" name="Shape 364"/>
          <p:cNvSpPr txBox="1"/>
          <p:nvPr/>
        </p:nvSpPr>
        <p:spPr>
          <a:xfrm>
            <a:off x="3530600" y="5283200"/>
            <a:ext cx="2849562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world</a:t>
            </a: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</p:txBody>
      </p:sp>
      <p:sp>
        <p:nvSpPr>
          <p:cNvPr id="365" name="Shape 365"/>
          <p:cNvSpPr txBox="1"/>
          <p:nvPr/>
        </p:nvSpPr>
        <p:spPr>
          <a:xfrm>
            <a:off x="13066711" y="5232400"/>
            <a:ext cx="644524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00FF00"/>
                </a:solidFill>
              </a:rPr>
              <a:t>'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</a:t>
            </a:r>
            <a:r>
              <a:rPr lang="en-US" sz="3600">
                <a:solidFill>
                  <a:srgbClr val="00FF00"/>
                </a:solidFill>
              </a:rPr>
              <a:t>'</a:t>
            </a:r>
          </a:p>
        </p:txBody>
      </p:sp>
      <p:cxnSp>
        <p:nvCxnSpPr>
          <p:cNvPr id="366" name="Shape 366"/>
          <p:cNvCxnSpPr/>
          <p:nvPr/>
        </p:nvCxnSpPr>
        <p:spPr>
          <a:xfrm flipH="1">
            <a:off x="11153774" y="55943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7" name="Shape 367"/>
          <p:cNvSpPr txBox="1"/>
          <p:nvPr/>
        </p:nvSpPr>
        <p:spPr>
          <a:xfrm>
            <a:off x="1700213" y="6502400"/>
            <a:ext cx="2325685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</a:t>
            </a:r>
          </a:p>
        </p:txBody>
      </p:sp>
      <p:cxnSp>
        <p:nvCxnSpPr>
          <p:cNvPr id="368" name="Shape 368"/>
          <p:cNvCxnSpPr/>
          <p:nvPr/>
        </p:nvCxnSpPr>
        <p:spPr>
          <a:xfrm flipH="1">
            <a:off x="3027375" y="5965150"/>
            <a:ext cx="903299" cy="532499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9" name="Shape 369"/>
          <p:cNvSpPr txBox="1"/>
          <p:nvPr/>
        </p:nvSpPr>
        <p:spPr>
          <a:xfrm>
            <a:off x="11231561" y="2908300"/>
            <a:ext cx="2479674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</a:t>
            </a:r>
          </a:p>
        </p:txBody>
      </p:sp>
      <p:cxnSp>
        <p:nvCxnSpPr>
          <p:cNvPr id="370" name="Shape 370"/>
          <p:cNvCxnSpPr/>
          <p:nvPr/>
        </p:nvCxnSpPr>
        <p:spPr>
          <a:xfrm rot="10800000" flipH="1">
            <a:off x="10056975" y="3373299"/>
            <a:ext cx="1049100" cy="1075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71" name="Shape 371"/>
          <p:cNvSpPr txBox="1"/>
          <p:nvPr/>
        </p:nvSpPr>
        <p:spPr>
          <a:xfrm>
            <a:off x="13023850" y="6743700"/>
            <a:ext cx="1689326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Result</a:t>
            </a:r>
          </a:p>
        </p:txBody>
      </p:sp>
      <p:cxnSp>
        <p:nvCxnSpPr>
          <p:cNvPr id="372" name="Shape 372"/>
          <p:cNvCxnSpPr/>
          <p:nvPr/>
        </p:nvCxnSpPr>
        <p:spPr>
          <a:xfrm>
            <a:off x="13377862" y="5940425"/>
            <a:ext cx="0" cy="7112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Multiple </a:t>
            </a:r>
            <a:r>
              <a:rPr lang="en-US" sz="7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Parameters</a:t>
            </a:r>
            <a:r>
              <a:rPr lang="en-US" sz="7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/ </a:t>
            </a:r>
            <a:r>
              <a:rPr lang="en-US" sz="72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</a:p>
        </p:txBody>
      </p:sp>
      <p:sp>
        <p:nvSpPr>
          <p:cNvPr id="378" name="Shape 37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588250" cy="525462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define more than one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definition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simply add more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when we call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match the number and order of arguments and parameters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9966100" y="3380664"/>
            <a:ext cx="5481000" cy="39348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addtwo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a, b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added =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+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return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added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3000" b="1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addtwo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3, 5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Void (non-fruitful) Functions</a:t>
            </a:r>
          </a:p>
        </p:txBody>
      </p:sp>
      <p:sp>
        <p:nvSpPr>
          <p:cNvPr id="385" name="Shape 38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a function does not return a value, we call it a 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void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 that return values are 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fruitful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functions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ct val="171000"/>
              <a:buFont typeface="Cabin"/>
              <a:buChar char="•"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Void</a:t>
            </a: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functions are </a:t>
            </a: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 fruitful</a:t>
            </a: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AD494-5C68-658C-3D99-1B44808E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Scope of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744AC-D588-D78B-3906-F5F97437F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Variables in a program has </a:t>
            </a:r>
            <a:r>
              <a:rPr lang="en-GB" dirty="0">
                <a:solidFill>
                  <a:srgbClr val="00FF00"/>
                </a:solidFill>
              </a:rPr>
              <a:t>two things</a:t>
            </a:r>
            <a:r>
              <a:rPr lang="en-GB" dirty="0">
                <a:solidFill>
                  <a:schemeClr val="bg1"/>
                </a:solidFill>
              </a:rPr>
              <a:t>: </a:t>
            </a:r>
          </a:p>
          <a:p>
            <a:pPr lvl="1"/>
            <a:r>
              <a:rPr lang="en-GB" sz="3200" dirty="0">
                <a:solidFill>
                  <a:srgbClr val="00B0F0"/>
                </a:solidFill>
              </a:rPr>
              <a:t>Scope</a:t>
            </a:r>
            <a:r>
              <a:rPr lang="en-GB" sz="3200" dirty="0">
                <a:solidFill>
                  <a:schemeClr val="bg1"/>
                </a:solidFill>
              </a:rPr>
              <a:t>: Parts of the program in which it is accessible. </a:t>
            </a:r>
          </a:p>
          <a:p>
            <a:pPr lvl="1"/>
            <a:r>
              <a:rPr lang="en-GB" sz="3200" dirty="0">
                <a:solidFill>
                  <a:srgbClr val="00B0F0"/>
                </a:solidFill>
              </a:rPr>
              <a:t>Lifetime</a:t>
            </a:r>
            <a:r>
              <a:rPr lang="en-GB" sz="3200" dirty="0">
                <a:solidFill>
                  <a:schemeClr val="bg1"/>
                </a:solidFill>
              </a:rPr>
              <a:t>: How long a variable stays in the memory. </a:t>
            </a:r>
            <a:endParaRPr lang="en-IN" sz="3200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Based on scope of a variable, there are </a:t>
            </a:r>
            <a:r>
              <a:rPr lang="en-GB" dirty="0">
                <a:solidFill>
                  <a:srgbClr val="00FF00"/>
                </a:solidFill>
              </a:rPr>
              <a:t>two types </a:t>
            </a:r>
            <a:r>
              <a:rPr lang="en-GB" dirty="0">
                <a:solidFill>
                  <a:schemeClr val="bg1"/>
                </a:solidFill>
              </a:rPr>
              <a:t>of variables: </a:t>
            </a:r>
          </a:p>
          <a:p>
            <a:pPr marL="860806" lvl="1" indent="0">
              <a:buNone/>
            </a:pPr>
            <a:r>
              <a:rPr lang="en-IN" sz="3200" dirty="0">
                <a:solidFill>
                  <a:schemeClr val="bg1"/>
                </a:solidFill>
              </a:rPr>
              <a:t>1. </a:t>
            </a:r>
            <a:r>
              <a:rPr lang="en-IN" sz="3200" dirty="0">
                <a:solidFill>
                  <a:srgbClr val="00B0F0"/>
                </a:solidFill>
              </a:rPr>
              <a:t>Global variables </a:t>
            </a:r>
          </a:p>
          <a:p>
            <a:pPr marL="860806" lvl="1" indent="0">
              <a:buNone/>
            </a:pPr>
            <a:r>
              <a:rPr lang="en-IN" sz="3200" dirty="0">
                <a:solidFill>
                  <a:schemeClr val="bg1"/>
                </a:solidFill>
              </a:rPr>
              <a:t>2. </a:t>
            </a:r>
            <a:r>
              <a:rPr lang="en-IN" sz="3200" dirty="0">
                <a:solidFill>
                  <a:srgbClr val="00B0F0"/>
                </a:solidFill>
              </a:rPr>
              <a:t>Local variables </a:t>
            </a:r>
          </a:p>
        </p:txBody>
      </p:sp>
    </p:spTree>
    <p:extLst>
      <p:ext uri="{BB962C8B-B14F-4D97-AF65-F5344CB8AC3E}">
        <p14:creationId xmlns:p14="http://schemas.microsoft.com/office/powerpoint/2010/main" val="3661637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08B6-E645-61DA-9B2A-F6A50DC9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C000"/>
                </a:solidFill>
              </a:rPr>
              <a:t>Differences Between Global and Local Variable</a:t>
            </a:r>
            <a:endParaRPr lang="en-IN" dirty="0">
              <a:solidFill>
                <a:srgbClr val="FFC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724CF6-9908-1591-5D3F-AFA67AC3E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022085"/>
              </p:ext>
            </p:extLst>
          </p:nvPr>
        </p:nvGraphicFramePr>
        <p:xfrm>
          <a:off x="1194888" y="2913016"/>
          <a:ext cx="13932000" cy="5756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6000">
                  <a:extLst>
                    <a:ext uri="{9D8B030D-6E8A-4147-A177-3AD203B41FA5}">
                      <a16:colId xmlns:a16="http://schemas.microsoft.com/office/drawing/2014/main" val="3125945555"/>
                    </a:ext>
                  </a:extLst>
                </a:gridCol>
                <a:gridCol w="6966000">
                  <a:extLst>
                    <a:ext uri="{9D8B030D-6E8A-4147-A177-3AD203B41FA5}">
                      <a16:colId xmlns:a16="http://schemas.microsoft.com/office/drawing/2014/main" val="383877968"/>
                    </a:ext>
                  </a:extLst>
                </a:gridCol>
              </a:tblGrid>
              <a:tr h="1093329">
                <a:tc>
                  <a:txBody>
                    <a:bodyPr/>
                    <a:lstStyle/>
                    <a:p>
                      <a:pPr lvl="1" algn="ctr"/>
                      <a:r>
                        <a:rPr lang="en-IN" sz="3600" dirty="0">
                          <a:solidFill>
                            <a:srgbClr val="FF3300"/>
                          </a:solidFill>
                        </a:rPr>
                        <a:t>Global Variable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IN" sz="3600" dirty="0">
                          <a:solidFill>
                            <a:srgbClr val="FF3300"/>
                          </a:solidFill>
                        </a:rPr>
                        <a:t>Local Variable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411720"/>
                  </a:ext>
                </a:extLst>
              </a:tr>
              <a:tr h="1093329">
                <a:tc>
                  <a:txBody>
                    <a:bodyPr/>
                    <a:lstStyle/>
                    <a:p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Variable which is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rgbClr val="00B0F0"/>
                          </a:solidFill>
                        </a:rPr>
                        <a:t>defined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in the </a:t>
                      </a:r>
                      <a:r>
                        <a:rPr lang="en-GB" sz="3600" dirty="0">
                          <a:solidFill>
                            <a:srgbClr val="00FF00"/>
                          </a:solidFill>
                        </a:rPr>
                        <a:t>main body </a:t>
                      </a:r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of the program file.</a:t>
                      </a:r>
                      <a:endParaRPr lang="en-IN" sz="3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Variable which is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rgbClr val="00B0F0"/>
                          </a:solidFill>
                        </a:rPr>
                        <a:t>defined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inside a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rgbClr val="00FF00"/>
                          </a:solidFill>
                        </a:rPr>
                        <a:t>function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.</a:t>
                      </a:r>
                      <a:endParaRPr lang="en-IN" sz="36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902765"/>
                  </a:ext>
                </a:extLst>
              </a:tr>
              <a:tr h="1093329">
                <a:tc>
                  <a:txBody>
                    <a:bodyPr/>
                    <a:lstStyle/>
                    <a:p>
                      <a:r>
                        <a:rPr lang="en-GB" sz="3600" dirty="0">
                          <a:solidFill>
                            <a:srgbClr val="00B0F0"/>
                          </a:solidFill>
                        </a:rPr>
                        <a:t>Accessible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rgbClr val="00FF00"/>
                          </a:solidFill>
                        </a:rPr>
                        <a:t>throughout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the program file.</a:t>
                      </a:r>
                      <a:endParaRPr lang="en-IN" sz="3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600" dirty="0">
                          <a:solidFill>
                            <a:srgbClr val="00B0F0"/>
                          </a:solidFill>
                        </a:rPr>
                        <a:t>Accessible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from the point it is defined to the end of the </a:t>
                      </a:r>
                      <a:r>
                        <a:rPr lang="en-GB" sz="3600" dirty="0">
                          <a:solidFill>
                            <a:srgbClr val="00FF00"/>
                          </a:solidFill>
                        </a:rPr>
                        <a:t>block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it is defined in.</a:t>
                      </a:r>
                      <a:endParaRPr lang="en-IN" sz="3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709050"/>
                  </a:ext>
                </a:extLst>
              </a:tr>
              <a:tr h="1093329">
                <a:tc>
                  <a:txBody>
                    <a:bodyPr/>
                    <a:lstStyle/>
                    <a:p>
                      <a:r>
                        <a:rPr lang="en-GB" sz="3600" dirty="0">
                          <a:solidFill>
                            <a:srgbClr val="00B0F0"/>
                          </a:solidFill>
                        </a:rPr>
                        <a:t>Accessible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to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rgbClr val="00FF00"/>
                          </a:solidFill>
                        </a:rPr>
                        <a:t>all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functions in the program.</a:t>
                      </a:r>
                      <a:endParaRPr lang="en-IN" sz="3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They are </a:t>
                      </a:r>
                      <a:r>
                        <a:rPr lang="en-GB" sz="3600" dirty="0">
                          <a:solidFill>
                            <a:srgbClr val="00B0F0"/>
                          </a:solidFill>
                        </a:rPr>
                        <a:t>not related </a:t>
                      </a:r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in any way to other variables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rgbClr val="00FF00"/>
                          </a:solidFill>
                        </a:rPr>
                        <a:t>outside</a:t>
                      </a:r>
                      <a:r>
                        <a:rPr lang="en-GB" sz="3600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GB" sz="3600" dirty="0">
                          <a:solidFill>
                            <a:schemeClr val="bg1"/>
                          </a:solidFill>
                        </a:rPr>
                        <a:t>the function.</a:t>
                      </a:r>
                      <a:endParaRPr lang="en-IN" sz="3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066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686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3443-0D3A-F099-B9FB-FE845A3A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F8A43-C298-93AC-8ADD-45EDFA061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68706" indent="0">
              <a:spcBef>
                <a:spcPts val="0"/>
              </a:spcBef>
              <a:buNone/>
            </a:pPr>
            <a:r>
              <a:rPr lang="en-IN" dirty="0">
                <a:solidFill>
                  <a:schemeClr val="bg1"/>
                </a:solidFill>
              </a:rPr>
              <a:t>x = 20 </a:t>
            </a:r>
          </a:p>
          <a:p>
            <a:pPr marL="568706" indent="0">
              <a:spcBef>
                <a:spcPts val="0"/>
              </a:spcBef>
              <a:buNone/>
            </a:pPr>
            <a:r>
              <a:rPr lang="en-IN" dirty="0">
                <a:solidFill>
                  <a:srgbClr val="FF3300"/>
                </a:solidFill>
              </a:rPr>
              <a:t>def</a:t>
            </a:r>
            <a:r>
              <a:rPr lang="en-IN" dirty="0">
                <a:solidFill>
                  <a:schemeClr val="bg1"/>
                </a:solidFill>
              </a:rPr>
              <a:t> fun(): </a:t>
            </a:r>
          </a:p>
          <a:p>
            <a:pPr marL="568706" indent="0">
              <a:spcBef>
                <a:spcPts val="0"/>
              </a:spcBef>
              <a:buNone/>
            </a:pPr>
            <a:r>
              <a:rPr lang="en-IN" dirty="0">
                <a:solidFill>
                  <a:schemeClr val="bg1"/>
                </a:solidFill>
              </a:rPr>
              <a:t>	x = 10 </a:t>
            </a:r>
          </a:p>
          <a:p>
            <a:pPr marL="568706" indent="0">
              <a:spcBef>
                <a:spcPts val="0"/>
              </a:spcBef>
              <a:buNone/>
            </a:pPr>
            <a:r>
              <a:rPr lang="en-IN" dirty="0">
                <a:solidFill>
                  <a:schemeClr val="bg1"/>
                </a:solidFill>
              </a:rPr>
              <a:t>	</a:t>
            </a:r>
            <a:r>
              <a:rPr lang="en-IN" dirty="0">
                <a:solidFill>
                  <a:srgbClr val="00B0F0"/>
                </a:solidFill>
              </a:rPr>
              <a:t>print</a:t>
            </a:r>
            <a:r>
              <a:rPr lang="en-IN" dirty="0">
                <a:solidFill>
                  <a:schemeClr val="bg1"/>
                </a:solidFill>
              </a:rPr>
              <a:t>("Local x =",x)</a:t>
            </a:r>
          </a:p>
          <a:p>
            <a:pPr marL="568706" indent="0">
              <a:spcBef>
                <a:spcPts val="0"/>
              </a:spcBef>
              <a:buNone/>
            </a:pP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marL="568706" indent="0">
              <a:spcBef>
                <a:spcPts val="0"/>
              </a:spcBef>
              <a:buNone/>
            </a:pPr>
            <a:r>
              <a:rPr lang="en-IN" dirty="0">
                <a:solidFill>
                  <a:schemeClr val="bg1"/>
                </a:solidFill>
              </a:rPr>
              <a:t>fun() </a:t>
            </a:r>
          </a:p>
          <a:p>
            <a:pPr marL="568706" indent="0">
              <a:spcBef>
                <a:spcPts val="0"/>
              </a:spcBef>
              <a:buNone/>
            </a:pPr>
            <a:r>
              <a:rPr lang="en-IN" dirty="0">
                <a:solidFill>
                  <a:srgbClr val="00B0F0"/>
                </a:solidFill>
              </a:rPr>
              <a:t>print</a:t>
            </a:r>
            <a:r>
              <a:rPr lang="en-IN" dirty="0">
                <a:solidFill>
                  <a:schemeClr val="bg1"/>
                </a:solidFill>
              </a:rPr>
              <a:t>("Global x =",x)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808E7-AD70-BE0C-903F-F24F28EE46BC}"/>
              </a:ext>
            </a:extLst>
          </p:cNvPr>
          <p:cNvSpPr txBox="1"/>
          <p:nvPr/>
        </p:nvSpPr>
        <p:spPr>
          <a:xfrm>
            <a:off x="9496697" y="3291487"/>
            <a:ext cx="38143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0" u="none" strike="noStrike" baseline="0" dirty="0">
                <a:solidFill>
                  <a:srgbClr val="FF3300"/>
                </a:solidFill>
                <a:latin typeface="Times New Roman" panose="02020603050405020304" pitchFamily="18" charset="0"/>
              </a:rPr>
              <a:t>Output:</a:t>
            </a:r>
          </a:p>
          <a:p>
            <a:r>
              <a:rPr lang="en-IN" sz="4000" b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Local x = 10 </a:t>
            </a:r>
          </a:p>
          <a:p>
            <a:r>
              <a:rPr lang="en-IN" sz="4000" b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Global x = 20 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862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60C84-CEA8-3E7D-B4C8-C28EECE6D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Global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224D8-0164-A9A9-4020-30CDDFC8E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 </a:t>
            </a:r>
            <a:r>
              <a:rPr lang="en-GB" dirty="0">
                <a:solidFill>
                  <a:srgbClr val="FF7F01"/>
                </a:solidFill>
              </a:rPr>
              <a:t>local</a:t>
            </a:r>
            <a:r>
              <a:rPr lang="en-GB" dirty="0">
                <a:solidFill>
                  <a:schemeClr val="bg1"/>
                </a:solidFill>
              </a:rPr>
              <a:t> variable inside a function can be made </a:t>
            </a:r>
            <a:r>
              <a:rPr lang="en-GB" dirty="0">
                <a:solidFill>
                  <a:srgbClr val="00B0F0"/>
                </a:solidFill>
              </a:rPr>
              <a:t>global</a:t>
            </a:r>
            <a:r>
              <a:rPr lang="en-GB" dirty="0">
                <a:solidFill>
                  <a:schemeClr val="bg1"/>
                </a:solidFill>
              </a:rPr>
              <a:t> by using the </a:t>
            </a:r>
            <a:r>
              <a:rPr lang="en-GB" dirty="0">
                <a:solidFill>
                  <a:srgbClr val="00B050"/>
                </a:solidFill>
              </a:rPr>
              <a:t>global keyword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r>
              <a:rPr lang="en-GB" dirty="0">
                <a:solidFill>
                  <a:schemeClr val="bg1"/>
                </a:solidFill>
              </a:rPr>
              <a:t>If a </a:t>
            </a:r>
            <a:r>
              <a:rPr lang="en-GB" dirty="0">
                <a:solidFill>
                  <a:srgbClr val="FF7F01"/>
                </a:solidFill>
              </a:rPr>
              <a:t>local</a:t>
            </a:r>
            <a:r>
              <a:rPr lang="en-GB" dirty="0">
                <a:solidFill>
                  <a:schemeClr val="bg1"/>
                </a:solidFill>
              </a:rPr>
              <a:t> variable which is made </a:t>
            </a:r>
            <a:r>
              <a:rPr lang="en-GB" dirty="0">
                <a:solidFill>
                  <a:srgbClr val="00B050"/>
                </a:solidFill>
              </a:rPr>
              <a:t>global</a:t>
            </a:r>
            <a:r>
              <a:rPr lang="en-GB" dirty="0">
                <a:solidFill>
                  <a:schemeClr val="bg1"/>
                </a:solidFill>
              </a:rPr>
              <a:t> using the global statement have the same name as another global variable, then changes on the variable will be </a:t>
            </a:r>
            <a:r>
              <a:rPr lang="en-GB" dirty="0">
                <a:solidFill>
                  <a:srgbClr val="00FDFF"/>
                </a:solidFill>
              </a:rPr>
              <a:t>reflected everywhere</a:t>
            </a:r>
            <a:r>
              <a:rPr lang="en-GB" dirty="0">
                <a:solidFill>
                  <a:schemeClr val="bg1"/>
                </a:solidFill>
              </a:rPr>
              <a:t> in the program.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765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E2896-9BBE-93AE-9FF9-7CD4FE7C3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Example of Global Keyword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424EB-5A2D-65E3-3D59-1A12ED248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68706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57DF2C-B92A-1113-DAB2-68683ABF9EA4}"/>
              </a:ext>
            </a:extLst>
          </p:cNvPr>
          <p:cNvSpPr txBox="1"/>
          <p:nvPr/>
        </p:nvSpPr>
        <p:spPr>
          <a:xfrm>
            <a:off x="1502229" y="2864007"/>
            <a:ext cx="730213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x = 20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r>
              <a:rPr lang="en-GB" sz="3200" dirty="0">
                <a:solidFill>
                  <a:srgbClr val="FFC000"/>
                </a:solidFill>
              </a:rPr>
              <a:t>def</a:t>
            </a:r>
            <a:r>
              <a:rPr lang="en-GB" sz="3200" dirty="0">
                <a:solidFill>
                  <a:schemeClr val="bg1"/>
                </a:solidFill>
              </a:rPr>
              <a:t> </a:t>
            </a:r>
            <a:r>
              <a:rPr lang="en-GB" sz="3200" dirty="0">
                <a:solidFill>
                  <a:srgbClr val="00B0F0"/>
                </a:solidFill>
              </a:rPr>
              <a:t>fun</a:t>
            </a:r>
            <a:r>
              <a:rPr lang="en-GB" sz="3200" dirty="0">
                <a:solidFill>
                  <a:schemeClr val="bg1"/>
                </a:solidFill>
              </a:rPr>
              <a:t>():</a:t>
            </a:r>
          </a:p>
          <a:p>
            <a:r>
              <a:rPr lang="en-GB" sz="3200" dirty="0">
                <a:solidFill>
                  <a:schemeClr val="bg1"/>
                </a:solidFill>
              </a:rPr>
              <a:t>    </a:t>
            </a:r>
            <a:r>
              <a:rPr lang="en-GB" sz="3200" dirty="0">
                <a:solidFill>
                  <a:srgbClr val="FFC000"/>
                </a:solidFill>
              </a:rPr>
              <a:t>global</a:t>
            </a:r>
            <a:r>
              <a:rPr lang="en-GB" sz="3200" dirty="0">
                <a:solidFill>
                  <a:schemeClr val="bg1"/>
                </a:solidFill>
              </a:rPr>
              <a:t> x</a:t>
            </a:r>
          </a:p>
          <a:p>
            <a:r>
              <a:rPr lang="en-GB" sz="3200" dirty="0">
                <a:solidFill>
                  <a:schemeClr val="bg1"/>
                </a:solidFill>
              </a:rPr>
              <a:t>    x = 10</a:t>
            </a:r>
          </a:p>
          <a:p>
            <a:r>
              <a:rPr lang="en-GB" sz="3200" dirty="0">
                <a:solidFill>
                  <a:schemeClr val="bg1"/>
                </a:solidFill>
              </a:rPr>
              <a:t>    </a:t>
            </a:r>
            <a:r>
              <a:rPr lang="en-GB" sz="3200" dirty="0">
                <a:solidFill>
                  <a:srgbClr val="7030A0"/>
                </a:solidFill>
              </a:rPr>
              <a:t>print</a:t>
            </a:r>
            <a:r>
              <a:rPr lang="en-GB" sz="3200" dirty="0">
                <a:solidFill>
                  <a:schemeClr val="bg1"/>
                </a:solidFill>
              </a:rPr>
              <a:t>("</a:t>
            </a:r>
            <a:r>
              <a:rPr lang="en-GB" sz="3200" dirty="0">
                <a:solidFill>
                  <a:srgbClr val="92D050"/>
                </a:solidFill>
              </a:rPr>
              <a:t>Local x</a:t>
            </a:r>
            <a:r>
              <a:rPr lang="en-GB" sz="3200" dirty="0">
                <a:solidFill>
                  <a:schemeClr val="bg1"/>
                </a:solidFill>
              </a:rPr>
              <a:t> =",x)</a:t>
            </a:r>
          </a:p>
          <a:p>
            <a:r>
              <a:rPr lang="en-GB" sz="3200" dirty="0">
                <a:solidFill>
                  <a:srgbClr val="7030A0"/>
                </a:solidFill>
              </a:rPr>
              <a:t>print</a:t>
            </a:r>
            <a:r>
              <a:rPr lang="en-GB" sz="3200" dirty="0">
                <a:solidFill>
                  <a:schemeClr val="bg1"/>
                </a:solidFill>
              </a:rPr>
              <a:t>("</a:t>
            </a:r>
            <a:r>
              <a:rPr lang="en-GB" sz="3200" dirty="0">
                <a:solidFill>
                  <a:srgbClr val="92D050"/>
                </a:solidFill>
              </a:rPr>
              <a:t>Global x before function call =</a:t>
            </a:r>
            <a:r>
              <a:rPr lang="en-GB" sz="3200" dirty="0">
                <a:solidFill>
                  <a:schemeClr val="bg1"/>
                </a:solidFill>
              </a:rPr>
              <a:t>",x)</a:t>
            </a:r>
          </a:p>
          <a:p>
            <a:r>
              <a:rPr lang="en-GB" sz="3200" dirty="0">
                <a:solidFill>
                  <a:schemeClr val="bg1"/>
                </a:solidFill>
              </a:rPr>
              <a:t>fun()</a:t>
            </a:r>
          </a:p>
          <a:p>
            <a:r>
              <a:rPr lang="en-GB" sz="3200" dirty="0">
                <a:solidFill>
                  <a:srgbClr val="7030A0"/>
                </a:solidFill>
              </a:rPr>
              <a:t>print</a:t>
            </a:r>
            <a:r>
              <a:rPr lang="en-GB" sz="3200" dirty="0">
                <a:solidFill>
                  <a:schemeClr val="bg1"/>
                </a:solidFill>
              </a:rPr>
              <a:t>("</a:t>
            </a:r>
            <a:r>
              <a:rPr lang="en-GB" sz="3200" dirty="0">
                <a:solidFill>
                  <a:srgbClr val="92D050"/>
                </a:solidFill>
              </a:rPr>
              <a:t>Global x =</a:t>
            </a:r>
            <a:r>
              <a:rPr lang="en-GB" sz="3200" dirty="0">
                <a:solidFill>
                  <a:schemeClr val="bg1"/>
                </a:solidFill>
              </a:rPr>
              <a:t>",x)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912EF-E432-3FB8-BF76-D27D548E776A}"/>
              </a:ext>
            </a:extLst>
          </p:cNvPr>
          <p:cNvSpPr txBox="1"/>
          <p:nvPr/>
        </p:nvSpPr>
        <p:spPr>
          <a:xfrm>
            <a:off x="8965475" y="3016407"/>
            <a:ext cx="61222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Output:</a:t>
            </a:r>
          </a:p>
          <a:p>
            <a:endParaRPr lang="en-GB" sz="3200" dirty="0">
              <a:solidFill>
                <a:srgbClr val="00B0F0"/>
              </a:solidFill>
            </a:endParaRPr>
          </a:p>
          <a:p>
            <a:r>
              <a:rPr lang="en-GB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x before function call = 20</a:t>
            </a:r>
          </a:p>
          <a:p>
            <a:r>
              <a:rPr lang="en-GB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Local x = 10</a:t>
            </a:r>
          </a:p>
          <a:p>
            <a:r>
              <a:rPr lang="en-GB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x = 10</a:t>
            </a:r>
            <a:endParaRPr lang="en-IN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176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CD6B-CE4E-3C73-2EB8-8381A384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Default Argument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42EF1-E570-BFD7-CAF3-11A0A14DF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dirty="0">
                <a:solidFill>
                  <a:schemeClr val="bg1"/>
                </a:solidFill>
              </a:rPr>
              <a:t>The </a:t>
            </a:r>
            <a:r>
              <a:rPr lang="en-GB" dirty="0">
                <a:solidFill>
                  <a:srgbClr val="00B0F0"/>
                </a:solidFill>
              </a:rPr>
              <a:t>formal parameters </a:t>
            </a:r>
            <a:r>
              <a:rPr lang="en-GB" dirty="0">
                <a:solidFill>
                  <a:schemeClr val="bg1"/>
                </a:solidFill>
              </a:rPr>
              <a:t>in a function definition can be assigned a </a:t>
            </a:r>
            <a:r>
              <a:rPr lang="en-GB" dirty="0">
                <a:solidFill>
                  <a:srgbClr val="00B050"/>
                </a:solidFill>
              </a:rPr>
              <a:t>default value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en-GB" dirty="0">
                <a:solidFill>
                  <a:schemeClr val="bg1"/>
                </a:solidFill>
              </a:rPr>
              <a:t>Such parameters to which default values are assigned are called </a:t>
            </a:r>
            <a:r>
              <a:rPr lang="en-GB" dirty="0">
                <a:solidFill>
                  <a:srgbClr val="FF3300"/>
                </a:solidFill>
              </a:rPr>
              <a:t>default arguments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en-GB" dirty="0">
                <a:solidFill>
                  <a:schemeClr val="bg1"/>
                </a:solidFill>
              </a:rPr>
              <a:t>Default arguments allows a function call to pass less parameters than the number of parameters in the function definition.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954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32885-1086-0F49-E72C-DBBCF2383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33D2-70C8-CB0D-A9EB-7BFF1CF0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Default Argument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8ECC1-A4C5-404F-3B33-991514BDC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dirty="0">
                <a:solidFill>
                  <a:schemeClr val="bg1"/>
                </a:solidFill>
              </a:rPr>
              <a:t>Default value can be assigned to a parameter by using the </a:t>
            </a:r>
            <a:r>
              <a:rPr lang="en-GB" dirty="0">
                <a:solidFill>
                  <a:srgbClr val="00B050"/>
                </a:solidFill>
              </a:rPr>
              <a:t>assignment</a:t>
            </a:r>
            <a:r>
              <a:rPr lang="en-GB" dirty="0">
                <a:solidFill>
                  <a:schemeClr val="bg1"/>
                </a:solidFill>
              </a:rPr>
              <a:t> ( = ) operator. </a:t>
            </a:r>
          </a:p>
          <a:p>
            <a:pPr algn="just"/>
            <a:r>
              <a:rPr lang="en-GB" dirty="0">
                <a:solidFill>
                  <a:schemeClr val="bg1"/>
                </a:solidFill>
              </a:rPr>
              <a:t>A function definition can have </a:t>
            </a:r>
            <a:r>
              <a:rPr lang="en-GB" dirty="0">
                <a:solidFill>
                  <a:srgbClr val="00FDFF"/>
                </a:solidFill>
              </a:rPr>
              <a:t>one or more </a:t>
            </a:r>
            <a:r>
              <a:rPr lang="en-GB" dirty="0">
                <a:solidFill>
                  <a:schemeClr val="bg1"/>
                </a:solidFill>
              </a:rPr>
              <a:t>default arguments. </a:t>
            </a:r>
          </a:p>
          <a:p>
            <a:pPr algn="just"/>
            <a:r>
              <a:rPr lang="en-GB" dirty="0">
                <a:solidFill>
                  <a:schemeClr val="bg1"/>
                </a:solidFill>
              </a:rPr>
              <a:t>All the default arguments should be at the </a:t>
            </a:r>
            <a:r>
              <a:rPr lang="en-GB" dirty="0">
                <a:solidFill>
                  <a:srgbClr val="FF7F01"/>
                </a:solidFill>
              </a:rPr>
              <a:t>end</a:t>
            </a:r>
            <a:r>
              <a:rPr lang="en-GB" dirty="0">
                <a:solidFill>
                  <a:schemeClr val="bg1"/>
                </a:solidFill>
              </a:rPr>
              <a:t> of the arguments list.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321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4715-DCDA-58B1-9C4A-4A6F882D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803564"/>
            <a:ext cx="14212388" cy="1736336"/>
          </a:xfrm>
        </p:spPr>
        <p:txBody>
          <a:bodyPr/>
          <a:lstStyle/>
          <a:p>
            <a:r>
              <a:rPr lang="en-IN" sz="6600" dirty="0">
                <a:solidFill>
                  <a:srgbClr val="FFC000"/>
                </a:solidFill>
              </a:rPr>
              <a:t>Example of Default Argument Values</a:t>
            </a:r>
            <a:endParaRPr lang="en-IN" sz="6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97AAA-C064-1129-5C8A-1626FB9AF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98780" y="2642028"/>
            <a:ext cx="9555843" cy="5702399"/>
          </a:xfrm>
        </p:spPr>
        <p:txBody>
          <a:bodyPr/>
          <a:lstStyle/>
          <a:p>
            <a:pPr marL="568706" indent="0">
              <a:spcBef>
                <a:spcPts val="0"/>
              </a:spcBef>
              <a:buNone/>
            </a:pPr>
            <a:r>
              <a:rPr lang="en-IN" sz="3200" dirty="0">
                <a:solidFill>
                  <a:srgbClr val="FF0000"/>
                </a:solidFill>
              </a:rPr>
              <a:t>def</a:t>
            </a:r>
            <a:r>
              <a:rPr lang="en-IN" sz="3200" dirty="0">
                <a:solidFill>
                  <a:schemeClr val="bg1"/>
                </a:solidFill>
              </a:rPr>
              <a:t> </a:t>
            </a:r>
            <a:r>
              <a:rPr lang="en-IN" sz="3200" dirty="0" err="1">
                <a:solidFill>
                  <a:srgbClr val="00B0F0"/>
                </a:solidFill>
              </a:rPr>
              <a:t>si</a:t>
            </a:r>
            <a:r>
              <a:rPr lang="en-IN" sz="3200" dirty="0">
                <a:solidFill>
                  <a:schemeClr val="bg1"/>
                </a:solidFill>
              </a:rPr>
              <a:t>(p, n, r=1): </a:t>
            </a:r>
            <a:r>
              <a:rPr lang="en-IN" sz="3200" dirty="0">
                <a:solidFill>
                  <a:srgbClr val="C00000"/>
                </a:solidFill>
              </a:rPr>
              <a:t>#r is default argument</a:t>
            </a:r>
          </a:p>
          <a:p>
            <a:pPr marL="568706" indent="0">
              <a:spcBef>
                <a:spcPts val="0"/>
              </a:spcBef>
              <a:buNone/>
            </a:pPr>
            <a:r>
              <a:rPr lang="en-IN" sz="3200" dirty="0">
                <a:solidFill>
                  <a:schemeClr val="bg1"/>
                </a:solidFill>
              </a:rPr>
              <a:t>    prod = p*n*r</a:t>
            </a:r>
          </a:p>
          <a:p>
            <a:pPr marL="568706" indent="0">
              <a:spcBef>
                <a:spcPts val="0"/>
              </a:spcBef>
              <a:buNone/>
            </a:pPr>
            <a:r>
              <a:rPr lang="en-IN" sz="3200" dirty="0">
                <a:solidFill>
                  <a:schemeClr val="bg1"/>
                </a:solidFill>
              </a:rPr>
              <a:t>    </a:t>
            </a:r>
            <a:r>
              <a:rPr lang="en-IN" sz="3200" dirty="0">
                <a:solidFill>
                  <a:srgbClr val="FF3300"/>
                </a:solidFill>
              </a:rPr>
              <a:t>return</a:t>
            </a:r>
            <a:r>
              <a:rPr lang="en-IN" sz="3200" dirty="0">
                <a:solidFill>
                  <a:schemeClr val="bg1"/>
                </a:solidFill>
              </a:rPr>
              <a:t> prod/100</a:t>
            </a:r>
          </a:p>
          <a:p>
            <a:pPr marL="568706" indent="0">
              <a:spcBef>
                <a:spcPts val="0"/>
              </a:spcBef>
              <a:buNone/>
            </a:pPr>
            <a:endParaRPr lang="en-IN" sz="3200" dirty="0">
              <a:solidFill>
                <a:schemeClr val="bg1"/>
              </a:solidFill>
            </a:endParaRPr>
          </a:p>
          <a:p>
            <a:pPr marL="568706" indent="0">
              <a:spcBef>
                <a:spcPts val="0"/>
              </a:spcBef>
              <a:buNone/>
            </a:pPr>
            <a:r>
              <a:rPr lang="en-IN" sz="3200" dirty="0">
                <a:solidFill>
                  <a:schemeClr val="bg1"/>
                </a:solidFill>
              </a:rPr>
              <a:t>p = int(input())</a:t>
            </a:r>
          </a:p>
          <a:p>
            <a:pPr marL="568706" indent="0">
              <a:spcBef>
                <a:spcPts val="0"/>
              </a:spcBef>
              <a:buNone/>
            </a:pPr>
            <a:r>
              <a:rPr lang="en-IN" sz="3200" dirty="0">
                <a:solidFill>
                  <a:schemeClr val="bg1"/>
                </a:solidFill>
              </a:rPr>
              <a:t>n = int(input())</a:t>
            </a:r>
          </a:p>
          <a:p>
            <a:pPr marL="568706" indent="0">
              <a:spcBef>
                <a:spcPts val="0"/>
              </a:spcBef>
              <a:buNone/>
            </a:pPr>
            <a:r>
              <a:rPr lang="en-IN" sz="3200" dirty="0">
                <a:solidFill>
                  <a:srgbClr val="7030A0"/>
                </a:solidFill>
              </a:rPr>
              <a:t>print</a:t>
            </a:r>
            <a:r>
              <a:rPr lang="en-IN" sz="3200" dirty="0">
                <a:solidFill>
                  <a:schemeClr val="bg1"/>
                </a:solidFill>
              </a:rPr>
              <a:t>(</a:t>
            </a:r>
            <a:r>
              <a:rPr lang="en-IN" sz="3200" dirty="0">
                <a:solidFill>
                  <a:srgbClr val="00B050"/>
                </a:solidFill>
              </a:rPr>
              <a:t>"Simple interest with default rate is:"</a:t>
            </a:r>
            <a:r>
              <a:rPr lang="en-IN" sz="3200" dirty="0">
                <a:solidFill>
                  <a:schemeClr val="bg1"/>
                </a:solidFill>
              </a:rPr>
              <a:t>,</a:t>
            </a:r>
            <a:r>
              <a:rPr lang="en-IN" sz="3200" dirty="0" err="1">
                <a:solidFill>
                  <a:schemeClr val="bg1"/>
                </a:solidFill>
              </a:rPr>
              <a:t>si</a:t>
            </a:r>
            <a:r>
              <a:rPr lang="en-IN" sz="3200" dirty="0">
                <a:solidFill>
                  <a:schemeClr val="bg1"/>
                </a:solidFill>
              </a:rPr>
              <a:t>(</a:t>
            </a:r>
            <a:r>
              <a:rPr lang="en-IN" sz="3200" dirty="0" err="1">
                <a:solidFill>
                  <a:schemeClr val="bg1"/>
                </a:solidFill>
              </a:rPr>
              <a:t>p,n</a:t>
            </a:r>
            <a:r>
              <a:rPr lang="en-IN" sz="3200" dirty="0">
                <a:solidFill>
                  <a:schemeClr val="bg1"/>
                </a:solidFill>
              </a:rPr>
              <a:t>))</a:t>
            </a:r>
          </a:p>
          <a:p>
            <a:pPr marL="568706" indent="0">
              <a:spcBef>
                <a:spcPts val="0"/>
              </a:spcBef>
              <a:buNone/>
            </a:pPr>
            <a:r>
              <a:rPr lang="en-IN" sz="3200" dirty="0">
                <a:solidFill>
                  <a:srgbClr val="7030A0"/>
                </a:solidFill>
              </a:rPr>
              <a:t>print</a:t>
            </a:r>
            <a:r>
              <a:rPr lang="en-IN" sz="3200" dirty="0">
                <a:solidFill>
                  <a:schemeClr val="bg1"/>
                </a:solidFill>
              </a:rPr>
              <a:t>(</a:t>
            </a:r>
            <a:r>
              <a:rPr lang="en-IN" sz="3200" dirty="0">
                <a:solidFill>
                  <a:srgbClr val="00B050"/>
                </a:solidFill>
              </a:rPr>
              <a:t>"Simple interest with 5% rate is:"</a:t>
            </a:r>
            <a:r>
              <a:rPr lang="en-IN" sz="3200" dirty="0">
                <a:solidFill>
                  <a:schemeClr val="bg1"/>
                </a:solidFill>
              </a:rPr>
              <a:t>,</a:t>
            </a:r>
            <a:r>
              <a:rPr lang="en-IN" sz="3200" dirty="0" err="1">
                <a:solidFill>
                  <a:schemeClr val="bg1"/>
                </a:solidFill>
              </a:rPr>
              <a:t>si</a:t>
            </a:r>
            <a:r>
              <a:rPr lang="en-IN" sz="3200" dirty="0">
                <a:solidFill>
                  <a:schemeClr val="bg1"/>
                </a:solidFill>
              </a:rPr>
              <a:t>(p,n,5))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E38C3-1703-271B-27DE-D67AE9D7C58A}"/>
              </a:ext>
            </a:extLst>
          </p:cNvPr>
          <p:cNvSpPr txBox="1"/>
          <p:nvPr/>
        </p:nvSpPr>
        <p:spPr>
          <a:xfrm>
            <a:off x="8268790" y="3621298"/>
            <a:ext cx="812509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FF00"/>
                </a:solidFill>
              </a:rPr>
              <a:t>Sample Output:</a:t>
            </a:r>
          </a:p>
          <a:p>
            <a:r>
              <a:rPr lang="en-IN" sz="3200" dirty="0">
                <a:solidFill>
                  <a:schemeClr val="bg1"/>
                </a:solidFill>
              </a:rPr>
              <a:t>2000</a:t>
            </a:r>
          </a:p>
          <a:p>
            <a:r>
              <a:rPr lang="en-IN" sz="3200" dirty="0">
                <a:solidFill>
                  <a:schemeClr val="bg1"/>
                </a:solidFill>
              </a:rPr>
              <a:t>120</a:t>
            </a:r>
          </a:p>
          <a:p>
            <a:r>
              <a:rPr lang="en-IN" sz="3200" dirty="0">
                <a:solidFill>
                  <a:srgbClr val="00B0F0"/>
                </a:solidFill>
              </a:rPr>
              <a:t>Simple interest with default rate is: 2400.0</a:t>
            </a:r>
          </a:p>
          <a:p>
            <a:r>
              <a:rPr lang="en-IN" sz="3200" dirty="0">
                <a:solidFill>
                  <a:srgbClr val="00B0F0"/>
                </a:solidFill>
              </a:rPr>
              <a:t>Simple interest with 5% rate is: 12000.0</a:t>
            </a:r>
          </a:p>
        </p:txBody>
      </p:sp>
    </p:spTree>
    <p:extLst>
      <p:ext uri="{BB962C8B-B14F-4D97-AF65-F5344CB8AC3E}">
        <p14:creationId xmlns:p14="http://schemas.microsoft.com/office/powerpoint/2010/main" val="3362435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89B8-2CB6-E0DB-683C-EA096C228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Keyword Arguments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A730C-0066-9FBB-8DC7-22ADEC225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When parameters are passed in a function call, they are assigned to </a:t>
            </a:r>
            <a:r>
              <a:rPr lang="en-GB" dirty="0">
                <a:solidFill>
                  <a:srgbClr val="00B050"/>
                </a:solidFill>
              </a:rPr>
              <a:t>formal parameters </a:t>
            </a:r>
            <a:r>
              <a:rPr lang="en-GB" dirty="0">
                <a:solidFill>
                  <a:schemeClr val="bg1"/>
                </a:solidFill>
              </a:rPr>
              <a:t>based on their </a:t>
            </a:r>
            <a:r>
              <a:rPr lang="en-GB" dirty="0">
                <a:solidFill>
                  <a:srgbClr val="FF3300"/>
                </a:solidFill>
              </a:rPr>
              <a:t>position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r>
              <a:rPr lang="en-GB" dirty="0">
                <a:solidFill>
                  <a:schemeClr val="bg1"/>
                </a:solidFill>
              </a:rPr>
              <a:t>Such parameters are called </a:t>
            </a:r>
            <a:r>
              <a:rPr lang="en-GB" dirty="0">
                <a:solidFill>
                  <a:srgbClr val="00B0F0"/>
                </a:solidFill>
              </a:rPr>
              <a:t>positional parameters</a:t>
            </a:r>
            <a:r>
              <a:rPr lang="en-GB" dirty="0">
                <a:solidFill>
                  <a:schemeClr val="bg1"/>
                </a:solidFill>
              </a:rPr>
              <a:t>. </a:t>
            </a:r>
          </a:p>
          <a:p>
            <a:r>
              <a:rPr lang="en-GB" dirty="0">
                <a:solidFill>
                  <a:schemeClr val="bg1"/>
                </a:solidFill>
              </a:rPr>
              <a:t>We can also pass the parameters based on the </a:t>
            </a:r>
            <a:r>
              <a:rPr lang="en-GB" dirty="0">
                <a:solidFill>
                  <a:srgbClr val="00B050"/>
                </a:solidFill>
              </a:rPr>
              <a:t>name (keyword) </a:t>
            </a:r>
            <a:r>
              <a:rPr lang="en-GB" dirty="0">
                <a:solidFill>
                  <a:schemeClr val="bg1"/>
                </a:solidFill>
              </a:rPr>
              <a:t>of the parameter in the function definition. </a:t>
            </a:r>
          </a:p>
          <a:p>
            <a:r>
              <a:rPr lang="en-GB" dirty="0">
                <a:solidFill>
                  <a:schemeClr val="bg1"/>
                </a:solidFill>
              </a:rPr>
              <a:t>Such parameters are called </a:t>
            </a:r>
            <a:r>
              <a:rPr lang="en-GB" dirty="0">
                <a:solidFill>
                  <a:srgbClr val="00B0F0"/>
                </a:solidFill>
              </a:rPr>
              <a:t>keyword arguments</a:t>
            </a:r>
            <a:r>
              <a:rPr lang="en-GB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482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86D0-50DA-633B-ED29-10CBC401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Keyword Arguments </a:t>
            </a:r>
            <a:r>
              <a:rPr lang="en-IN" sz="4800" dirty="0">
                <a:solidFill>
                  <a:srgbClr val="FFC000"/>
                </a:solidFill>
              </a:rPr>
              <a:t>(</a:t>
            </a:r>
            <a:r>
              <a:rPr lang="en-IN" sz="4800" dirty="0" err="1">
                <a:solidFill>
                  <a:srgbClr val="FFC000"/>
                </a:solidFill>
              </a:rPr>
              <a:t>Cont</a:t>
            </a:r>
            <a:r>
              <a:rPr lang="en-IN" sz="4800" dirty="0">
                <a:solidFill>
                  <a:srgbClr val="FFC000"/>
                </a:solidFill>
              </a:rPr>
              <a:t>…)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8407D-A11B-D9C7-46C6-95F9317A8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538186"/>
            <a:ext cx="7766231" cy="5702399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In the case of keyword arguments, the </a:t>
            </a:r>
            <a:r>
              <a:rPr lang="en-GB" dirty="0">
                <a:solidFill>
                  <a:srgbClr val="00B0F0"/>
                </a:solidFill>
              </a:rPr>
              <a:t>actual parameters</a:t>
            </a:r>
            <a:r>
              <a:rPr lang="en-GB" dirty="0">
                <a:solidFill>
                  <a:schemeClr val="bg1"/>
                </a:solidFill>
              </a:rPr>
              <a:t> are </a:t>
            </a:r>
            <a:r>
              <a:rPr lang="en-GB" dirty="0">
                <a:solidFill>
                  <a:srgbClr val="00B050"/>
                </a:solidFill>
              </a:rPr>
              <a:t>assigned to formal parameters </a:t>
            </a:r>
            <a:r>
              <a:rPr lang="en-GB" dirty="0">
                <a:solidFill>
                  <a:schemeClr val="bg1"/>
                </a:solidFill>
              </a:rPr>
              <a:t>based on their </a:t>
            </a:r>
            <a:r>
              <a:rPr lang="en-GB" dirty="0">
                <a:solidFill>
                  <a:srgbClr val="FFFF00"/>
                </a:solidFill>
              </a:rPr>
              <a:t>name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r>
              <a:rPr lang="en-GB" dirty="0">
                <a:solidFill>
                  <a:schemeClr val="bg1"/>
                </a:solidFill>
              </a:rPr>
              <a:t>Keyword arguments can be used if you </a:t>
            </a:r>
            <a:r>
              <a:rPr lang="en-GB" dirty="0">
                <a:solidFill>
                  <a:srgbClr val="FFFF00"/>
                </a:solidFill>
              </a:rPr>
              <a:t>don’t</a:t>
            </a:r>
            <a:r>
              <a:rPr lang="en-GB" dirty="0">
                <a:solidFill>
                  <a:schemeClr val="bg1"/>
                </a:solidFill>
              </a:rPr>
              <a:t> want to pass the parameters based on </a:t>
            </a:r>
            <a:r>
              <a:rPr lang="en-GB" dirty="0">
                <a:solidFill>
                  <a:srgbClr val="00B0F0"/>
                </a:solidFill>
              </a:rPr>
              <a:t>position</a:t>
            </a:r>
            <a:r>
              <a:rPr lang="en-GB" dirty="0">
                <a:solidFill>
                  <a:schemeClr val="bg1"/>
                </a:solidFill>
              </a:rPr>
              <a:t> of formal parameters.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A0CE0-C8C3-A9EF-014C-D3B8E57D3FBD}"/>
              </a:ext>
            </a:extLst>
          </p:cNvPr>
          <p:cNvSpPr txBox="1"/>
          <p:nvPr/>
        </p:nvSpPr>
        <p:spPr>
          <a:xfrm>
            <a:off x="7903030" y="3739859"/>
            <a:ext cx="815132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0" u="none" strike="noStrike" baseline="0" dirty="0">
                <a:solidFill>
                  <a:srgbClr val="FFC000"/>
                </a:solidFill>
                <a:latin typeface="Times New Roman" panose="02020603050405020304" pitchFamily="18" charset="0"/>
              </a:rPr>
              <a:t>def</a:t>
            </a:r>
            <a:r>
              <a:rPr lang="pt-BR" sz="3200" b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 si(p, n, r): </a:t>
            </a:r>
          </a:p>
          <a:p>
            <a:r>
              <a:rPr lang="en-IN" sz="3200" b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prod = p*n*r </a:t>
            </a:r>
          </a:p>
          <a:p>
            <a:r>
              <a:rPr lang="en-IN" sz="3200" b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r>
              <a:rPr lang="en-IN" sz="3200" b="0" u="none" strike="noStrike" baseline="0" dirty="0">
                <a:solidFill>
                  <a:srgbClr val="FFC000"/>
                </a:solidFill>
                <a:latin typeface="Times New Roman" panose="02020603050405020304" pitchFamily="18" charset="0"/>
              </a:rPr>
              <a:t>return</a:t>
            </a:r>
            <a:r>
              <a:rPr lang="en-IN" sz="3200" b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 prod/100 </a:t>
            </a:r>
          </a:p>
          <a:p>
            <a:r>
              <a:rPr lang="en-IN" sz="3200" b="0" u="none" strike="noStrike" baseline="0" dirty="0">
                <a:solidFill>
                  <a:srgbClr val="00B0F0"/>
                </a:solidFill>
                <a:latin typeface="Times New Roman" panose="02020603050405020304" pitchFamily="18" charset="0"/>
              </a:rPr>
              <a:t>print</a:t>
            </a:r>
            <a:r>
              <a:rPr lang="en-IN" sz="3200" b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("Simple interest is:",</a:t>
            </a:r>
            <a:r>
              <a:rPr lang="en-IN" sz="3200" b="0" u="none" strike="noStrike" baseline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si</a:t>
            </a:r>
            <a:r>
              <a:rPr lang="en-IN" sz="3200" b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(r=2, n=2, p=5000)) 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821305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1674</Words>
  <Application>Microsoft Office PowerPoint</Application>
  <PresentationFormat>Custom</PresentationFormat>
  <Paragraphs>282</Paragraphs>
  <Slides>29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Cabin</vt:lpstr>
      <vt:lpstr>Courier</vt:lpstr>
      <vt:lpstr>Courier New</vt:lpstr>
      <vt:lpstr>Gill Sans</vt:lpstr>
      <vt:lpstr>Times New Roman</vt:lpstr>
      <vt:lpstr>Title &amp; Subtitle</vt:lpstr>
      <vt:lpstr>Functions</vt:lpstr>
      <vt:lpstr>Python Functions</vt:lpstr>
      <vt:lpstr>Function Definition</vt:lpstr>
      <vt:lpstr>Stored (and reused) Steps</vt:lpstr>
      <vt:lpstr>PowerPoint Presentation</vt:lpstr>
      <vt:lpstr>Max Function</vt:lpstr>
      <vt:lpstr>Max Function</vt:lpstr>
      <vt:lpstr>Functions of Our Own…</vt:lpstr>
      <vt:lpstr>Building our Own Functions</vt:lpstr>
      <vt:lpstr>PowerPoint Presentation</vt:lpstr>
      <vt:lpstr>Definitions and Uses</vt:lpstr>
      <vt:lpstr>PowerPoint Presentation</vt:lpstr>
      <vt:lpstr>Arguments</vt:lpstr>
      <vt:lpstr>Parameters</vt:lpstr>
      <vt:lpstr>Return Values</vt:lpstr>
      <vt:lpstr>Return Value</vt:lpstr>
      <vt:lpstr>Arguments, Parameters, and Results</vt:lpstr>
      <vt:lpstr>Multiple Parameters / Arguments</vt:lpstr>
      <vt:lpstr>Void (non-fruitful) Functions</vt:lpstr>
      <vt:lpstr>Scope of Variables</vt:lpstr>
      <vt:lpstr>Differences Between Global and Local Variable</vt:lpstr>
      <vt:lpstr>Example</vt:lpstr>
      <vt:lpstr>Global Statement</vt:lpstr>
      <vt:lpstr>Example of Global Keyword</vt:lpstr>
      <vt:lpstr>Default Argument Values</vt:lpstr>
      <vt:lpstr>Default Argument Values</vt:lpstr>
      <vt:lpstr>Example of Default Argument Values</vt:lpstr>
      <vt:lpstr>Keyword Arguments</vt:lpstr>
      <vt:lpstr>Keyword Arguments (Cont…)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cp:lastModifiedBy>Nikhil Mangrulkar</cp:lastModifiedBy>
  <cp:revision>61</cp:revision>
  <dcterms:modified xsi:type="dcterms:W3CDTF">2026-03-13T08:08:23Z</dcterms:modified>
</cp:coreProperties>
</file>